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0.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6.xml" ContentType="application/vnd.openxmlformats-officedocument.drawingml.chart+xml"/>
  <Override PartName="/ppt/charts/chart17.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8.xml" ContentType="application/vnd.openxmlformats-officedocument.drawingml.chart+xml"/>
  <Override PartName="/ppt/charts/chart19.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0.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1.xml" ContentType="application/vnd.openxmlformats-officedocument.drawingml.chart+xml"/>
  <Override PartName="/ppt/charts/chart2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4.xml" ContentType="application/vnd.openxmlformats-officedocument.drawingml.chart+xml"/>
  <Override PartName="/ppt/charts/chart25.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6.xml" ContentType="application/vnd.openxmlformats-officedocument.drawingml.chart+xml"/>
  <Override PartName="/ppt/charts/chart27.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8.xml" ContentType="application/vnd.openxmlformats-officedocument.drawingml.chart+xml"/>
  <Override PartName="/ppt/charts/chart29.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30.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31.xml" ContentType="application/vnd.openxmlformats-officedocument.drawingml.chart+xml"/>
  <Override PartName="/ppt/charts/chart32.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33.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22b551d-bfae-b51f-19c6-be570c590655}">
          <p14:sldIdLst>
            <p14:sldId id="256"/>
            <p14:sldId id="257"/>
            <p14:sldId id="258"/>
            <p14:sldId id="259"/>
            <p14:sldId id="260"/>
          </p14:sldIdLst>
        </p14:section>
        <p14:section name="Sales and agents" id="{60d8c166-2cef-cf61-1189-9278f34cb37b}">
          <p14:sldIdLst>
            <p14:sldId id="261"/>
            <p14:sldId id="262"/>
            <p14:sldId id="263"/>
            <p14:sldId id="264"/>
            <p14:sldId id="265"/>
            <p14:sldId id="266"/>
            <p14:sldId id="267"/>
            <p14:sldId id="268"/>
            <p14:sldId id="269"/>
            <p14:sldId id="270"/>
          </p14:sldIdLst>
        </p14:section>
        <p14:section name="Products" id="{e738a30c-3b0f-a315-dd63-d72e927a9df0}">
          <p14:sldIdLst>
            <p14:sldId id="271"/>
            <p14:sldId id="272"/>
          </p14:sldIdLst>
        </p14:section>
        <p14:section name="The book and retention" id="{c34cc248-df28-1f57-3150-b6f8dccebbfc}">
          <p14:sldIdLst>
            <p14:sldId id="273"/>
            <p14:sldId id="274"/>
            <p14:sldId id="275"/>
            <p14:sldId id="276"/>
            <p14:sldId id="277"/>
          </p14:sldIdLst>
        </p14:section>
        <p14:section name="Money" id="{3489916e-dc37-debc-5261-ae9b1858dcef}">
          <p14:sldIdLst>
            <p14:sldId id="278"/>
            <p14:sldId id="279"/>
            <p14:sldId id="280"/>
          </p14:sldIdLst>
        </p14:section>
        <p14:section name="Funerals and operations" id="{381d37ee-a984-bf00-6ac3-7a0e1041a5c9}">
          <p14:sldIdLst>
            <p14:sldId id="281"/>
            <p14:sldId id="282"/>
            <p14:sldId id="283"/>
            <p14:sldId id="284"/>
            <p14:sldId id="285"/>
          </p14:sldIdLst>
        </p14:section>
        <p14:section name="Societies and ecosystem" id="{89476ad7-149b-ee27-fc8d-b10242566707}">
          <p14:sldIdLst>
            <p14:sldId id="286"/>
            <p14:sldId id="287"/>
          </p14:sldIdLst>
        </p14:section>
        <p14:section name="Outlook" id="{eb0dd720-5102-0e72-03a8-4f7fc838494e}">
          <p14:sldIdLst>
            <p14:sldId id="288"/>
            <p14:sldId id="289"/>
            <p14:sldId id="290"/>
          </p14:sldIdLst>
        </p14:section>
        <p14:section name="Plan and conclusion" id="{5a18a1be-59e1-fcbb-0a77-01a36035ce66}">
          <p14:sldIdLst>
            <p14:sldId id="291"/>
            <p14:sldId id="292"/>
            <p14:sldId id="293"/>
            <p14:sldId id="294"/>
          </p14:sldIdLst>
        </p14:section>
        <p14:section name="Appendix" id="{f93ae779-a364-ac8e-a62d-c7657ad2fc18}">
          <p14:sldIdLst>
            <p14:sldId id="295"/>
            <p14:sldId id="296"/>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New joinings per month vs target</a:t>
            </a:r>
          </a:p>
        </c:rich>
      </c:tx>
      <c:layout/>
      <c:overlay val="0"/>
    </c:title>
    <c:autoTitleDeleted val="0"/>
    <c:plotArea>
      <c:layout/>
      <c:lineChart>
        <c:varyColors val="0"/>
        <c:ser>
          <c:idx val="0"/>
          <c:order val="0"/>
          <c:tx>
            <c:strRef>
              <c:f>Sheet1!$B$1</c:f>
              <c:strCache>
                <c:ptCount val="1"/>
                <c:pt idx="0">
                  <c:v>New joinings</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64</c:v>
                </c:pt>
                <c:pt idx="1">
                  <c:v>7</c:v>
                </c:pt>
                <c:pt idx="2">
                  <c:v>9</c:v>
                </c:pt>
                <c:pt idx="3">
                  <c:v>117</c:v>
                </c:pt>
                <c:pt idx="4">
                  <c:v>54</c:v>
                </c:pt>
                <c:pt idx="5">
                  <c:v>16</c:v>
                </c:pt>
                <c:pt idx="6">
                  <c:v>29</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Target (250 a month)</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Sheet1!$C$2:$C$8</c:f>
              <c:numCache>
                <c:formatCode>General</c:formatCode>
                <c:ptCount val="7"/>
                <c:pt idx="0">
                  <c:v>250</c:v>
                </c:pt>
                <c:pt idx="1">
                  <c:v>250</c:v>
                </c:pt>
                <c:pt idx="2">
                  <c:v>250</c:v>
                </c:pt>
                <c:pt idx="3">
                  <c:v>250</c:v>
                </c:pt>
                <c:pt idx="4">
                  <c:v>250</c:v>
                </c:pt>
                <c:pt idx="5">
                  <c:v>250</c:v>
                </c:pt>
                <c:pt idx="6">
                  <c:v>250</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Joined and paid per month vs target</a:t>
            </a:r>
          </a:p>
        </c:rich>
      </c:tx>
      <c:layout/>
      <c:overlay val="0"/>
    </c:title>
    <c:autoTitleDeleted val="0"/>
    <c:plotArea>
      <c:layout/>
      <c:lineChart>
        <c:varyColors val="0"/>
        <c:ser>
          <c:idx val="0"/>
          <c:order val="0"/>
          <c:tx>
            <c:strRef>
              <c:f>Sheet1!$B$1</c:f>
              <c:strCache>
                <c:ptCount val="1"/>
                <c:pt idx="0">
                  <c:v>Joined and paid</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16</c:v>
                </c:pt>
                <c:pt idx="1">
                  <c:v>3</c:v>
                </c:pt>
                <c:pt idx="2">
                  <c:v>0</c:v>
                </c:pt>
                <c:pt idx="3">
                  <c:v>31</c:v>
                </c:pt>
                <c:pt idx="4">
                  <c:v>23</c:v>
                </c:pt>
                <c:pt idx="5">
                  <c:v>13</c:v>
                </c:pt>
                <c:pt idx="6">
                  <c:v>22</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Target (100 a month)</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Sheet1!$C$2:$C$8</c:f>
              <c:numCache>
                <c:formatCode>General</c:formatCode>
                <c:ptCount val="7"/>
                <c:pt idx="0">
                  <c:v>100</c:v>
                </c:pt>
                <c:pt idx="1">
                  <c:v>100</c:v>
                </c:pt>
                <c:pt idx="2">
                  <c:v>100</c:v>
                </c:pt>
                <c:pt idx="3">
                  <c:v>100</c:v>
                </c:pt>
                <c:pt idx="4">
                  <c:v>100</c:v>
                </c:pt>
                <c:pt idx="5">
                  <c:v>100</c:v>
                </c:pt>
                <c:pt idx="6">
                  <c:v>100</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Paid conversion (joined and paid ÷ new joinings)</a:t>
            </a:r>
          </a:p>
        </c:rich>
      </c:tx>
      <c:layout/>
      <c:overlay val="0"/>
    </c:title>
    <c:autoTitleDeleted val="0"/>
    <c:plotArea>
      <c:layout/>
      <c:lineChart>
        <c:varyColors val="0"/>
        <c:ser>
          <c:idx val="0"/>
          <c:order val="0"/>
          <c:tx>
            <c:strRef>
              <c:f>Sheet1!$B$1</c:f>
              <c:strCache>
                <c:ptCount val="1"/>
                <c:pt idx="0">
                  <c:v>Paid conversion</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0.25</c:v>
                </c:pt>
                <c:pt idx="1">
                  <c:v>0.43</c:v>
                </c:pt>
                <c:pt idx="2">
                  <c:v>0</c:v>
                </c:pt>
                <c:pt idx="3">
                  <c:v>0.26</c:v>
                </c:pt>
                <c:pt idx="4">
                  <c:v>0.43</c:v>
                </c:pt>
                <c:pt idx="5">
                  <c:v>0.81</c:v>
                </c:pt>
                <c:pt idx="6">
                  <c:v>0.76</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Target 40%</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Sheet1!$C$2:$C$8</c:f>
              <c:numCache>
                <c:formatCode>General</c:formatCode>
                <c:ptCount val="7"/>
                <c:pt idx="0">
                  <c:v>0.4</c:v>
                </c:pt>
                <c:pt idx="1">
                  <c:v>0.4</c:v>
                </c:pt>
                <c:pt idx="2">
                  <c:v>0.4</c:v>
                </c:pt>
                <c:pt idx="3">
                  <c:v>0.4</c:v>
                </c:pt>
                <c:pt idx="4">
                  <c:v>0.4</c:v>
                </c:pt>
                <c:pt idx="5">
                  <c:v>0.4</c:v>
                </c:pt>
                <c:pt idx="6">
                  <c:v>0.4</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Agent accounts vs selling agents (at least 1 sale)</a:t>
            </a:r>
          </a:p>
        </c:rich>
      </c:tx>
      <c:layout/>
      <c:overlay val="0"/>
    </c:title>
    <c:autoTitleDeleted val="0"/>
    <c:plotArea>
      <c:layout/>
      <c:lineChart>
        <c:varyColors val="0"/>
        <c:ser>
          <c:idx val="0"/>
          <c:order val="0"/>
          <c:tx>
            <c:strRef>
              <c:f>Sheet1!$B$1</c:f>
              <c:strCache>
                <c:ptCount val="1"/>
                <c:pt idx="0">
                  <c:v>Agent accounts</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16</c:v>
                </c:pt>
                <c:pt idx="1">
                  <c:v>16</c:v>
                </c:pt>
                <c:pt idx="2">
                  <c:v>16</c:v>
                </c:pt>
                <c:pt idx="3">
                  <c:v>25</c:v>
                </c:pt>
                <c:pt idx="4">
                  <c:v>26</c:v>
                </c:pt>
                <c:pt idx="5">
                  <c:v>26</c:v>
                </c:pt>
                <c:pt idx="6">
                  <c:v>26</c:v>
                </c:pt>
              </c:numCache>
            </c:numRef>
          </c:val>
          <c:smooth val="0"/>
        </c:ser>
        <c:ser>
          <c:idx val="1"/>
          <c:order val="1"/>
          <c:tx>
            <c:strRef>
              <c:f>Sheet1!$C$1</c:f>
              <c:strCache>
                <c:ptCount val="1"/>
                <c:pt idx="0">
                  <c:v>Selling agents</c:v>
                </c:pt>
              </c:strCache>
            </c:strRef>
          </c:tx>
          <c:spPr>
            <a:solidFill>
              <a:srgbClr val="E07B39"/>
            </a:solidFill>
            <a:ln w="38100" cap="flat">
              <a:solidFill>
                <a:srgbClr val="E07B39"/>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E07B39"/>
              </a:solidFill>
              <a:ln w="9525" cap="flat">
                <a:solidFill>
                  <a:srgbClr val="E07B39"/>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Sheet1!$C$2:$C$8</c:f>
              <c:numCache>
                <c:formatCode>General</c:formatCode>
                <c:ptCount val="7"/>
                <c:pt idx="0">
                  <c:v>10</c:v>
                </c:pt>
                <c:pt idx="1">
                  <c:v>4</c:v>
                </c:pt>
                <c:pt idx="2">
                  <c:v>2</c:v>
                </c:pt>
                <c:pt idx="3">
                  <c:v>9</c:v>
                </c:pt>
                <c:pt idx="4">
                  <c:v>6</c:v>
                </c:pt>
                <c:pt idx="5">
                  <c:v>5</c:v>
                </c:pt>
                <c:pt idx="6">
                  <c:v>4</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Policies sold and paid by seller, March to 4 October</a:t>
            </a:r>
          </a:p>
        </c:rich>
      </c:tx>
      <c:layout/>
      <c:overlay val="0"/>
    </c:title>
    <c:autoTitleDeleted val="0"/>
    <c:plotArea>
      <c:layout/>
      <c:barChart>
        <c:barDir val="bar"/>
        <c:grouping val="clustered"/>
        <c:varyColors val="0"/>
        <c:ser>
          <c:idx val="0"/>
          <c:order val="0"/>
          <c:tx>
            <c:strRef>
              <c:f>Sheet1!$B$1</c:f>
              <c:strCache>
                <c:ptCount val="1"/>
                <c:pt idx="0">
                  <c:v>Paid</c:v>
                </c:pt>
              </c:strCache>
            </c:strRef>
          </c:tx>
          <c:spPr>
            <a:solidFill>
              <a:srgbClr val="2E6DB4"/>
            </a:solidFill>
            <a:effectLst/>
          </c:spPr>
          <c:invertIfNegative val="0"/>
          <c:dLbls>
            <c:numFmt formatCode="#,##0" sourceLinked="0"/>
            <c:txPr>
              <a:bodyPr/>
              <a:lstStyle/>
              <a:p>
                <a:pPr>
                  <a:defRPr b="0" i="0" strike="noStrike" sz="900" u="none">
                    <a:solidFill>
                      <a:srgbClr val="1E2A2F"/>
                    </a:solidFill>
                    <a:latin typeface="+mn-lt"/>
                  </a:defRPr>
                </a:pPr>
              </a:p>
            </c:txPr>
            <c:showLegendKey val="0"/>
            <c:showVal val="1"/>
            <c:showCatName val="0"/>
            <c:showSerName val="0"/>
            <c:showPercent val="0"/>
            <c:showBubbleSize val="0"/>
            <c:showLeaderLines val="0"/>
          </c:dLbls>
          <c:cat>
            <c:multiLvlStrRef>
              <c:f>Sheet1!$A$2:$A$18</c:f>
              <c:multiLvlStrCache>
                <c:ptCount val="17"/>
                <c:lvl>
                  <c:pt idx="0">
                    <c:v>Office counter</c:v>
                  </c:pt>
                  <c:pt idx="1">
                    <c:v>Pesuate Mhlanga</c:v>
                  </c:pt>
                  <c:pt idx="2">
                    <c:v>Gugulethu Moyo</c:v>
                  </c:pt>
                  <c:pt idx="3">
                    <c:v>Nqobile Ncube</c:v>
                  </c:pt>
                  <c:pt idx="4">
                    <c:v>Nothabo Ndlovu</c:v>
                  </c:pt>
                  <c:pt idx="5">
                    <c:v>Kimberly Chikaunda</c:v>
                  </c:pt>
                  <c:pt idx="6">
                    <c:v>Patience Moyo</c:v>
                  </c:pt>
                  <c:pt idx="7">
                    <c:v>Andile Mtukwa</c:v>
                  </c:pt>
                  <c:pt idx="8">
                    <c:v>Ayanda Muringazuva</c:v>
                  </c:pt>
                  <c:pt idx="9">
                    <c:v>Norman Mpofu</c:v>
                  </c:pt>
                  <c:pt idx="10">
                    <c:v>Alisa Ncube</c:v>
                  </c:pt>
                  <c:pt idx="11">
                    <c:v>Thokozani Moyo</c:v>
                  </c:pt>
                  <c:pt idx="12">
                    <c:v>Peacemaker Matizha</c:v>
                  </c:pt>
                  <c:pt idx="13">
                    <c:v>Sibonginkosi Nyathi</c:v>
                  </c:pt>
                  <c:pt idx="14">
                    <c:v>Irvine Nyerukai</c:v>
                  </c:pt>
                  <c:pt idx="15">
                    <c:v>Arnold Chimwe</c:v>
                  </c:pt>
                  <c:pt idx="16">
                    <c:v>Lindani Ndebele</c:v>
                  </c:pt>
                </c:lvl>
              </c:multiLvlStrCache>
            </c:multiLvlStrRef>
          </c:cat>
          <c:val>
            <c:numRef>
              <c:f>Sheet1!$B$2:$B$18</c:f>
              <c:numCache>
                <c:formatCode>General</c:formatCode>
                <c:ptCount val="17"/>
                <c:pt idx="0">
                  <c:v>22</c:v>
                </c:pt>
                <c:pt idx="1">
                  <c:v>18</c:v>
                </c:pt>
                <c:pt idx="2">
                  <c:v>16</c:v>
                </c:pt>
                <c:pt idx="3">
                  <c:v>15</c:v>
                </c:pt>
                <c:pt idx="4">
                  <c:v>10</c:v>
                </c:pt>
                <c:pt idx="5">
                  <c:v>9</c:v>
                </c:pt>
                <c:pt idx="6">
                  <c:v>7</c:v>
                </c:pt>
                <c:pt idx="7">
                  <c:v>6</c:v>
                </c:pt>
                <c:pt idx="8">
                  <c:v>3</c:v>
                </c:pt>
                <c:pt idx="9">
                  <c:v>2</c:v>
                </c:pt>
                <c:pt idx="10">
                  <c:v>1</c:v>
                </c:pt>
                <c:pt idx="11">
                  <c:v>1</c:v>
                </c:pt>
                <c:pt idx="12">
                  <c:v>0</c:v>
                </c:pt>
                <c:pt idx="13">
                  <c:v>0</c:v>
                </c:pt>
                <c:pt idx="14">
                  <c:v>0</c:v>
                </c:pt>
                <c:pt idx="15">
                  <c:v>0</c:v>
                </c:pt>
                <c:pt idx="16">
                  <c:v>0</c:v>
                </c:pt>
              </c:numCache>
            </c:numRef>
          </c:val>
        </c:ser>
        <c:ser>
          <c:idx val="1"/>
          <c:order val="1"/>
          <c:tx>
            <c:strRef>
              <c:f>Sheet1!$C$1</c:f>
              <c:strCache>
                <c:ptCount val="1"/>
                <c:pt idx="0">
                  <c:v>Sold</c:v>
                </c:pt>
              </c:strCache>
            </c:strRef>
          </c:tx>
          <c:spPr>
            <a:solidFill>
              <a:srgbClr val="E07B39"/>
            </a:solidFill>
            <a:effectLst/>
          </c:spPr>
          <c:invertIfNegative val="0"/>
          <c:dLbls>
            <c:numFmt formatCode="#,##0" sourceLinked="0"/>
            <c:txPr>
              <a:bodyPr/>
              <a:lstStyle/>
              <a:p>
                <a:pPr>
                  <a:defRPr b="0" i="0" strike="noStrike" sz="900" u="none">
                    <a:solidFill>
                      <a:srgbClr val="1E2A2F"/>
                    </a:solidFill>
                    <a:latin typeface="+mn-lt"/>
                  </a:defRPr>
                </a:pPr>
              </a:p>
            </c:txPr>
            <c:showLegendKey val="0"/>
            <c:showVal val="1"/>
            <c:showCatName val="0"/>
            <c:showSerName val="0"/>
            <c:showPercent val="0"/>
            <c:showBubbleSize val="0"/>
            <c:showLeaderLines val="0"/>
          </c:dLbls>
          <c:cat>
            <c:multiLvlStrRef>
              <c:f>Sheet1!$A$2:$A$18</c:f>
              <c:multiLvlStrCache>
                <c:ptCount val="17"/>
                <c:lvl>
                  <c:pt idx="0">
                    <c:v>Office counter</c:v>
                  </c:pt>
                  <c:pt idx="1">
                    <c:v>Pesuate Mhlanga</c:v>
                  </c:pt>
                  <c:pt idx="2">
                    <c:v>Gugulethu Moyo</c:v>
                  </c:pt>
                  <c:pt idx="3">
                    <c:v>Nqobile Ncube</c:v>
                  </c:pt>
                  <c:pt idx="4">
                    <c:v>Nothabo Ndlovu</c:v>
                  </c:pt>
                  <c:pt idx="5">
                    <c:v>Kimberly Chikaunda</c:v>
                  </c:pt>
                  <c:pt idx="6">
                    <c:v>Patience Moyo</c:v>
                  </c:pt>
                  <c:pt idx="7">
                    <c:v>Andile Mtukwa</c:v>
                  </c:pt>
                  <c:pt idx="8">
                    <c:v>Ayanda Muringazuva</c:v>
                  </c:pt>
                  <c:pt idx="9">
                    <c:v>Norman Mpofu</c:v>
                  </c:pt>
                  <c:pt idx="10">
                    <c:v>Alisa Ncube</c:v>
                  </c:pt>
                  <c:pt idx="11">
                    <c:v>Thokozani Moyo</c:v>
                  </c:pt>
                  <c:pt idx="12">
                    <c:v>Peacemaker Matizha</c:v>
                  </c:pt>
                  <c:pt idx="13">
                    <c:v>Sibonginkosi Nyathi</c:v>
                  </c:pt>
                  <c:pt idx="14">
                    <c:v>Irvine Nyerukai</c:v>
                  </c:pt>
                  <c:pt idx="15">
                    <c:v>Arnold Chimwe</c:v>
                  </c:pt>
                  <c:pt idx="16">
                    <c:v>Lindani Ndebele</c:v>
                  </c:pt>
                </c:lvl>
              </c:multiLvlStrCache>
            </c:multiLvlStrRef>
          </c:cat>
          <c:val>
            <c:numRef>
              <c:f>Sheet1!$C$2:$C$18</c:f>
              <c:numCache>
                <c:formatCode>General</c:formatCode>
                <c:ptCount val="17"/>
                <c:pt idx="0">
                  <c:v>43</c:v>
                </c:pt>
                <c:pt idx="1">
                  <c:v>60</c:v>
                </c:pt>
                <c:pt idx="2">
                  <c:v>16</c:v>
                </c:pt>
                <c:pt idx="3">
                  <c:v>30</c:v>
                </c:pt>
                <c:pt idx="4">
                  <c:v>28</c:v>
                </c:pt>
                <c:pt idx="5">
                  <c:v>44</c:v>
                </c:pt>
                <c:pt idx="6">
                  <c:v>13</c:v>
                </c:pt>
                <c:pt idx="7">
                  <c:v>17</c:v>
                </c:pt>
                <c:pt idx="8">
                  <c:v>22</c:v>
                </c:pt>
                <c:pt idx="9">
                  <c:v>12</c:v>
                </c:pt>
                <c:pt idx="10">
                  <c:v>1</c:v>
                </c:pt>
                <c:pt idx="11">
                  <c:v>1</c:v>
                </c:pt>
                <c:pt idx="12">
                  <c:v>6</c:v>
                </c:pt>
                <c:pt idx="13">
                  <c:v>2</c:v>
                </c:pt>
                <c:pt idx="14">
                  <c:v>1</c:v>
                </c:pt>
                <c:pt idx="15">
                  <c:v>1</c:v>
                </c:pt>
                <c:pt idx="16">
                  <c:v>1</c:v>
                </c:pt>
              </c:numCache>
            </c:numRef>
          </c:val>
        </c:ser>
        <c:dLbls>
          <c:numFmt formatCode="#,##0" sourceLinked="0"/>
          <c:txPr>
            <a:bodyPr/>
            <a:lstStyle/>
            <a:p>
              <a:pPr>
                <a:defRPr b="0" i="0" strike="noStrike" sz="900" u="none">
                  <a:solidFill>
                    <a:srgbClr val="1E2A2F"/>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2D4"/>
            </a:solidFill>
            <a:prstDash val="solid"/>
            <a:round/>
          </a:ln>
        </c:spPr>
        <c:txPr>
          <a:bodyPr/>
          <a:lstStyle/>
          <a:p>
            <a:pPr>
              <a:defRPr sz="10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3E8E9"/>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Paid conversion by seller (sellers with 5 or more sales)</a:t>
            </a:r>
          </a:p>
        </c:rich>
      </c:tx>
      <c:layout/>
      <c:overlay val="0"/>
    </c:title>
    <c:autoTitleDeleted val="0"/>
    <c:plotArea>
      <c:layout/>
      <c:barChart>
        <c:barDir val="col"/>
        <c:grouping val="clustered"/>
        <c:varyColors val="0"/>
        <c:ser>
          <c:idx val="0"/>
          <c:order val="0"/>
          <c:tx>
            <c:strRef>
              <c:f>Sheet1!$B$1</c:f>
              <c:strCache>
                <c:ptCount val="1"/>
                <c:pt idx="0">
                  <c:v>Paid conversion</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cat>
            <c:multiLvlStrRef>
              <c:f>Sheet1!$A$2:$A$12</c:f>
              <c:multiLvlStrCache>
                <c:ptCount val="11"/>
                <c:lvl>
                  <c:pt idx="0">
                    <c:v>Gugulethu</c:v>
                  </c:pt>
                  <c:pt idx="1">
                    <c:v>Patience</c:v>
                  </c:pt>
                  <c:pt idx="2">
                    <c:v>Office</c:v>
                  </c:pt>
                  <c:pt idx="3">
                    <c:v>Nqobile</c:v>
                  </c:pt>
                  <c:pt idx="4">
                    <c:v>Nothabo</c:v>
                  </c:pt>
                  <c:pt idx="5">
                    <c:v>Andile</c:v>
                  </c:pt>
                  <c:pt idx="6">
                    <c:v>Pesuate</c:v>
                  </c:pt>
                  <c:pt idx="7">
                    <c:v>Kimberly</c:v>
                  </c:pt>
                  <c:pt idx="8">
                    <c:v>Norman</c:v>
                  </c:pt>
                  <c:pt idx="9">
                    <c:v>Ayanda</c:v>
                  </c:pt>
                  <c:pt idx="10">
                    <c:v>Peacemaker</c:v>
                  </c:pt>
                </c:lvl>
              </c:multiLvlStrCache>
            </c:multiLvlStrRef>
          </c:cat>
          <c:val>
            <c:numRef>
              <c:f>Sheet1!$B$2:$B$12</c:f>
              <c:numCache>
                <c:formatCode>General</c:formatCode>
                <c:ptCount val="11"/>
                <c:pt idx="0">
                  <c:v>1</c:v>
                </c:pt>
                <c:pt idx="1">
                  <c:v>0.54</c:v>
                </c:pt>
                <c:pt idx="2">
                  <c:v>0.51</c:v>
                </c:pt>
                <c:pt idx="3">
                  <c:v>0.5</c:v>
                </c:pt>
                <c:pt idx="4">
                  <c:v>0.36</c:v>
                </c:pt>
                <c:pt idx="5">
                  <c:v>0.35</c:v>
                </c:pt>
                <c:pt idx="6">
                  <c:v>0.3</c:v>
                </c:pt>
                <c:pt idx="7">
                  <c:v>0.2</c:v>
                </c:pt>
                <c:pt idx="8">
                  <c:v>0.17</c:v>
                </c:pt>
                <c:pt idx="9">
                  <c:v>0.14</c:v>
                </c:pt>
                <c:pt idx="10">
                  <c:v>0</c:v>
                </c:pt>
              </c:numCache>
            </c:numRef>
          </c:val>
        </c:ser>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gapWidth val="50"/>
        <c:overlap val="0"/>
        <c:axId val="2094734554"/>
        <c:axId val="2094734552"/>
        <c:axId val="2094734556"/>
      </c:barChart>
      <c:lineChart>
        <c:varyColors val="0"/>
        <c:ser>
          <c:idx val="1"/>
          <c:order val="1"/>
          <c:tx>
            <c:strRef>
              <c:f>Sheet1!$C$1</c:f>
              <c:strCache>
                <c:ptCount val="1"/>
                <c:pt idx="0">
                  <c:v>Standard 40%</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Sheet1!$A$2:$A$12</c:f>
              <c:multiLvlStrCache>
                <c:ptCount val="11"/>
                <c:lvl>
                  <c:pt idx="0">
                    <c:v>Gugulethu</c:v>
                  </c:pt>
                  <c:pt idx="1">
                    <c:v>Patience</c:v>
                  </c:pt>
                  <c:pt idx="2">
                    <c:v>Office</c:v>
                  </c:pt>
                  <c:pt idx="3">
                    <c:v>Nqobile</c:v>
                  </c:pt>
                  <c:pt idx="4">
                    <c:v>Nothabo</c:v>
                  </c:pt>
                  <c:pt idx="5">
                    <c:v>Andile</c:v>
                  </c:pt>
                  <c:pt idx="6">
                    <c:v>Pesuate</c:v>
                  </c:pt>
                  <c:pt idx="7">
                    <c:v>Kimberly</c:v>
                  </c:pt>
                  <c:pt idx="8">
                    <c:v>Norman</c:v>
                  </c:pt>
                  <c:pt idx="9">
                    <c:v>Ayanda</c:v>
                  </c:pt>
                  <c:pt idx="10">
                    <c:v>Peacemaker</c:v>
                  </c:pt>
                </c:lvl>
              </c:multiLvlStrCache>
            </c:multiLvlStrRef>
          </c:cat>
          <c:val>
            <c:numRef>
              <c:f>Sheet1!$C$2:$C$12</c:f>
              <c:numCache>
                <c:formatCode>General</c:formatCode>
                <c:ptCount val="11"/>
                <c:pt idx="0">
                  <c:v>0.4</c:v>
                </c:pt>
                <c:pt idx="1">
                  <c:v>0.4</c:v>
                </c:pt>
                <c:pt idx="2">
                  <c:v>0.4</c:v>
                </c:pt>
                <c:pt idx="3">
                  <c:v>0.4</c:v>
                </c:pt>
                <c:pt idx="4">
                  <c:v>0.4</c:v>
                </c:pt>
                <c:pt idx="5">
                  <c:v>0.4</c:v>
                </c:pt>
                <c:pt idx="6">
                  <c:v>0.4</c:v>
                </c:pt>
                <c:pt idx="7">
                  <c:v>0.4</c:v>
                </c:pt>
                <c:pt idx="8">
                  <c:v>0.4</c:v>
                </c:pt>
                <c:pt idx="9">
                  <c:v>0.4</c:v>
                </c:pt>
                <c:pt idx="10">
                  <c:v>0.4</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Joinings by seller and month (count)</a:t>
            </a:r>
          </a:p>
        </c:rich>
      </c:tx>
      <c:layout/>
      <c:overlay val="0"/>
    </c:title>
    <c:autoTitleDeleted val="0"/>
    <c:plotArea>
      <c:layout/>
      <c:barChart>
        <c:barDir val="col"/>
        <c:grouping val="stacked"/>
        <c:varyColors val="0"/>
        <c:ser>
          <c:idx val="0"/>
          <c:order val="0"/>
          <c:tx>
            <c:strRef>
              <c:f>Sheet1!$B$1</c:f>
              <c:strCache>
                <c:ptCount val="1"/>
                <c:pt idx="0">
                  <c:v>Mar</c:v>
                </c:pt>
              </c:strCache>
            </c:strRef>
          </c:tx>
          <c:spPr>
            <a:solidFill>
              <a:srgbClr val="E3F1F2"/>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Sheet1!$B$2:$B$11</c:f>
              <c:numCache>
                <c:formatCode>General</c:formatCode>
                <c:ptCount val="10"/>
                <c:pt idx="0">
                  <c:v>10</c:v>
                </c:pt>
                <c:pt idx="1">
                  <c:v>11</c:v>
                </c:pt>
                <c:pt idx="2">
                  <c:v>6</c:v>
                </c:pt>
                <c:pt idx="3">
                  <c:v>7</c:v>
                </c:pt>
                <c:pt idx="4">
                  <c:v>4</c:v>
                </c:pt>
                <c:pt idx="5">
                  <c:v>0</c:v>
                </c:pt>
                <c:pt idx="6">
                  <c:v>0</c:v>
                </c:pt>
                <c:pt idx="7">
                  <c:v>10</c:v>
                </c:pt>
                <c:pt idx="8">
                  <c:v>12</c:v>
                </c:pt>
                <c:pt idx="9">
                  <c:v>0</c:v>
                </c:pt>
              </c:numCache>
            </c:numRef>
          </c:val>
        </c:ser>
        <c:ser>
          <c:idx val="1"/>
          <c:order val="1"/>
          <c:tx>
            <c:strRef>
              <c:f>Sheet1!$C$1</c:f>
              <c:strCache>
                <c:ptCount val="1"/>
                <c:pt idx="0">
                  <c:v>Apr</c:v>
                </c:pt>
              </c:strCache>
            </c:strRef>
          </c:tx>
          <c:spPr>
            <a:solidFill>
              <a:srgbClr val="C9E3E5"/>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Sheet1!$C$2:$C$11</c:f>
              <c:numCache>
                <c:formatCode>General</c:formatCode>
                <c:ptCount val="10"/>
                <c:pt idx="0">
                  <c:v>1</c:v>
                </c:pt>
                <c:pt idx="1">
                  <c:v>4</c:v>
                </c:pt>
                <c:pt idx="2">
                  <c:v>0</c:v>
                </c:pt>
                <c:pt idx="3">
                  <c:v>1</c:v>
                </c:pt>
                <c:pt idx="4">
                  <c:v>0</c:v>
                </c:pt>
                <c:pt idx="5">
                  <c:v>0</c:v>
                </c:pt>
                <c:pt idx="6">
                  <c:v>0</c:v>
                </c:pt>
                <c:pt idx="7">
                  <c:v>0</c:v>
                </c:pt>
                <c:pt idx="8">
                  <c:v>0</c:v>
                </c:pt>
                <c:pt idx="9">
                  <c:v>0</c:v>
                </c:pt>
              </c:numCache>
            </c:numRef>
          </c:val>
        </c:ser>
        <c:ser>
          <c:idx val="2"/>
          <c:order val="2"/>
          <c:tx>
            <c:strRef>
              <c:f>Sheet1!$D$1</c:f>
              <c:strCache>
                <c:ptCount val="1"/>
                <c:pt idx="0">
                  <c:v>May</c:v>
                </c:pt>
              </c:strCache>
            </c:strRef>
          </c:tx>
          <c:spPr>
            <a:solidFill>
              <a:srgbClr val="AED4D7"/>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Sheet1!$D$2:$D$11</c:f>
              <c:numCache>
                <c:formatCode>General</c:formatCode>
                <c:ptCount val="10"/>
                <c:pt idx="0">
                  <c:v>0</c:v>
                </c:pt>
                <c:pt idx="1">
                  <c:v>0</c:v>
                </c:pt>
                <c:pt idx="2">
                  <c:v>2</c:v>
                </c:pt>
                <c:pt idx="3">
                  <c:v>0</c:v>
                </c:pt>
                <c:pt idx="4">
                  <c:v>3</c:v>
                </c:pt>
                <c:pt idx="5">
                  <c:v>0</c:v>
                </c:pt>
                <c:pt idx="6">
                  <c:v>0</c:v>
                </c:pt>
                <c:pt idx="7">
                  <c:v>0</c:v>
                </c:pt>
                <c:pt idx="8">
                  <c:v>0</c:v>
                </c:pt>
                <c:pt idx="9">
                  <c:v>4</c:v>
                </c:pt>
              </c:numCache>
            </c:numRef>
          </c:val>
        </c:ser>
        <c:ser>
          <c:idx val="3"/>
          <c:order val="3"/>
          <c:tx>
            <c:strRef>
              <c:f>Sheet1!$E$1</c:f>
              <c:strCache>
                <c:ptCount val="1"/>
                <c:pt idx="0">
                  <c:v>Jun</c:v>
                </c:pt>
              </c:strCache>
            </c:strRef>
          </c:tx>
          <c:spPr>
            <a:solidFill>
              <a:srgbClr val="92C4C8"/>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Sheet1!$E$2:$E$11</c:f>
              <c:numCache>
                <c:formatCode>General</c:formatCode>
                <c:ptCount val="10"/>
                <c:pt idx="0">
                  <c:v>30</c:v>
                </c:pt>
                <c:pt idx="1">
                  <c:v>12</c:v>
                </c:pt>
                <c:pt idx="2">
                  <c:v>16</c:v>
                </c:pt>
                <c:pt idx="3">
                  <c:v>14</c:v>
                </c:pt>
                <c:pt idx="4">
                  <c:v>15</c:v>
                </c:pt>
                <c:pt idx="5">
                  <c:v>0</c:v>
                </c:pt>
                <c:pt idx="6">
                  <c:v>0</c:v>
                </c:pt>
                <c:pt idx="7">
                  <c:v>2</c:v>
                </c:pt>
                <c:pt idx="8">
                  <c:v>0</c:v>
                </c:pt>
                <c:pt idx="9">
                  <c:v>20</c:v>
                </c:pt>
              </c:numCache>
            </c:numRef>
          </c:val>
        </c:ser>
        <c:ser>
          <c:idx val="4"/>
          <c:order val="4"/>
          <c:tx>
            <c:strRef>
              <c:f>Sheet1!$F$1</c:f>
              <c:strCache>
                <c:ptCount val="1"/>
                <c:pt idx="0">
                  <c:v>Jul</c:v>
                </c:pt>
              </c:strCache>
            </c:strRef>
          </c:tx>
          <c:spPr>
            <a:solidFill>
              <a:srgbClr val="76B3B8"/>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Sheet1!$F$2:$F$11</c:f>
              <c:numCache>
                <c:formatCode>General</c:formatCode>
                <c:ptCount val="10"/>
                <c:pt idx="0">
                  <c:v>9</c:v>
                </c:pt>
                <c:pt idx="1">
                  <c:v>17</c:v>
                </c:pt>
                <c:pt idx="2">
                  <c:v>2</c:v>
                </c:pt>
                <c:pt idx="3">
                  <c:v>2</c:v>
                </c:pt>
                <c:pt idx="4">
                  <c:v>0</c:v>
                </c:pt>
                <c:pt idx="5">
                  <c:v>15</c:v>
                </c:pt>
                <c:pt idx="6">
                  <c:v>3</c:v>
                </c:pt>
                <c:pt idx="7">
                  <c:v>0</c:v>
                </c:pt>
                <c:pt idx="8">
                  <c:v>0</c:v>
                </c:pt>
                <c:pt idx="9">
                  <c:v>6</c:v>
                </c:pt>
              </c:numCache>
            </c:numRef>
          </c:val>
        </c:ser>
        <c:ser>
          <c:idx val="5"/>
          <c:order val="5"/>
          <c:tx>
            <c:strRef>
              <c:f>Sheet1!$G$1</c:f>
              <c:strCache>
                <c:ptCount val="1"/>
                <c:pt idx="0">
                  <c:v>Aug</c:v>
                </c:pt>
              </c:strCache>
            </c:strRef>
          </c:tx>
          <c:spPr>
            <a:solidFill>
              <a:srgbClr val="5BA2A8"/>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Sheet1!$G$2:$G$11</c:f>
              <c:numCache>
                <c:formatCode>General</c:formatCode>
                <c:ptCount val="10"/>
                <c:pt idx="0">
                  <c:v>2</c:v>
                </c:pt>
                <c:pt idx="1">
                  <c:v>0</c:v>
                </c:pt>
                <c:pt idx="2">
                  <c:v>4</c:v>
                </c:pt>
                <c:pt idx="3">
                  <c:v>2</c:v>
                </c:pt>
                <c:pt idx="4">
                  <c:v>0</c:v>
                </c:pt>
                <c:pt idx="5">
                  <c:v>0</c:v>
                </c:pt>
                <c:pt idx="6">
                  <c:v>1</c:v>
                </c:pt>
                <c:pt idx="7">
                  <c:v>1</c:v>
                </c:pt>
                <c:pt idx="8">
                  <c:v>0</c:v>
                </c:pt>
                <c:pt idx="9">
                  <c:v>6</c:v>
                </c:pt>
              </c:numCache>
            </c:numRef>
          </c:val>
        </c:ser>
        <c:ser>
          <c:idx val="6"/>
          <c:order val="6"/>
          <c:tx>
            <c:strRef>
              <c:f>Sheet1!$H$1</c:f>
              <c:strCache>
                <c:ptCount val="1"/>
                <c:pt idx="0">
                  <c:v>Sep</c:v>
                </c:pt>
              </c:strCache>
            </c:strRef>
          </c:tx>
          <c:spPr>
            <a:solidFill>
              <a:srgbClr val="418F96"/>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Sheet1!$H$2:$H$11</c:f>
              <c:numCache>
                <c:formatCode>General</c:formatCode>
                <c:ptCount val="10"/>
                <c:pt idx="0">
                  <c:v>8</c:v>
                </c:pt>
                <c:pt idx="1">
                  <c:v>0</c:v>
                </c:pt>
                <c:pt idx="2">
                  <c:v>0</c:v>
                </c:pt>
                <c:pt idx="3">
                  <c:v>2</c:v>
                </c:pt>
                <c:pt idx="4">
                  <c:v>0</c:v>
                </c:pt>
                <c:pt idx="5">
                  <c:v>2</c:v>
                </c:pt>
                <c:pt idx="6">
                  <c:v>12</c:v>
                </c:pt>
                <c:pt idx="7">
                  <c:v>0</c:v>
                </c:pt>
                <c:pt idx="8">
                  <c:v>0</c:v>
                </c:pt>
                <c:pt idx="9">
                  <c:v>5</c:v>
                </c:pt>
              </c:numCache>
            </c:numRef>
          </c:val>
        </c:ser>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r"/>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Gugulethu Moyo: joinings by month</a:t>
            </a:r>
          </a:p>
        </c:rich>
      </c:tx>
      <c:layout/>
      <c:overlay val="0"/>
    </c:title>
    <c:autoTitleDeleted val="0"/>
    <c:plotArea>
      <c:layout/>
      <c:barChart>
        <c:barDir val="col"/>
        <c:grouping val="clustered"/>
        <c:varyColors val="0"/>
        <c:ser>
          <c:idx val="0"/>
          <c:order val="0"/>
          <c:tx>
            <c:strRef>
              <c:f>Sheet1!$B$1</c:f>
              <c:strCache>
                <c:ptCount val="1"/>
                <c:pt idx="0">
                  <c:v>Joinings (all paid)</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Jul</c:v>
                  </c:pt>
                  <c:pt idx="1">
                    <c:v>Aug</c:v>
                  </c:pt>
                  <c:pt idx="2">
                    <c:v>Sep</c:v>
                  </c:pt>
                </c:lvl>
              </c:multiLvlStrCache>
            </c:multiLvlStrRef>
          </c:cat>
          <c:val>
            <c:numRef>
              <c:f>Sheet1!$B$2:$B$4</c:f>
              <c:numCache>
                <c:formatCode>General</c:formatCode>
                <c:ptCount val="3"/>
                <c:pt idx="0">
                  <c:v>3</c:v>
                </c:pt>
                <c:pt idx="1">
                  <c:v>1</c:v>
                </c:pt>
                <c:pt idx="2">
                  <c:v>12</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September joinings (29)</a:t>
            </a:r>
          </a:p>
        </c:rich>
      </c:tx>
      <c:layout/>
      <c:overlay val="0"/>
    </c:title>
    <c:autoTitleDeleted val="0"/>
    <c:plotArea>
      <c:layout/>
      <c:barChart>
        <c:barDir val="col"/>
        <c:grouping val="stacked"/>
        <c:varyColors val="0"/>
        <c:ser>
          <c:idx val="0"/>
          <c:order val="0"/>
          <c:tx>
            <c:strRef>
              <c:f>Sheet1!$B$1</c:f>
              <c:strCache>
                <c:ptCount val="1"/>
                <c:pt idx="0">
                  <c:v>Gugulethu Moyo (41%)</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Sep</c:v>
                  </c:pt>
                </c:lvl>
              </c:multiLvlStrCache>
            </c:multiLvlStrRef>
          </c:cat>
          <c:val>
            <c:numRef>
              <c:f>Sheet1!$B$2:$B$2</c:f>
              <c:numCache>
                <c:formatCode>General</c:formatCode>
                <c:ptCount val="1"/>
                <c:pt idx="0">
                  <c:v>12</c:v>
                </c:pt>
              </c:numCache>
            </c:numRef>
          </c:val>
        </c:ser>
        <c:ser>
          <c:idx val="1"/>
          <c:order val="1"/>
          <c:tx>
            <c:strRef>
              <c:f>Sheet1!$C$1</c:f>
              <c:strCache>
                <c:ptCount val="1"/>
                <c:pt idx="0">
                  <c:v>All other sellers</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Sep</c:v>
                  </c:pt>
                </c:lvl>
              </c:multiLvlStrCache>
            </c:multiLvlStrRef>
          </c:cat>
          <c:val>
            <c:numRef>
              <c:f>Sheet1!$C$2:$C$2</c:f>
              <c:numCache>
                <c:formatCode>General</c:formatCode>
                <c:ptCount val="1"/>
                <c:pt idx="0">
                  <c:v>17</c:v>
                </c:pt>
              </c:numCache>
            </c:numRef>
          </c:val>
        </c:ser>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gapWidth val="8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Policies captured and paid by product</a:t>
            </a:r>
          </a:p>
        </c:rich>
      </c:tx>
      <c:layout/>
      <c:overlay val="0"/>
    </c:title>
    <c:autoTitleDeleted val="0"/>
    <c:plotArea>
      <c:layout/>
      <c:barChart>
        <c:barDir val="col"/>
        <c:grouping val="clustered"/>
        <c:varyColors val="0"/>
        <c:ser>
          <c:idx val="0"/>
          <c:order val="0"/>
          <c:tx>
            <c:strRef>
              <c:f>Sheet1!$B$1</c:f>
              <c:strCache>
                <c:ptCount val="1"/>
                <c:pt idx="0">
                  <c:v>Captured</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UMTHUNZI (49% paid)</c:v>
                  </c:pt>
                  <c:pt idx="1">
                    <c:v>UMNDENI (21% paid)</c:v>
                  </c:pt>
                  <c:pt idx="2">
                    <c:v>YEDWANA (52% paid)</c:v>
                  </c:pt>
                  <c:pt idx="3">
                    <c:v>Legacy Individual*</c:v>
                  </c:pt>
                  <c:pt idx="4">
                    <c:v>Legacy Group</c:v>
                  </c:pt>
                </c:lvl>
              </c:multiLvlStrCache>
            </c:multiLvlStrRef>
          </c:cat>
          <c:val>
            <c:numRef>
              <c:f>Sheet1!$B$2:$B$6</c:f>
              <c:numCache>
                <c:formatCode>General</c:formatCode>
                <c:ptCount val="5"/>
                <c:pt idx="0">
                  <c:v>140</c:v>
                </c:pt>
                <c:pt idx="1">
                  <c:v>133</c:v>
                </c:pt>
                <c:pt idx="2">
                  <c:v>25</c:v>
                </c:pt>
                <c:pt idx="3">
                  <c:v>29</c:v>
                </c:pt>
                <c:pt idx="4">
                  <c:v>9</c:v>
                </c:pt>
              </c:numCache>
            </c:numRef>
          </c:val>
        </c:ser>
        <c:ser>
          <c:idx val="1"/>
          <c:order val="1"/>
          <c:tx>
            <c:strRef>
              <c:f>Sheet1!$C$1</c:f>
              <c:strCache>
                <c:ptCount val="1"/>
                <c:pt idx="0">
                  <c:v>Paid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UMTHUNZI (49% paid)</c:v>
                  </c:pt>
                  <c:pt idx="1">
                    <c:v>UMNDENI (21% paid)</c:v>
                  </c:pt>
                  <c:pt idx="2">
                    <c:v>YEDWANA (52% paid)</c:v>
                  </c:pt>
                  <c:pt idx="3">
                    <c:v>Legacy Individual*</c:v>
                  </c:pt>
                  <c:pt idx="4">
                    <c:v>Legacy Group</c:v>
                  </c:pt>
                </c:lvl>
              </c:multiLvlStrCache>
            </c:multiLvlStrRef>
          </c:cat>
          <c:val>
            <c:numRef>
              <c:f>Sheet1!$C$2:$C$6</c:f>
              <c:numCache>
                <c:formatCode>General</c:formatCode>
                <c:ptCount val="5"/>
                <c:pt idx="0">
                  <c:v>69</c:v>
                </c:pt>
                <c:pt idx="1">
                  <c:v>28</c:v>
                </c:pt>
                <c:pt idx="2">
                  <c:v>13</c:v>
                </c:pt>
                <c:pt idx="3">
                  <c:v>26</c:v>
                </c:pt>
                <c:pt idx="4">
                  <c:v>8</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0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6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Policies in force (start of month)</a:t>
            </a:r>
          </a:p>
        </c:rich>
      </c:tx>
      <c:layout/>
      <c:overlay val="0"/>
    </c:title>
    <c:autoTitleDeleted val="0"/>
    <c:plotArea>
      <c:layout/>
      <c:lineChart>
        <c:varyColors val="0"/>
        <c:ser>
          <c:idx val="0"/>
          <c:order val="0"/>
          <c:tx>
            <c:strRef>
              <c:f>Sheet1!$B$1</c:f>
              <c:strCache>
                <c:ptCount val="1"/>
                <c:pt idx="0">
                  <c:v>Policies in force</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Sheet1!$A$2:$A$9</c:f>
              <c:multiLvlStrCache>
                <c:ptCount val="8"/>
                <c:lvl>
                  <c:pt idx="0">
                    <c:v>1 Apr</c:v>
                  </c:pt>
                  <c:pt idx="1">
                    <c:v>1 May</c:v>
                  </c:pt>
                  <c:pt idx="2">
                    <c:v>1 Jun</c:v>
                  </c:pt>
                  <c:pt idx="3">
                    <c:v>1 Jul</c:v>
                  </c:pt>
                  <c:pt idx="4">
                    <c:v>1 Aug</c:v>
                  </c:pt>
                  <c:pt idx="5">
                    <c:v>1 Sep</c:v>
                  </c:pt>
                  <c:pt idx="6">
                    <c:v>1 Oct</c:v>
                  </c:pt>
                  <c:pt idx="7">
                    <c:v>4 Oct</c:v>
                  </c:pt>
                </c:lvl>
              </c:multiLvlStrCache>
            </c:multiLvlStrRef>
          </c:cat>
          <c:val>
            <c:numRef>
              <c:f>Sheet1!$B$2:$B$9</c:f>
              <c:numCache>
                <c:formatCode>General</c:formatCode>
                <c:ptCount val="8"/>
                <c:pt idx="0">
                  <c:v>14</c:v>
                </c:pt>
                <c:pt idx="1">
                  <c:v>14</c:v>
                </c:pt>
                <c:pt idx="2">
                  <c:v>14</c:v>
                </c:pt>
                <c:pt idx="3">
                  <c:v>47</c:v>
                </c:pt>
                <c:pt idx="4">
                  <c:v>202</c:v>
                </c:pt>
                <c:pt idx="5">
                  <c:v>422</c:v>
                </c:pt>
                <c:pt idx="6">
                  <c:v>574</c:v>
                </c:pt>
                <c:pt idx="7">
                  <c:v>582</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New paid vs lapsed, and net growth (count)</a:t>
            </a:r>
          </a:p>
        </c:rich>
      </c:tx>
      <c:layout/>
      <c:overlay val="0"/>
    </c:title>
    <c:autoTitleDeleted val="0"/>
    <c:plotArea>
      <c:layout/>
      <c:barChart>
        <c:barDir val="col"/>
        <c:grouping val="clustered"/>
        <c:varyColors val="0"/>
        <c:ser>
          <c:idx val="0"/>
          <c:order val="0"/>
          <c:tx>
            <c:strRef>
              <c:f>Sheet1!$B$1</c:f>
              <c:strCache>
                <c:ptCount val="1"/>
                <c:pt idx="0">
                  <c:v>New paid</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31</c:v>
                </c:pt>
                <c:pt idx="1">
                  <c:v>23</c:v>
                </c:pt>
                <c:pt idx="2">
                  <c:v>13</c:v>
                </c:pt>
                <c:pt idx="3">
                  <c:v>22</c:v>
                </c:pt>
              </c:numCache>
            </c:numRef>
          </c:val>
        </c:ser>
        <c:ser>
          <c:idx val="1"/>
          <c:order val="1"/>
          <c:tx>
            <c:strRef>
              <c:f>Sheet1!$C$1</c:f>
              <c:strCache>
                <c:ptCount val="1"/>
                <c:pt idx="0">
                  <c:v>Lapsed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0</c:v>
                </c:pt>
                <c:pt idx="1">
                  <c:v>0</c:v>
                </c:pt>
                <c:pt idx="2">
                  <c:v>4</c:v>
                </c:pt>
                <c:pt idx="3">
                  <c:v>28</c:v>
                </c:pt>
              </c:numCache>
            </c:numRef>
          </c:val>
        </c:ser>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Net growth</c:v>
                </c:pt>
              </c:strCache>
            </c:strRef>
          </c:tx>
          <c:spPr>
            <a:solidFill>
              <a:srgbClr val="34ADB3"/>
            </a:solidFill>
            <a:ln w="38100" cap="flat">
              <a:solidFill>
                <a:srgbClr val="34ADB3"/>
              </a:solidFill>
              <a:prstDash val="solid"/>
              <a:round/>
            </a:ln>
            <a:effectLst/>
          </c:spPr>
          <c:invertIfNegative val="0"/>
          <c:dLbls>
            <c:numFmt formatCode="+#,##0;−#,##0;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9"/>
            <c:spPr>
              <a:solidFill>
                <a:srgbClr val="34ADB3"/>
              </a:solidFill>
              <a:ln w="9525" cap="flat">
                <a:solidFill>
                  <a:srgbClr val="34ADB3"/>
                </a:solidFill>
                <a:prstDash val="solid"/>
                <a:round/>
              </a:ln>
              <a:effectLst/>
            </c:spPr>
          </c:marker>
          <c:cat>
            <c:multiLvlStrRef>
              <c:f>Sheet1!$A$2:$A$5</c:f>
              <c:multiLvlStrCache>
                <c:ptCount val="4"/>
                <c:lvl>
                  <c:pt idx="0">
                    <c:v>Jun</c:v>
                  </c:pt>
                  <c:pt idx="1">
                    <c:v>Jul</c:v>
                  </c:pt>
                  <c:pt idx="2">
                    <c:v>Aug</c:v>
                  </c:pt>
                  <c:pt idx="3">
                    <c:v>Sep</c:v>
                  </c:pt>
                </c:lvl>
              </c:multiLvlStrCache>
            </c:multiLvlStrRef>
          </c:cat>
          <c:val>
            <c:numRef>
              <c:f>Sheet1!$D$2:$D$5</c:f>
              <c:numCache>
                <c:formatCode>General</c:formatCode>
                <c:ptCount val="4"/>
                <c:pt idx="0">
                  <c:v>31</c:v>
                </c:pt>
                <c:pt idx="1">
                  <c:v>23</c:v>
                </c:pt>
                <c:pt idx="2">
                  <c:v>9</c:v>
                </c:pt>
                <c:pt idx="3">
                  <c:v>-6</c:v>
                </c:pt>
              </c:numCache>
            </c:numRef>
          </c:val>
          <c:smooth val="0"/>
        </c:ser>
        <c:dLbls>
          <c:numFmt formatCode="+#,##0;−#,##0;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5"/>
          <c:min val="-1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Into grace, recovered and lapsed (count)</a:t>
            </a:r>
          </a:p>
        </c:rich>
      </c:tx>
      <c:layout/>
      <c:overlay val="0"/>
    </c:title>
    <c:autoTitleDeleted val="0"/>
    <c:plotArea>
      <c:layout/>
      <c:barChart>
        <c:barDir val="col"/>
        <c:grouping val="clustered"/>
        <c:varyColors val="0"/>
        <c:ser>
          <c:idx val="0"/>
          <c:order val="0"/>
          <c:tx>
            <c:strRef>
              <c:f>Sheet1!$B$1</c:f>
              <c:strCache>
                <c:ptCount val="1"/>
                <c:pt idx="0">
                  <c:v>Into grace</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Jul</c:v>
                  </c:pt>
                  <c:pt idx="1">
                    <c:v>Aug</c:v>
                  </c:pt>
                  <c:pt idx="2">
                    <c:v>Sep</c:v>
                  </c:pt>
                </c:lvl>
              </c:multiLvlStrCache>
            </c:multiLvlStrRef>
          </c:cat>
          <c:val>
            <c:numRef>
              <c:f>Sheet1!$B$2:$B$4</c:f>
              <c:numCache>
                <c:formatCode>General</c:formatCode>
                <c:ptCount val="3"/>
                <c:pt idx="0">
                  <c:v>6</c:v>
                </c:pt>
                <c:pt idx="1">
                  <c:v>71</c:v>
                </c:pt>
                <c:pt idx="2">
                  <c:v>91</c:v>
                </c:pt>
              </c:numCache>
            </c:numRef>
          </c:val>
        </c:ser>
        <c:ser>
          <c:idx val="1"/>
          <c:order val="1"/>
          <c:tx>
            <c:strRef>
              <c:f>Sheet1!$C$1</c:f>
              <c:strCache>
                <c:ptCount val="1"/>
                <c:pt idx="0">
                  <c:v>Recovered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Jul</c:v>
                  </c:pt>
                  <c:pt idx="1">
                    <c:v>Aug</c:v>
                  </c:pt>
                  <c:pt idx="2">
                    <c:v>Sep</c:v>
                  </c:pt>
                </c:lvl>
              </c:multiLvlStrCache>
            </c:multiLvlStrRef>
          </c:cat>
          <c:val>
            <c:numRef>
              <c:f>Sheet1!$C$2:$C$4</c:f>
              <c:numCache>
                <c:formatCode>General</c:formatCode>
                <c:ptCount val="3"/>
                <c:pt idx="0">
                  <c:v>1</c:v>
                </c:pt>
                <c:pt idx="1">
                  <c:v>27</c:v>
                </c:pt>
                <c:pt idx="2">
                  <c:v>68</c:v>
                </c:pt>
              </c:numCache>
            </c:numRef>
          </c:val>
        </c:ser>
        <c:ser>
          <c:idx val="2"/>
          <c:order val="2"/>
          <c:tx>
            <c:strRef>
              <c:f>Sheet1!$D$1</c:f>
              <c:strCache>
                <c:ptCount val="1"/>
                <c:pt idx="0">
                  <c:v>Lapsed</c:v>
                </c:pt>
              </c:strCache>
            </c:strRef>
          </c:tx>
          <c:spPr>
            <a:solidFill>
              <a:srgbClr val="34ADB3"/>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Jul</c:v>
                  </c:pt>
                  <c:pt idx="1">
                    <c:v>Aug</c:v>
                  </c:pt>
                  <c:pt idx="2">
                    <c:v>Sep</c:v>
                  </c:pt>
                </c:lvl>
              </c:multiLvlStrCache>
            </c:multiLvlStrRef>
          </c:cat>
          <c:val>
            <c:numRef>
              <c:f>Sheet1!$D$2:$D$4</c:f>
              <c:numCache>
                <c:formatCode>General</c:formatCode>
                <c:ptCount val="3"/>
                <c:pt idx="0">
                  <c:v>0</c:v>
                </c:pt>
                <c:pt idx="1">
                  <c:v>4</c:v>
                </c:pt>
                <c:pt idx="2">
                  <c:v>28</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Grace recovery rate</a:t>
            </a:r>
          </a:p>
        </c:rich>
      </c:tx>
      <c:layout/>
      <c:overlay val="0"/>
    </c:title>
    <c:autoTitleDeleted val="0"/>
    <c:plotArea>
      <c:layout/>
      <c:lineChart>
        <c:varyColors val="0"/>
        <c:ser>
          <c:idx val="0"/>
          <c:order val="0"/>
          <c:tx>
            <c:strRef>
              <c:f>Sheet1!$B$1</c:f>
              <c:strCache>
                <c:ptCount val="1"/>
                <c:pt idx="0">
                  <c:v>Recovery rate</c:v>
                </c:pt>
              </c:strCache>
            </c:strRef>
          </c:tx>
          <c:spPr>
            <a:solidFill>
              <a:srgbClr val="2E8B57"/>
            </a:solidFill>
            <a:ln w="38100" cap="flat">
              <a:solidFill>
                <a:srgbClr val="2E8B57"/>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8B57"/>
              </a:solidFill>
              <a:ln w="9525" cap="flat">
                <a:solidFill>
                  <a:srgbClr val="2E8B57"/>
                </a:solidFill>
                <a:prstDash val="solid"/>
                <a:round/>
              </a:ln>
              <a:effectLst/>
            </c:spPr>
          </c:marker>
          <c:cat>
            <c:multiLvlStrRef>
              <c:f>Sheet1!$A$2:$A$4</c:f>
              <c:multiLvlStrCache>
                <c:ptCount val="3"/>
                <c:lvl>
                  <c:pt idx="0">
                    <c:v>Jul</c:v>
                  </c:pt>
                  <c:pt idx="1">
                    <c:v>Aug</c:v>
                  </c:pt>
                  <c:pt idx="2">
                    <c:v>Sep</c:v>
                  </c:pt>
                </c:lvl>
              </c:multiLvlStrCache>
            </c:multiLvlStrRef>
          </c:cat>
          <c:val>
            <c:numRef>
              <c:f>Sheet1!$B$2:$B$4</c:f>
              <c:numCache>
                <c:formatCode>General</c:formatCode>
                <c:ptCount val="3"/>
                <c:pt idx="0">
                  <c:v>0.17</c:v>
                </c:pt>
                <c:pt idx="1">
                  <c:v>0.38</c:v>
                </c:pt>
                <c:pt idx="2">
                  <c:v>0.75</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Inactive new-business policies (month-end)</a:t>
            </a:r>
          </a:p>
        </c:rich>
      </c:tx>
      <c:layout/>
      <c:overlay val="0"/>
    </c:title>
    <c:autoTitleDeleted val="0"/>
    <c:plotArea>
      <c:layout/>
      <c:lineChart>
        <c:varyColors val="0"/>
        <c:ser>
          <c:idx val="0"/>
          <c:order val="0"/>
          <c:tx>
            <c:strRef>
              <c:f>Sheet1!$B$1</c:f>
              <c:strCache>
                <c:ptCount val="1"/>
                <c:pt idx="0">
                  <c:v>Inactive (never paid)</c:v>
                </c:pt>
              </c:strCache>
            </c:strRef>
          </c:tx>
          <c:spPr>
            <a:solidFill>
              <a:srgbClr val="E07B39"/>
            </a:solidFill>
            <a:ln w="38100" cap="flat">
              <a:solidFill>
                <a:srgbClr val="E07B39"/>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E07B39"/>
              </a:solidFill>
              <a:ln w="9525" cap="flat">
                <a:solidFill>
                  <a:srgbClr val="E07B39"/>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51</c:v>
                </c:pt>
                <c:pt idx="1">
                  <c:v>58</c:v>
                </c:pt>
                <c:pt idx="2">
                  <c:v>67</c:v>
                </c:pt>
                <c:pt idx="3">
                  <c:v>154</c:v>
                </c:pt>
                <c:pt idx="4">
                  <c:v>188</c:v>
                </c:pt>
                <c:pt idx="5">
                  <c:v>190</c:v>
                </c:pt>
                <c:pt idx="6">
                  <c:v>194</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Lives covered (month-end)</a:t>
            </a:r>
          </a:p>
        </c:rich>
      </c:tx>
      <c:layout/>
      <c:overlay val="0"/>
    </c:title>
    <c:autoTitleDeleted val="0"/>
    <c:plotArea>
      <c:layout/>
      <c:lineChart>
        <c:varyColors val="0"/>
        <c:ser>
          <c:idx val="0"/>
          <c:order val="0"/>
          <c:tx>
            <c:strRef>
              <c:f>Sheet1!$B$1</c:f>
              <c:strCache>
                <c:ptCount val="1"/>
                <c:pt idx="0">
                  <c:v>Lives covered</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Sheet1!$A$2:$A$9</c:f>
              <c:multiLvlStrCache>
                <c:ptCount val="8"/>
                <c:lvl>
                  <c:pt idx="0">
                    <c:v>Mar</c:v>
                  </c:pt>
                  <c:pt idx="1">
                    <c:v>Apr</c:v>
                  </c:pt>
                  <c:pt idx="2">
                    <c:v>May</c:v>
                  </c:pt>
                  <c:pt idx="3">
                    <c:v>Jun</c:v>
                  </c:pt>
                  <c:pt idx="4">
                    <c:v>Jul</c:v>
                  </c:pt>
                  <c:pt idx="5">
                    <c:v>Aug</c:v>
                  </c:pt>
                  <c:pt idx="6">
                    <c:v>Sep</c:v>
                  </c:pt>
                  <c:pt idx="7">
                    <c:v>4 Oct</c:v>
                  </c:pt>
                </c:lvl>
              </c:multiLvlStrCache>
            </c:multiLvlStrRef>
          </c:cat>
          <c:val>
            <c:numRef>
              <c:f>Sheet1!$B$2:$B$9</c:f>
              <c:numCache>
                <c:formatCode>General</c:formatCode>
                <c:ptCount val="8"/>
                <c:pt idx="0">
                  <c:v>34</c:v>
                </c:pt>
                <c:pt idx="1">
                  <c:v>34</c:v>
                </c:pt>
                <c:pt idx="2">
                  <c:v>34</c:v>
                </c:pt>
                <c:pt idx="3">
                  <c:v>162</c:v>
                </c:pt>
                <c:pt idx="4">
                  <c:v>1094</c:v>
                </c:pt>
                <c:pt idx="5">
                  <c:v>2575</c:v>
                </c:pt>
                <c:pt idx="6">
                  <c:v>3694</c:v>
                </c:pt>
                <c:pt idx="7">
                  <c:v>3782</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45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Where the lives came from</a:t>
            </a:r>
          </a:p>
        </c:rich>
      </c:tx>
      <c:layout/>
      <c:overlay val="0"/>
    </c:title>
    <c:autoTitleDeleted val="0"/>
    <c:plotArea>
      <c:layout/>
      <c:barChart>
        <c:barDir val="col"/>
        <c:grouping val="clustered"/>
        <c:varyColors val="0"/>
        <c:ser>
          <c:idx val="0"/>
          <c:order val="0"/>
          <c:tx>
            <c:strRef>
              <c:f>Sheet1!$B$1</c:f>
              <c:strCache>
                <c:ptCount val="1"/>
                <c:pt idx="0">
                  <c:v>Lives</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Existing clients</c:v>
                  </c:pt>
                  <c:pt idx="1">
                    <c:v>New sales</c:v>
                  </c:pt>
                </c:lvl>
              </c:multiLvlStrCache>
            </c:multiLvlStrRef>
          </c:cat>
          <c:val>
            <c:numRef>
              <c:f>Sheet1!$B$2:$B$3</c:f>
              <c:numCache>
                <c:formatCode>General</c:formatCode>
                <c:ptCount val="2"/>
                <c:pt idx="0">
                  <c:v>3185</c:v>
                </c:pt>
                <c:pt idx="1">
                  <c:v>453</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7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Individual USD premium: due vs collected</a:t>
            </a:r>
          </a:p>
        </c:rich>
      </c:tx>
      <c:layout/>
      <c:overlay val="0"/>
    </c:title>
    <c:autoTitleDeleted val="0"/>
    <c:plotArea>
      <c:layout/>
      <c:barChart>
        <c:barDir val="col"/>
        <c:grouping val="clustered"/>
        <c:varyColors val="0"/>
        <c:ser>
          <c:idx val="0"/>
          <c:order val="0"/>
          <c:tx>
            <c:strRef>
              <c:f>Sheet1!$B$1</c:f>
              <c:strCache>
                <c:ptCount val="1"/>
                <c:pt idx="0">
                  <c:v>Due</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499</c:v>
                </c:pt>
                <c:pt idx="1">
                  <c:v>1749</c:v>
                </c:pt>
                <c:pt idx="2">
                  <c:v>3484</c:v>
                </c:pt>
                <c:pt idx="3">
                  <c:v>4675</c:v>
                </c:pt>
              </c:numCache>
            </c:numRef>
          </c:val>
        </c:ser>
        <c:ser>
          <c:idx val="1"/>
          <c:order val="1"/>
          <c:tx>
            <c:strRef>
              <c:f>Sheet1!$C$1</c:f>
              <c:strCache>
                <c:ptCount val="1"/>
                <c:pt idx="0">
                  <c:v>Collected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491</c:v>
                </c:pt>
                <c:pt idx="1">
                  <c:v>1755</c:v>
                </c:pt>
                <c:pt idx="2">
                  <c:v>1925</c:v>
                </c:pt>
                <c:pt idx="3">
                  <c:v>2284</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52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Collection rate vs 70% target</a:t>
            </a:r>
          </a:p>
        </c:rich>
      </c:tx>
      <c:layout/>
      <c:overlay val="0"/>
    </c:title>
    <c:autoTitleDeleted val="0"/>
    <c:plotArea>
      <c:layout/>
      <c:lineChart>
        <c:varyColors val="0"/>
        <c:ser>
          <c:idx val="0"/>
          <c:order val="0"/>
          <c:tx>
            <c:strRef>
              <c:f>Sheet1!$B$1</c:f>
              <c:strCache>
                <c:ptCount val="1"/>
                <c:pt idx="0">
                  <c:v>Collection rate</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0.98</c:v>
                </c:pt>
                <c:pt idx="1">
                  <c:v>1</c:v>
                </c:pt>
                <c:pt idx="2">
                  <c:v>0.55</c:v>
                </c:pt>
                <c:pt idx="3">
                  <c:v>0.49</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Target 70%</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0.7</c:v>
                </c:pt>
                <c:pt idx="1">
                  <c:v>0.7</c:v>
                </c:pt>
                <c:pt idx="2">
                  <c:v>0.7</c:v>
                </c:pt>
                <c:pt idx="3">
                  <c:v>0.7</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Money in per month (USD, cash received)</a:t>
            </a:r>
          </a:p>
        </c:rich>
      </c:tx>
      <c:layout/>
      <c:overlay val="0"/>
    </c:title>
    <c:autoTitleDeleted val="0"/>
    <c:plotArea>
      <c:layout/>
      <c:lineChart>
        <c:varyColors val="0"/>
        <c:ser>
          <c:idx val="0"/>
          <c:order val="0"/>
          <c:tx>
            <c:strRef>
              <c:f>Sheet1!$B$1</c:f>
              <c:strCache>
                <c:ptCount val="1"/>
                <c:pt idx="0">
                  <c:v>Money in (USD)</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Sheet1!$A$2:$A$5</c:f>
              <c:multiLvlStrCache>
                <c:ptCount val="4"/>
                <c:lvl>
                  <c:pt idx="0">
                    <c:v>Jun</c:v>
                  </c:pt>
                  <c:pt idx="1">
                    <c:v>Jul (+31%)</c:v>
                  </c:pt>
                  <c:pt idx="2">
                    <c:v>Aug (+21%)</c:v>
                  </c:pt>
                  <c:pt idx="3">
                    <c:v>Sep (−10%)</c:v>
                  </c:pt>
                </c:lvl>
              </c:multiLvlStrCache>
            </c:multiLvlStrRef>
          </c:cat>
          <c:val>
            <c:numRef>
              <c:f>Sheet1!$B$2:$B$5</c:f>
              <c:numCache>
                <c:formatCode>General</c:formatCode>
                <c:ptCount val="4"/>
                <c:pt idx="0">
                  <c:v>10558</c:v>
                </c:pt>
                <c:pt idx="1">
                  <c:v>13825</c:v>
                </c:pt>
                <c:pt idx="2">
                  <c:v>16760</c:v>
                </c:pt>
                <c:pt idx="3">
                  <c:v>15078</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200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Money in by stream (USD)</a:t>
            </a:r>
          </a:p>
        </c:rich>
      </c:tx>
      <c:layout/>
      <c:overlay val="0"/>
    </c:title>
    <c:autoTitleDeleted val="0"/>
    <c:plotArea>
      <c:layout/>
      <c:barChart>
        <c:barDir val="col"/>
        <c:grouping val="stacked"/>
        <c:varyColors val="0"/>
        <c:ser>
          <c:idx val="0"/>
          <c:order val="0"/>
          <c:tx>
            <c:strRef>
              <c:f>Sheet1!$B$1</c:f>
              <c:strCache>
                <c:ptCount val="1"/>
                <c:pt idx="0">
                  <c:v>Society lump sums</c:v>
                </c:pt>
              </c:strCache>
            </c:strRef>
          </c:tx>
          <c:spPr>
            <a:solidFill>
              <a:srgbClr val="2E6DB4"/>
            </a:solidFill>
            <a:effectLst/>
          </c:spPr>
          <c:invertIfNegative val="0"/>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6922</c:v>
                </c:pt>
                <c:pt idx="1">
                  <c:v>5037</c:v>
                </c:pt>
                <c:pt idx="2">
                  <c:v>7705</c:v>
                </c:pt>
                <c:pt idx="3">
                  <c:v>6706</c:v>
                </c:pt>
              </c:numCache>
            </c:numRef>
          </c:val>
        </c:ser>
        <c:ser>
          <c:idx val="1"/>
          <c:order val="1"/>
          <c:tx>
            <c:strRef>
              <c:f>Sheet1!$C$1</c:f>
              <c:strCache>
                <c:ptCount val="1"/>
                <c:pt idx="0">
                  <c:v>Cash funerals</c:v>
                </c:pt>
              </c:strCache>
            </c:strRef>
          </c:tx>
          <c:spPr>
            <a:solidFill>
              <a:srgbClr val="E07B39"/>
            </a:solidFill>
            <a:effectLst/>
          </c:spPr>
          <c:invertIfNegative val="0"/>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3145</c:v>
                </c:pt>
                <c:pt idx="1">
                  <c:v>6733</c:v>
                </c:pt>
                <c:pt idx="2">
                  <c:v>5902</c:v>
                </c:pt>
                <c:pt idx="3">
                  <c:v>4375</c:v>
                </c:pt>
              </c:numCache>
            </c:numRef>
          </c:val>
        </c:ser>
        <c:ser>
          <c:idx val="2"/>
          <c:order val="2"/>
          <c:tx>
            <c:strRef>
              <c:f>Sheet1!$D$1</c:f>
              <c:strCache>
                <c:ptCount val="1"/>
                <c:pt idx="0">
                  <c:v>Individual premiums</c:v>
                </c:pt>
              </c:strCache>
            </c:strRef>
          </c:tx>
          <c:spPr>
            <a:solidFill>
              <a:srgbClr val="34ADB3"/>
            </a:solidFill>
            <a:effectLst/>
          </c:spPr>
          <c:invertIfNegative val="0"/>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Sheet1!$D$2:$D$5</c:f>
              <c:numCache>
                <c:formatCode>General</c:formatCode>
                <c:ptCount val="4"/>
                <c:pt idx="0">
                  <c:v>491</c:v>
                </c:pt>
                <c:pt idx="1">
                  <c:v>1915</c:v>
                </c:pt>
                <c:pt idx="2">
                  <c:v>2204</c:v>
                </c:pt>
                <c:pt idx="3">
                  <c:v>2550</c:v>
                </c:pt>
              </c:numCache>
            </c:numRef>
          </c:val>
        </c:ser>
        <c:ser>
          <c:idx val="3"/>
          <c:order val="3"/>
          <c:tx>
            <c:strRef>
              <c:f>Sheet1!$E$1</c:f>
              <c:strCache>
                <c:ptCount val="1"/>
                <c:pt idx="0">
                  <c:v>Society-member premiums</c:v>
                </c:pt>
              </c:strCache>
            </c:strRef>
          </c:tx>
          <c:spPr>
            <a:solidFill>
              <a:srgbClr val="E2B530"/>
            </a:solidFill>
            <a:effectLst/>
          </c:spPr>
          <c:invertIfNegative val="0"/>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Sheet1!$E$2:$E$5</c:f>
              <c:numCache>
                <c:formatCode>General</c:formatCode>
                <c:ptCount val="4"/>
                <c:pt idx="0">
                  <c:v>0</c:v>
                </c:pt>
                <c:pt idx="1">
                  <c:v>140</c:v>
                </c:pt>
                <c:pt idx="2">
                  <c:v>950</c:v>
                </c:pt>
                <c:pt idx="3">
                  <c:v>1447</c:v>
                </c:pt>
              </c:numCache>
            </c:numRef>
          </c:val>
        </c:ser>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Mix, June–September</a:t>
            </a:r>
          </a:p>
        </c:rich>
      </c:tx>
      <c:layout/>
      <c:overlay val="0"/>
    </c:title>
    <c:autoTitleDeleted val="0"/>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2E6DB4"/>
              </a:solidFill>
              <a:effectLst/>
            </c:spPr>
          </c:dPt>
          <c:dPt>
            <c:idx val="1"/>
            <c:bubble3D val="0"/>
            <c:spPr>
              <a:solidFill>
                <a:srgbClr val="E07B39"/>
              </a:solidFill>
              <a:effectLst/>
            </c:spPr>
          </c:dPt>
          <c:dPt>
            <c:idx val="2"/>
            <c:bubble3D val="0"/>
            <c:spPr>
              <a:solidFill>
                <a:srgbClr val="34ADB3"/>
              </a:solidFill>
              <a:effectLst/>
            </c:spPr>
          </c:dPt>
          <c:dPt>
            <c:idx val="3"/>
            <c:bubble3D val="0"/>
            <c:spPr>
              <a:solidFill>
                <a:srgbClr val="E2B530"/>
              </a:solidFill>
              <a:effectLst/>
            </c:spPr>
          </c:dPt>
          <c:dLbls>
            <c:dLbl>
              <c:idx val="0"/>
              <c:numFmt formatCode="0%" sourceLinked="0"/>
              <c:spPr/>
              <c:txPr>
                <a:bodyPr/>
                <a:lstStyle/>
                <a:p>
                  <a:pPr>
                    <a:defRPr sz="1100" b="0" i="0" u="none" strike="noStrike">
                      <a:solidFill>
                        <a:srgbClr val="FFFFFF"/>
                      </a:solidFill>
                      <a:latin typeface="+mn-lt"/>
                    </a:defRPr>
                  </a:pPr>
                </a:p>
              </c:txPr>
              <c:dLblPos val="ct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mn-lt"/>
                    </a:defRPr>
                  </a:pPr>
                </a:p>
              </c:txPr>
              <c:dLblPos val="ct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mn-lt"/>
                    </a:defRPr>
                  </a:pPr>
                </a:p>
              </c:txPr>
              <c:dLblPos val="ctr"/>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mn-lt"/>
                    </a:defRPr>
                  </a:pPr>
                </a:p>
              </c:txPr>
              <c:dLblPos val="ct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Societies</c:v>
                </c:pt>
                <c:pt idx="1">
                  <c:v>Cash funerals</c:v>
                </c:pt>
                <c:pt idx="2">
                  <c:v>Individual</c:v>
                </c:pt>
                <c:pt idx="3">
                  <c:v>Member premiums</c:v>
                </c:pt>
              </c:strCache>
            </c:strRef>
          </c:cat>
          <c:val>
            <c:numRef>
              <c:f>Sheet1!$B$2:$B$5</c:f>
              <c:numCache>
                <c:ptCount val="4"/>
                <c:pt idx="0">
                  <c:v>26370</c:v>
                </c:pt>
                <c:pt idx="1">
                  <c:v>20155</c:v>
                </c:pt>
                <c:pt idx="2">
                  <c:v>7160</c:v>
                </c:pt>
                <c:pt idx="3">
                  <c:v>2537</c:v>
                </c:pt>
              </c:numCache>
            </c:numRef>
          </c:val>
        </c:ser>
        <c:firstSliceAng val="0"/>
      </c:pieChart>
      <c:spPr>
        <a:solidFill>
          <a:srgbClr val="F5F7F7"/>
        </a:solidFill>
        <a:ln>
          <a:noFill/>
        </a:ln>
        <a:effectLst/>
      </c:spPr>
    </c:plotArea>
    <c:legend>
      <c:legendPos val="b"/>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Funerals by burial date and type (count)</a:t>
            </a:r>
          </a:p>
        </c:rich>
      </c:tx>
      <c:layout/>
      <c:overlay val="0"/>
    </c:title>
    <c:autoTitleDeleted val="0"/>
    <c:plotArea>
      <c:layout/>
      <c:barChart>
        <c:barDir val="col"/>
        <c:grouping val="stacked"/>
        <c:varyColors val="0"/>
        <c:ser>
          <c:idx val="0"/>
          <c:order val="0"/>
          <c:tx>
            <c:strRef>
              <c:f>Sheet1!$B$1</c:f>
              <c:strCache>
                <c:ptCount val="1"/>
                <c:pt idx="0">
                  <c:v>Policy</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11</c:v>
                </c:pt>
                <c:pt idx="1">
                  <c:v>23</c:v>
                </c:pt>
                <c:pt idx="2">
                  <c:v>29</c:v>
                </c:pt>
                <c:pt idx="3">
                  <c:v>17</c:v>
                </c:pt>
              </c:numCache>
            </c:numRef>
          </c:val>
        </c:ser>
        <c:ser>
          <c:idx val="1"/>
          <c:order val="1"/>
          <c:tx>
            <c:strRef>
              <c:f>Sheet1!$C$1</c:f>
              <c:strCache>
                <c:ptCount val="1"/>
                <c:pt idx="0">
                  <c:v>Cash</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14</c:v>
                </c:pt>
                <c:pt idx="1">
                  <c:v>14</c:v>
                </c:pt>
                <c:pt idx="2">
                  <c:v>10</c:v>
                </c:pt>
                <c:pt idx="3">
                  <c:v>4</c:v>
                </c:pt>
              </c:numCache>
            </c:numRef>
          </c:val>
        </c:ser>
        <c:ser>
          <c:idx val="2"/>
          <c:order val="2"/>
          <c:tx>
            <c:strRef>
              <c:f>Sheet1!$D$1</c:f>
              <c:strCache>
                <c:ptCount val="1"/>
                <c:pt idx="0">
                  <c:v>Type not recorded</c:v>
                </c:pt>
              </c:strCache>
            </c:strRef>
          </c:tx>
          <c:spPr>
            <a:solidFill>
              <a:srgbClr val="34ADB3"/>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Sheet1!$D$2:$D$5</c:f>
              <c:numCache>
                <c:formatCode>General</c:formatCode>
                <c:ptCount val="4"/>
                <c:pt idx="0">
                  <c:v>2</c:v>
                </c:pt>
                <c:pt idx="1">
                  <c:v>1</c:v>
                </c:pt>
                <c:pt idx="2">
                  <c:v>0</c:v>
                </c:pt>
                <c:pt idx="3">
                  <c:v>1</c:v>
                </c:pt>
              </c:numCache>
            </c:numRef>
          </c:val>
        </c:ser>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Mortuary intakes (count)</a:t>
            </a:r>
          </a:p>
        </c:rich>
      </c:tx>
      <c:layout/>
      <c:overlay val="0"/>
    </c:title>
    <c:autoTitleDeleted val="0"/>
    <c:plotArea>
      <c:layout/>
      <c:barChart>
        <c:barDir val="col"/>
        <c:grouping val="clustered"/>
        <c:varyColors val="0"/>
        <c:ser>
          <c:idx val="0"/>
          <c:order val="0"/>
          <c:tx>
            <c:strRef>
              <c:f>Sheet1!$B$1</c:f>
              <c:strCache>
                <c:ptCount val="1"/>
                <c:pt idx="0">
                  <c:v>Intakes</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7</c:v>
                </c:pt>
                <c:pt idx="1">
                  <c:v>41</c:v>
                </c:pt>
                <c:pt idx="2">
                  <c:v>23</c:v>
                </c:pt>
                <c:pt idx="3">
                  <c:v>12</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Storage fees charged (USD)</a:t>
            </a:r>
          </a:p>
        </c:rich>
      </c:tx>
      <c:layout/>
      <c:overlay val="0"/>
    </c:title>
    <c:autoTitleDeleted val="0"/>
    <c:plotArea>
      <c:layout/>
      <c:barChart>
        <c:barDir val="col"/>
        <c:grouping val="clustered"/>
        <c:varyColors val="0"/>
        <c:ser>
          <c:idx val="0"/>
          <c:order val="0"/>
          <c:tx>
            <c:strRef>
              <c:f>Sheet1!$B$1</c:f>
              <c:strCache>
                <c:ptCount val="1"/>
                <c:pt idx="0">
                  <c:v>Charged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40</c:v>
                </c:pt>
                <c:pt idx="1">
                  <c:v>540</c:v>
                </c:pt>
                <c:pt idx="2">
                  <c:v>340</c:v>
                </c:pt>
                <c:pt idx="3">
                  <c:v>220</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65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Funerals recorded per vehicle</a:t>
            </a:r>
          </a:p>
        </c:rich>
      </c:tx>
      <c:layout/>
      <c:overlay val="0"/>
    </c:title>
    <c:autoTitleDeleted val="0"/>
    <c:plotArea>
      <c:layout/>
      <c:barChart>
        <c:barDir val="bar"/>
        <c:grouping val="clustered"/>
        <c:varyColors val="0"/>
        <c:ser>
          <c:idx val="0"/>
          <c:order val="0"/>
          <c:tx>
            <c:strRef>
              <c:f>Sheet1!$B$1</c:f>
              <c:strCache>
                <c:ptCount val="1"/>
                <c:pt idx="0">
                  <c:v>Funerals</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Baby Quantum AHO8415</c:v>
                  </c:pt>
                  <c:pt idx="1">
                    <c:v>Baby Quantum AHO8416</c:v>
                  </c:pt>
                  <c:pt idx="2">
                    <c:v>Quantum GL MB77ZXGP</c:v>
                  </c:pt>
                  <c:pt idx="3">
                    <c:v>Mazda BT50 ADX0618</c:v>
                  </c:pt>
                  <c:pt idx="4">
                    <c:v>Nissan NP300 NB25MGGP</c:v>
                  </c:pt>
                </c:lvl>
              </c:multiLvlStrCache>
            </c:multiLvlStrRef>
          </c:cat>
          <c:val>
            <c:numRef>
              <c:f>Sheet1!$B$2:$B$6</c:f>
              <c:numCache>
                <c:formatCode>General</c:formatCode>
                <c:ptCount val="5"/>
                <c:pt idx="0">
                  <c:v>30</c:v>
                </c:pt>
                <c:pt idx="1">
                  <c:v>23</c:v>
                </c:pt>
                <c:pt idx="2">
                  <c:v>23</c:v>
                </c:pt>
                <c:pt idx="3">
                  <c:v>17</c:v>
                </c:pt>
                <c:pt idx="4">
                  <c:v>4</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2D4"/>
            </a:solidFill>
            <a:prstDash val="solid"/>
            <a:round/>
          </a:ln>
        </c:spPr>
        <c:txPr>
          <a:bodyPr/>
          <a:lstStyle/>
          <a:p>
            <a:pPr>
              <a:defRPr sz="10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b"/>
        <c:majorGridlines>
          <c:spPr>
            <a:ln w="9525" cap="flat">
              <a:solidFill>
                <a:srgbClr val="E3E8E9"/>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Vehicle hire (USD)</a:t>
            </a:r>
          </a:p>
        </c:rich>
      </c:tx>
      <c:layout/>
      <c:overlay val="0"/>
    </c:title>
    <c:autoTitleDeleted val="0"/>
    <c:plotArea>
      <c:layout/>
      <c:barChart>
        <c:barDir val="col"/>
        <c:grouping val="clustered"/>
        <c:varyColors val="0"/>
        <c:ser>
          <c:idx val="0"/>
          <c:order val="0"/>
          <c:tx>
            <c:strRef>
              <c:f>Sheet1!$B$1</c:f>
              <c:strCache>
                <c:ptCount val="1"/>
                <c:pt idx="0">
                  <c:v>Hire</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1865</c:v>
                </c:pt>
                <c:pt idx="1">
                  <c:v>885</c:v>
                </c:pt>
                <c:pt idx="2">
                  <c:v>1448</c:v>
                </c:pt>
                <c:pt idx="3">
                  <c:v>725</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22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Societies added to the system</a:t>
            </a:r>
          </a:p>
        </c:rich>
      </c:tx>
      <c:layout/>
      <c:overlay val="0"/>
    </c:title>
    <c:autoTitleDeleted val="0"/>
    <c:plotArea>
      <c:layout/>
      <c:barChart>
        <c:barDir val="col"/>
        <c:grouping val="clustered"/>
        <c:varyColors val="0"/>
        <c:ser>
          <c:idx val="0"/>
          <c:order val="0"/>
          <c:tx>
            <c:strRef>
              <c:f>Sheet1!$B$1</c:f>
              <c:strCache>
                <c:ptCount val="1"/>
                <c:pt idx="0">
                  <c:v>Societies added</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23</c:v>
                </c:pt>
                <c:pt idx="1">
                  <c:v>52</c:v>
                </c:pt>
                <c:pt idx="2">
                  <c:v>4</c:v>
                </c:pt>
                <c:pt idx="3">
                  <c:v>1</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Members captured? (of 80)</a:t>
            </a:r>
          </a:p>
        </c:rich>
      </c:tx>
      <c:layout/>
      <c:overlay val="0"/>
    </c:title>
    <c:autoTitleDeleted val="0"/>
    <c:plotArea>
      <c:layout/>
      <c:barChart>
        <c:barDir val="col"/>
        <c:grouping val="stacked"/>
        <c:varyColors val="0"/>
        <c:ser>
          <c:idx val="0"/>
          <c:order val="0"/>
          <c:tx>
            <c:strRef>
              <c:f>Sheet1!$B$1</c:f>
              <c:strCache>
                <c:ptCount val="1"/>
                <c:pt idx="0">
                  <c:v>Members captured (22)</c:v>
                </c:pt>
              </c:strCache>
            </c:strRef>
          </c:tx>
          <c:spPr>
            <a:solidFill>
              <a:srgbClr val="34ADB3"/>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Societies</c:v>
                  </c:pt>
                </c:lvl>
              </c:multiLvlStrCache>
            </c:multiLvlStrRef>
          </c:cat>
          <c:val>
            <c:numRef>
              <c:f>Sheet1!$B$2:$B$2</c:f>
              <c:numCache>
                <c:formatCode>General</c:formatCode>
                <c:ptCount val="1"/>
                <c:pt idx="0">
                  <c:v>22</c:v>
                </c:pt>
              </c:numCache>
            </c:numRef>
          </c:val>
        </c:ser>
        <c:ser>
          <c:idx val="1"/>
          <c:order val="1"/>
          <c:tx>
            <c:strRef>
              <c:f>Sheet1!$C$1</c:f>
              <c:strCache>
                <c:ptCount val="1"/>
                <c:pt idx="0">
                  <c:v>No members (58)</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Societies</c:v>
                  </c:pt>
                </c:lvl>
              </c:multiLvlStrCache>
            </c:multiLvlStrRef>
          </c:cat>
          <c:val>
            <c:numRef>
              <c:f>Sheet1!$C$2:$C$2</c:f>
              <c:numCache>
                <c:formatCode>General</c:formatCode>
                <c:ptCount val="1"/>
                <c:pt idx="0">
                  <c:v>58</c:v>
                </c:pt>
              </c:numCache>
            </c:numRef>
          </c:val>
        </c:ser>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Projected book in 12 months (policies)</a:t>
            </a:r>
          </a:p>
        </c:rich>
      </c:tx>
      <c:layout/>
      <c:overlay val="0"/>
    </c:title>
    <c:autoTitleDeleted val="0"/>
    <c:plotArea>
      <c:layout/>
      <c:barChart>
        <c:barDir val="bar"/>
        <c:grouping val="clustered"/>
        <c:varyColors val="0"/>
        <c:ser>
          <c:idx val="0"/>
          <c:order val="0"/>
          <c:tx>
            <c:strRef>
              <c:f>Sheet1!$B$1</c:f>
              <c:strCache>
                <c:ptCount val="1"/>
                <c:pt idx="0">
                  <c:v>Projected book</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Sheet1!$A$2:$A$9</c:f>
              <c:multiLvlStrCache>
                <c:ptCount val="8"/>
                <c:lvl>
                  <c:pt idx="0">
                    <c:v>No change</c:v>
                  </c:pt>
                  <c:pt idx="1">
                    <c:v>+2 agents</c:v>
                  </c:pt>
                  <c:pt idx="2">
                    <c:v>+5 agents</c:v>
                  </c:pt>
                  <c:pt idx="3">
                    <c:v>+10 agents</c:v>
                  </c:pt>
                  <c:pt idx="4">
                    <c:v>Lapse −1 pt</c:v>
                  </c:pt>
                  <c:pt idx="5">
                    <c:v>Lapse −2 pts</c:v>
                  </c:pt>
                  <c:pt idx="6">
                    <c:v>Funeral leads 5/mo</c:v>
                  </c:pt>
                  <c:pt idx="7">
                    <c:v>Funeral leads 10/mo</c:v>
                  </c:pt>
                </c:lvl>
              </c:multiLvlStrCache>
            </c:multiLvlStrRef>
          </c:cat>
          <c:val>
            <c:numRef>
              <c:f>Sheet1!$B$2:$B$9</c:f>
              <c:numCache>
                <c:formatCode>General</c:formatCode>
                <c:ptCount val="8"/>
                <c:pt idx="0">
                  <c:v>484</c:v>
                </c:pt>
                <c:pt idx="1">
                  <c:v>567</c:v>
                </c:pt>
                <c:pt idx="2">
                  <c:v>676</c:v>
                </c:pt>
                <c:pt idx="3">
                  <c:v>878</c:v>
                </c:pt>
                <c:pt idx="4">
                  <c:v>535</c:v>
                </c:pt>
                <c:pt idx="5">
                  <c:v>592</c:v>
                </c:pt>
                <c:pt idx="6">
                  <c:v>530</c:v>
                </c:pt>
                <c:pt idx="7">
                  <c:v>576</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2D4"/>
            </a:solidFill>
            <a:prstDash val="solid"/>
            <a:round/>
          </a:ln>
        </c:spPr>
        <c:txPr>
          <a:bodyPr/>
          <a:lstStyle/>
          <a:p>
            <a:pPr>
              <a:defRPr sz="10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000"/>
          <c:min val="0"/>
        </c:scaling>
        <c:delete val="0"/>
        <c:axPos val="b"/>
        <c:majorGridlines>
          <c:spPr>
            <a:ln w="9525" cap="flat">
              <a:solidFill>
                <a:srgbClr val="E3E8E9"/>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Policies in force (projected)</a:t>
            </a:r>
          </a:p>
        </c:rich>
      </c:tx>
      <c:layout/>
      <c:overlay val="0"/>
    </c:title>
    <c:autoTitleDeleted val="0"/>
    <c:plotArea>
      <c:layout/>
      <c:lineChart>
        <c:varyColors val="0"/>
        <c:ser>
          <c:idx val="0"/>
          <c:order val="0"/>
          <c:tx>
            <c:strRef>
              <c:f>Sheet1!$B$1</c:f>
              <c:strCache>
                <c:ptCount val="1"/>
                <c:pt idx="0">
                  <c:v>Current (projected)</c:v>
                </c:pt>
              </c:strCache>
            </c:strRef>
          </c:tx>
          <c:spPr>
            <a:solidFill>
              <a:srgbClr val="2E6DB4"/>
            </a:solidFill>
            <a:ln w="38100" cap="flat">
              <a:solidFill>
                <a:srgbClr val="2E6DB4"/>
              </a:solidFill>
              <a:prstDash val="dash"/>
              <a:round/>
            </a:ln>
            <a:effectLst/>
          </c:spPr>
          <c:invertIfNegative val="0"/>
          <c:dLbls>
            <c:numFmt formatCode="#,##0" sourceLinked="0"/>
            <c:txPr>
              <a:bodyPr/>
              <a:lstStyle/>
              <a:p>
                <a:pPr>
                  <a:defRPr b="0" i="0" strike="noStrike" sz="1000" u="none">
                    <a:solidFill>
                      <a:srgbClr val="1E2A2F"/>
                    </a:solidFill>
                    <a:latin typeface="+mn-lt"/>
                  </a:defRPr>
                </a:pPr>
              </a:p>
            </c:txPr>
            <c:dLblPos val="b"/>
            <c:showLegendKey val="0"/>
            <c:showVal val="1"/>
            <c:showCatName val="0"/>
            <c:showSerName val="0"/>
            <c:showPercent val="0"/>
            <c:showBubbleSize val="0"/>
            <c:showLeaderLines val="0"/>
          </c:dLbls>
          <c:marker>
            <c:symbol val="circle"/>
            <c:size val="7"/>
            <c:spPr>
              <a:solidFill>
                <a:srgbClr val="2E6DB4"/>
              </a:solidFill>
              <a:ln w="9525" cap="flat">
                <a:solidFill>
                  <a:srgbClr val="2E6DB4"/>
                </a:solidFill>
                <a:prstDash val="solid"/>
                <a:round/>
              </a:ln>
              <a:effectLst/>
            </c:spPr>
          </c:marker>
          <c:cat>
            <c:multiLvlStrRef>
              <c:f>Sheet1!$A$2:$A$5</c:f>
              <c:multiLvlStrCache>
                <c:ptCount val="4"/>
                <c:lvl>
                  <c:pt idx="0">
                    <c:v>Now</c:v>
                  </c:pt>
                  <c:pt idx="1">
                    <c:v>3 months</c:v>
                  </c:pt>
                  <c:pt idx="2">
                    <c:v>6 months</c:v>
                  </c:pt>
                  <c:pt idx="3">
                    <c:v>12 months</c:v>
                  </c:pt>
                </c:lvl>
              </c:multiLvlStrCache>
            </c:multiLvlStrRef>
          </c:cat>
          <c:val>
            <c:numRef>
              <c:f>Sheet1!$B$2:$B$5</c:f>
              <c:numCache>
                <c:formatCode>General</c:formatCode>
                <c:ptCount val="4"/>
                <c:pt idx="0">
                  <c:v>582</c:v>
                </c:pt>
                <c:pt idx="1">
                  <c:v>552</c:v>
                </c:pt>
                <c:pt idx="2">
                  <c:v>526</c:v>
                </c:pt>
                <c:pt idx="3">
                  <c:v>484</c:v>
                </c:pt>
              </c:numCache>
            </c:numRef>
          </c:val>
          <c:smooth val="0"/>
        </c:ser>
        <c:dLbls>
          <c:numFmt formatCode="#,##0" sourceLinked="0"/>
          <c:txPr>
            <a:bodyPr/>
            <a:lstStyle/>
            <a:p>
              <a:pPr>
                <a:defRPr b="0" i="0" strike="noStrike" sz="1000" u="none">
                  <a:solidFill>
                    <a:srgbClr val="1E2A2F"/>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With the plan (projected)</c:v>
                </c:pt>
              </c:strCache>
            </c:strRef>
          </c:tx>
          <c:spPr>
            <a:solidFill>
              <a:srgbClr val="E07B39"/>
            </a:solidFill>
            <a:ln w="38100" cap="flat">
              <a:solidFill>
                <a:srgbClr val="E07B39"/>
              </a:solidFill>
              <a:prstDash val="dash"/>
              <a:round/>
            </a:ln>
            <a:effectLst/>
          </c:spPr>
          <c:invertIfNegative val="0"/>
          <c:dLbls>
            <c:numFmt formatCode="#,##0" sourceLinked="0"/>
            <c:txPr>
              <a:bodyPr/>
              <a:lstStyle/>
              <a:p>
                <a:pPr>
                  <a:defRPr b="0" i="0" strike="noStrike" sz="1000" u="none">
                    <a:solidFill>
                      <a:srgbClr val="1E2A2F"/>
                    </a:solidFill>
                    <a:latin typeface="+mn-lt"/>
                  </a:defRPr>
                </a:pPr>
              </a:p>
            </c:txPr>
            <c:dLblPos val="r"/>
            <c:showLegendKey val="0"/>
            <c:showVal val="1"/>
            <c:showCatName val="0"/>
            <c:showSerName val="0"/>
            <c:showPercent val="0"/>
            <c:showBubbleSize val="0"/>
            <c:showLeaderLines val="0"/>
          </c:dLbls>
          <c:marker>
            <c:symbol val="circle"/>
            <c:size val="7"/>
            <c:spPr>
              <a:solidFill>
                <a:srgbClr val="E07B39"/>
              </a:solidFill>
              <a:ln w="9525" cap="flat">
                <a:solidFill>
                  <a:srgbClr val="E07B39"/>
                </a:solidFill>
                <a:prstDash val="solid"/>
                <a:round/>
              </a:ln>
              <a:effectLst/>
            </c:spPr>
          </c:marker>
          <c:cat>
            <c:multiLvlStrRef>
              <c:f>Sheet1!$A$2:$A$5</c:f>
              <c:multiLvlStrCache>
                <c:ptCount val="4"/>
                <c:lvl>
                  <c:pt idx="0">
                    <c:v>Now</c:v>
                  </c:pt>
                  <c:pt idx="1">
                    <c:v>3 months</c:v>
                  </c:pt>
                  <c:pt idx="2">
                    <c:v>6 months</c:v>
                  </c:pt>
                  <c:pt idx="3">
                    <c:v>12 months</c:v>
                  </c:pt>
                </c:lvl>
              </c:multiLvlStrCache>
            </c:multiLvlStrRef>
          </c:cat>
          <c:val>
            <c:numRef>
              <c:f>Sheet1!$C$2:$C$5</c:f>
              <c:numCache>
                <c:formatCode>General</c:formatCode>
                <c:ptCount val="4"/>
                <c:pt idx="0">
                  <c:v>582</c:v>
                </c:pt>
                <c:pt idx="1">
                  <c:v>697</c:v>
                </c:pt>
                <c:pt idx="2">
                  <c:v>800</c:v>
                </c:pt>
                <c:pt idx="3">
                  <c:v>976</c:v>
                </c:pt>
              </c:numCache>
            </c:numRef>
          </c:val>
          <c:smooth val="0"/>
        </c:ser>
        <c:dLbls>
          <c:numFmt formatCode="#,##0" sourceLinked="0"/>
          <c:txPr>
            <a:bodyPr/>
            <a:lstStyle/>
            <a:p>
              <a:pPr>
                <a:defRPr b="0" i="0" strike="noStrike" sz="1000" u="none">
                  <a:solidFill>
                    <a:srgbClr val="1E2A2F"/>
                  </a:solidFill>
                  <a:latin typeface="+mn-lt"/>
                </a:defRPr>
              </a:pPr>
            </a:p>
          </c:txPr>
          <c:dLblPos val="r"/>
          <c:showLegendKey val="0"/>
          <c:showVal val="1"/>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Accelerated (projected)</c:v>
                </c:pt>
              </c:strCache>
            </c:strRef>
          </c:tx>
          <c:spPr>
            <a:solidFill>
              <a:srgbClr val="34ADB3"/>
            </a:solidFill>
            <a:ln w="38100" cap="flat">
              <a:solidFill>
                <a:srgbClr val="34ADB3"/>
              </a:solidFill>
              <a:prstDash val="dash"/>
              <a:round/>
            </a:ln>
            <a:effectLst/>
          </c:spPr>
          <c:invertIfNegative val="0"/>
          <c:dLbls>
            <c:numFmt formatCode="#,##0" sourceLinked="0"/>
            <c:txPr>
              <a:bodyPr/>
              <a:lstStyle/>
              <a:p>
                <a:pPr>
                  <a:defRPr b="0" i="0" strike="noStrike" sz="1000" u="none">
                    <a:solidFill>
                      <a:srgbClr val="1E2A2F"/>
                    </a:solidFill>
                    <a:latin typeface="+mn-lt"/>
                  </a:defRPr>
                </a:pPr>
              </a:p>
            </c:txPr>
            <c:dLblPos val="t"/>
            <c:showLegendKey val="0"/>
            <c:showVal val="1"/>
            <c:showCatName val="0"/>
            <c:showSerName val="0"/>
            <c:showPercent val="0"/>
            <c:showBubbleSize val="0"/>
            <c:showLeaderLines val="0"/>
          </c:dLbls>
          <c:marker>
            <c:symbol val="circle"/>
            <c:size val="7"/>
            <c:spPr>
              <a:solidFill>
                <a:srgbClr val="34ADB3"/>
              </a:solidFill>
              <a:ln w="9525" cap="flat">
                <a:solidFill>
                  <a:srgbClr val="34ADB3"/>
                </a:solidFill>
                <a:prstDash val="solid"/>
                <a:round/>
              </a:ln>
              <a:effectLst/>
            </c:spPr>
          </c:marker>
          <c:cat>
            <c:multiLvlStrRef>
              <c:f>Sheet1!$A$2:$A$5</c:f>
              <c:multiLvlStrCache>
                <c:ptCount val="4"/>
                <c:lvl>
                  <c:pt idx="0">
                    <c:v>Now</c:v>
                  </c:pt>
                  <c:pt idx="1">
                    <c:v>3 months</c:v>
                  </c:pt>
                  <c:pt idx="2">
                    <c:v>6 months</c:v>
                  </c:pt>
                  <c:pt idx="3">
                    <c:v>12 months</c:v>
                  </c:pt>
                </c:lvl>
              </c:multiLvlStrCache>
            </c:multiLvlStrRef>
          </c:cat>
          <c:val>
            <c:numRef>
              <c:f>Sheet1!$D$2:$D$5</c:f>
              <c:numCache>
                <c:formatCode>General</c:formatCode>
                <c:ptCount val="4"/>
                <c:pt idx="0">
                  <c:v>582</c:v>
                </c:pt>
                <c:pt idx="1">
                  <c:v>822</c:v>
                </c:pt>
                <c:pt idx="2">
                  <c:v>1042</c:v>
                </c:pt>
                <c:pt idx="3">
                  <c:v>1424</c:v>
                </c:pt>
              </c:numCache>
            </c:numRef>
          </c:val>
          <c:smooth val="0"/>
        </c:ser>
        <c:dLbls>
          <c:numFmt formatCode="#,##0" sourceLinked="0"/>
          <c:txPr>
            <a:bodyPr/>
            <a:lstStyle/>
            <a:p>
              <a:pPr>
                <a:defRPr b="0" i="0" strike="noStrike" sz="10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6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Money in per month at 12 months (projected, USD)</a:t>
            </a:r>
          </a:p>
        </c:rich>
      </c:tx>
      <c:layout/>
      <c:overlay val="0"/>
    </c:title>
    <c:autoTitleDeleted val="0"/>
    <c:plotArea>
      <c:layout/>
      <c:barChart>
        <c:barDir val="col"/>
        <c:grouping val="clustered"/>
        <c:varyColors val="0"/>
        <c:ser>
          <c:idx val="0"/>
          <c:order val="0"/>
          <c:tx>
            <c:strRef>
              <c:f>Sheet1!$B$1</c:f>
              <c:strCache>
                <c:ptCount val="1"/>
                <c:pt idx="0">
                  <c:v>Money in, month 12 (projected)</c:v>
                </c:pt>
              </c:strCache>
            </c:strRef>
          </c:tx>
          <c:spPr>
            <a:solidFill>
              <a:srgbClr val="34ADB3"/>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Current</c:v>
                  </c:pt>
                  <c:pt idx="1">
                    <c:v>With the plan</c:v>
                  </c:pt>
                  <c:pt idx="2">
                    <c:v>Accelerated</c:v>
                  </c:pt>
                </c:lvl>
              </c:multiLvlStrCache>
            </c:multiLvlStrRef>
          </c:cat>
          <c:val>
            <c:numRef>
              <c:f>Sheet1!$B$2:$B$4</c:f>
              <c:numCache>
                <c:formatCode>General</c:formatCode>
                <c:ptCount val="3"/>
                <c:pt idx="0">
                  <c:v>14746</c:v>
                </c:pt>
                <c:pt idx="1">
                  <c:v>21376</c:v>
                </c:pt>
                <c:pt idx="2">
                  <c:v>27847</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20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Score out of 5 by area</a:t>
            </a:r>
          </a:p>
        </c:rich>
      </c:tx>
      <c:layout/>
      <c:overlay val="0"/>
    </c:title>
    <c:autoTitleDeleted val="0"/>
    <c:plotArea>
      <c:layout/>
      <c:barChart>
        <c:barDir val="bar"/>
        <c:grouping val="stacked"/>
        <c:varyColors val="0"/>
        <c:ser>
          <c:idx val="0"/>
          <c:order val="0"/>
          <c:tx>
            <c:strRef>
              <c:f>Sheet1!$B$1</c:f>
              <c:strCache>
                <c:ptCount val="1"/>
                <c:pt idx="0">
                  <c:v>Weak (1)</c:v>
                </c:pt>
              </c:strCache>
            </c:strRef>
          </c:tx>
          <c:spPr>
            <a:solidFill>
              <a:srgbClr val="C0392B"/>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Sales volume</c:v>
                  </c:pt>
                  <c:pt idx="1">
                    <c:v>Conversion</c:v>
                  </c:pt>
                  <c:pt idx="2">
                    <c:v>Retention</c:v>
                  </c:pt>
                  <c:pt idx="3">
                    <c:v>Selling agents</c:v>
                  </c:pt>
                  <c:pt idx="4">
                    <c:v>Collections</c:v>
                  </c:pt>
                  <c:pt idx="5">
                    <c:v>Revenue</c:v>
                  </c:pt>
                  <c:pt idx="6">
                    <c:v>Funeral profitability</c:v>
                  </c:pt>
                  <c:pt idx="7">
                    <c:v>Mortuary</c:v>
                  </c:pt>
                  <c:pt idx="8">
                    <c:v>Society health</c:v>
                  </c:pt>
                  <c:pt idx="9">
                    <c:v>Data quality</c:v>
                  </c:pt>
                </c:lvl>
              </c:multiLvlStrCache>
            </c:multiLvlStrRef>
          </c:cat>
          <c:val>
            <c:numRef>
              <c:f>Sheet1!$B$2:$B$11</c:f>
              <c:numCache>
                <c:formatCode>General</c:formatCode>
                <c:ptCount val="10"/>
                <c:pt idx="0">
                  <c:v>1</c:v>
                </c:pt>
                <c:pt idx="1">
                  <c:v>0</c:v>
                </c:pt>
                <c:pt idx="2">
                  <c:v>1</c:v>
                </c:pt>
                <c:pt idx="3">
                  <c:v>0</c:v>
                </c:pt>
                <c:pt idx="4">
                  <c:v>1</c:v>
                </c:pt>
                <c:pt idx="5">
                  <c:v>1</c:v>
                </c:pt>
                <c:pt idx="6">
                  <c:v>0</c:v>
                </c:pt>
                <c:pt idx="7">
                  <c:v>1</c:v>
                </c:pt>
                <c:pt idx="8">
                  <c:v>0</c:v>
                </c:pt>
                <c:pt idx="9">
                  <c:v>0</c:v>
                </c:pt>
              </c:numCache>
            </c:numRef>
          </c:val>
        </c:ser>
        <c:ser>
          <c:idx val="1"/>
          <c:order val="1"/>
          <c:tx>
            <c:strRef>
              <c:f>Sheet1!$C$1</c:f>
              <c:strCache>
                <c:ptCount val="1"/>
                <c:pt idx="0">
                  <c:v>Developing (2–3)</c:v>
                </c:pt>
              </c:strCache>
            </c:strRef>
          </c:tx>
          <c:spPr>
            <a:solidFill>
              <a:srgbClr val="C98A00"/>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Sales volume</c:v>
                  </c:pt>
                  <c:pt idx="1">
                    <c:v>Conversion</c:v>
                  </c:pt>
                  <c:pt idx="2">
                    <c:v>Retention</c:v>
                  </c:pt>
                  <c:pt idx="3">
                    <c:v>Selling agents</c:v>
                  </c:pt>
                  <c:pt idx="4">
                    <c:v>Collections</c:v>
                  </c:pt>
                  <c:pt idx="5">
                    <c:v>Revenue</c:v>
                  </c:pt>
                  <c:pt idx="6">
                    <c:v>Funeral profitability</c:v>
                  </c:pt>
                  <c:pt idx="7">
                    <c:v>Mortuary</c:v>
                  </c:pt>
                  <c:pt idx="8">
                    <c:v>Society health</c:v>
                  </c:pt>
                  <c:pt idx="9">
                    <c:v>Data quality</c:v>
                  </c:pt>
                </c:lvl>
              </c:multiLvlStrCache>
            </c:multiLvlStrRef>
          </c:cat>
          <c:val>
            <c:numRef>
              <c:f>Sheet1!$C$2:$C$11</c:f>
              <c:numCache>
                <c:formatCode>General</c:formatCode>
                <c:ptCount val="10"/>
                <c:pt idx="0">
                  <c:v>0</c:v>
                </c:pt>
                <c:pt idx="1">
                  <c:v>0</c:v>
                </c:pt>
                <c:pt idx="2">
                  <c:v>0</c:v>
                </c:pt>
                <c:pt idx="3">
                  <c:v>2</c:v>
                </c:pt>
                <c:pt idx="4">
                  <c:v>0</c:v>
                </c:pt>
                <c:pt idx="5">
                  <c:v>0</c:v>
                </c:pt>
                <c:pt idx="6">
                  <c:v>3</c:v>
                </c:pt>
                <c:pt idx="7">
                  <c:v>0</c:v>
                </c:pt>
                <c:pt idx="8">
                  <c:v>2</c:v>
                </c:pt>
                <c:pt idx="9">
                  <c:v>2</c:v>
                </c:pt>
              </c:numCache>
            </c:numRef>
          </c:val>
        </c:ser>
        <c:ser>
          <c:idx val="2"/>
          <c:order val="2"/>
          <c:tx>
            <c:strRef>
              <c:f>Sheet1!$D$1</c:f>
              <c:strCache>
                <c:ptCount val="1"/>
                <c:pt idx="0">
                  <c:v>Strong (4–5)</c:v>
                </c:pt>
              </c:strCache>
            </c:strRef>
          </c:tx>
          <c:spPr>
            <a:solidFill>
              <a:srgbClr val="2E8B57"/>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Sales volume</c:v>
                  </c:pt>
                  <c:pt idx="1">
                    <c:v>Conversion</c:v>
                  </c:pt>
                  <c:pt idx="2">
                    <c:v>Retention</c:v>
                  </c:pt>
                  <c:pt idx="3">
                    <c:v>Selling agents</c:v>
                  </c:pt>
                  <c:pt idx="4">
                    <c:v>Collections</c:v>
                  </c:pt>
                  <c:pt idx="5">
                    <c:v>Revenue</c:v>
                  </c:pt>
                  <c:pt idx="6">
                    <c:v>Funeral profitability</c:v>
                  </c:pt>
                  <c:pt idx="7">
                    <c:v>Mortuary</c:v>
                  </c:pt>
                  <c:pt idx="8">
                    <c:v>Society health</c:v>
                  </c:pt>
                  <c:pt idx="9">
                    <c:v>Data quality</c:v>
                  </c:pt>
                </c:lvl>
              </c:multiLvlStrCache>
            </c:multiLvlStrRef>
          </c:cat>
          <c:val>
            <c:numRef>
              <c:f>Sheet1!$D$2:$D$11</c:f>
              <c:numCache>
                <c:formatCode>General</c:formatCode>
                <c:ptCount val="10"/>
                <c:pt idx="0">
                  <c:v>0</c:v>
                </c:pt>
                <c:pt idx="1">
                  <c:v>5</c:v>
                </c:pt>
                <c:pt idx="2">
                  <c:v>0</c:v>
                </c:pt>
                <c:pt idx="3">
                  <c:v>0</c:v>
                </c:pt>
                <c:pt idx="4">
                  <c:v>0</c:v>
                </c:pt>
                <c:pt idx="5">
                  <c:v>0</c:v>
                </c:pt>
                <c:pt idx="6">
                  <c:v>0</c:v>
                </c:pt>
                <c:pt idx="7">
                  <c:v>0</c:v>
                </c:pt>
                <c:pt idx="8">
                  <c:v>0</c:v>
                </c:pt>
                <c:pt idx="9">
                  <c:v>0</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3E8E9"/>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majorUnit val="1"/>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report covers March to the 4th of October 2026. It brings together sales, agents, collections, funerals, the mortuary, the fleet and our societies. All money figures are cash actually received, in US dollars, with rand converted at 5 US cents. Where we do not have data yet, I say so rather than estimate. October so far is only four days, so I do not compare it with full months. I will finish with a 90-day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March to the 4th of October, one thing stands out. When our agents get in front of people, those people join and pay. In September 76 percent of new customers paid, against a target of 40. The problem is reach. We joined 29 new customers against a target of 250. In the same month 28 policies lapsed while 22 new ones were paid, so the book got smaller by 6. Two things clearly work: the Sokusile campaign and Gugulethu Moyo in Filabusi. If we carry on as we are, I expect the book to drop to about 484 within a year. With the plan in this report it can reach about 976.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puts September next to August and next to target. Green is on track, amber needs watching and red is behind. Conversion and grace recovery are green. New joinings were 29 against 250, and paid policies 22 against 100. Lapses went from 4 to 28, which left net growth at minus 6. Money in dropped 10 percent to just over 15 thousand dollars. Only 4 of our 17 active agents made a sale. We collected 49 percent of the dollar premium due, and 213 policies have never made a first payment. Taking all of this together, I score the business at 1.9 out of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findings on sales. First, people we reach buy from us, but we reach too few of them. Second, the number of agents actually selling has dropped from 10 to 4. Some of that is down to the agents and some is down to the support we give them. Third, Gugulethu in Filabusi shows what a local agent who owns her area can do. Fourth, Sokusile shows that a campaign with proper company support gets results. Fifth, every funeral and mortuary visit brings us people we never follow up, and we have 51 open quotations worth over 21 thousand dollars plus 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findings on keeping customers and cash. Lapses are now higher than new paid policies. The good news is that calling customers in grace works: recovery went from 17 to 75 percent once we started. We collect only about half of the dollar premium due, and getting to 70 percent would add close to a thousand dollars a month. We have 213 policies that never paid a first premium, and I see those as warm leads. Lastly, societies and cash funerals bring in most of our money, but until we cost funerals and run society ledgers properly we cannot see what they earn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new joinings each month against our target of 250, the dashed line. We have not come close in any month. June was the best at 117, during the mass registration drive. September was 29, which is 221 short, or 12 percent of target. Over the seven months we joined 296 against 1,750, which is 17 percent. People join when we reach them. We are not reaching enough of them, and that comes down to how many agents are actively 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number that matters most, because a paid policy brings in money. The target is 100 a month. June was our best month with 31. In September 22 joined and paid, 78 short of target. Across the seven months we have 108 against 700, or 15 percent. May had none. Getting closer to 100 will come from more agents selling every week, not from registering people who do not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Paid conversion is the share of new joiners who go on to pay. Our target is 40 percent. In March and June we were around 25 percent, because we were registering many people without a first payment. After June we stopped doing that. Conversion went to 81 percent in August and 76 percent in September. Quality is where it should be. The work now is to bring volume back up while keeping the rule that people join and pay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line is agent accounts and the bottom line is agents who made at least one sale in the month. Accounts went from 16 to 26, but selling agents went from 9 in June down to 4 in September. Eleven accounts have never sold. In September a selling agent brought in about 6 joinings and 4 paid policies, so every extra active agent counts. We recruited about 15 agents on 100 dollars a month for six months, then moved to 25 dollars a week, and about 10 left. Some agents wait for leads and do little marketing of their own. On our side, support for transport, lunch, airtime and campaigns has been thin, and the pay model is still being worked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seller ranked by paid policies since March. Orange is sold and blue is paid. The office counter leads on paid with 22. Pesuate sold the most, 60, and 18 of those paid. Gugulethu sold 16 and all 16 paid. Kimberly sold 44 with 9 paid. Five sellers have no paid policies yet. Where the orange bar is much longer than the blue one, we have registrations that never turned into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Paid conversion for each seller with at least five sales, against our 40 percent standard. Gugulethu is at 100 percent. Patience, the office and Nqobile are around half. Nothabo and Andile are just under the line, and Pesuate, Kimberly, Norman, Ayanda and Peacemaker are well below it. Peacemaker has six sales and none paid. These seven are where I will focus one-to-one coaching, mainly on qualifying customers and taking the first premium at sign-up.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a seller, and the shades are months, lightest for March and darkest for September. Most sellers had one or two strong months, usually June, and then slowed down. Kimberly sold 17 in July and nothing since. Norman sold only in March. In September the sales came from Gugulethu with 12, Pesuate with 8, the office with 5, and Andile and Nothabo with 2 each. A weekly target and a weekly check-in would show us much earlier when someone goes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Gugulethu Moyo works Filabusi. Since July she has sold 16 policies and every one of them has paid. In September she brought in 12 of our 29 new customers, which is 41 percent of the company's new business from one person. She lives in the area and works it every day. She advertises herself and does not wait for the office to send her leads. She treats Filabusi as her own. That mix of local presence, personal marketing, consistency and ownership is what I want to repeat in other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Sokusile is the second example of what works. 43 people registered during the campaign and 17 paid, just under 40 percent, and more paid after we followed up. The company provided a tent, a PA system, transport and lunch. We did not record what the campaign cost, so I cannot give a return on it yet. From October every campaign will have a cost sheet so we can compare cost per paid policy across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Filabusi and Sokusile point to a simple model. Each territory gets a resident agent who lives there, sells every day and follows up on payments. From time to time we add a campaign with a tent, PA, transport, lunch, advertising and a Join and Win draw. The campaign brings in a wave of leads and the resident agent converts them and keeps them paying. I propose we start in Lupane, then add two more areas, and track each one on joinings, paid policies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is policies captured and orange is paid. UMTHUNZI is the strongest product, with 140 captured, 69 paid and the highest average premium at about 12 dollars. UMNDENI sells almost as well, 133 captured, but only 28 have paid, and 105 UMNDENI policies are inactive today. YEDWANA is small but 52 percent pay. The legacy products are mainly South African clients and are not part of new business. UMNDENI is where we need to look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UMNDENI covers two adults up to 64 and four children up to 20. Many of the families we serve are larger than that. There are grandparents, adult children over 20 who still live at home, and other relatives people support. If the product leaves out the people a customer cares about, they may sign and then never pay. The premium is already below UMTHUNZI, so I do not think price is the main issue. This still needs testing. I would like to offer extra adults, extended-family options and upgrades, starting with the 105 inactive UMNDENI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Policies in force at the start of each month. The rise from 14 in June to 582 today mostly reflects existing clients being moved onto the system between July and September: 124, 217 and 135 in those months. New sales are part of it as well. Now that the whole book is on one system, changes in this number from October onwards will show real growth or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bars are new paid policies, orange bars are lapses, and the line is the difference between the two. In June and July there were no lapses, so every sale added to the book. In August 4 lapsed. In September 28 lapsed against 22 new paid policies, which left us 6 down. Selling more will not help much if we keep losing customers at this rate, so retention needs as much attention as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customer misses a payment they move into grace, and if they still do not pay, the policy lapses. The left chart shows how many went into grace each month, how many we recovered and how many lapsed. The right chart shows recovery rising from 17 percent in July to 38 in August and 75 in September, the first month we followed up in a structured way. Over the same period the lapse rate moved from 2.0 to 6.6 percent. Calling works, and it needs to happen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inactive policy is one that was captured but never received a first payment. It is different from a lapse, because the customer never started paying. Inactive new business grew from 51 in March to 194 in September, with most of the increase in June during mass registration. In total there are 213 today, worth 2,001 dollars a month in premium. These people agreed to join once already, and over the next 30 days we will call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Lives covered counts everyone on our policies, main members and dependants. We now cover 3,782 people. 3,185 of them came with existing clients moved onto the system, and 453 came from new sales. The new-sales figure is the one I want to grow. The total matters too, because it is the number of funerals we have promised to deliver and the base we should plan capacity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dollar premium due against what we actually collected. In June and July we collected nearly all of it. In August that fell to 55 percent and in September to 49 percent, 2,284 dollars out of 4,675. Our target is 70 percent, and reaching it would bring in about 980 dollars more each month. Rand collections run above 100 percent because customers are paying arrears and paying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cash received each month, in dollars. June 10,558. July 13,825, up 31 percent. August 16,760, up 21 percent. September 15,078, down 10 percent. Most of the September drop came from fewer cash funerals and lower society deposits, which the next slide breaks down. The system holds very little money data before June, so the trend starts there. October is only four days in and is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where the money comes from. Society lump sums are the largest stream, then cash funerals. Individual premiums have grown from 491 dollars in June to 2,550 in September, and society-member premiums are growing too. Over June to September societies made up 47 percent of money in, cash funerals 36, individual premiums 13 and member premiums 5. Societies and cash funerals come in lumps and we cannot yet see their profit. Premiums are the steady income I want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Funerals by burial date, split into policy funerals, cash funerals and a few without a type recorded. Policy funerals went from 11 in June to 29 in August as the book grew. Cash funerals went from 14 down to 4. So far 20 of 44 cash funerals and 45 of 81 policy funerals have been costed. The 20 costed cash funerals made 5,336 dollars, about 267 each. Costing every funeral is the only way to know which work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issued 103 funeral quotations and 52 went ahead. The other 51 were worth 21,013 dollars plus 86,300 rand. At the moment nobody follows these up and we do not record why families went elsewhere. From October, at each month-end, we will contact every open quotation and record the reason: price, competitor, affordability, service, availability, delay or other. The panel on the right is where that will be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funeral brings together people who have just seen how we look after a family. Right now we do not record any of them. The idea is simple. We keep an attendee register at each funeral, pass the contacts to an agent, and the agent presents to them, ideally soon after the service. That leads to a policy and a first payment. The agent's allowance is treated as an acquisition cost, and we measure what each new policy costs us. I propose a 60-day trial, and we keep it only if the numbers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mortuary took in 83 bodies from June to September, with a peak of 41 in July. 61 of those were for other funeral parlours. The other parlour runs the funeral, but the family may still want wash and dress, the chapel, a hearse or family cars, and we are not offering or recording any of that. We also charged 1,140 dollars in storage fees and none of it is recorded as collected. I want that collected in the next 30 days, and every intake treated as a chance to sell our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Funerals recorded against each vehicle. The two Baby Quantums and the Quantum GL carry most of the work. The bus, the red kombi and the Hilux have no usage recorded, which may mean they were used and not logged. Where we can calculate it, cost per funeral ranges from 32 to 102 dollars. Vehicle hire cost between 725 and 1,865 dollars a month. 62 of 129 funerals have no vehicle on record, and 9,771 dollars of running costs cannot be linked to a funeral. From here on, every funeral needs a vehicle and a fuel requisition.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80 burial societies on the system, most added in June and July, and all are depositing. 22 have their members captured, 198 people in total, and 58 have no members on record. A society's position is simple: opening balance plus deposits less services gives the closing balance. We cannot work this out yet because funerals have not been deducted from society ledgers and the June and July deposits were not credited. I will start with the 20 largest societies.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Falakhe deals with a lot of people every month: families we bury for, mortuary clients, people at funerals, suppliers, our own staff and agents, society members, and existing policyholders who might add cover. Each of them could buy something from us. Today we can only measure a few of these groups. I propose a monthly Falakhe Ecosystem Sales Campaign that picks one or two of them each month, with results tracked from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changes one thing at a time and shows the effect after 12 months. If nothing changes, the book ends up at about 484. With 2 more selling agents it reaches about 567, with 5 about 676, and with 10 about 878. Cutting lapses by two points gives 592. Five policies a month from funeral attendees gives 530. On cash, collecting 70 percent of premium adds about 982 dollars a month. If conversion slipped back to 40 percent we would lose about 10 paid policies a month. These are all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projected scenarios. If we carry on as we are, with 4 selling agents, 19 paid policies a month and lapses at 5.1 percent, the book falls to about 484 and money in to about 14,700 dollars a month. With the plan, 10 to 12 selling agents, 60 paid a month and lapses at 3.5 percent, the book grows to about 976 and money in to about 21,400. A faster version with up to 20 agents and 100 paid a month gets to about 1,424 policies and 27,800 dollars. I am recommending the middle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scored ten areas from 1 to 5. Conversion scores 5. Funeral profitability scores 3, because the funerals we have costed make money but most are not costed. Agents, society health and data quality score 2. Sales volume, retention, collections, revenue and the mortuary score 1. The average is 1.9. I will re-score every month, and my aim is to move at least four of the 1s up within 90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runs in three stages. The first 30 days cover things we can start straight away at little cost: a daily call list for customers in grace, calls to all 213 inactive policies, an attendee register at funerals, a month-end follow-up on every open quotation, collecting the 1,140 dollars in storage fees, and recording all spending with every policy marked as new, legacy or South African. Each line still needs a named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31 to 60 are about the sales engine. Every agent works to a standard of 6 joinings and 4 paid a month, with a weekly one-to-one. We place resident agents in Lupane and two more areas, start the 60-day funeral trial, introduce SMS reminders, EcoCash and debit orders, and capture members for our 20 largest societies. Days 61 to 90 add a monthly campaign with a cost sheet, the ecosystem campaign, the UMNDENI test, and a vehicle and fuel requisition on every funeral.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slides show gaps in our data, and this is how we close them. From October every policy records whether it is new or legacy, the country, branch, territory, agent, lead source and campaign. Every lead is recorded. Every funeral records its cost, vehicle and attendee register. Every campaign records its cost. Every quotation that does not convert records a reason. And every society ledger is credited with deposits and charged for funerals. The next report will be built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something we have already seen work at least once: Gugulethu in Filabusi, the Sokusile campaign, the grace calls in September and the funerals we have costed. What we have not done yet is make these things happen every week. Selling agents, local ownership, supported campaigns, follow-up, funeral leads, collections, costing and cross-selling together give us growth we can plan for. If we carry out the plan, a realistic target for the next year is about 1,000 policies and about 21,000 dollars a month. I am asking for approval of the 90-day plan and a named owner for each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monthly sales: new joinings and paid policies against target, conversion, South African and legacy policies, existing clients moved onto the system, and selling agents. October covers four days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every seller: policies sold and paid since March, conversion where there are enough sales to judge, and September joinings. I use this for one-to-one conversations with each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products: captured and paid policies, paid conversion, average monthly premium and current status. Legacy products are mainly South African and existing clients and are not counted as new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money: money in by stream from June to September, the total and the change month on month, then individual dollar premium due and collected and the collection rate. All figures are cash received in dollars, with rand converted at 5 US 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operations: funerals by type and burial date, mortuary intakes and storage fees, and vehicle hire from June to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the data has limits, what each one affects, and what is being done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E5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7680960" cy="173736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ph idx="101" type="body" hasCustomPrompt="1"/>
          </p:nvPr>
        </p:nvSpPr>
        <p:spPr>
          <a:xfrm>
            <a:off x="731520" y="4069080"/>
            <a:ext cx="7680960" cy="109728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7F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6382512"/>
            <a:ext cx="329184" cy="329184"/>
          </a:xfrm>
          <a:prstGeom prst="rect">
            <a:avLst/>
          </a:prstGeom>
        </p:spPr>
      </p:pic>
      <p:sp>
        <p:nvSpPr>
          <p:cNvPr id="3" name="Text 0"/>
          <p:cNvSpPr/>
          <p:nvPr/>
        </p:nvSpPr>
        <p:spPr>
          <a:xfrm>
            <a:off x="868680" y="6400800"/>
            <a:ext cx="8686800" cy="292608"/>
          </a:xfrm>
          <a:prstGeom prst="rect">
            <a:avLst/>
          </a:prstGeom>
          <a:noFill/>
          <a:ln/>
        </p:spPr>
        <p:txBody>
          <a:bodyPr wrap="square" lIns="0" tIns="0" rIns="0" bIns="0" rtlCol="0" anchor="ctr"/>
          <a:lstStyle/>
          <a:p>
            <a:pPr indent="0" marL="0">
              <a:buNone/>
            </a:pPr>
            <a:r>
              <a:rPr lang="en-US" sz="1000" dirty="0">
                <a:solidFill>
                  <a:srgbClr val="8A979C"/>
                </a:solidFill>
              </a:rPr>
              <a:t>Falakhe Funeral Parlour  |  Commercial, Sales and Operations Report  |  March – 4 October 2026  |  Confidential</a:t>
            </a:r>
            <a:endParaRPr lang="en-US" sz="1000" dirty="0"/>
          </a:p>
        </p:txBody>
      </p:sp>
      <p:sp>
        <p:nvSpPr>
          <p:cNvPr id="4" name="Text 1"/>
          <p:cNvSpPr/>
          <p:nvPr>
            <p:ph idx="102" type="body" hasCustomPrompt="1"/>
          </p:nvPr>
        </p:nvSpPr>
        <p:spPr>
          <a:xfrm>
            <a:off x="457200" y="201168"/>
            <a:ext cx="11277295" cy="256032"/>
          </a:xfrm>
          <a:prstGeom prst="rect">
            <a:avLst/>
          </a:prstGeom>
          <a:noFill/>
          <a:ln/>
        </p:spPr>
        <p:txBody>
          <a:bodyPr wrap="square" rtlCol="0"/>
          <a:lstStyle>
            <a:lvl1pPr indent="0" marL="0">
              <a:buNone/>
              <a:defRPr lang="en-US" sz="1100" b="1" spc="150" kern="0" dirty="0">
                <a:solidFill>
                  <a:schemeClr val="tx2"/>
                </a:solidFill>
              </a:defRPr>
            </a:lvl1pPr>
          </a:lstStyle>
          <a:p>
            <a:pPr indent="0" marL="0">
              <a:buNone/>
            </a:pPr>
            <a:endParaRPr lang="en-US" sz="1100" dirty="0"/>
          </a:p>
        </p:txBody>
      </p:sp>
      <p:sp>
        <p:nvSpPr>
          <p:cNvPr id="5" name="Text 1"/>
          <p:cNvSpPr/>
          <p:nvPr>
            <p:ph idx="103" type="title" hasCustomPrompt="1"/>
          </p:nvPr>
        </p:nvSpPr>
        <p:spPr>
          <a:xfrm>
            <a:off x="457200" y="475488"/>
            <a:ext cx="11277295" cy="749808"/>
          </a:xfrm>
          <a:prstGeom prst="rect">
            <a:avLst/>
          </a:prstGeom>
          <a:noFill/>
          <a:ln/>
        </p:spPr>
        <p:txBody>
          <a:bodyPr wrap="square" rtlCol="0"/>
          <a:lstStyle>
            <a:lvl1pPr algn="l" indent="0" marL="0">
              <a:buNone/>
              <a:defRPr lang="en-US" sz="2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3.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chart" Target="/ppt/charts/chart17.xml"/><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chart" Target="/ppt/charts/chart19.xml"/><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chart" Target="/ppt/charts/chart22.xm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slideLayout" Target="../slideLayouts/slideLayout3.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chart" Target="/ppt/charts/chart25.xml"/><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chart" Target="/ppt/charts/chart27.xml"/><Relationship Id="rId3" Type="http://schemas.openxmlformats.org/officeDocument/2006/relationships/slideLayout" Target="../slideLayouts/slideLayout3.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chart" Target="/ppt/charts/chart29.xml"/><Relationship Id="rId3" Type="http://schemas.openxmlformats.org/officeDocument/2006/relationships/slideLayout" Target="../slideLayouts/slideLayout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3.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chart" Target="/ppt/charts/chart32.xml"/><Relationship Id="rId3" Type="http://schemas.openxmlformats.org/officeDocument/2006/relationships/slideLayout" Target="../slideLayouts/slideLayout3.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3.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7680960" cy="173736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Commercial, Sales and Operations Intelligence Report</a:t>
            </a:r>
            <a:endParaRPr lang="en-US" sz="3400" dirty="0"/>
          </a:p>
        </p:txBody>
      </p:sp>
      <p:sp>
        <p:nvSpPr>
          <p:cNvPr id="3" name="Text 0"/>
          <p:cNvSpPr/>
          <p:nvPr>
            <p:ph idx="101" type="body" hasCustomPrompt="1"/>
          </p:nvPr>
        </p:nvSpPr>
        <p:spPr>
          <a:xfrm>
            <a:off x="731520" y="4069080"/>
            <a:ext cx="7680960" cy="1097280"/>
          </a:xfrm>
          <a:prstGeom prst="rect">
            <a:avLst/>
          </a:prstGeom>
          <a:noFill/>
          <a:ln/>
        </p:spPr>
        <p:txBody>
          <a:bodyPr wrap="square" lIns="0" tIns="0" rIns="0" bIns="0" rtlCol="0" anchor="t"/>
          <a:lstStyle/>
          <a:p>
            <a:pPr algn="l" indent="0" marL="0">
              <a:buNone/>
            </a:pPr>
            <a:r>
              <a:rPr lang="en-US" sz="1800" b="1" dirty="0">
                <a:solidFill>
                  <a:schemeClr val="bg1"/>
                </a:solidFill>
              </a:rPr>
              <a:t>March 2026 to 4 October 2026</a:t>
            </a:r>
            <a:endParaRPr lang="en-US" sz="1800" dirty="0"/>
          </a:p>
          <a:p>
            <a:pPr algn="l" indent="0" marL="0">
              <a:buNone/>
            </a:pPr>
            <a:r>
              <a:rPr lang="en-US" sz="1500" dirty="0">
                <a:solidFill>
                  <a:schemeClr val="bg1"/>
                </a:solidFill>
              </a:rPr>
              <a:t>Head of Sales and Marketing</a:t>
            </a:r>
            <a:endParaRPr lang="en-US" sz="1800" dirty="0"/>
          </a:p>
        </p:txBody>
      </p:sp>
      <p:sp>
        <p:nvSpPr>
          <p:cNvPr id="4" name="logo disc"/>
          <p:cNvSpPr/>
          <p:nvPr/>
        </p:nvSpPr>
        <p:spPr>
          <a:xfrm>
            <a:off x="8732520" y="1691640"/>
            <a:ext cx="2926080" cy="2926080"/>
          </a:xfrm>
          <a:prstGeom prst="ellipse">
            <a:avLst/>
          </a:prstGeom>
          <a:solidFill>
            <a:srgbClr val="FFFFFF"/>
          </a:solidFill>
          <a:ln w="12700">
            <a:solidFill>
              <a:srgbClr val="FFFFFF"/>
            </a:solidFill>
            <a:prstDash val="solid"/>
          </a:ln>
        </p:spPr>
      </p:sp>
      <p:pic>
        <p:nvPicPr>
          <p:cNvPr id="5" name="Image 0" descr="Falakhe Funeral Parlour logo">    </p:cNvPr>
          <p:cNvPicPr>
            <a:picLocks noChangeAspect="1"/>
          </p:cNvPicPr>
          <p:nvPr/>
        </p:nvPicPr>
        <p:blipFill>
          <a:blip r:embed="rId1"/>
          <a:stretch>
            <a:fillRect/>
          </a:stretch>
        </p:blipFill>
        <p:spPr>
          <a:xfrm>
            <a:off x="8915400" y="1874520"/>
            <a:ext cx="2560320" cy="2532888"/>
          </a:xfrm>
          <a:prstGeom prst="rect">
            <a:avLst/>
          </a:prstGeom>
        </p:spPr>
      </p:pic>
      <p:sp>
        <p:nvSpPr>
          <p:cNvPr id="6" name="Text 3"/>
          <p:cNvSpPr txBox="1"/>
          <p:nvPr/>
        </p:nvSpPr>
        <p:spPr>
          <a:xfrm>
            <a:off x="731520" y="5989320"/>
            <a:ext cx="10698480" cy="320040"/>
          </a:xfrm>
          <a:prstGeom prst="rect">
            <a:avLst/>
          </a:prstGeom>
          <a:noFill/>
          <a:ln/>
        </p:spPr>
        <p:txBody>
          <a:bodyPr wrap="square" lIns="0" tIns="0" rIns="0" bIns="0" rtlCol="0" anchor="ctr"/>
          <a:lstStyle/>
          <a:p>
            <a:pPr indent="0" marL="0">
              <a:buNone/>
            </a:pPr>
            <a:r>
              <a:rPr lang="en-US" sz="1200" dirty="0">
                <a:solidFill>
                  <a:srgbClr val="B9D3D4"/>
                </a:solidFill>
              </a:rPr>
              <a:t>Zimbabwe and South Africa  ·  All money figures are money in (cash received), USD; ZAR converted at 1 ZAR = 0.05 USD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SUMMARY</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Our conversion is strong; our reach and retention are not</a:t>
            </a:r>
            <a:endParaRPr lang="en-US" sz="2600" dirty="0"/>
          </a:p>
        </p:txBody>
      </p:sp>
      <p:sp>
        <p:nvSpPr>
          <p:cNvPr id="5" name="card"/>
          <p:cNvSpPr/>
          <p:nvPr/>
        </p:nvSpPr>
        <p:spPr>
          <a:xfrm>
            <a:off x="457200" y="1417320"/>
            <a:ext cx="11277295" cy="896112"/>
          </a:xfrm>
          <a:prstGeom prst="roundRect">
            <a:avLst>
              <a:gd name="adj" fmla="val 8163"/>
            </a:avLst>
          </a:prstGeom>
          <a:solidFill>
            <a:srgbClr val="FFFFFF"/>
          </a:solidFill>
          <a:ln w="9525">
            <a:solidFill>
              <a:srgbClr val="DCE3E4"/>
            </a:solidFill>
            <a:prstDash val="solid"/>
          </a:ln>
        </p:spPr>
      </p:sp>
      <p:sp>
        <p:nvSpPr>
          <p:cNvPr id="6" name="icon circle"/>
          <p:cNvSpPr/>
          <p:nvPr/>
        </p:nvSpPr>
        <p:spPr>
          <a:xfrm>
            <a:off x="658368" y="1572768"/>
            <a:ext cx="585216" cy="585216"/>
          </a:xfrm>
          <a:prstGeom prst="ellipse">
            <a:avLst/>
          </a:prstGeom>
          <a:solidFill>
            <a:srgbClr val="2E8B57"/>
          </a:solidFill>
          <a:ln w="12700">
            <a:solidFill>
              <a:srgbClr val="2E8B57"/>
            </a:solidFill>
            <a:prstDash val="solid"/>
          </a:ln>
        </p:spPr>
      </p:sp>
      <p:pic>
        <p:nvPicPr>
          <p:cNvPr id="7" name="Image 0" descr="FaCheckCircle">    </p:cNvPr>
          <p:cNvPicPr>
            <a:picLocks noChangeAspect="1"/>
          </p:cNvPicPr>
          <p:nvPr/>
        </p:nvPicPr>
        <p:blipFill>
          <a:blip r:embed="rId1"/>
          <a:stretch>
            <a:fillRect/>
          </a:stretch>
        </p:blipFill>
        <p:spPr>
          <a:xfrm>
            <a:off x="804672" y="1719072"/>
            <a:ext cx="292608" cy="292608"/>
          </a:xfrm>
          <a:prstGeom prst="rect">
            <a:avLst/>
          </a:prstGeom>
        </p:spPr>
      </p:pic>
      <p:sp>
        <p:nvSpPr>
          <p:cNvPr id="8" name="Text 4"/>
          <p:cNvSpPr txBox="1"/>
          <p:nvPr/>
        </p:nvSpPr>
        <p:spPr>
          <a:xfrm>
            <a:off x="1463040" y="1545336"/>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76% of new customers paid in September</a:t>
            </a:r>
            <a:endParaRPr lang="en-US" sz="1400" dirty="0"/>
          </a:p>
          <a:p>
            <a:pPr indent="0" marL="0">
              <a:buNone/>
            </a:pPr>
            <a:r>
              <a:rPr lang="en-US" sz="1400" dirty="0">
                <a:solidFill>
                  <a:srgbClr val="5B6B71"/>
                </a:solidFill>
              </a:rPr>
              <a:t>Target is 40%. Paid conversion is now a strength.</a:t>
            </a:r>
            <a:endParaRPr lang="en-US" sz="1400" dirty="0"/>
          </a:p>
        </p:txBody>
      </p:sp>
      <p:sp>
        <p:nvSpPr>
          <p:cNvPr id="9" name="card"/>
          <p:cNvSpPr/>
          <p:nvPr/>
        </p:nvSpPr>
        <p:spPr>
          <a:xfrm>
            <a:off x="457200" y="2404872"/>
            <a:ext cx="11277295" cy="896112"/>
          </a:xfrm>
          <a:prstGeom prst="roundRect">
            <a:avLst>
              <a:gd name="adj" fmla="val 8163"/>
            </a:avLst>
          </a:prstGeom>
          <a:solidFill>
            <a:srgbClr val="FFFFFF"/>
          </a:solidFill>
          <a:ln w="9525">
            <a:solidFill>
              <a:srgbClr val="DCE3E4"/>
            </a:solidFill>
            <a:prstDash val="solid"/>
          </a:ln>
        </p:spPr>
      </p:sp>
      <p:sp>
        <p:nvSpPr>
          <p:cNvPr id="10" name="icon circle"/>
          <p:cNvSpPr/>
          <p:nvPr/>
        </p:nvSpPr>
        <p:spPr>
          <a:xfrm>
            <a:off x="658368" y="2560320"/>
            <a:ext cx="585216" cy="585216"/>
          </a:xfrm>
          <a:prstGeom prst="ellipse">
            <a:avLst/>
          </a:prstGeom>
          <a:solidFill>
            <a:srgbClr val="C0392B"/>
          </a:solidFill>
          <a:ln w="12700">
            <a:solidFill>
              <a:srgbClr val="C0392B"/>
            </a:solidFill>
            <a:prstDash val="solid"/>
          </a:ln>
        </p:spPr>
      </p:sp>
      <p:pic>
        <p:nvPicPr>
          <p:cNvPr id="11" name="Image 1" descr="FaExclamationTriangle">    </p:cNvPr>
          <p:cNvPicPr>
            <a:picLocks noChangeAspect="1"/>
          </p:cNvPicPr>
          <p:nvPr/>
        </p:nvPicPr>
        <p:blipFill>
          <a:blip r:embed="rId2"/>
          <a:stretch>
            <a:fillRect/>
          </a:stretch>
        </p:blipFill>
        <p:spPr>
          <a:xfrm>
            <a:off x="804672" y="2706624"/>
            <a:ext cx="292608" cy="292608"/>
          </a:xfrm>
          <a:prstGeom prst="rect">
            <a:avLst/>
          </a:prstGeom>
        </p:spPr>
      </p:pic>
      <p:sp>
        <p:nvSpPr>
          <p:cNvPr id="12" name="Text 7"/>
          <p:cNvSpPr txBox="1"/>
          <p:nvPr/>
        </p:nvSpPr>
        <p:spPr>
          <a:xfrm>
            <a:off x="1463040" y="2532888"/>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Only 29 new joinings against a target of 250</a:t>
            </a:r>
            <a:endParaRPr lang="en-US" sz="1400" dirty="0"/>
          </a:p>
          <a:p>
            <a:pPr indent="0" marL="0">
              <a:buNone/>
            </a:pPr>
            <a:r>
              <a:rPr lang="en-US" sz="1400" dirty="0">
                <a:solidFill>
                  <a:srgbClr val="5B6B71"/>
                </a:solidFill>
              </a:rPr>
              <a:t>221 short, 12% of target. The gap is reach, not selling skill.</a:t>
            </a:r>
            <a:endParaRPr lang="en-US" sz="1400" dirty="0"/>
          </a:p>
        </p:txBody>
      </p:sp>
      <p:sp>
        <p:nvSpPr>
          <p:cNvPr id="13" name="card"/>
          <p:cNvSpPr/>
          <p:nvPr/>
        </p:nvSpPr>
        <p:spPr>
          <a:xfrm>
            <a:off x="457200" y="3392424"/>
            <a:ext cx="11277295" cy="896112"/>
          </a:xfrm>
          <a:prstGeom prst="roundRect">
            <a:avLst>
              <a:gd name="adj" fmla="val 8163"/>
            </a:avLst>
          </a:prstGeom>
          <a:solidFill>
            <a:srgbClr val="FFFFFF"/>
          </a:solidFill>
          <a:ln w="9525">
            <a:solidFill>
              <a:srgbClr val="DCE3E4"/>
            </a:solidFill>
            <a:prstDash val="solid"/>
          </a:ln>
        </p:spPr>
      </p:sp>
      <p:sp>
        <p:nvSpPr>
          <p:cNvPr id="14" name="icon circle"/>
          <p:cNvSpPr/>
          <p:nvPr/>
        </p:nvSpPr>
        <p:spPr>
          <a:xfrm>
            <a:off x="658368" y="3547872"/>
            <a:ext cx="585216" cy="585216"/>
          </a:xfrm>
          <a:prstGeom prst="ellipse">
            <a:avLst/>
          </a:prstGeom>
          <a:solidFill>
            <a:srgbClr val="C0392B"/>
          </a:solidFill>
          <a:ln w="12700">
            <a:solidFill>
              <a:srgbClr val="C0392B"/>
            </a:solidFill>
            <a:prstDash val="solid"/>
          </a:ln>
        </p:spPr>
      </p:sp>
      <p:pic>
        <p:nvPicPr>
          <p:cNvPr id="15" name="Image 2" descr="FaArrowDown">    </p:cNvPr>
          <p:cNvPicPr>
            <a:picLocks noChangeAspect="1"/>
          </p:cNvPicPr>
          <p:nvPr/>
        </p:nvPicPr>
        <p:blipFill>
          <a:blip r:embed="rId3"/>
          <a:stretch>
            <a:fillRect/>
          </a:stretch>
        </p:blipFill>
        <p:spPr>
          <a:xfrm>
            <a:off x="804672" y="3694176"/>
            <a:ext cx="292608" cy="292608"/>
          </a:xfrm>
          <a:prstGeom prst="rect">
            <a:avLst/>
          </a:prstGeom>
        </p:spPr>
      </p:pic>
      <p:sp>
        <p:nvSpPr>
          <p:cNvPr id="16" name="Text 10"/>
          <p:cNvSpPr txBox="1"/>
          <p:nvPr/>
        </p:nvSpPr>
        <p:spPr>
          <a:xfrm>
            <a:off x="1463040" y="3520440"/>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28 lapses against 22 new paid policies: net −6</a:t>
            </a:r>
            <a:endParaRPr lang="en-US" sz="1400" dirty="0"/>
          </a:p>
          <a:p>
            <a:pPr indent="0" marL="0">
              <a:buNone/>
            </a:pPr>
            <a:r>
              <a:rPr lang="en-US" sz="1400" dirty="0">
                <a:solidFill>
                  <a:srgbClr val="5B6B71"/>
                </a:solidFill>
              </a:rPr>
              <a:t>The book shrank in September despite new sales.</a:t>
            </a:r>
            <a:endParaRPr lang="en-US" sz="1400" dirty="0"/>
          </a:p>
        </p:txBody>
      </p:sp>
      <p:sp>
        <p:nvSpPr>
          <p:cNvPr id="17" name="card"/>
          <p:cNvSpPr/>
          <p:nvPr/>
        </p:nvSpPr>
        <p:spPr>
          <a:xfrm>
            <a:off x="457200" y="4379976"/>
            <a:ext cx="11277295" cy="896112"/>
          </a:xfrm>
          <a:prstGeom prst="roundRect">
            <a:avLst>
              <a:gd name="adj" fmla="val 8163"/>
            </a:avLst>
          </a:prstGeom>
          <a:solidFill>
            <a:srgbClr val="FFFFFF"/>
          </a:solidFill>
          <a:ln w="9525">
            <a:solidFill>
              <a:srgbClr val="DCE3E4"/>
            </a:solidFill>
            <a:prstDash val="solid"/>
          </a:ln>
        </p:spPr>
      </p:sp>
      <p:sp>
        <p:nvSpPr>
          <p:cNvPr id="18" name="icon circle"/>
          <p:cNvSpPr/>
          <p:nvPr/>
        </p:nvSpPr>
        <p:spPr>
          <a:xfrm>
            <a:off x="658368" y="4535424"/>
            <a:ext cx="585216" cy="585216"/>
          </a:xfrm>
          <a:prstGeom prst="ellipse">
            <a:avLst/>
          </a:prstGeom>
          <a:solidFill>
            <a:srgbClr val="0E5A5F"/>
          </a:solidFill>
          <a:ln w="12700">
            <a:solidFill>
              <a:srgbClr val="0E5A5F"/>
            </a:solidFill>
            <a:prstDash val="solid"/>
          </a:ln>
        </p:spPr>
      </p:sp>
      <p:pic>
        <p:nvPicPr>
          <p:cNvPr id="19" name="Image 3" descr="FaStar">    </p:cNvPr>
          <p:cNvPicPr>
            <a:picLocks noChangeAspect="1"/>
          </p:cNvPicPr>
          <p:nvPr/>
        </p:nvPicPr>
        <p:blipFill>
          <a:blip r:embed="rId4"/>
          <a:stretch>
            <a:fillRect/>
          </a:stretch>
        </p:blipFill>
        <p:spPr>
          <a:xfrm>
            <a:off x="804672" y="4681728"/>
            <a:ext cx="292608" cy="292608"/>
          </a:xfrm>
          <a:prstGeom prst="rect">
            <a:avLst/>
          </a:prstGeom>
        </p:spPr>
      </p:pic>
      <p:sp>
        <p:nvSpPr>
          <p:cNvPr id="20" name="Text 13"/>
          <p:cNvSpPr txBox="1"/>
          <p:nvPr/>
        </p:nvSpPr>
        <p:spPr>
          <a:xfrm>
            <a:off x="1463040" y="4507992"/>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What works: Sokusile campaign and our Filabusi agent</a:t>
            </a:r>
            <a:endParaRPr lang="en-US" sz="1400" dirty="0"/>
          </a:p>
          <a:p>
            <a:pPr indent="0" marL="0">
              <a:buNone/>
            </a:pPr>
            <a:r>
              <a:rPr lang="en-US" sz="1400" dirty="0">
                <a:solidFill>
                  <a:srgbClr val="5B6B71"/>
                </a:solidFill>
              </a:rPr>
              <a:t>Sokusile: 43 registered → 17 paid. Gugulethu Moyo: 12 of September's 29 joinings, all paid.</a:t>
            </a:r>
            <a:endParaRPr lang="en-US" sz="1400" dirty="0"/>
          </a:p>
        </p:txBody>
      </p:sp>
      <p:sp>
        <p:nvSpPr>
          <p:cNvPr id="21" name="card"/>
          <p:cNvSpPr/>
          <p:nvPr/>
        </p:nvSpPr>
        <p:spPr>
          <a:xfrm>
            <a:off x="457200" y="5367528"/>
            <a:ext cx="11277295" cy="896112"/>
          </a:xfrm>
          <a:prstGeom prst="roundRect">
            <a:avLst>
              <a:gd name="adj" fmla="val 8163"/>
            </a:avLst>
          </a:prstGeom>
          <a:solidFill>
            <a:srgbClr val="FFFFFF"/>
          </a:solidFill>
          <a:ln w="9525">
            <a:solidFill>
              <a:srgbClr val="DCE3E4"/>
            </a:solidFill>
            <a:prstDash val="solid"/>
          </a:ln>
        </p:spPr>
      </p:sp>
      <p:sp>
        <p:nvSpPr>
          <p:cNvPr id="22" name="icon circle"/>
          <p:cNvSpPr/>
          <p:nvPr/>
        </p:nvSpPr>
        <p:spPr>
          <a:xfrm>
            <a:off x="658368" y="5522976"/>
            <a:ext cx="585216" cy="585216"/>
          </a:xfrm>
          <a:prstGeom prst="ellipse">
            <a:avLst/>
          </a:prstGeom>
          <a:solidFill>
            <a:srgbClr val="C98A00"/>
          </a:solidFill>
          <a:ln w="12700">
            <a:solidFill>
              <a:srgbClr val="C98A00"/>
            </a:solidFill>
            <a:prstDash val="solid"/>
          </a:ln>
        </p:spPr>
      </p:sp>
      <p:pic>
        <p:nvPicPr>
          <p:cNvPr id="23" name="Image 4" descr="FaChartLine">    </p:cNvPr>
          <p:cNvPicPr>
            <a:picLocks noChangeAspect="1"/>
          </p:cNvPicPr>
          <p:nvPr/>
        </p:nvPicPr>
        <p:blipFill>
          <a:blip r:embed="rId5"/>
          <a:stretch>
            <a:fillRect/>
          </a:stretch>
        </p:blipFill>
        <p:spPr>
          <a:xfrm>
            <a:off x="804672" y="5669280"/>
            <a:ext cx="292608" cy="292608"/>
          </a:xfrm>
          <a:prstGeom prst="rect">
            <a:avLst/>
          </a:prstGeom>
        </p:spPr>
      </p:pic>
      <p:sp>
        <p:nvSpPr>
          <p:cNvPr id="24" name="Text 16"/>
          <p:cNvSpPr txBox="1"/>
          <p:nvPr/>
        </p:nvSpPr>
        <p:spPr>
          <a:xfrm>
            <a:off x="1463040" y="5495544"/>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Book: 582 today → about 484 in 12 months if nothing changes</a:t>
            </a:r>
            <a:endParaRPr lang="en-US" sz="1400" dirty="0"/>
          </a:p>
          <a:p>
            <a:pPr indent="0" marL="0">
              <a:buNone/>
            </a:pPr>
            <a:r>
              <a:rPr lang="en-US" sz="1400" dirty="0">
                <a:solidFill>
                  <a:srgbClr val="5B6B71"/>
                </a:solidFill>
              </a:rPr>
              <a:t>About 976 with the plan in this report (both projected).</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SEPTEMBER AT A GLANCE</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Conversion is on track; volume, retention and collections are behind</a:t>
            </a:r>
            <a:endParaRPr lang="en-US" sz="2600" dirty="0"/>
          </a:p>
        </p:txBody>
      </p:sp>
      <p:sp>
        <p:nvSpPr>
          <p:cNvPr id="5" name="card"/>
          <p:cNvSpPr/>
          <p:nvPr/>
        </p:nvSpPr>
        <p:spPr>
          <a:xfrm>
            <a:off x="457200" y="1371600"/>
            <a:ext cx="2682164" cy="1520952"/>
          </a:xfrm>
          <a:prstGeom prst="roundRect">
            <a:avLst>
              <a:gd name="adj" fmla="val 4810"/>
            </a:avLst>
          </a:prstGeom>
          <a:solidFill>
            <a:srgbClr val="FFFFFF"/>
          </a:solidFill>
          <a:ln w="9525">
            <a:solidFill>
              <a:srgbClr val="DCE3E4"/>
            </a:solidFill>
            <a:prstDash val="solid"/>
          </a:ln>
        </p:spPr>
      </p:sp>
      <p:sp>
        <p:nvSpPr>
          <p:cNvPr id="6" name="Text 3"/>
          <p:cNvSpPr txBox="1"/>
          <p:nvPr/>
        </p:nvSpPr>
        <p:spPr>
          <a:xfrm>
            <a:off x="621792" y="1499616"/>
            <a:ext cx="1493444" cy="274320"/>
          </a:xfrm>
          <a:prstGeom prst="rect">
            <a:avLst/>
          </a:prstGeom>
          <a:noFill/>
          <a:ln/>
        </p:spPr>
        <p:txBody>
          <a:bodyPr wrap="square" lIns="0" tIns="0" rIns="0" bIns="0" rtlCol="0" anchor="t"/>
          <a:lstStyle/>
          <a:p>
            <a:pPr indent="0" marL="0">
              <a:buNone/>
            </a:pPr>
            <a:r>
              <a:rPr lang="en-US" sz="1200" b="1" dirty="0">
                <a:solidFill>
                  <a:srgbClr val="5B6B71"/>
                </a:solidFill>
              </a:rPr>
              <a:t>Policies in force</a:t>
            </a:r>
            <a:endParaRPr lang="en-US" sz="1200" dirty="0"/>
          </a:p>
        </p:txBody>
      </p:sp>
      <p:sp>
        <p:nvSpPr>
          <p:cNvPr id="7" name="status pill"/>
          <p:cNvSpPr/>
          <p:nvPr/>
        </p:nvSpPr>
        <p:spPr>
          <a:xfrm>
            <a:off x="2133524" y="1499616"/>
            <a:ext cx="868680" cy="237744"/>
          </a:xfrm>
          <a:prstGeom prst="roundRect">
            <a:avLst>
              <a:gd name="adj" fmla="val 50000"/>
            </a:avLst>
          </a:prstGeom>
          <a:solidFill>
            <a:srgbClr val="C98A00"/>
          </a:solidFill>
          <a:ln w="12700">
            <a:solidFill>
              <a:srgbClr val="C98A00"/>
            </a:solidFill>
            <a:prstDash val="solid"/>
          </a:ln>
        </p:spPr>
      </p:sp>
      <p:sp>
        <p:nvSpPr>
          <p:cNvPr id="8" name="Text 5"/>
          <p:cNvSpPr txBox="1"/>
          <p:nvPr/>
        </p:nvSpPr>
        <p:spPr>
          <a:xfrm>
            <a:off x="2133524" y="1499616"/>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Watch</a:t>
            </a:r>
            <a:endParaRPr lang="en-US" sz="1000" dirty="0"/>
          </a:p>
        </p:txBody>
      </p:sp>
      <p:sp>
        <p:nvSpPr>
          <p:cNvPr id="9" name="Text 6"/>
          <p:cNvSpPr txBox="1"/>
          <p:nvPr/>
        </p:nvSpPr>
        <p:spPr>
          <a:xfrm>
            <a:off x="621792" y="1783080"/>
            <a:ext cx="2352980" cy="548640"/>
          </a:xfrm>
          <a:prstGeom prst="rect">
            <a:avLst/>
          </a:prstGeom>
          <a:noFill/>
          <a:ln/>
        </p:spPr>
        <p:txBody>
          <a:bodyPr wrap="square" lIns="0" tIns="0" rIns="0" bIns="0" rtlCol="0" anchor="ctr"/>
          <a:lstStyle/>
          <a:p>
            <a:pPr indent="0" marL="0">
              <a:buNone/>
            </a:pPr>
            <a:r>
              <a:rPr lang="en-US" sz="3200" b="1" dirty="0">
                <a:solidFill>
                  <a:srgbClr val="1E2A2F"/>
                </a:solidFill>
                <a:latin typeface="Cambria" pitchFamily="34" charset="0"/>
                <a:ea typeface="Cambria" pitchFamily="34" charset="-122"/>
                <a:cs typeface="Cambria" pitchFamily="34" charset="-120"/>
              </a:rPr>
              <a:t>582</a:t>
            </a:r>
            <a:endParaRPr lang="en-US" sz="3200" dirty="0"/>
          </a:p>
        </p:txBody>
      </p:sp>
      <p:sp>
        <p:nvSpPr>
          <p:cNvPr id="10" name="Text 7"/>
          <p:cNvSpPr txBox="1"/>
          <p:nvPr/>
        </p:nvSpPr>
        <p:spPr>
          <a:xfrm>
            <a:off x="621792" y="2350008"/>
            <a:ext cx="2352980" cy="496824"/>
          </a:xfrm>
          <a:prstGeom prst="rect">
            <a:avLst/>
          </a:prstGeom>
          <a:noFill/>
          <a:ln/>
        </p:spPr>
        <p:txBody>
          <a:bodyPr wrap="square" lIns="0" tIns="0" rIns="0" bIns="0" rtlCol="0" anchor="t"/>
          <a:lstStyle/>
          <a:p>
            <a:pPr indent="0" marL="0">
              <a:buNone/>
            </a:pPr>
            <a:r>
              <a:rPr lang="en-US" sz="1100" dirty="0">
                <a:solidFill>
                  <a:srgbClr val="5B6B71"/>
                </a:solidFill>
              </a:rPr>
              <a:t>3,782 lives covered · includes existing clients moved onto the system</a:t>
            </a:r>
            <a:endParaRPr lang="en-US" sz="1100" dirty="0"/>
          </a:p>
        </p:txBody>
      </p:sp>
      <p:sp>
        <p:nvSpPr>
          <p:cNvPr id="11" name="card"/>
          <p:cNvSpPr/>
          <p:nvPr/>
        </p:nvSpPr>
        <p:spPr>
          <a:xfrm>
            <a:off x="3322244" y="1371600"/>
            <a:ext cx="2682164" cy="1520952"/>
          </a:xfrm>
          <a:prstGeom prst="roundRect">
            <a:avLst>
              <a:gd name="adj" fmla="val 4810"/>
            </a:avLst>
          </a:prstGeom>
          <a:solidFill>
            <a:srgbClr val="FFFFFF"/>
          </a:solidFill>
          <a:ln w="9525">
            <a:solidFill>
              <a:srgbClr val="DCE3E4"/>
            </a:solidFill>
            <a:prstDash val="solid"/>
          </a:ln>
        </p:spPr>
      </p:sp>
      <p:sp>
        <p:nvSpPr>
          <p:cNvPr id="12" name="Text 9"/>
          <p:cNvSpPr txBox="1"/>
          <p:nvPr/>
        </p:nvSpPr>
        <p:spPr>
          <a:xfrm>
            <a:off x="3486836" y="1499616"/>
            <a:ext cx="1493444" cy="274320"/>
          </a:xfrm>
          <a:prstGeom prst="rect">
            <a:avLst/>
          </a:prstGeom>
          <a:noFill/>
          <a:ln/>
        </p:spPr>
        <p:txBody>
          <a:bodyPr wrap="square" lIns="0" tIns="0" rIns="0" bIns="0" rtlCol="0" anchor="t"/>
          <a:lstStyle/>
          <a:p>
            <a:pPr indent="0" marL="0">
              <a:buNone/>
            </a:pPr>
            <a:r>
              <a:rPr lang="en-US" sz="1200" b="1" dirty="0">
                <a:solidFill>
                  <a:srgbClr val="5B6B71"/>
                </a:solidFill>
              </a:rPr>
              <a:t>New joinings</a:t>
            </a:r>
            <a:endParaRPr lang="en-US" sz="1200" dirty="0"/>
          </a:p>
        </p:txBody>
      </p:sp>
      <p:sp>
        <p:nvSpPr>
          <p:cNvPr id="13" name="status pill"/>
          <p:cNvSpPr/>
          <p:nvPr/>
        </p:nvSpPr>
        <p:spPr>
          <a:xfrm>
            <a:off x="4998568" y="1499616"/>
            <a:ext cx="868680" cy="237744"/>
          </a:xfrm>
          <a:prstGeom prst="roundRect">
            <a:avLst>
              <a:gd name="adj" fmla="val 50000"/>
            </a:avLst>
          </a:prstGeom>
          <a:solidFill>
            <a:srgbClr val="C0392B"/>
          </a:solidFill>
          <a:ln w="12700">
            <a:solidFill>
              <a:srgbClr val="C0392B"/>
            </a:solidFill>
            <a:prstDash val="solid"/>
          </a:ln>
        </p:spPr>
      </p:sp>
      <p:sp>
        <p:nvSpPr>
          <p:cNvPr id="14" name="Text 11"/>
          <p:cNvSpPr txBox="1"/>
          <p:nvPr/>
        </p:nvSpPr>
        <p:spPr>
          <a:xfrm>
            <a:off x="4998568" y="1499616"/>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15" name="Text 12"/>
          <p:cNvSpPr txBox="1"/>
          <p:nvPr/>
        </p:nvSpPr>
        <p:spPr>
          <a:xfrm>
            <a:off x="3486836" y="1783080"/>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29</a:t>
            </a:r>
            <a:endParaRPr lang="en-US" sz="3200" dirty="0"/>
          </a:p>
        </p:txBody>
      </p:sp>
      <p:sp>
        <p:nvSpPr>
          <p:cNvPr id="16" name="Text 13"/>
          <p:cNvSpPr txBox="1"/>
          <p:nvPr/>
        </p:nvSpPr>
        <p:spPr>
          <a:xfrm>
            <a:off x="3486836" y="2350008"/>
            <a:ext cx="2352980" cy="496824"/>
          </a:xfrm>
          <a:prstGeom prst="rect">
            <a:avLst/>
          </a:prstGeom>
          <a:noFill/>
          <a:ln/>
        </p:spPr>
        <p:txBody>
          <a:bodyPr wrap="square" lIns="0" tIns="0" rIns="0" bIns="0" rtlCol="0" anchor="t"/>
          <a:lstStyle/>
          <a:p>
            <a:pPr indent="0" marL="0">
              <a:buNone/>
            </a:pPr>
            <a:r>
              <a:rPr lang="en-US" sz="1100" dirty="0">
                <a:solidFill>
                  <a:srgbClr val="5B6B71"/>
                </a:solidFill>
              </a:rPr>
              <a:t>Target 250 · 221 short · 12% achieved · Aug 16</a:t>
            </a:r>
            <a:endParaRPr lang="en-US" sz="1100" dirty="0"/>
          </a:p>
        </p:txBody>
      </p:sp>
      <p:sp>
        <p:nvSpPr>
          <p:cNvPr id="17" name="card"/>
          <p:cNvSpPr/>
          <p:nvPr/>
        </p:nvSpPr>
        <p:spPr>
          <a:xfrm>
            <a:off x="6187288" y="1371600"/>
            <a:ext cx="2682164" cy="1520952"/>
          </a:xfrm>
          <a:prstGeom prst="roundRect">
            <a:avLst>
              <a:gd name="adj" fmla="val 4810"/>
            </a:avLst>
          </a:prstGeom>
          <a:solidFill>
            <a:srgbClr val="FFFFFF"/>
          </a:solidFill>
          <a:ln w="9525">
            <a:solidFill>
              <a:srgbClr val="DCE3E4"/>
            </a:solidFill>
            <a:prstDash val="solid"/>
          </a:ln>
        </p:spPr>
      </p:sp>
      <p:sp>
        <p:nvSpPr>
          <p:cNvPr id="18" name="Text 15"/>
          <p:cNvSpPr txBox="1"/>
          <p:nvPr/>
        </p:nvSpPr>
        <p:spPr>
          <a:xfrm>
            <a:off x="6351880" y="1499616"/>
            <a:ext cx="1493444" cy="274320"/>
          </a:xfrm>
          <a:prstGeom prst="rect">
            <a:avLst/>
          </a:prstGeom>
          <a:noFill/>
          <a:ln/>
        </p:spPr>
        <p:txBody>
          <a:bodyPr wrap="square" lIns="0" tIns="0" rIns="0" bIns="0" rtlCol="0" anchor="t"/>
          <a:lstStyle/>
          <a:p>
            <a:pPr indent="0" marL="0">
              <a:buNone/>
            </a:pPr>
            <a:r>
              <a:rPr lang="en-US" sz="1200" b="1" dirty="0">
                <a:solidFill>
                  <a:srgbClr val="5B6B71"/>
                </a:solidFill>
              </a:rPr>
              <a:t>Joined and paid</a:t>
            </a:r>
            <a:endParaRPr lang="en-US" sz="1200" dirty="0"/>
          </a:p>
        </p:txBody>
      </p:sp>
      <p:sp>
        <p:nvSpPr>
          <p:cNvPr id="19" name="status pill"/>
          <p:cNvSpPr/>
          <p:nvPr/>
        </p:nvSpPr>
        <p:spPr>
          <a:xfrm>
            <a:off x="7863611" y="1499616"/>
            <a:ext cx="868680" cy="237744"/>
          </a:xfrm>
          <a:prstGeom prst="roundRect">
            <a:avLst>
              <a:gd name="adj" fmla="val 50000"/>
            </a:avLst>
          </a:prstGeom>
          <a:solidFill>
            <a:srgbClr val="C0392B"/>
          </a:solidFill>
          <a:ln w="12700">
            <a:solidFill>
              <a:srgbClr val="C0392B"/>
            </a:solidFill>
            <a:prstDash val="solid"/>
          </a:ln>
        </p:spPr>
      </p:sp>
      <p:sp>
        <p:nvSpPr>
          <p:cNvPr id="20" name="Text 17"/>
          <p:cNvSpPr txBox="1"/>
          <p:nvPr/>
        </p:nvSpPr>
        <p:spPr>
          <a:xfrm>
            <a:off x="7863611" y="1499616"/>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21" name="Text 18"/>
          <p:cNvSpPr txBox="1"/>
          <p:nvPr/>
        </p:nvSpPr>
        <p:spPr>
          <a:xfrm>
            <a:off x="6351880" y="1783080"/>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22</a:t>
            </a:r>
            <a:endParaRPr lang="en-US" sz="3200" dirty="0"/>
          </a:p>
        </p:txBody>
      </p:sp>
      <p:sp>
        <p:nvSpPr>
          <p:cNvPr id="22" name="Text 19"/>
          <p:cNvSpPr txBox="1"/>
          <p:nvPr/>
        </p:nvSpPr>
        <p:spPr>
          <a:xfrm>
            <a:off x="6351880" y="2350008"/>
            <a:ext cx="2352980" cy="496824"/>
          </a:xfrm>
          <a:prstGeom prst="rect">
            <a:avLst/>
          </a:prstGeom>
          <a:noFill/>
          <a:ln/>
        </p:spPr>
        <p:txBody>
          <a:bodyPr wrap="square" lIns="0" tIns="0" rIns="0" bIns="0" rtlCol="0" anchor="t"/>
          <a:lstStyle/>
          <a:p>
            <a:pPr indent="0" marL="0">
              <a:buNone/>
            </a:pPr>
            <a:r>
              <a:rPr lang="en-US" sz="1100" dirty="0">
                <a:solidFill>
                  <a:srgbClr val="5B6B71"/>
                </a:solidFill>
              </a:rPr>
              <a:t>Target 100 · 78 short · 22% achieved · Aug 13</a:t>
            </a:r>
            <a:endParaRPr lang="en-US" sz="1100" dirty="0"/>
          </a:p>
        </p:txBody>
      </p:sp>
      <p:sp>
        <p:nvSpPr>
          <p:cNvPr id="23" name="card"/>
          <p:cNvSpPr/>
          <p:nvPr/>
        </p:nvSpPr>
        <p:spPr>
          <a:xfrm>
            <a:off x="9052331" y="1371600"/>
            <a:ext cx="2682164" cy="1520952"/>
          </a:xfrm>
          <a:prstGeom prst="roundRect">
            <a:avLst>
              <a:gd name="adj" fmla="val 4810"/>
            </a:avLst>
          </a:prstGeom>
          <a:solidFill>
            <a:srgbClr val="FFFFFF"/>
          </a:solidFill>
          <a:ln w="9525">
            <a:solidFill>
              <a:srgbClr val="DCE3E4"/>
            </a:solidFill>
            <a:prstDash val="solid"/>
          </a:ln>
        </p:spPr>
      </p:sp>
      <p:sp>
        <p:nvSpPr>
          <p:cNvPr id="24" name="Text 21"/>
          <p:cNvSpPr txBox="1"/>
          <p:nvPr/>
        </p:nvSpPr>
        <p:spPr>
          <a:xfrm>
            <a:off x="9216923" y="1499616"/>
            <a:ext cx="1493444" cy="274320"/>
          </a:xfrm>
          <a:prstGeom prst="rect">
            <a:avLst/>
          </a:prstGeom>
          <a:noFill/>
          <a:ln/>
        </p:spPr>
        <p:txBody>
          <a:bodyPr wrap="square" lIns="0" tIns="0" rIns="0" bIns="0" rtlCol="0" anchor="t"/>
          <a:lstStyle/>
          <a:p>
            <a:pPr indent="0" marL="0">
              <a:buNone/>
            </a:pPr>
            <a:r>
              <a:rPr lang="en-US" sz="1200" b="1" dirty="0">
                <a:solidFill>
                  <a:srgbClr val="5B6B71"/>
                </a:solidFill>
              </a:rPr>
              <a:t>Paid conversion</a:t>
            </a:r>
            <a:endParaRPr lang="en-US" sz="1200" dirty="0"/>
          </a:p>
        </p:txBody>
      </p:sp>
      <p:sp>
        <p:nvSpPr>
          <p:cNvPr id="25" name="status pill"/>
          <p:cNvSpPr/>
          <p:nvPr/>
        </p:nvSpPr>
        <p:spPr>
          <a:xfrm>
            <a:off x="10728655" y="1499616"/>
            <a:ext cx="868680" cy="237744"/>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728655" y="1499616"/>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On track</a:t>
            </a:r>
            <a:endParaRPr lang="en-US" sz="1000" dirty="0"/>
          </a:p>
        </p:txBody>
      </p:sp>
      <p:sp>
        <p:nvSpPr>
          <p:cNvPr id="27" name="Text 24"/>
          <p:cNvSpPr txBox="1"/>
          <p:nvPr/>
        </p:nvSpPr>
        <p:spPr>
          <a:xfrm>
            <a:off x="9216923" y="1783080"/>
            <a:ext cx="2352980" cy="548640"/>
          </a:xfrm>
          <a:prstGeom prst="rect">
            <a:avLst/>
          </a:prstGeom>
          <a:noFill/>
          <a:ln/>
        </p:spPr>
        <p:txBody>
          <a:bodyPr wrap="square" lIns="0" tIns="0" rIns="0" bIns="0" rtlCol="0" anchor="ctr"/>
          <a:lstStyle/>
          <a:p>
            <a:pPr indent="0" marL="0">
              <a:buNone/>
            </a:pPr>
            <a:r>
              <a:rPr lang="en-US" sz="3200" b="1" dirty="0">
                <a:solidFill>
                  <a:srgbClr val="2E8B57"/>
                </a:solidFill>
                <a:latin typeface="Cambria" pitchFamily="34" charset="0"/>
                <a:ea typeface="Cambria" pitchFamily="34" charset="-122"/>
                <a:cs typeface="Cambria" pitchFamily="34" charset="-120"/>
              </a:rPr>
              <a:t>76%</a:t>
            </a:r>
            <a:endParaRPr lang="en-US" sz="3200" dirty="0"/>
          </a:p>
        </p:txBody>
      </p:sp>
      <p:sp>
        <p:nvSpPr>
          <p:cNvPr id="28" name="Text 25"/>
          <p:cNvSpPr txBox="1"/>
          <p:nvPr/>
        </p:nvSpPr>
        <p:spPr>
          <a:xfrm>
            <a:off x="9216923" y="2350008"/>
            <a:ext cx="2352980" cy="496824"/>
          </a:xfrm>
          <a:prstGeom prst="rect">
            <a:avLst/>
          </a:prstGeom>
          <a:noFill/>
          <a:ln/>
        </p:spPr>
        <p:txBody>
          <a:bodyPr wrap="square" lIns="0" tIns="0" rIns="0" bIns="0" rtlCol="0" anchor="t"/>
          <a:lstStyle/>
          <a:p>
            <a:pPr indent="0" marL="0">
              <a:buNone/>
            </a:pPr>
            <a:r>
              <a:rPr lang="en-US" sz="1100" dirty="0">
                <a:solidFill>
                  <a:srgbClr val="5B6B71"/>
                </a:solidFill>
              </a:rPr>
              <a:t>Target 40% · 36 pts above · Aug 81%</a:t>
            </a:r>
            <a:endParaRPr lang="en-US" sz="1100" dirty="0"/>
          </a:p>
        </p:txBody>
      </p:sp>
      <p:sp>
        <p:nvSpPr>
          <p:cNvPr id="29" name="card"/>
          <p:cNvSpPr/>
          <p:nvPr/>
        </p:nvSpPr>
        <p:spPr>
          <a:xfrm>
            <a:off x="457200" y="3057144"/>
            <a:ext cx="2682164" cy="1520952"/>
          </a:xfrm>
          <a:prstGeom prst="roundRect">
            <a:avLst>
              <a:gd name="adj" fmla="val 4810"/>
            </a:avLst>
          </a:prstGeom>
          <a:solidFill>
            <a:srgbClr val="FFFFFF"/>
          </a:solidFill>
          <a:ln w="9525">
            <a:solidFill>
              <a:srgbClr val="DCE3E4"/>
            </a:solidFill>
            <a:prstDash val="solid"/>
          </a:ln>
        </p:spPr>
      </p:sp>
      <p:sp>
        <p:nvSpPr>
          <p:cNvPr id="30" name="Text 27"/>
          <p:cNvSpPr txBox="1"/>
          <p:nvPr/>
        </p:nvSpPr>
        <p:spPr>
          <a:xfrm>
            <a:off x="621792" y="3185160"/>
            <a:ext cx="1493444" cy="274320"/>
          </a:xfrm>
          <a:prstGeom prst="rect">
            <a:avLst/>
          </a:prstGeom>
          <a:noFill/>
          <a:ln/>
        </p:spPr>
        <p:txBody>
          <a:bodyPr wrap="square" lIns="0" tIns="0" rIns="0" bIns="0" rtlCol="0" anchor="t"/>
          <a:lstStyle/>
          <a:p>
            <a:pPr indent="0" marL="0">
              <a:buNone/>
            </a:pPr>
            <a:r>
              <a:rPr lang="en-US" sz="1200" b="1" dirty="0">
                <a:solidFill>
                  <a:srgbClr val="5B6B71"/>
                </a:solidFill>
              </a:rPr>
              <a:t>Lapses</a:t>
            </a:r>
            <a:endParaRPr lang="en-US" sz="1200" dirty="0"/>
          </a:p>
        </p:txBody>
      </p:sp>
      <p:sp>
        <p:nvSpPr>
          <p:cNvPr id="31" name="status pill"/>
          <p:cNvSpPr/>
          <p:nvPr/>
        </p:nvSpPr>
        <p:spPr>
          <a:xfrm>
            <a:off x="2133524" y="3185160"/>
            <a:ext cx="868680" cy="237744"/>
          </a:xfrm>
          <a:prstGeom prst="roundRect">
            <a:avLst>
              <a:gd name="adj" fmla="val 50000"/>
            </a:avLst>
          </a:prstGeom>
          <a:solidFill>
            <a:srgbClr val="C0392B"/>
          </a:solidFill>
          <a:ln w="12700">
            <a:solidFill>
              <a:srgbClr val="C0392B"/>
            </a:solidFill>
            <a:prstDash val="solid"/>
          </a:ln>
        </p:spPr>
      </p:sp>
      <p:sp>
        <p:nvSpPr>
          <p:cNvPr id="32" name="Text 29"/>
          <p:cNvSpPr txBox="1"/>
          <p:nvPr/>
        </p:nvSpPr>
        <p:spPr>
          <a:xfrm>
            <a:off x="2133524" y="3185160"/>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33" name="Text 30"/>
          <p:cNvSpPr txBox="1"/>
          <p:nvPr/>
        </p:nvSpPr>
        <p:spPr>
          <a:xfrm>
            <a:off x="621792" y="3468624"/>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28</a:t>
            </a:r>
            <a:endParaRPr lang="en-US" sz="3200" dirty="0"/>
          </a:p>
        </p:txBody>
      </p:sp>
      <p:sp>
        <p:nvSpPr>
          <p:cNvPr id="34" name="Text 31"/>
          <p:cNvSpPr txBox="1"/>
          <p:nvPr/>
        </p:nvSpPr>
        <p:spPr>
          <a:xfrm>
            <a:off x="621792" y="4035552"/>
            <a:ext cx="2352980" cy="496824"/>
          </a:xfrm>
          <a:prstGeom prst="rect">
            <a:avLst/>
          </a:prstGeom>
          <a:noFill/>
          <a:ln/>
        </p:spPr>
        <p:txBody>
          <a:bodyPr wrap="square" lIns="0" tIns="0" rIns="0" bIns="0" rtlCol="0" anchor="t"/>
          <a:lstStyle/>
          <a:p>
            <a:pPr indent="0" marL="0">
              <a:buNone/>
            </a:pPr>
            <a:r>
              <a:rPr lang="en-US" sz="1100" dirty="0">
                <a:solidFill>
                  <a:srgbClr val="5B6B71"/>
                </a:solidFill>
              </a:rPr>
              <a:t>6.6% lapse rate · Aug 4 (2.0%)</a:t>
            </a:r>
            <a:endParaRPr lang="en-US" sz="1100" dirty="0"/>
          </a:p>
        </p:txBody>
      </p:sp>
      <p:sp>
        <p:nvSpPr>
          <p:cNvPr id="35" name="card"/>
          <p:cNvSpPr/>
          <p:nvPr/>
        </p:nvSpPr>
        <p:spPr>
          <a:xfrm>
            <a:off x="3322244" y="3057144"/>
            <a:ext cx="2682164" cy="1520952"/>
          </a:xfrm>
          <a:prstGeom prst="roundRect">
            <a:avLst>
              <a:gd name="adj" fmla="val 4810"/>
            </a:avLst>
          </a:prstGeom>
          <a:solidFill>
            <a:srgbClr val="FFFFFF"/>
          </a:solidFill>
          <a:ln w="9525">
            <a:solidFill>
              <a:srgbClr val="DCE3E4"/>
            </a:solidFill>
            <a:prstDash val="solid"/>
          </a:ln>
        </p:spPr>
      </p:sp>
      <p:sp>
        <p:nvSpPr>
          <p:cNvPr id="36" name="Text 33"/>
          <p:cNvSpPr txBox="1"/>
          <p:nvPr/>
        </p:nvSpPr>
        <p:spPr>
          <a:xfrm>
            <a:off x="3486836" y="3185160"/>
            <a:ext cx="1493444" cy="274320"/>
          </a:xfrm>
          <a:prstGeom prst="rect">
            <a:avLst/>
          </a:prstGeom>
          <a:noFill/>
          <a:ln/>
        </p:spPr>
        <p:txBody>
          <a:bodyPr wrap="square" lIns="0" tIns="0" rIns="0" bIns="0" rtlCol="0" anchor="t"/>
          <a:lstStyle/>
          <a:p>
            <a:pPr indent="0" marL="0">
              <a:buNone/>
            </a:pPr>
            <a:r>
              <a:rPr lang="en-US" sz="1200" b="1" dirty="0">
                <a:solidFill>
                  <a:srgbClr val="5B6B71"/>
                </a:solidFill>
              </a:rPr>
              <a:t>Net growth</a:t>
            </a:r>
            <a:endParaRPr lang="en-US" sz="1200" dirty="0"/>
          </a:p>
        </p:txBody>
      </p:sp>
      <p:sp>
        <p:nvSpPr>
          <p:cNvPr id="37" name="status pill"/>
          <p:cNvSpPr/>
          <p:nvPr/>
        </p:nvSpPr>
        <p:spPr>
          <a:xfrm>
            <a:off x="4998568" y="3185160"/>
            <a:ext cx="868680" cy="237744"/>
          </a:xfrm>
          <a:prstGeom prst="roundRect">
            <a:avLst>
              <a:gd name="adj" fmla="val 50000"/>
            </a:avLst>
          </a:prstGeom>
          <a:solidFill>
            <a:srgbClr val="C0392B"/>
          </a:solidFill>
          <a:ln w="12700">
            <a:solidFill>
              <a:srgbClr val="C0392B"/>
            </a:solidFill>
            <a:prstDash val="solid"/>
          </a:ln>
        </p:spPr>
      </p:sp>
      <p:sp>
        <p:nvSpPr>
          <p:cNvPr id="38" name="Text 35"/>
          <p:cNvSpPr txBox="1"/>
          <p:nvPr/>
        </p:nvSpPr>
        <p:spPr>
          <a:xfrm>
            <a:off x="4998568" y="3185160"/>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39" name="Text 36"/>
          <p:cNvSpPr txBox="1"/>
          <p:nvPr/>
        </p:nvSpPr>
        <p:spPr>
          <a:xfrm>
            <a:off x="3486836" y="3468624"/>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−6</a:t>
            </a:r>
            <a:endParaRPr lang="en-US" sz="3200" dirty="0"/>
          </a:p>
        </p:txBody>
      </p:sp>
      <p:sp>
        <p:nvSpPr>
          <p:cNvPr id="40" name="Text 37"/>
          <p:cNvSpPr txBox="1"/>
          <p:nvPr/>
        </p:nvSpPr>
        <p:spPr>
          <a:xfrm>
            <a:off x="3486836" y="4035552"/>
            <a:ext cx="2352980" cy="496824"/>
          </a:xfrm>
          <a:prstGeom prst="rect">
            <a:avLst/>
          </a:prstGeom>
          <a:noFill/>
          <a:ln/>
        </p:spPr>
        <p:txBody>
          <a:bodyPr wrap="square" lIns="0" tIns="0" rIns="0" bIns="0" rtlCol="0" anchor="t"/>
          <a:lstStyle/>
          <a:p>
            <a:pPr indent="0" marL="0">
              <a:buNone/>
            </a:pPr>
            <a:r>
              <a:rPr lang="en-US" sz="1100" dirty="0">
                <a:solidFill>
                  <a:srgbClr val="5B6B71"/>
                </a:solidFill>
              </a:rPr>
              <a:t>22 paid in, 28 lapsed · Aug +9</a:t>
            </a:r>
            <a:endParaRPr lang="en-US" sz="1100" dirty="0"/>
          </a:p>
        </p:txBody>
      </p:sp>
      <p:sp>
        <p:nvSpPr>
          <p:cNvPr id="41" name="card"/>
          <p:cNvSpPr/>
          <p:nvPr/>
        </p:nvSpPr>
        <p:spPr>
          <a:xfrm>
            <a:off x="6187288" y="3057144"/>
            <a:ext cx="2682164" cy="1520952"/>
          </a:xfrm>
          <a:prstGeom prst="roundRect">
            <a:avLst>
              <a:gd name="adj" fmla="val 4810"/>
            </a:avLst>
          </a:prstGeom>
          <a:solidFill>
            <a:srgbClr val="FFFFFF"/>
          </a:solidFill>
          <a:ln w="9525">
            <a:solidFill>
              <a:srgbClr val="DCE3E4"/>
            </a:solidFill>
            <a:prstDash val="solid"/>
          </a:ln>
        </p:spPr>
      </p:sp>
      <p:sp>
        <p:nvSpPr>
          <p:cNvPr id="42" name="Text 39"/>
          <p:cNvSpPr txBox="1"/>
          <p:nvPr/>
        </p:nvSpPr>
        <p:spPr>
          <a:xfrm>
            <a:off x="6351880" y="3185160"/>
            <a:ext cx="1493444" cy="274320"/>
          </a:xfrm>
          <a:prstGeom prst="rect">
            <a:avLst/>
          </a:prstGeom>
          <a:noFill/>
          <a:ln/>
        </p:spPr>
        <p:txBody>
          <a:bodyPr wrap="square" lIns="0" tIns="0" rIns="0" bIns="0" rtlCol="0" anchor="t"/>
          <a:lstStyle/>
          <a:p>
            <a:pPr indent="0" marL="0">
              <a:buNone/>
            </a:pPr>
            <a:r>
              <a:rPr lang="en-US" sz="1200" b="1" dirty="0">
                <a:solidFill>
                  <a:srgbClr val="5B6B71"/>
                </a:solidFill>
              </a:rPr>
              <a:t>Grace recovery</a:t>
            </a:r>
            <a:endParaRPr lang="en-US" sz="1200" dirty="0"/>
          </a:p>
        </p:txBody>
      </p:sp>
      <p:sp>
        <p:nvSpPr>
          <p:cNvPr id="43" name="status pill"/>
          <p:cNvSpPr/>
          <p:nvPr/>
        </p:nvSpPr>
        <p:spPr>
          <a:xfrm>
            <a:off x="7863611" y="3185160"/>
            <a:ext cx="868680" cy="237744"/>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7863611" y="3185160"/>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On track</a:t>
            </a:r>
            <a:endParaRPr lang="en-US" sz="1000" dirty="0"/>
          </a:p>
        </p:txBody>
      </p:sp>
      <p:sp>
        <p:nvSpPr>
          <p:cNvPr id="45" name="Text 42"/>
          <p:cNvSpPr txBox="1"/>
          <p:nvPr/>
        </p:nvSpPr>
        <p:spPr>
          <a:xfrm>
            <a:off x="6351880" y="3468624"/>
            <a:ext cx="2352980" cy="548640"/>
          </a:xfrm>
          <a:prstGeom prst="rect">
            <a:avLst/>
          </a:prstGeom>
          <a:noFill/>
          <a:ln/>
        </p:spPr>
        <p:txBody>
          <a:bodyPr wrap="square" lIns="0" tIns="0" rIns="0" bIns="0" rtlCol="0" anchor="ctr"/>
          <a:lstStyle/>
          <a:p>
            <a:pPr indent="0" marL="0">
              <a:buNone/>
            </a:pPr>
            <a:r>
              <a:rPr lang="en-US" sz="3200" b="1" dirty="0">
                <a:solidFill>
                  <a:srgbClr val="2E8B57"/>
                </a:solidFill>
                <a:latin typeface="Cambria" pitchFamily="34" charset="0"/>
                <a:ea typeface="Cambria" pitchFamily="34" charset="-122"/>
                <a:cs typeface="Cambria" pitchFamily="34" charset="-120"/>
              </a:rPr>
              <a:t>75%</a:t>
            </a:r>
            <a:endParaRPr lang="en-US" sz="3200" dirty="0"/>
          </a:p>
        </p:txBody>
      </p:sp>
      <p:sp>
        <p:nvSpPr>
          <p:cNvPr id="46" name="Text 43"/>
          <p:cNvSpPr txBox="1"/>
          <p:nvPr/>
        </p:nvSpPr>
        <p:spPr>
          <a:xfrm>
            <a:off x="6351880" y="4035552"/>
            <a:ext cx="2352980" cy="496824"/>
          </a:xfrm>
          <a:prstGeom prst="rect">
            <a:avLst/>
          </a:prstGeom>
          <a:noFill/>
          <a:ln/>
        </p:spPr>
        <p:txBody>
          <a:bodyPr wrap="square" lIns="0" tIns="0" rIns="0" bIns="0" rtlCol="0" anchor="t"/>
          <a:lstStyle/>
          <a:p>
            <a:pPr indent="0" marL="0">
              <a:buNone/>
            </a:pPr>
            <a:r>
              <a:rPr lang="en-US" sz="1100" dirty="0">
                <a:solidFill>
                  <a:srgbClr val="5B6B71"/>
                </a:solidFill>
              </a:rPr>
              <a:t>Aug 38% · no target set yet</a:t>
            </a:r>
            <a:endParaRPr lang="en-US" sz="1100" dirty="0"/>
          </a:p>
        </p:txBody>
      </p:sp>
      <p:sp>
        <p:nvSpPr>
          <p:cNvPr id="47" name="card"/>
          <p:cNvSpPr/>
          <p:nvPr/>
        </p:nvSpPr>
        <p:spPr>
          <a:xfrm>
            <a:off x="9052331" y="3057144"/>
            <a:ext cx="2682164" cy="1520952"/>
          </a:xfrm>
          <a:prstGeom prst="roundRect">
            <a:avLst>
              <a:gd name="adj" fmla="val 4810"/>
            </a:avLst>
          </a:prstGeom>
          <a:solidFill>
            <a:srgbClr val="FFFFFF"/>
          </a:solidFill>
          <a:ln w="9525">
            <a:solidFill>
              <a:srgbClr val="DCE3E4"/>
            </a:solidFill>
            <a:prstDash val="solid"/>
          </a:ln>
        </p:spPr>
      </p:sp>
      <p:sp>
        <p:nvSpPr>
          <p:cNvPr id="48" name="Text 45"/>
          <p:cNvSpPr txBox="1"/>
          <p:nvPr/>
        </p:nvSpPr>
        <p:spPr>
          <a:xfrm>
            <a:off x="9216923" y="3185160"/>
            <a:ext cx="1493444" cy="274320"/>
          </a:xfrm>
          <a:prstGeom prst="rect">
            <a:avLst/>
          </a:prstGeom>
          <a:noFill/>
          <a:ln/>
        </p:spPr>
        <p:txBody>
          <a:bodyPr wrap="square" lIns="0" tIns="0" rIns="0" bIns="0" rtlCol="0" anchor="t"/>
          <a:lstStyle/>
          <a:p>
            <a:pPr indent="0" marL="0">
              <a:buNone/>
            </a:pPr>
            <a:r>
              <a:rPr lang="en-US" sz="1200" b="1" dirty="0">
                <a:solidFill>
                  <a:srgbClr val="5B6B71"/>
                </a:solidFill>
              </a:rPr>
              <a:t>Money in (USD)</a:t>
            </a:r>
            <a:endParaRPr lang="en-US" sz="1200" dirty="0"/>
          </a:p>
        </p:txBody>
      </p:sp>
      <p:sp>
        <p:nvSpPr>
          <p:cNvPr id="49" name="status pill"/>
          <p:cNvSpPr/>
          <p:nvPr/>
        </p:nvSpPr>
        <p:spPr>
          <a:xfrm>
            <a:off x="10728655" y="3185160"/>
            <a:ext cx="868680" cy="237744"/>
          </a:xfrm>
          <a:prstGeom prst="roundRect">
            <a:avLst>
              <a:gd name="adj" fmla="val 50000"/>
            </a:avLst>
          </a:prstGeom>
          <a:solidFill>
            <a:srgbClr val="C98A00"/>
          </a:solidFill>
          <a:ln w="12700">
            <a:solidFill>
              <a:srgbClr val="C98A00"/>
            </a:solidFill>
            <a:prstDash val="solid"/>
          </a:ln>
        </p:spPr>
      </p:sp>
      <p:sp>
        <p:nvSpPr>
          <p:cNvPr id="50" name="Text 47"/>
          <p:cNvSpPr txBox="1"/>
          <p:nvPr/>
        </p:nvSpPr>
        <p:spPr>
          <a:xfrm>
            <a:off x="10728655" y="3185160"/>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Watch</a:t>
            </a:r>
            <a:endParaRPr lang="en-US" sz="1000" dirty="0"/>
          </a:p>
        </p:txBody>
      </p:sp>
      <p:sp>
        <p:nvSpPr>
          <p:cNvPr id="51" name="Text 48"/>
          <p:cNvSpPr txBox="1"/>
          <p:nvPr/>
        </p:nvSpPr>
        <p:spPr>
          <a:xfrm>
            <a:off x="9216923" y="3468624"/>
            <a:ext cx="2352980" cy="548640"/>
          </a:xfrm>
          <a:prstGeom prst="rect">
            <a:avLst/>
          </a:prstGeom>
          <a:noFill/>
          <a:ln/>
        </p:spPr>
        <p:txBody>
          <a:bodyPr wrap="square" lIns="0" tIns="0" rIns="0" bIns="0" rtlCol="0" anchor="ctr"/>
          <a:lstStyle/>
          <a:p>
            <a:pPr indent="0" marL="0">
              <a:buNone/>
            </a:pPr>
            <a:r>
              <a:rPr lang="en-US" sz="3200" b="1" dirty="0">
                <a:solidFill>
                  <a:srgbClr val="1E2A2F"/>
                </a:solidFill>
                <a:latin typeface="Cambria" pitchFamily="34" charset="0"/>
                <a:ea typeface="Cambria" pitchFamily="34" charset="-122"/>
                <a:cs typeface="Cambria" pitchFamily="34" charset="-120"/>
              </a:rPr>
              <a:t>15,078</a:t>
            </a:r>
            <a:endParaRPr lang="en-US" sz="3200" dirty="0"/>
          </a:p>
        </p:txBody>
      </p:sp>
      <p:sp>
        <p:nvSpPr>
          <p:cNvPr id="52" name="Text 49"/>
          <p:cNvSpPr txBox="1"/>
          <p:nvPr/>
        </p:nvSpPr>
        <p:spPr>
          <a:xfrm>
            <a:off x="9216923" y="4035552"/>
            <a:ext cx="2352980" cy="496824"/>
          </a:xfrm>
          <a:prstGeom prst="rect">
            <a:avLst/>
          </a:prstGeom>
          <a:noFill/>
          <a:ln/>
        </p:spPr>
        <p:txBody>
          <a:bodyPr wrap="square" lIns="0" tIns="0" rIns="0" bIns="0" rtlCol="0" anchor="t"/>
          <a:lstStyle/>
          <a:p>
            <a:pPr indent="0" marL="0">
              <a:buNone/>
            </a:pPr>
            <a:r>
              <a:rPr lang="en-US" sz="1100" dirty="0">
                <a:solidFill>
                  <a:srgbClr val="5B6B71"/>
                </a:solidFill>
              </a:rPr>
              <a:t>Aug 16,760 · down 10%</a:t>
            </a:r>
            <a:endParaRPr lang="en-US" sz="1100" dirty="0"/>
          </a:p>
        </p:txBody>
      </p:sp>
      <p:sp>
        <p:nvSpPr>
          <p:cNvPr id="53" name="card"/>
          <p:cNvSpPr/>
          <p:nvPr/>
        </p:nvSpPr>
        <p:spPr>
          <a:xfrm>
            <a:off x="457200" y="4742688"/>
            <a:ext cx="2682164" cy="1520952"/>
          </a:xfrm>
          <a:prstGeom prst="roundRect">
            <a:avLst>
              <a:gd name="adj" fmla="val 4810"/>
            </a:avLst>
          </a:prstGeom>
          <a:solidFill>
            <a:srgbClr val="FFFFFF"/>
          </a:solidFill>
          <a:ln w="9525">
            <a:solidFill>
              <a:srgbClr val="DCE3E4"/>
            </a:solidFill>
            <a:prstDash val="solid"/>
          </a:ln>
        </p:spPr>
      </p:sp>
      <p:sp>
        <p:nvSpPr>
          <p:cNvPr id="54" name="Text 51"/>
          <p:cNvSpPr txBox="1"/>
          <p:nvPr/>
        </p:nvSpPr>
        <p:spPr>
          <a:xfrm>
            <a:off x="621792" y="4870704"/>
            <a:ext cx="1493444" cy="274320"/>
          </a:xfrm>
          <a:prstGeom prst="rect">
            <a:avLst/>
          </a:prstGeom>
          <a:noFill/>
          <a:ln/>
        </p:spPr>
        <p:txBody>
          <a:bodyPr wrap="square" lIns="0" tIns="0" rIns="0" bIns="0" rtlCol="0" anchor="t"/>
          <a:lstStyle/>
          <a:p>
            <a:pPr indent="0" marL="0">
              <a:buNone/>
            </a:pPr>
            <a:r>
              <a:rPr lang="en-US" sz="1200" b="1" dirty="0">
                <a:solidFill>
                  <a:srgbClr val="5B6B71"/>
                </a:solidFill>
              </a:rPr>
              <a:t>Selling agents</a:t>
            </a:r>
            <a:endParaRPr lang="en-US" sz="1200" dirty="0"/>
          </a:p>
        </p:txBody>
      </p:sp>
      <p:sp>
        <p:nvSpPr>
          <p:cNvPr id="55" name="status pill"/>
          <p:cNvSpPr/>
          <p:nvPr/>
        </p:nvSpPr>
        <p:spPr>
          <a:xfrm>
            <a:off x="2133524" y="4870704"/>
            <a:ext cx="868680" cy="237744"/>
          </a:xfrm>
          <a:prstGeom prst="roundRect">
            <a:avLst>
              <a:gd name="adj" fmla="val 50000"/>
            </a:avLst>
          </a:prstGeom>
          <a:solidFill>
            <a:srgbClr val="C0392B"/>
          </a:solidFill>
          <a:ln w="12700">
            <a:solidFill>
              <a:srgbClr val="C0392B"/>
            </a:solidFill>
            <a:prstDash val="solid"/>
          </a:ln>
        </p:spPr>
      </p:sp>
      <p:sp>
        <p:nvSpPr>
          <p:cNvPr id="56" name="Text 53"/>
          <p:cNvSpPr txBox="1"/>
          <p:nvPr/>
        </p:nvSpPr>
        <p:spPr>
          <a:xfrm>
            <a:off x="2133524" y="4870704"/>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57" name="Text 54"/>
          <p:cNvSpPr txBox="1"/>
          <p:nvPr/>
        </p:nvSpPr>
        <p:spPr>
          <a:xfrm>
            <a:off x="621792" y="5154168"/>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4 of 17</a:t>
            </a:r>
            <a:endParaRPr lang="en-US" sz="3200" dirty="0"/>
          </a:p>
        </p:txBody>
      </p:sp>
      <p:sp>
        <p:nvSpPr>
          <p:cNvPr id="58" name="Text 55"/>
          <p:cNvSpPr txBox="1"/>
          <p:nvPr/>
        </p:nvSpPr>
        <p:spPr>
          <a:xfrm>
            <a:off x="621792" y="5721096"/>
            <a:ext cx="2352980" cy="496824"/>
          </a:xfrm>
          <a:prstGeom prst="rect">
            <a:avLst/>
          </a:prstGeom>
          <a:noFill/>
          <a:ln/>
        </p:spPr>
        <p:txBody>
          <a:bodyPr wrap="square" lIns="0" tIns="0" rIns="0" bIns="0" rtlCol="0" anchor="t"/>
          <a:lstStyle/>
          <a:p>
            <a:pPr indent="0" marL="0">
              <a:buNone/>
            </a:pPr>
            <a:r>
              <a:rPr lang="en-US" sz="1100" dirty="0">
                <a:solidFill>
                  <a:srgbClr val="5B6B71"/>
                </a:solidFill>
              </a:rPr>
              <a:t>Active agents with a sale · Aug 5 · Jun 9</a:t>
            </a:r>
            <a:endParaRPr lang="en-US" sz="1100" dirty="0"/>
          </a:p>
        </p:txBody>
      </p:sp>
      <p:sp>
        <p:nvSpPr>
          <p:cNvPr id="59" name="card"/>
          <p:cNvSpPr/>
          <p:nvPr/>
        </p:nvSpPr>
        <p:spPr>
          <a:xfrm>
            <a:off x="3322244" y="4742688"/>
            <a:ext cx="2682164" cy="1520952"/>
          </a:xfrm>
          <a:prstGeom prst="roundRect">
            <a:avLst>
              <a:gd name="adj" fmla="val 4810"/>
            </a:avLst>
          </a:prstGeom>
          <a:solidFill>
            <a:srgbClr val="FFFFFF"/>
          </a:solidFill>
          <a:ln w="9525">
            <a:solidFill>
              <a:srgbClr val="DCE3E4"/>
            </a:solidFill>
            <a:prstDash val="solid"/>
          </a:ln>
        </p:spPr>
      </p:sp>
      <p:sp>
        <p:nvSpPr>
          <p:cNvPr id="60" name="Text 57"/>
          <p:cNvSpPr txBox="1"/>
          <p:nvPr/>
        </p:nvSpPr>
        <p:spPr>
          <a:xfrm>
            <a:off x="3486836" y="4870704"/>
            <a:ext cx="1493444" cy="274320"/>
          </a:xfrm>
          <a:prstGeom prst="rect">
            <a:avLst/>
          </a:prstGeom>
          <a:noFill/>
          <a:ln/>
        </p:spPr>
        <p:txBody>
          <a:bodyPr wrap="square" lIns="0" tIns="0" rIns="0" bIns="0" rtlCol="0" anchor="t"/>
          <a:lstStyle/>
          <a:p>
            <a:pPr indent="0" marL="0">
              <a:buNone/>
            </a:pPr>
            <a:r>
              <a:rPr lang="en-US" sz="1200" b="1" dirty="0">
                <a:solidFill>
                  <a:srgbClr val="5B6B71"/>
                </a:solidFill>
              </a:rPr>
              <a:t>USD premium collected</a:t>
            </a:r>
            <a:endParaRPr lang="en-US" sz="1200" dirty="0"/>
          </a:p>
        </p:txBody>
      </p:sp>
      <p:sp>
        <p:nvSpPr>
          <p:cNvPr id="61" name="status pill"/>
          <p:cNvSpPr/>
          <p:nvPr/>
        </p:nvSpPr>
        <p:spPr>
          <a:xfrm>
            <a:off x="4998568" y="4870704"/>
            <a:ext cx="868680" cy="237744"/>
          </a:xfrm>
          <a:prstGeom prst="roundRect">
            <a:avLst>
              <a:gd name="adj" fmla="val 50000"/>
            </a:avLst>
          </a:prstGeom>
          <a:solidFill>
            <a:srgbClr val="C0392B"/>
          </a:solidFill>
          <a:ln w="12700">
            <a:solidFill>
              <a:srgbClr val="C0392B"/>
            </a:solidFill>
            <a:prstDash val="solid"/>
          </a:ln>
        </p:spPr>
      </p:sp>
      <p:sp>
        <p:nvSpPr>
          <p:cNvPr id="62" name="Text 59"/>
          <p:cNvSpPr txBox="1"/>
          <p:nvPr/>
        </p:nvSpPr>
        <p:spPr>
          <a:xfrm>
            <a:off x="4998568" y="4870704"/>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63" name="Text 60"/>
          <p:cNvSpPr txBox="1"/>
          <p:nvPr/>
        </p:nvSpPr>
        <p:spPr>
          <a:xfrm>
            <a:off x="3486836" y="5154168"/>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49%</a:t>
            </a:r>
            <a:endParaRPr lang="en-US" sz="3200" dirty="0"/>
          </a:p>
        </p:txBody>
      </p:sp>
      <p:sp>
        <p:nvSpPr>
          <p:cNvPr id="64" name="Text 61"/>
          <p:cNvSpPr txBox="1"/>
          <p:nvPr/>
        </p:nvSpPr>
        <p:spPr>
          <a:xfrm>
            <a:off x="3486836" y="5721096"/>
            <a:ext cx="2352980" cy="496824"/>
          </a:xfrm>
          <a:prstGeom prst="rect">
            <a:avLst/>
          </a:prstGeom>
          <a:noFill/>
          <a:ln/>
        </p:spPr>
        <p:txBody>
          <a:bodyPr wrap="square" lIns="0" tIns="0" rIns="0" bIns="0" rtlCol="0" anchor="t"/>
          <a:lstStyle/>
          <a:p>
            <a:pPr indent="0" marL="0">
              <a:buNone/>
            </a:pPr>
            <a:r>
              <a:rPr lang="en-US" sz="1100" dirty="0">
                <a:solidFill>
                  <a:srgbClr val="5B6B71"/>
                </a:solidFill>
              </a:rPr>
              <a:t>USD 2,284 of 4,675 due · target 70%</a:t>
            </a:r>
            <a:endParaRPr lang="en-US" sz="1100" dirty="0"/>
          </a:p>
        </p:txBody>
      </p:sp>
      <p:sp>
        <p:nvSpPr>
          <p:cNvPr id="65" name="card"/>
          <p:cNvSpPr/>
          <p:nvPr/>
        </p:nvSpPr>
        <p:spPr>
          <a:xfrm>
            <a:off x="6187288" y="4742688"/>
            <a:ext cx="2682164" cy="1520952"/>
          </a:xfrm>
          <a:prstGeom prst="roundRect">
            <a:avLst>
              <a:gd name="adj" fmla="val 4810"/>
            </a:avLst>
          </a:prstGeom>
          <a:solidFill>
            <a:srgbClr val="FFFFFF"/>
          </a:solidFill>
          <a:ln w="9525">
            <a:solidFill>
              <a:srgbClr val="DCE3E4"/>
            </a:solidFill>
            <a:prstDash val="solid"/>
          </a:ln>
        </p:spPr>
      </p:sp>
      <p:sp>
        <p:nvSpPr>
          <p:cNvPr id="66" name="Text 63"/>
          <p:cNvSpPr txBox="1"/>
          <p:nvPr/>
        </p:nvSpPr>
        <p:spPr>
          <a:xfrm>
            <a:off x="6351880" y="4870704"/>
            <a:ext cx="1493444" cy="274320"/>
          </a:xfrm>
          <a:prstGeom prst="rect">
            <a:avLst/>
          </a:prstGeom>
          <a:noFill/>
          <a:ln/>
        </p:spPr>
        <p:txBody>
          <a:bodyPr wrap="square" lIns="0" tIns="0" rIns="0" bIns="0" rtlCol="0" anchor="t"/>
          <a:lstStyle/>
          <a:p>
            <a:pPr indent="0" marL="0">
              <a:buNone/>
            </a:pPr>
            <a:r>
              <a:rPr lang="en-US" sz="1200" b="1" dirty="0">
                <a:solidFill>
                  <a:srgbClr val="5B6B71"/>
                </a:solidFill>
              </a:rPr>
              <a:t>Inactive policies</a:t>
            </a:r>
            <a:endParaRPr lang="en-US" sz="1200" dirty="0"/>
          </a:p>
        </p:txBody>
      </p:sp>
      <p:sp>
        <p:nvSpPr>
          <p:cNvPr id="67" name="status pill"/>
          <p:cNvSpPr/>
          <p:nvPr/>
        </p:nvSpPr>
        <p:spPr>
          <a:xfrm>
            <a:off x="7863611" y="4870704"/>
            <a:ext cx="868680" cy="237744"/>
          </a:xfrm>
          <a:prstGeom prst="roundRect">
            <a:avLst>
              <a:gd name="adj" fmla="val 50000"/>
            </a:avLst>
          </a:prstGeom>
          <a:solidFill>
            <a:srgbClr val="C98A00"/>
          </a:solidFill>
          <a:ln w="12700">
            <a:solidFill>
              <a:srgbClr val="C98A00"/>
            </a:solidFill>
            <a:prstDash val="solid"/>
          </a:ln>
        </p:spPr>
      </p:sp>
      <p:sp>
        <p:nvSpPr>
          <p:cNvPr id="68" name="Text 65"/>
          <p:cNvSpPr txBox="1"/>
          <p:nvPr/>
        </p:nvSpPr>
        <p:spPr>
          <a:xfrm>
            <a:off x="7863611" y="4870704"/>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Watch</a:t>
            </a:r>
            <a:endParaRPr lang="en-US" sz="1000" dirty="0"/>
          </a:p>
        </p:txBody>
      </p:sp>
      <p:sp>
        <p:nvSpPr>
          <p:cNvPr id="69" name="Text 66"/>
          <p:cNvSpPr txBox="1"/>
          <p:nvPr/>
        </p:nvSpPr>
        <p:spPr>
          <a:xfrm>
            <a:off x="6351880" y="5154168"/>
            <a:ext cx="2352980" cy="548640"/>
          </a:xfrm>
          <a:prstGeom prst="rect">
            <a:avLst/>
          </a:prstGeom>
          <a:noFill/>
          <a:ln/>
        </p:spPr>
        <p:txBody>
          <a:bodyPr wrap="square" lIns="0" tIns="0" rIns="0" bIns="0" rtlCol="0" anchor="ctr"/>
          <a:lstStyle/>
          <a:p>
            <a:pPr indent="0" marL="0">
              <a:buNone/>
            </a:pPr>
            <a:r>
              <a:rPr lang="en-US" sz="3200" b="1" dirty="0">
                <a:solidFill>
                  <a:srgbClr val="1E2A2F"/>
                </a:solidFill>
                <a:latin typeface="Cambria" pitchFamily="34" charset="0"/>
                <a:ea typeface="Cambria" pitchFamily="34" charset="-122"/>
                <a:cs typeface="Cambria" pitchFamily="34" charset="-120"/>
              </a:rPr>
              <a:t>213</a:t>
            </a:r>
            <a:endParaRPr lang="en-US" sz="3200" dirty="0"/>
          </a:p>
        </p:txBody>
      </p:sp>
      <p:sp>
        <p:nvSpPr>
          <p:cNvPr id="70" name="Text 67"/>
          <p:cNvSpPr txBox="1"/>
          <p:nvPr/>
        </p:nvSpPr>
        <p:spPr>
          <a:xfrm>
            <a:off x="6351880" y="5721096"/>
            <a:ext cx="2352980" cy="496824"/>
          </a:xfrm>
          <a:prstGeom prst="rect">
            <a:avLst/>
          </a:prstGeom>
          <a:noFill/>
          <a:ln/>
        </p:spPr>
        <p:txBody>
          <a:bodyPr wrap="square" lIns="0" tIns="0" rIns="0" bIns="0" rtlCol="0" anchor="t"/>
          <a:lstStyle/>
          <a:p>
            <a:pPr indent="0" marL="0">
              <a:buNone/>
            </a:pPr>
            <a:r>
              <a:rPr lang="en-US" sz="1100" dirty="0">
                <a:solidFill>
                  <a:srgbClr val="5B6B71"/>
                </a:solidFill>
              </a:rPr>
              <a:t>USD 2,001 a month of premium never collected</a:t>
            </a:r>
            <a:endParaRPr lang="en-US" sz="1100" dirty="0"/>
          </a:p>
        </p:txBody>
      </p:sp>
      <p:sp>
        <p:nvSpPr>
          <p:cNvPr id="71" name="card"/>
          <p:cNvSpPr/>
          <p:nvPr/>
        </p:nvSpPr>
        <p:spPr>
          <a:xfrm>
            <a:off x="9052331" y="4742688"/>
            <a:ext cx="2682164" cy="1520952"/>
          </a:xfrm>
          <a:prstGeom prst="roundRect">
            <a:avLst>
              <a:gd name="adj" fmla="val 4810"/>
            </a:avLst>
          </a:prstGeom>
          <a:solidFill>
            <a:srgbClr val="FFFFFF"/>
          </a:solidFill>
          <a:ln w="9525">
            <a:solidFill>
              <a:srgbClr val="DCE3E4"/>
            </a:solidFill>
            <a:prstDash val="solid"/>
          </a:ln>
        </p:spPr>
      </p:sp>
      <p:sp>
        <p:nvSpPr>
          <p:cNvPr id="72" name="Text 69"/>
          <p:cNvSpPr txBox="1"/>
          <p:nvPr/>
        </p:nvSpPr>
        <p:spPr>
          <a:xfrm>
            <a:off x="9216923" y="4870704"/>
            <a:ext cx="1493444" cy="274320"/>
          </a:xfrm>
          <a:prstGeom prst="rect">
            <a:avLst/>
          </a:prstGeom>
          <a:noFill/>
          <a:ln/>
        </p:spPr>
        <p:txBody>
          <a:bodyPr wrap="square" lIns="0" tIns="0" rIns="0" bIns="0" rtlCol="0" anchor="t"/>
          <a:lstStyle/>
          <a:p>
            <a:pPr indent="0" marL="0">
              <a:buNone/>
            </a:pPr>
            <a:r>
              <a:rPr lang="en-US" sz="1200" b="1" dirty="0">
                <a:solidFill>
                  <a:srgbClr val="5B6B71"/>
                </a:solidFill>
              </a:rPr>
              <a:t>Business health</a:t>
            </a:r>
            <a:endParaRPr lang="en-US" sz="1200" dirty="0"/>
          </a:p>
        </p:txBody>
      </p:sp>
      <p:sp>
        <p:nvSpPr>
          <p:cNvPr id="73" name="status pill"/>
          <p:cNvSpPr/>
          <p:nvPr/>
        </p:nvSpPr>
        <p:spPr>
          <a:xfrm>
            <a:off x="10728655" y="4870704"/>
            <a:ext cx="868680" cy="237744"/>
          </a:xfrm>
          <a:prstGeom prst="roundRect">
            <a:avLst>
              <a:gd name="adj" fmla="val 50000"/>
            </a:avLst>
          </a:prstGeom>
          <a:solidFill>
            <a:srgbClr val="C0392B"/>
          </a:solidFill>
          <a:ln w="12700">
            <a:solidFill>
              <a:srgbClr val="C0392B"/>
            </a:solidFill>
            <a:prstDash val="solid"/>
          </a:ln>
        </p:spPr>
      </p:sp>
      <p:sp>
        <p:nvSpPr>
          <p:cNvPr id="74" name="Text 71"/>
          <p:cNvSpPr txBox="1"/>
          <p:nvPr/>
        </p:nvSpPr>
        <p:spPr>
          <a:xfrm>
            <a:off x="10728655" y="4870704"/>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75" name="Text 72"/>
          <p:cNvSpPr txBox="1"/>
          <p:nvPr/>
        </p:nvSpPr>
        <p:spPr>
          <a:xfrm>
            <a:off x="9216923" y="5154168"/>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1.9 / 5</a:t>
            </a:r>
            <a:endParaRPr lang="en-US" sz="3200" dirty="0"/>
          </a:p>
        </p:txBody>
      </p:sp>
      <p:sp>
        <p:nvSpPr>
          <p:cNvPr id="76" name="Text 73"/>
          <p:cNvSpPr txBox="1"/>
          <p:nvPr/>
        </p:nvSpPr>
        <p:spPr>
          <a:xfrm>
            <a:off x="9216923" y="5721096"/>
            <a:ext cx="2352980" cy="496824"/>
          </a:xfrm>
          <a:prstGeom prst="rect">
            <a:avLst/>
          </a:prstGeom>
          <a:noFill/>
          <a:ln/>
        </p:spPr>
        <p:txBody>
          <a:bodyPr wrap="square" lIns="0" tIns="0" rIns="0" bIns="0" rtlCol="0" anchor="t"/>
          <a:lstStyle/>
          <a:p>
            <a:pPr indent="0" marL="0">
              <a:buNone/>
            </a:pPr>
            <a:r>
              <a:rPr lang="en-US" sz="1100" dirty="0">
                <a:solidFill>
                  <a:srgbClr val="5B6B71"/>
                </a:solidFill>
              </a:rPr>
              <a:t>Conversion strong; volume, retention, collections weak</a:t>
            </a:r>
            <a:endParaRPr lang="en-US" sz="11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KEY FINDINGS (1 OF 2)</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Our selling works; our reach and our agent base need fixing</a:t>
            </a:r>
            <a:endParaRPr lang="en-US" sz="2600" dirty="0"/>
          </a:p>
        </p:txBody>
      </p:sp>
      <p:sp>
        <p:nvSpPr>
          <p:cNvPr id="5" name="Text 2"/>
          <p:cNvSpPr txBox="1"/>
          <p:nvPr/>
        </p:nvSpPr>
        <p:spPr>
          <a:xfrm>
            <a:off x="1143000" y="1298448"/>
            <a:ext cx="3931920" cy="228600"/>
          </a:xfrm>
          <a:prstGeom prst="rect">
            <a:avLst/>
          </a:prstGeom>
          <a:noFill/>
          <a:ln/>
        </p:spPr>
        <p:txBody>
          <a:bodyPr wrap="square" lIns="0" tIns="0" rIns="0" bIns="0" rtlCol="0" anchor="t"/>
          <a:lstStyle/>
          <a:p>
            <a:pPr indent="0" marL="0">
              <a:buNone/>
            </a:pPr>
            <a:r>
              <a:rPr lang="en-US" sz="1050" b="1" spc="100" kern="0" dirty="0">
                <a:solidFill>
                  <a:srgbClr val="0E5A5F"/>
                </a:solidFill>
              </a:rPr>
              <a:t>FINDING</a:t>
            </a:r>
            <a:endParaRPr lang="en-US" sz="1050" dirty="0"/>
          </a:p>
        </p:txBody>
      </p:sp>
      <p:sp>
        <p:nvSpPr>
          <p:cNvPr id="6" name="Text 3"/>
          <p:cNvSpPr txBox="1"/>
          <p:nvPr/>
        </p:nvSpPr>
        <p:spPr>
          <a:xfrm>
            <a:off x="5212080" y="1298448"/>
            <a:ext cx="3520440" cy="228600"/>
          </a:xfrm>
          <a:prstGeom prst="rect">
            <a:avLst/>
          </a:prstGeom>
          <a:noFill/>
          <a:ln/>
        </p:spPr>
        <p:txBody>
          <a:bodyPr wrap="square" lIns="0" tIns="0" rIns="0" bIns="0" rtlCol="0" anchor="t"/>
          <a:lstStyle/>
          <a:p>
            <a:pPr indent="0" marL="0">
              <a:buNone/>
            </a:pPr>
            <a:r>
              <a:rPr lang="en-US" sz="1050" b="1" spc="100" kern="0" dirty="0">
                <a:solidFill>
                  <a:srgbClr val="0E5A5F"/>
                </a:solidFill>
              </a:rPr>
              <a:t>EVIDENCE</a:t>
            </a:r>
            <a:endParaRPr lang="en-US" sz="1050" dirty="0"/>
          </a:p>
        </p:txBody>
      </p:sp>
      <p:sp>
        <p:nvSpPr>
          <p:cNvPr id="7" name="Text 4"/>
          <p:cNvSpPr txBox="1"/>
          <p:nvPr/>
        </p:nvSpPr>
        <p:spPr>
          <a:xfrm>
            <a:off x="8869680" y="1298448"/>
            <a:ext cx="2862072" cy="228600"/>
          </a:xfrm>
          <a:prstGeom prst="rect">
            <a:avLst/>
          </a:prstGeom>
          <a:noFill/>
          <a:ln/>
        </p:spPr>
        <p:txBody>
          <a:bodyPr wrap="square" lIns="0" tIns="0" rIns="0" bIns="0" rtlCol="0" anchor="t"/>
          <a:lstStyle/>
          <a:p>
            <a:pPr indent="0" marL="0">
              <a:buNone/>
            </a:pPr>
            <a:r>
              <a:rPr lang="en-US" sz="1050" b="1" spc="100" kern="0" dirty="0">
                <a:solidFill>
                  <a:srgbClr val="0E5A5F"/>
                </a:solidFill>
              </a:rPr>
              <a:t>WHAT WE WILL DO</a:t>
            </a:r>
            <a:endParaRPr lang="en-US" sz="1050" dirty="0"/>
          </a:p>
        </p:txBody>
      </p:sp>
      <p:sp>
        <p:nvSpPr>
          <p:cNvPr id="8" name="card"/>
          <p:cNvSpPr/>
          <p:nvPr/>
        </p:nvSpPr>
        <p:spPr>
          <a:xfrm>
            <a:off x="457200" y="1600200"/>
            <a:ext cx="11277295" cy="822960"/>
          </a:xfrm>
          <a:prstGeom prst="roundRect">
            <a:avLst>
              <a:gd name="adj" fmla="val 8889"/>
            </a:avLst>
          </a:prstGeom>
          <a:solidFill>
            <a:srgbClr val="FFFFFF"/>
          </a:solidFill>
          <a:ln w="9525">
            <a:solidFill>
              <a:srgbClr val="DCE3E4"/>
            </a:solidFill>
            <a:prstDash val="solid"/>
          </a:ln>
        </p:spPr>
      </p:sp>
      <p:sp>
        <p:nvSpPr>
          <p:cNvPr id="9" name="action tint"/>
          <p:cNvSpPr/>
          <p:nvPr/>
        </p:nvSpPr>
        <p:spPr>
          <a:xfrm>
            <a:off x="8778240" y="1655064"/>
            <a:ext cx="2898648" cy="713232"/>
          </a:xfrm>
          <a:prstGeom prst="roundRect">
            <a:avLst>
              <a:gd name="adj" fmla="val 7692"/>
            </a:avLst>
          </a:prstGeom>
          <a:solidFill>
            <a:srgbClr val="E3EFEF"/>
          </a:solidFill>
          <a:ln w="12700">
            <a:solidFill>
              <a:srgbClr val="E3EFEF"/>
            </a:solidFill>
            <a:prstDash val="solid"/>
          </a:ln>
        </p:spPr>
      </p:sp>
      <p:sp>
        <p:nvSpPr>
          <p:cNvPr id="10" name="number circle"/>
          <p:cNvSpPr/>
          <p:nvPr/>
        </p:nvSpPr>
        <p:spPr>
          <a:xfrm>
            <a:off x="594360" y="1783080"/>
            <a:ext cx="457200" cy="457200"/>
          </a:xfrm>
          <a:prstGeom prst="ellipse">
            <a:avLst/>
          </a:prstGeom>
          <a:solidFill>
            <a:srgbClr val="0E5A5F"/>
          </a:solidFill>
          <a:ln w="12700">
            <a:solidFill>
              <a:srgbClr val="0E5A5F"/>
            </a:solidFill>
            <a:prstDash val="solid"/>
          </a:ln>
        </p:spPr>
      </p:sp>
      <p:sp>
        <p:nvSpPr>
          <p:cNvPr id="11" name="Text 8"/>
          <p:cNvSpPr txBox="1"/>
          <p:nvPr/>
        </p:nvSpPr>
        <p:spPr>
          <a:xfrm>
            <a:off x="59436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2" name="Text 9"/>
          <p:cNvSpPr txBox="1"/>
          <p:nvPr/>
        </p:nvSpPr>
        <p:spPr>
          <a:xfrm>
            <a:off x="1143000" y="16733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We sell well to the people we reach, but we reach too few</a:t>
            </a:r>
            <a:endParaRPr lang="en-US" sz="1500" dirty="0"/>
          </a:p>
        </p:txBody>
      </p:sp>
      <p:sp>
        <p:nvSpPr>
          <p:cNvPr id="13" name="Text 10"/>
          <p:cNvSpPr txBox="1"/>
          <p:nvPr/>
        </p:nvSpPr>
        <p:spPr>
          <a:xfrm>
            <a:off x="5212080" y="16733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29 new joinings against a target of 250 (12%); 76% of them paid</a:t>
            </a:r>
            <a:endParaRPr lang="en-US" sz="1300" dirty="0"/>
          </a:p>
        </p:txBody>
      </p:sp>
      <p:sp>
        <p:nvSpPr>
          <p:cNvPr id="14" name="Text 11"/>
          <p:cNvSpPr txBox="1"/>
          <p:nvPr/>
        </p:nvSpPr>
        <p:spPr>
          <a:xfrm>
            <a:off x="8869680" y="16733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6 joinings and 4 paid per agent a month; resident agents in Lupane + 2 areas</a:t>
            </a:r>
            <a:endParaRPr lang="en-US" sz="1300" dirty="0"/>
          </a:p>
        </p:txBody>
      </p:sp>
      <p:sp>
        <p:nvSpPr>
          <p:cNvPr id="15" name="card"/>
          <p:cNvSpPr/>
          <p:nvPr/>
        </p:nvSpPr>
        <p:spPr>
          <a:xfrm>
            <a:off x="457200" y="2514600"/>
            <a:ext cx="11277295" cy="822960"/>
          </a:xfrm>
          <a:prstGeom prst="roundRect">
            <a:avLst>
              <a:gd name="adj" fmla="val 8889"/>
            </a:avLst>
          </a:prstGeom>
          <a:solidFill>
            <a:srgbClr val="FFFFFF"/>
          </a:solidFill>
          <a:ln w="9525">
            <a:solidFill>
              <a:srgbClr val="DCE3E4"/>
            </a:solidFill>
            <a:prstDash val="solid"/>
          </a:ln>
        </p:spPr>
      </p:sp>
      <p:sp>
        <p:nvSpPr>
          <p:cNvPr id="16" name="action tint"/>
          <p:cNvSpPr/>
          <p:nvPr/>
        </p:nvSpPr>
        <p:spPr>
          <a:xfrm>
            <a:off x="8778240" y="2569464"/>
            <a:ext cx="2898648" cy="713232"/>
          </a:xfrm>
          <a:prstGeom prst="roundRect">
            <a:avLst>
              <a:gd name="adj" fmla="val 7692"/>
            </a:avLst>
          </a:prstGeom>
          <a:solidFill>
            <a:srgbClr val="E3EFEF"/>
          </a:solidFill>
          <a:ln w="12700">
            <a:solidFill>
              <a:srgbClr val="E3EFEF"/>
            </a:solidFill>
            <a:prstDash val="solid"/>
          </a:ln>
        </p:spPr>
      </p:sp>
      <p:sp>
        <p:nvSpPr>
          <p:cNvPr id="17" name="number circle"/>
          <p:cNvSpPr/>
          <p:nvPr/>
        </p:nvSpPr>
        <p:spPr>
          <a:xfrm>
            <a:off x="594360" y="2697480"/>
            <a:ext cx="457200" cy="457200"/>
          </a:xfrm>
          <a:prstGeom prst="ellipse">
            <a:avLst/>
          </a:prstGeom>
          <a:solidFill>
            <a:srgbClr val="0E5A5F"/>
          </a:solidFill>
          <a:ln w="12700">
            <a:solidFill>
              <a:srgbClr val="0E5A5F"/>
            </a:solidFill>
            <a:prstDash val="solid"/>
          </a:ln>
        </p:spPr>
      </p:sp>
      <p:sp>
        <p:nvSpPr>
          <p:cNvPr id="18" name="Text 15"/>
          <p:cNvSpPr txBox="1"/>
          <p:nvPr/>
        </p:nvSpPr>
        <p:spPr>
          <a:xfrm>
            <a:off x="59436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9" name="Text 16"/>
          <p:cNvSpPr txBox="1"/>
          <p:nvPr/>
        </p:nvSpPr>
        <p:spPr>
          <a:xfrm>
            <a:off x="1143000" y="25877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Selling agents fell from 10 to 4</a:t>
            </a:r>
            <a:endParaRPr lang="en-US" sz="1500" dirty="0"/>
          </a:p>
        </p:txBody>
      </p:sp>
      <p:sp>
        <p:nvSpPr>
          <p:cNvPr id="20" name="Text 17"/>
          <p:cNvSpPr txBox="1"/>
          <p:nvPr/>
        </p:nvSpPr>
        <p:spPr>
          <a:xfrm>
            <a:off x="5212080" y="25877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11 accounts have never sold; causes sit with both agents and company support</a:t>
            </a:r>
            <a:endParaRPr lang="en-US" sz="1300" dirty="0"/>
          </a:p>
        </p:txBody>
      </p:sp>
      <p:sp>
        <p:nvSpPr>
          <p:cNvPr id="21" name="Text 18"/>
          <p:cNvSpPr txBox="1"/>
          <p:nvPr/>
        </p:nvSpPr>
        <p:spPr>
          <a:xfrm>
            <a:off x="8869680" y="25877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Weekly one-to-ones; fix transport, airtime and campaign support</a:t>
            </a:r>
            <a:endParaRPr lang="en-US" sz="1300" dirty="0"/>
          </a:p>
        </p:txBody>
      </p:sp>
      <p:sp>
        <p:nvSpPr>
          <p:cNvPr id="22" name="card"/>
          <p:cNvSpPr/>
          <p:nvPr/>
        </p:nvSpPr>
        <p:spPr>
          <a:xfrm>
            <a:off x="457200" y="3429000"/>
            <a:ext cx="11277295" cy="822960"/>
          </a:xfrm>
          <a:prstGeom prst="roundRect">
            <a:avLst>
              <a:gd name="adj" fmla="val 8889"/>
            </a:avLst>
          </a:prstGeom>
          <a:solidFill>
            <a:srgbClr val="FFFFFF"/>
          </a:solidFill>
          <a:ln w="9525">
            <a:solidFill>
              <a:srgbClr val="DCE3E4"/>
            </a:solidFill>
            <a:prstDash val="solid"/>
          </a:ln>
        </p:spPr>
      </p:sp>
      <p:sp>
        <p:nvSpPr>
          <p:cNvPr id="23" name="action tint"/>
          <p:cNvSpPr/>
          <p:nvPr/>
        </p:nvSpPr>
        <p:spPr>
          <a:xfrm>
            <a:off x="8778240" y="3483864"/>
            <a:ext cx="2898648" cy="713232"/>
          </a:xfrm>
          <a:prstGeom prst="roundRect">
            <a:avLst>
              <a:gd name="adj" fmla="val 7692"/>
            </a:avLst>
          </a:prstGeom>
          <a:solidFill>
            <a:srgbClr val="E3EFEF"/>
          </a:solidFill>
          <a:ln w="12700">
            <a:solidFill>
              <a:srgbClr val="E3EFEF"/>
            </a:solidFill>
            <a:prstDash val="solid"/>
          </a:ln>
        </p:spPr>
      </p:sp>
      <p:sp>
        <p:nvSpPr>
          <p:cNvPr id="24" name="number circle"/>
          <p:cNvSpPr/>
          <p:nvPr/>
        </p:nvSpPr>
        <p:spPr>
          <a:xfrm>
            <a:off x="594360" y="3611880"/>
            <a:ext cx="457200" cy="457200"/>
          </a:xfrm>
          <a:prstGeom prst="ellipse">
            <a:avLst/>
          </a:prstGeom>
          <a:solidFill>
            <a:srgbClr val="0E5A5F"/>
          </a:solidFill>
          <a:ln w="12700">
            <a:solidFill>
              <a:srgbClr val="0E5A5F"/>
            </a:solidFill>
            <a:prstDash val="solid"/>
          </a:ln>
        </p:spPr>
      </p:sp>
      <p:sp>
        <p:nvSpPr>
          <p:cNvPr id="25" name="Text 22"/>
          <p:cNvSpPr txBox="1"/>
          <p:nvPr/>
        </p:nvSpPr>
        <p:spPr>
          <a:xfrm>
            <a:off x="59436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6" name="Text 23"/>
          <p:cNvSpPr txBox="1"/>
          <p:nvPr/>
        </p:nvSpPr>
        <p:spPr>
          <a:xfrm>
            <a:off x="1143000" y="35021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A local agent who owns her area outsells everyone</a:t>
            </a:r>
            <a:endParaRPr lang="en-US" sz="1500" dirty="0"/>
          </a:p>
        </p:txBody>
      </p:sp>
      <p:sp>
        <p:nvSpPr>
          <p:cNvPr id="27" name="Text 24"/>
          <p:cNvSpPr txBox="1"/>
          <p:nvPr/>
        </p:nvSpPr>
        <p:spPr>
          <a:xfrm>
            <a:off x="5212080" y="35021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Gugulethu Moyo (Filabusi): 16 sold, 16 paid; 12 of September's 29</a:t>
            </a:r>
            <a:endParaRPr lang="en-US" sz="1300" dirty="0"/>
          </a:p>
        </p:txBody>
      </p:sp>
      <p:sp>
        <p:nvSpPr>
          <p:cNvPr id="28" name="Text 25"/>
          <p:cNvSpPr txBox="1"/>
          <p:nvPr/>
        </p:nvSpPr>
        <p:spPr>
          <a:xfrm>
            <a:off x="8869680" y="35021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Repeat the Filabusi model, starting with Lupane</a:t>
            </a:r>
            <a:endParaRPr lang="en-US" sz="1300" dirty="0"/>
          </a:p>
        </p:txBody>
      </p:sp>
      <p:sp>
        <p:nvSpPr>
          <p:cNvPr id="29" name="card"/>
          <p:cNvSpPr/>
          <p:nvPr/>
        </p:nvSpPr>
        <p:spPr>
          <a:xfrm>
            <a:off x="457200" y="4343400"/>
            <a:ext cx="11277295" cy="822960"/>
          </a:xfrm>
          <a:prstGeom prst="roundRect">
            <a:avLst>
              <a:gd name="adj" fmla="val 8889"/>
            </a:avLst>
          </a:prstGeom>
          <a:solidFill>
            <a:srgbClr val="FFFFFF"/>
          </a:solidFill>
          <a:ln w="9525">
            <a:solidFill>
              <a:srgbClr val="DCE3E4"/>
            </a:solidFill>
            <a:prstDash val="solid"/>
          </a:ln>
        </p:spPr>
      </p:sp>
      <p:sp>
        <p:nvSpPr>
          <p:cNvPr id="30" name="action tint"/>
          <p:cNvSpPr/>
          <p:nvPr/>
        </p:nvSpPr>
        <p:spPr>
          <a:xfrm>
            <a:off x="8778240" y="4398264"/>
            <a:ext cx="2898648" cy="713232"/>
          </a:xfrm>
          <a:prstGeom prst="roundRect">
            <a:avLst>
              <a:gd name="adj" fmla="val 7692"/>
            </a:avLst>
          </a:prstGeom>
          <a:solidFill>
            <a:srgbClr val="E3EFEF"/>
          </a:solidFill>
          <a:ln w="12700">
            <a:solidFill>
              <a:srgbClr val="E3EFEF"/>
            </a:solidFill>
            <a:prstDash val="solid"/>
          </a:ln>
        </p:spPr>
      </p:sp>
      <p:sp>
        <p:nvSpPr>
          <p:cNvPr id="31" name="number circle"/>
          <p:cNvSpPr/>
          <p:nvPr/>
        </p:nvSpPr>
        <p:spPr>
          <a:xfrm>
            <a:off x="594360" y="4526280"/>
            <a:ext cx="457200" cy="457200"/>
          </a:xfrm>
          <a:prstGeom prst="ellipse">
            <a:avLst/>
          </a:prstGeom>
          <a:solidFill>
            <a:srgbClr val="0E5A5F"/>
          </a:solidFill>
          <a:ln w="12700">
            <a:solidFill>
              <a:srgbClr val="0E5A5F"/>
            </a:solidFill>
            <a:prstDash val="solid"/>
          </a:ln>
        </p:spPr>
      </p:sp>
      <p:sp>
        <p:nvSpPr>
          <p:cNvPr id="32" name="Text 29"/>
          <p:cNvSpPr txBox="1"/>
          <p:nvPr/>
        </p:nvSpPr>
        <p:spPr>
          <a:xfrm>
            <a:off x="59436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3" name="Text 30"/>
          <p:cNvSpPr txBox="1"/>
          <p:nvPr/>
        </p:nvSpPr>
        <p:spPr>
          <a:xfrm>
            <a:off x="1143000" y="44165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Supported campaigns work</a:t>
            </a:r>
            <a:endParaRPr lang="en-US" sz="1500" dirty="0"/>
          </a:p>
        </p:txBody>
      </p:sp>
      <p:sp>
        <p:nvSpPr>
          <p:cNvPr id="34" name="Text 31"/>
          <p:cNvSpPr txBox="1"/>
          <p:nvPr/>
        </p:nvSpPr>
        <p:spPr>
          <a:xfrm>
            <a:off x="5212080" y="44165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Sokusile: 43 registered, 17 paid (40%), with tent, PA, transport and lunch</a:t>
            </a:r>
            <a:endParaRPr lang="en-US" sz="1300" dirty="0"/>
          </a:p>
        </p:txBody>
      </p:sp>
      <p:sp>
        <p:nvSpPr>
          <p:cNvPr id="35" name="Text 32"/>
          <p:cNvSpPr txBox="1"/>
          <p:nvPr/>
        </p:nvSpPr>
        <p:spPr>
          <a:xfrm>
            <a:off x="8869680" y="44165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Monthly campaign, with cost and ROI recorded</a:t>
            </a:r>
            <a:endParaRPr lang="en-US" sz="1300" dirty="0"/>
          </a:p>
        </p:txBody>
      </p:sp>
      <p:sp>
        <p:nvSpPr>
          <p:cNvPr id="36" name="card"/>
          <p:cNvSpPr/>
          <p:nvPr/>
        </p:nvSpPr>
        <p:spPr>
          <a:xfrm>
            <a:off x="457200" y="5257800"/>
            <a:ext cx="11277295" cy="822960"/>
          </a:xfrm>
          <a:prstGeom prst="roundRect">
            <a:avLst>
              <a:gd name="adj" fmla="val 8889"/>
            </a:avLst>
          </a:prstGeom>
          <a:solidFill>
            <a:srgbClr val="FFFFFF"/>
          </a:solidFill>
          <a:ln w="9525">
            <a:solidFill>
              <a:srgbClr val="DCE3E4"/>
            </a:solidFill>
            <a:prstDash val="solid"/>
          </a:ln>
        </p:spPr>
      </p:sp>
      <p:sp>
        <p:nvSpPr>
          <p:cNvPr id="37" name="action tint"/>
          <p:cNvSpPr/>
          <p:nvPr/>
        </p:nvSpPr>
        <p:spPr>
          <a:xfrm>
            <a:off x="8778240" y="5312664"/>
            <a:ext cx="2898648" cy="713232"/>
          </a:xfrm>
          <a:prstGeom prst="roundRect">
            <a:avLst>
              <a:gd name="adj" fmla="val 7692"/>
            </a:avLst>
          </a:prstGeom>
          <a:solidFill>
            <a:srgbClr val="E3EFEF"/>
          </a:solidFill>
          <a:ln w="12700">
            <a:solidFill>
              <a:srgbClr val="E3EFEF"/>
            </a:solidFill>
            <a:prstDash val="solid"/>
          </a:ln>
        </p:spPr>
      </p:sp>
      <p:sp>
        <p:nvSpPr>
          <p:cNvPr id="38" name="number circle"/>
          <p:cNvSpPr/>
          <p:nvPr/>
        </p:nvSpPr>
        <p:spPr>
          <a:xfrm>
            <a:off x="594360" y="5440680"/>
            <a:ext cx="457200" cy="457200"/>
          </a:xfrm>
          <a:prstGeom prst="ellipse">
            <a:avLst/>
          </a:prstGeom>
          <a:solidFill>
            <a:srgbClr val="0E5A5F"/>
          </a:solidFill>
          <a:ln w="12700">
            <a:solidFill>
              <a:srgbClr val="0E5A5F"/>
            </a:solidFill>
            <a:prstDash val="solid"/>
          </a:ln>
        </p:spPr>
      </p:sp>
      <p:sp>
        <p:nvSpPr>
          <p:cNvPr id="39" name="Text 36"/>
          <p:cNvSpPr txBox="1"/>
          <p:nvPr/>
        </p:nvSpPr>
        <p:spPr>
          <a:xfrm>
            <a:off x="594360" y="5440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40" name="Text 37"/>
          <p:cNvSpPr txBox="1"/>
          <p:nvPr/>
        </p:nvSpPr>
        <p:spPr>
          <a:xfrm>
            <a:off x="1143000" y="53309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Funerals and mortuary visits are leads we do not use</a:t>
            </a:r>
            <a:endParaRPr lang="en-US" sz="1500" dirty="0"/>
          </a:p>
        </p:txBody>
      </p:sp>
      <p:sp>
        <p:nvSpPr>
          <p:cNvPr id="41" name="Text 38"/>
          <p:cNvSpPr txBox="1"/>
          <p:nvPr/>
        </p:nvSpPr>
        <p:spPr>
          <a:xfrm>
            <a:off x="5212080" y="53309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51 quotations not converted: USD 21,013 + ZAR 86,300</a:t>
            </a:r>
            <a:endParaRPr lang="en-US" sz="1300" dirty="0"/>
          </a:p>
        </p:txBody>
      </p:sp>
      <p:sp>
        <p:nvSpPr>
          <p:cNvPr id="42" name="Text 39"/>
          <p:cNvSpPr txBox="1"/>
          <p:nvPr/>
        </p:nvSpPr>
        <p:spPr>
          <a:xfrm>
            <a:off x="8869680" y="53309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Funeral register; agent at funerals (60-day trial); quotation follow-up</a:t>
            </a:r>
            <a:endParaRPr lang="en-US" sz="13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KEY FINDINGS (2 OF 2)</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are losing customers and cash we have already earned</a:t>
            </a:r>
            <a:endParaRPr lang="en-US" sz="2600" dirty="0"/>
          </a:p>
        </p:txBody>
      </p:sp>
      <p:sp>
        <p:nvSpPr>
          <p:cNvPr id="5" name="Text 2"/>
          <p:cNvSpPr txBox="1"/>
          <p:nvPr/>
        </p:nvSpPr>
        <p:spPr>
          <a:xfrm>
            <a:off x="1143000" y="1298448"/>
            <a:ext cx="3931920" cy="228600"/>
          </a:xfrm>
          <a:prstGeom prst="rect">
            <a:avLst/>
          </a:prstGeom>
          <a:noFill/>
          <a:ln/>
        </p:spPr>
        <p:txBody>
          <a:bodyPr wrap="square" lIns="0" tIns="0" rIns="0" bIns="0" rtlCol="0" anchor="t"/>
          <a:lstStyle/>
          <a:p>
            <a:pPr indent="0" marL="0">
              <a:buNone/>
            </a:pPr>
            <a:r>
              <a:rPr lang="en-US" sz="1050" b="1" spc="100" kern="0" dirty="0">
                <a:solidFill>
                  <a:srgbClr val="0E5A5F"/>
                </a:solidFill>
              </a:rPr>
              <a:t>FINDING</a:t>
            </a:r>
            <a:endParaRPr lang="en-US" sz="1050" dirty="0"/>
          </a:p>
        </p:txBody>
      </p:sp>
      <p:sp>
        <p:nvSpPr>
          <p:cNvPr id="6" name="Text 3"/>
          <p:cNvSpPr txBox="1"/>
          <p:nvPr/>
        </p:nvSpPr>
        <p:spPr>
          <a:xfrm>
            <a:off x="5212080" y="1298448"/>
            <a:ext cx="3520440" cy="228600"/>
          </a:xfrm>
          <a:prstGeom prst="rect">
            <a:avLst/>
          </a:prstGeom>
          <a:noFill/>
          <a:ln/>
        </p:spPr>
        <p:txBody>
          <a:bodyPr wrap="square" lIns="0" tIns="0" rIns="0" bIns="0" rtlCol="0" anchor="t"/>
          <a:lstStyle/>
          <a:p>
            <a:pPr indent="0" marL="0">
              <a:buNone/>
            </a:pPr>
            <a:r>
              <a:rPr lang="en-US" sz="1050" b="1" spc="100" kern="0" dirty="0">
                <a:solidFill>
                  <a:srgbClr val="0E5A5F"/>
                </a:solidFill>
              </a:rPr>
              <a:t>EVIDENCE</a:t>
            </a:r>
            <a:endParaRPr lang="en-US" sz="1050" dirty="0"/>
          </a:p>
        </p:txBody>
      </p:sp>
      <p:sp>
        <p:nvSpPr>
          <p:cNvPr id="7" name="Text 4"/>
          <p:cNvSpPr txBox="1"/>
          <p:nvPr/>
        </p:nvSpPr>
        <p:spPr>
          <a:xfrm>
            <a:off x="8869680" y="1298448"/>
            <a:ext cx="2862072" cy="228600"/>
          </a:xfrm>
          <a:prstGeom prst="rect">
            <a:avLst/>
          </a:prstGeom>
          <a:noFill/>
          <a:ln/>
        </p:spPr>
        <p:txBody>
          <a:bodyPr wrap="square" lIns="0" tIns="0" rIns="0" bIns="0" rtlCol="0" anchor="t"/>
          <a:lstStyle/>
          <a:p>
            <a:pPr indent="0" marL="0">
              <a:buNone/>
            </a:pPr>
            <a:r>
              <a:rPr lang="en-US" sz="1050" b="1" spc="100" kern="0" dirty="0">
                <a:solidFill>
                  <a:srgbClr val="0E5A5F"/>
                </a:solidFill>
              </a:rPr>
              <a:t>WHAT WE WILL DO</a:t>
            </a:r>
            <a:endParaRPr lang="en-US" sz="1050" dirty="0"/>
          </a:p>
        </p:txBody>
      </p:sp>
      <p:sp>
        <p:nvSpPr>
          <p:cNvPr id="8" name="card"/>
          <p:cNvSpPr/>
          <p:nvPr/>
        </p:nvSpPr>
        <p:spPr>
          <a:xfrm>
            <a:off x="457200" y="1600200"/>
            <a:ext cx="11277295" cy="822960"/>
          </a:xfrm>
          <a:prstGeom prst="roundRect">
            <a:avLst>
              <a:gd name="adj" fmla="val 8889"/>
            </a:avLst>
          </a:prstGeom>
          <a:solidFill>
            <a:srgbClr val="FFFFFF"/>
          </a:solidFill>
          <a:ln w="9525">
            <a:solidFill>
              <a:srgbClr val="DCE3E4"/>
            </a:solidFill>
            <a:prstDash val="solid"/>
          </a:ln>
        </p:spPr>
      </p:sp>
      <p:sp>
        <p:nvSpPr>
          <p:cNvPr id="9" name="action tint"/>
          <p:cNvSpPr/>
          <p:nvPr/>
        </p:nvSpPr>
        <p:spPr>
          <a:xfrm>
            <a:off x="8778240" y="1655064"/>
            <a:ext cx="2898648" cy="713232"/>
          </a:xfrm>
          <a:prstGeom prst="roundRect">
            <a:avLst>
              <a:gd name="adj" fmla="val 7692"/>
            </a:avLst>
          </a:prstGeom>
          <a:solidFill>
            <a:srgbClr val="E3EFEF"/>
          </a:solidFill>
          <a:ln w="12700">
            <a:solidFill>
              <a:srgbClr val="E3EFEF"/>
            </a:solidFill>
            <a:prstDash val="solid"/>
          </a:ln>
        </p:spPr>
      </p:sp>
      <p:sp>
        <p:nvSpPr>
          <p:cNvPr id="10" name="number circle"/>
          <p:cNvSpPr/>
          <p:nvPr/>
        </p:nvSpPr>
        <p:spPr>
          <a:xfrm>
            <a:off x="594360" y="1783080"/>
            <a:ext cx="457200" cy="457200"/>
          </a:xfrm>
          <a:prstGeom prst="ellipse">
            <a:avLst/>
          </a:prstGeom>
          <a:solidFill>
            <a:srgbClr val="0E5A5F"/>
          </a:solidFill>
          <a:ln w="12700">
            <a:solidFill>
              <a:srgbClr val="0E5A5F"/>
            </a:solidFill>
            <a:prstDash val="solid"/>
          </a:ln>
        </p:spPr>
      </p:sp>
      <p:sp>
        <p:nvSpPr>
          <p:cNvPr id="11" name="Text 8"/>
          <p:cNvSpPr txBox="1"/>
          <p:nvPr/>
        </p:nvSpPr>
        <p:spPr>
          <a:xfrm>
            <a:off x="59436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12" name="Text 9"/>
          <p:cNvSpPr txBox="1"/>
          <p:nvPr/>
        </p:nvSpPr>
        <p:spPr>
          <a:xfrm>
            <a:off x="1143000" y="16733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Lapses now outnumber new paid policies</a:t>
            </a:r>
            <a:endParaRPr lang="en-US" sz="1500" dirty="0"/>
          </a:p>
        </p:txBody>
      </p:sp>
      <p:sp>
        <p:nvSpPr>
          <p:cNvPr id="13" name="Text 10"/>
          <p:cNvSpPr txBox="1"/>
          <p:nvPr/>
        </p:nvSpPr>
        <p:spPr>
          <a:xfrm>
            <a:off x="5212080" y="16733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September: 22 new paid, 28 lapsed (net −6); lapse rate 2.0% to 6.6%</a:t>
            </a:r>
            <a:endParaRPr lang="en-US" sz="1300" dirty="0"/>
          </a:p>
        </p:txBody>
      </p:sp>
      <p:sp>
        <p:nvSpPr>
          <p:cNvPr id="14" name="Text 11"/>
          <p:cNvSpPr txBox="1"/>
          <p:nvPr/>
        </p:nvSpPr>
        <p:spPr>
          <a:xfrm>
            <a:off x="8869680" y="16733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Daily grace call list; SMS reminders, EcoCash and debit orders</a:t>
            </a:r>
            <a:endParaRPr lang="en-US" sz="1300" dirty="0"/>
          </a:p>
        </p:txBody>
      </p:sp>
      <p:sp>
        <p:nvSpPr>
          <p:cNvPr id="15" name="card"/>
          <p:cNvSpPr/>
          <p:nvPr/>
        </p:nvSpPr>
        <p:spPr>
          <a:xfrm>
            <a:off x="457200" y="2514600"/>
            <a:ext cx="11277295" cy="822960"/>
          </a:xfrm>
          <a:prstGeom prst="roundRect">
            <a:avLst>
              <a:gd name="adj" fmla="val 8889"/>
            </a:avLst>
          </a:prstGeom>
          <a:solidFill>
            <a:srgbClr val="FFFFFF"/>
          </a:solidFill>
          <a:ln w="9525">
            <a:solidFill>
              <a:srgbClr val="DCE3E4"/>
            </a:solidFill>
            <a:prstDash val="solid"/>
          </a:ln>
        </p:spPr>
      </p:sp>
      <p:sp>
        <p:nvSpPr>
          <p:cNvPr id="16" name="action tint"/>
          <p:cNvSpPr/>
          <p:nvPr/>
        </p:nvSpPr>
        <p:spPr>
          <a:xfrm>
            <a:off x="8778240" y="2569464"/>
            <a:ext cx="2898648" cy="713232"/>
          </a:xfrm>
          <a:prstGeom prst="roundRect">
            <a:avLst>
              <a:gd name="adj" fmla="val 7692"/>
            </a:avLst>
          </a:prstGeom>
          <a:solidFill>
            <a:srgbClr val="E3EFEF"/>
          </a:solidFill>
          <a:ln w="12700">
            <a:solidFill>
              <a:srgbClr val="E3EFEF"/>
            </a:solidFill>
            <a:prstDash val="solid"/>
          </a:ln>
        </p:spPr>
      </p:sp>
      <p:sp>
        <p:nvSpPr>
          <p:cNvPr id="17" name="number circle"/>
          <p:cNvSpPr/>
          <p:nvPr/>
        </p:nvSpPr>
        <p:spPr>
          <a:xfrm>
            <a:off x="594360" y="2697480"/>
            <a:ext cx="457200" cy="457200"/>
          </a:xfrm>
          <a:prstGeom prst="ellipse">
            <a:avLst/>
          </a:prstGeom>
          <a:solidFill>
            <a:srgbClr val="0E5A5F"/>
          </a:solidFill>
          <a:ln w="12700">
            <a:solidFill>
              <a:srgbClr val="0E5A5F"/>
            </a:solidFill>
            <a:prstDash val="solid"/>
          </a:ln>
        </p:spPr>
      </p:sp>
      <p:sp>
        <p:nvSpPr>
          <p:cNvPr id="18" name="Text 15"/>
          <p:cNvSpPr txBox="1"/>
          <p:nvPr/>
        </p:nvSpPr>
        <p:spPr>
          <a:xfrm>
            <a:off x="59436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19" name="Text 16"/>
          <p:cNvSpPr txBox="1"/>
          <p:nvPr/>
        </p:nvSpPr>
        <p:spPr>
          <a:xfrm>
            <a:off x="1143000" y="25877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Following up customers in grace works</a:t>
            </a:r>
            <a:endParaRPr lang="en-US" sz="1500" dirty="0"/>
          </a:p>
        </p:txBody>
      </p:sp>
      <p:sp>
        <p:nvSpPr>
          <p:cNvPr id="20" name="Text 17"/>
          <p:cNvSpPr txBox="1"/>
          <p:nvPr/>
        </p:nvSpPr>
        <p:spPr>
          <a:xfrm>
            <a:off x="5212080" y="25877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Recovery rose from 17% in July to 75% in September once calls started</a:t>
            </a:r>
            <a:endParaRPr lang="en-US" sz="1300" dirty="0"/>
          </a:p>
        </p:txBody>
      </p:sp>
      <p:sp>
        <p:nvSpPr>
          <p:cNvPr id="21" name="Text 18"/>
          <p:cNvSpPr txBox="1"/>
          <p:nvPr/>
        </p:nvSpPr>
        <p:spPr>
          <a:xfrm>
            <a:off x="8869680" y="25877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Make grace calls a daily routine with a named owner</a:t>
            </a:r>
            <a:endParaRPr lang="en-US" sz="1300" dirty="0"/>
          </a:p>
        </p:txBody>
      </p:sp>
      <p:sp>
        <p:nvSpPr>
          <p:cNvPr id="22" name="card"/>
          <p:cNvSpPr/>
          <p:nvPr/>
        </p:nvSpPr>
        <p:spPr>
          <a:xfrm>
            <a:off x="457200" y="3429000"/>
            <a:ext cx="11277295" cy="822960"/>
          </a:xfrm>
          <a:prstGeom prst="roundRect">
            <a:avLst>
              <a:gd name="adj" fmla="val 8889"/>
            </a:avLst>
          </a:prstGeom>
          <a:solidFill>
            <a:srgbClr val="FFFFFF"/>
          </a:solidFill>
          <a:ln w="9525">
            <a:solidFill>
              <a:srgbClr val="DCE3E4"/>
            </a:solidFill>
            <a:prstDash val="solid"/>
          </a:ln>
        </p:spPr>
      </p:sp>
      <p:sp>
        <p:nvSpPr>
          <p:cNvPr id="23" name="action tint"/>
          <p:cNvSpPr/>
          <p:nvPr/>
        </p:nvSpPr>
        <p:spPr>
          <a:xfrm>
            <a:off x="8778240" y="3483864"/>
            <a:ext cx="2898648" cy="713232"/>
          </a:xfrm>
          <a:prstGeom prst="roundRect">
            <a:avLst>
              <a:gd name="adj" fmla="val 7692"/>
            </a:avLst>
          </a:prstGeom>
          <a:solidFill>
            <a:srgbClr val="E3EFEF"/>
          </a:solidFill>
          <a:ln w="12700">
            <a:solidFill>
              <a:srgbClr val="E3EFEF"/>
            </a:solidFill>
            <a:prstDash val="solid"/>
          </a:ln>
        </p:spPr>
      </p:sp>
      <p:sp>
        <p:nvSpPr>
          <p:cNvPr id="24" name="number circle"/>
          <p:cNvSpPr/>
          <p:nvPr/>
        </p:nvSpPr>
        <p:spPr>
          <a:xfrm>
            <a:off x="594360" y="3611880"/>
            <a:ext cx="457200" cy="457200"/>
          </a:xfrm>
          <a:prstGeom prst="ellipse">
            <a:avLst/>
          </a:prstGeom>
          <a:solidFill>
            <a:srgbClr val="0E5A5F"/>
          </a:solidFill>
          <a:ln w="12700">
            <a:solidFill>
              <a:srgbClr val="0E5A5F"/>
            </a:solidFill>
            <a:prstDash val="solid"/>
          </a:ln>
        </p:spPr>
      </p:sp>
      <p:sp>
        <p:nvSpPr>
          <p:cNvPr id="25" name="Text 22"/>
          <p:cNvSpPr txBox="1"/>
          <p:nvPr/>
        </p:nvSpPr>
        <p:spPr>
          <a:xfrm>
            <a:off x="59436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8</a:t>
            </a:r>
            <a:endParaRPr lang="en-US" sz="1600" dirty="0"/>
          </a:p>
        </p:txBody>
      </p:sp>
      <p:sp>
        <p:nvSpPr>
          <p:cNvPr id="26" name="Text 23"/>
          <p:cNvSpPr txBox="1"/>
          <p:nvPr/>
        </p:nvSpPr>
        <p:spPr>
          <a:xfrm>
            <a:off x="1143000" y="35021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Half of the premium due is not collected</a:t>
            </a:r>
            <a:endParaRPr lang="en-US" sz="1500" dirty="0"/>
          </a:p>
        </p:txBody>
      </p:sp>
      <p:sp>
        <p:nvSpPr>
          <p:cNvPr id="27" name="Text 24"/>
          <p:cNvSpPr txBox="1"/>
          <p:nvPr/>
        </p:nvSpPr>
        <p:spPr>
          <a:xfrm>
            <a:off x="5212080" y="35021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USD 2,284 of 4,675 collected (49%); 70% would add about USD 980 a month</a:t>
            </a:r>
            <a:endParaRPr lang="en-US" sz="1300" dirty="0"/>
          </a:p>
        </p:txBody>
      </p:sp>
      <p:sp>
        <p:nvSpPr>
          <p:cNvPr id="28" name="Text 25"/>
          <p:cNvSpPr txBox="1"/>
          <p:nvPr/>
        </p:nvSpPr>
        <p:spPr>
          <a:xfrm>
            <a:off x="8869680" y="35021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Collection target of 70%; reminders and debit orders</a:t>
            </a:r>
            <a:endParaRPr lang="en-US" sz="1300" dirty="0"/>
          </a:p>
        </p:txBody>
      </p:sp>
      <p:sp>
        <p:nvSpPr>
          <p:cNvPr id="29" name="card"/>
          <p:cNvSpPr/>
          <p:nvPr/>
        </p:nvSpPr>
        <p:spPr>
          <a:xfrm>
            <a:off x="457200" y="4343400"/>
            <a:ext cx="11277295" cy="822960"/>
          </a:xfrm>
          <a:prstGeom prst="roundRect">
            <a:avLst>
              <a:gd name="adj" fmla="val 8889"/>
            </a:avLst>
          </a:prstGeom>
          <a:solidFill>
            <a:srgbClr val="FFFFFF"/>
          </a:solidFill>
          <a:ln w="9525">
            <a:solidFill>
              <a:srgbClr val="DCE3E4"/>
            </a:solidFill>
            <a:prstDash val="solid"/>
          </a:ln>
        </p:spPr>
      </p:sp>
      <p:sp>
        <p:nvSpPr>
          <p:cNvPr id="30" name="action tint"/>
          <p:cNvSpPr/>
          <p:nvPr/>
        </p:nvSpPr>
        <p:spPr>
          <a:xfrm>
            <a:off x="8778240" y="4398264"/>
            <a:ext cx="2898648" cy="713232"/>
          </a:xfrm>
          <a:prstGeom prst="roundRect">
            <a:avLst>
              <a:gd name="adj" fmla="val 7692"/>
            </a:avLst>
          </a:prstGeom>
          <a:solidFill>
            <a:srgbClr val="E3EFEF"/>
          </a:solidFill>
          <a:ln w="12700">
            <a:solidFill>
              <a:srgbClr val="E3EFEF"/>
            </a:solidFill>
            <a:prstDash val="solid"/>
          </a:ln>
        </p:spPr>
      </p:sp>
      <p:sp>
        <p:nvSpPr>
          <p:cNvPr id="31" name="number circle"/>
          <p:cNvSpPr/>
          <p:nvPr/>
        </p:nvSpPr>
        <p:spPr>
          <a:xfrm>
            <a:off x="594360" y="4526280"/>
            <a:ext cx="457200" cy="457200"/>
          </a:xfrm>
          <a:prstGeom prst="ellipse">
            <a:avLst/>
          </a:prstGeom>
          <a:solidFill>
            <a:srgbClr val="0E5A5F"/>
          </a:solidFill>
          <a:ln w="12700">
            <a:solidFill>
              <a:srgbClr val="0E5A5F"/>
            </a:solidFill>
            <a:prstDash val="solid"/>
          </a:ln>
        </p:spPr>
      </p:sp>
      <p:sp>
        <p:nvSpPr>
          <p:cNvPr id="32" name="Text 29"/>
          <p:cNvSpPr txBox="1"/>
          <p:nvPr/>
        </p:nvSpPr>
        <p:spPr>
          <a:xfrm>
            <a:off x="59436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9</a:t>
            </a:r>
            <a:endParaRPr lang="en-US" sz="1600" dirty="0"/>
          </a:p>
        </p:txBody>
      </p:sp>
      <p:sp>
        <p:nvSpPr>
          <p:cNvPr id="33" name="Text 30"/>
          <p:cNvSpPr txBox="1"/>
          <p:nvPr/>
        </p:nvSpPr>
        <p:spPr>
          <a:xfrm>
            <a:off x="1143000" y="44165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213 inactive policies are warm leads</a:t>
            </a:r>
            <a:endParaRPr lang="en-US" sz="1500" dirty="0"/>
          </a:p>
        </p:txBody>
      </p:sp>
      <p:sp>
        <p:nvSpPr>
          <p:cNvPr id="34" name="Text 31"/>
          <p:cNvSpPr txBox="1"/>
          <p:nvPr/>
        </p:nvSpPr>
        <p:spPr>
          <a:xfrm>
            <a:off x="5212080" y="44165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Captured but never paid; USD 2,001 a month in premium</a:t>
            </a:r>
            <a:endParaRPr lang="en-US" sz="1300" dirty="0"/>
          </a:p>
        </p:txBody>
      </p:sp>
      <p:sp>
        <p:nvSpPr>
          <p:cNvPr id="35" name="Text 32"/>
          <p:cNvSpPr txBox="1"/>
          <p:nvPr/>
        </p:nvSpPr>
        <p:spPr>
          <a:xfrm>
            <a:off x="8869680" y="44165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Call all 213 within 30 days</a:t>
            </a:r>
            <a:endParaRPr lang="en-US" sz="1300" dirty="0"/>
          </a:p>
        </p:txBody>
      </p:sp>
      <p:sp>
        <p:nvSpPr>
          <p:cNvPr id="36" name="card"/>
          <p:cNvSpPr/>
          <p:nvPr/>
        </p:nvSpPr>
        <p:spPr>
          <a:xfrm>
            <a:off x="457200" y="5257800"/>
            <a:ext cx="11277295" cy="822960"/>
          </a:xfrm>
          <a:prstGeom prst="roundRect">
            <a:avLst>
              <a:gd name="adj" fmla="val 8889"/>
            </a:avLst>
          </a:prstGeom>
          <a:solidFill>
            <a:srgbClr val="FFFFFF"/>
          </a:solidFill>
          <a:ln w="9525">
            <a:solidFill>
              <a:srgbClr val="DCE3E4"/>
            </a:solidFill>
            <a:prstDash val="solid"/>
          </a:ln>
        </p:spPr>
      </p:sp>
      <p:sp>
        <p:nvSpPr>
          <p:cNvPr id="37" name="action tint"/>
          <p:cNvSpPr/>
          <p:nvPr/>
        </p:nvSpPr>
        <p:spPr>
          <a:xfrm>
            <a:off x="8778240" y="5312664"/>
            <a:ext cx="2898648" cy="713232"/>
          </a:xfrm>
          <a:prstGeom prst="roundRect">
            <a:avLst>
              <a:gd name="adj" fmla="val 7692"/>
            </a:avLst>
          </a:prstGeom>
          <a:solidFill>
            <a:srgbClr val="E3EFEF"/>
          </a:solidFill>
          <a:ln w="12700">
            <a:solidFill>
              <a:srgbClr val="E3EFEF"/>
            </a:solidFill>
            <a:prstDash val="solid"/>
          </a:ln>
        </p:spPr>
      </p:sp>
      <p:sp>
        <p:nvSpPr>
          <p:cNvPr id="38" name="number circle"/>
          <p:cNvSpPr/>
          <p:nvPr/>
        </p:nvSpPr>
        <p:spPr>
          <a:xfrm>
            <a:off x="594360" y="5440680"/>
            <a:ext cx="457200" cy="457200"/>
          </a:xfrm>
          <a:prstGeom prst="ellipse">
            <a:avLst/>
          </a:prstGeom>
          <a:solidFill>
            <a:srgbClr val="0E5A5F"/>
          </a:solidFill>
          <a:ln w="12700">
            <a:solidFill>
              <a:srgbClr val="0E5A5F"/>
            </a:solidFill>
            <a:prstDash val="solid"/>
          </a:ln>
        </p:spPr>
      </p:sp>
      <p:sp>
        <p:nvSpPr>
          <p:cNvPr id="39" name="Text 36"/>
          <p:cNvSpPr txBox="1"/>
          <p:nvPr/>
        </p:nvSpPr>
        <p:spPr>
          <a:xfrm>
            <a:off x="594360" y="5440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10</a:t>
            </a:r>
            <a:endParaRPr lang="en-US" sz="1600" dirty="0"/>
          </a:p>
        </p:txBody>
      </p:sp>
      <p:sp>
        <p:nvSpPr>
          <p:cNvPr id="40" name="Text 37"/>
          <p:cNvSpPr txBox="1"/>
          <p:nvPr/>
        </p:nvSpPr>
        <p:spPr>
          <a:xfrm>
            <a:off x="1143000" y="53309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Societies and cash funerals bring in most of our money; their profit is not yet visible</a:t>
            </a:r>
            <a:endParaRPr lang="en-US" sz="1500" dirty="0"/>
          </a:p>
        </p:txBody>
      </p:sp>
      <p:sp>
        <p:nvSpPr>
          <p:cNvPr id="41" name="Text 38"/>
          <p:cNvSpPr txBox="1"/>
          <p:nvPr/>
        </p:nvSpPr>
        <p:spPr>
          <a:xfrm>
            <a:off x="5212080" y="53309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June to September: societies 47%, cash funerals 36% of money in; 20 of 44 cash funerals costed</a:t>
            </a:r>
            <a:endParaRPr lang="en-US" sz="1300" dirty="0"/>
          </a:p>
        </p:txBody>
      </p:sp>
      <p:sp>
        <p:nvSpPr>
          <p:cNvPr id="42" name="Text 39"/>
          <p:cNvSpPr txBox="1"/>
          <p:nvPr/>
        </p:nvSpPr>
        <p:spPr>
          <a:xfrm>
            <a:off x="8869680" y="53309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Cost every funeral; credit deposits and deduct services in society ledgers</a:t>
            </a:r>
            <a:endParaRPr lang="en-US" sz="13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NEW BUSINESS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joined 296 new customers in seven months, 17% of target</a:t>
            </a:r>
            <a:endParaRPr lang="en-US" sz="2600" dirty="0"/>
          </a:p>
        </p:txBody>
      </p:sp>
      <p:graphicFrame>
        <p:nvGraphicFramePr>
          <p:cNvPr id="5" name="Chart 0" descr=""/>
          <p:cNvGraphicFramePr/>
          <p:nvPr/>
        </p:nvGraphicFramePr>
        <p:xfrm>
          <a:off x="457200" y="1280160"/>
          <a:ext cx="722376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909560" y="1463040"/>
          <a:ext cx="3822192" cy="914400"/>
        </p:xfrm>
        <a:graphic>
          <a:graphicData uri="http://schemas.openxmlformats.org/drawingml/2006/table">
            <a:tbl>
              <a:tblPr/>
              <a:tblGrid>
                <a:gridCol w="1051560"/>
                <a:gridCol w="692658"/>
                <a:gridCol w="692658"/>
                <a:gridCol w="692658"/>
                <a:gridCol w="692658"/>
              </a:tblGrid>
              <a:tr h="329184">
                <a:tc>
                  <a:txBody>
                    <a:bodyPr/>
                    <a:lstStyle/>
                    <a:p>
                      <a:pPr algn="l" indent="0" marL="0">
                        <a:buNone/>
                      </a:pP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−221</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Mar–Sep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1,750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296</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−1,454</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7909560" y="2926080"/>
            <a:ext cx="3822192" cy="548640"/>
          </a:xfrm>
          <a:prstGeom prst="rect">
            <a:avLst/>
          </a:prstGeom>
          <a:noFill/>
          <a:ln/>
        </p:spPr>
        <p:txBody>
          <a:bodyPr wrap="square" lIns="0" tIns="0" rIns="0" bIns="0" rtlCol="0" anchor="t"/>
          <a:lstStyle/>
          <a:p>
            <a:pPr indent="0" marL="0">
              <a:buNone/>
            </a:pPr>
            <a:r>
              <a:rPr lang="en-US" sz="1300" b="1" dirty="0">
                <a:solidFill>
                  <a:srgbClr val="5B6B71"/>
                </a:solidFill>
              </a:rPr>
              <a:t>Best month: </a:t>
            </a:r>
            <a:pPr indent="0" marL="0">
              <a:buNone/>
            </a:pPr>
            <a:r>
              <a:rPr lang="en-US" sz="1300" dirty="0">
                <a:solidFill>
                  <a:srgbClr val="5B6B71"/>
                </a:solidFill>
              </a:rPr>
              <a:t>June, 117 (mass registration, mostly unpaid)</a:t>
            </a:r>
            <a:endParaRPr lang="en-US" sz="1300" dirty="0"/>
          </a:p>
        </p:txBody>
      </p:sp>
      <p:sp>
        <p:nvSpPr>
          <p:cNvPr id="8" name="Text 3"/>
          <p:cNvSpPr txBox="1"/>
          <p:nvPr/>
        </p:nvSpPr>
        <p:spPr>
          <a:xfrm>
            <a:off x="7909560" y="3520440"/>
            <a:ext cx="3822192" cy="548640"/>
          </a:xfrm>
          <a:prstGeom prst="rect">
            <a:avLst/>
          </a:prstGeom>
          <a:noFill/>
          <a:ln/>
        </p:spPr>
        <p:txBody>
          <a:bodyPr wrap="square" lIns="0" tIns="0" rIns="0" bIns="0" rtlCol="0" anchor="t"/>
          <a:lstStyle/>
          <a:p>
            <a:pPr indent="0" marL="0">
              <a:buNone/>
            </a:pPr>
            <a:r>
              <a:rPr lang="en-US" sz="1300" b="1" dirty="0">
                <a:solidFill>
                  <a:srgbClr val="5B6B71"/>
                </a:solidFill>
              </a:rPr>
              <a:t>Oct 1–4 (partial): </a:t>
            </a:r>
            <a:pPr indent="0" marL="0">
              <a:buNone/>
            </a:pPr>
            <a:r>
              <a:rPr lang="en-US" sz="1300" dirty="0">
                <a:solidFill>
                  <a:srgbClr val="5B6B71"/>
                </a:solidFill>
              </a:rPr>
              <a:t>2, not compared with full months</a:t>
            </a:r>
            <a:endParaRPr lang="en-US" sz="1300" dirty="0"/>
          </a:p>
        </p:txBody>
      </p:sp>
      <p:sp>
        <p:nvSpPr>
          <p:cNvPr id="9" name="Text 4"/>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New business counts new Zimbabwe policies only. South African clients, Legacy products and existing clients moved onto the system are shown in Appendix A.</a:t>
            </a:r>
            <a:endParaRPr lang="en-US" sz="1000" dirty="0"/>
          </a:p>
        </p:txBody>
      </p:sp>
      <p:sp>
        <p:nvSpPr>
          <p:cNvPr id="10"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Joinings stayed below the 250 target every month; September was 29 (12%).</a:t>
            </a:r>
            <a:endParaRPr lang="en-US" sz="1050" dirty="0"/>
          </a:p>
        </p:txBody>
      </p:sp>
      <p:sp>
        <p:nvSpPr>
          <p:cNvPr id="12"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3" name="Text 8"/>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Without volume, even 76% conversion cannot grow the book.</a:t>
            </a:r>
            <a:endParaRPr lang="en-US" sz="1050" dirty="0"/>
          </a:p>
        </p:txBody>
      </p:sp>
      <p:sp>
        <p:nvSpPr>
          <p:cNvPr id="14"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5" name="Text 10"/>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A standard of 6 joinings a month per agent, and resident agents in new territories.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NEW BUSINESS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108 new customers joined and paid in seven months, 15% of target</a:t>
            </a:r>
            <a:endParaRPr lang="en-US" sz="2600" dirty="0"/>
          </a:p>
        </p:txBody>
      </p:sp>
      <p:graphicFrame>
        <p:nvGraphicFramePr>
          <p:cNvPr id="5" name="Chart 0" descr=""/>
          <p:cNvGraphicFramePr/>
          <p:nvPr/>
        </p:nvGraphicFramePr>
        <p:xfrm>
          <a:off x="457200" y="1280160"/>
          <a:ext cx="722376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909560" y="1463040"/>
          <a:ext cx="3822192" cy="914400"/>
        </p:xfrm>
        <a:graphic>
          <a:graphicData uri="http://schemas.openxmlformats.org/drawingml/2006/table">
            <a:tbl>
              <a:tblPr/>
              <a:tblGrid>
                <a:gridCol w="1051560"/>
                <a:gridCol w="692658"/>
                <a:gridCol w="692658"/>
                <a:gridCol w="692658"/>
                <a:gridCol w="692658"/>
              </a:tblGrid>
              <a:tr h="329184">
                <a:tc>
                  <a:txBody>
                    <a:bodyPr/>
                    <a:lstStyle/>
                    <a:p>
                      <a:pPr algn="l" indent="0" marL="0">
                        <a:buNone/>
                      </a:pP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Mar–Sep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700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−592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7909560" y="2926080"/>
            <a:ext cx="3822192" cy="914400"/>
          </a:xfrm>
          <a:prstGeom prst="rect">
            <a:avLst/>
          </a:prstGeom>
          <a:noFill/>
          <a:ln/>
        </p:spPr>
        <p:txBody>
          <a:bodyPr wrap="square" lIns="0" tIns="0" rIns="0" bIns="0" rtlCol="0" anchor="t"/>
          <a:lstStyle/>
          <a:p>
            <a:pPr indent="0" marL="0">
              <a:buNone/>
            </a:pPr>
            <a:r>
              <a:rPr lang="en-US" sz="1300" dirty="0">
                <a:solidFill>
                  <a:srgbClr val="5B6B71"/>
                </a:solidFill>
              </a:rPr>
              <a:t>Paid policies are the ones that bring money in. A registration without payment adds risk, not revenue.</a:t>
            </a:r>
            <a:endParaRPr lang="en-US" sz="13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Paid new business peaked at 31 (June); September was 22 against 100.</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Paid policies drive money in and protect against lapses.</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Hold every agent to 4 paid a month; track paid weekly, not monthly.</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NEW BUSINESS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Since July most people who join also pay; volume is now the gap</a:t>
            </a:r>
            <a:endParaRPr lang="en-US" sz="2600" dirty="0"/>
          </a:p>
        </p:txBody>
      </p:sp>
      <p:graphicFrame>
        <p:nvGraphicFramePr>
          <p:cNvPr id="5" name="Chart 0" descr=""/>
          <p:cNvGraphicFramePr/>
          <p:nvPr/>
        </p:nvGraphicFramePr>
        <p:xfrm>
          <a:off x="457200" y="1280160"/>
          <a:ext cx="722376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909560" y="1463040"/>
          <a:ext cx="3822192" cy="914400"/>
        </p:xfrm>
        <a:graphic>
          <a:graphicData uri="http://schemas.openxmlformats.org/drawingml/2006/table">
            <a:tbl>
              <a:tblPr/>
              <a:tblGrid>
                <a:gridCol w="1051560"/>
                <a:gridCol w="692658"/>
                <a:gridCol w="692658"/>
                <a:gridCol w="692658"/>
                <a:gridCol w="692658"/>
              </a:tblGrid>
              <a:tr h="329184">
                <a:tc>
                  <a:txBody>
                    <a:bodyPr/>
                    <a:lstStyle/>
                    <a:p>
                      <a:pPr algn="l" indent="0" marL="0">
                        <a:buNone/>
                      </a:pP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+36 pts</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Mar–Sep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−4 pts</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91%</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7909560" y="2926080"/>
            <a:ext cx="3822192" cy="1005840"/>
          </a:xfrm>
          <a:prstGeom prst="rect">
            <a:avLst/>
          </a:prstGeom>
          <a:noFill/>
          <a:ln/>
        </p:spPr>
        <p:txBody>
          <a:bodyPr wrap="square" lIns="0" tIns="0" rIns="0" bIns="0" rtlCol="0" anchor="t"/>
          <a:lstStyle/>
          <a:p>
            <a:pPr indent="0" marL="0">
              <a:buNone/>
            </a:pPr>
            <a:r>
              <a:rPr lang="en-US" sz="1300" dirty="0">
                <a:solidFill>
                  <a:srgbClr val="5B6B71"/>
                </a:solidFill>
              </a:rPr>
              <a:t>Mar–Sep total = 108 paid ÷ 296 joinings. The low months (Mar, Jun) were mass registration without payment.</a:t>
            </a:r>
            <a:endParaRPr lang="en-US" sz="13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After June we stopped mass registration without payment; conversion rose to 76–81%.</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Quality is fixed; volume fell at the same time.</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Keep “join and pay” as the rule; grow volume through agents and campaigns.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AGENTS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have 26 agent accounts; 4 made a sale in September</a:t>
            </a:r>
            <a:endParaRPr lang="en-US" sz="2600" dirty="0"/>
          </a:p>
        </p:txBody>
      </p:sp>
      <p:graphicFrame>
        <p:nvGraphicFramePr>
          <p:cNvPr id="5" name="Chart 0" descr=""/>
          <p:cNvGraphicFramePr/>
          <p:nvPr/>
        </p:nvGraphicFramePr>
        <p:xfrm>
          <a:off x="457200" y="1280160"/>
          <a:ext cx="685800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543800" y="1325880"/>
            <a:ext cx="4187952" cy="3429000"/>
          </a:xfrm>
          <a:prstGeom prst="roundRect">
            <a:avLst>
              <a:gd name="adj" fmla="val 2133"/>
            </a:avLst>
          </a:prstGeom>
          <a:solidFill>
            <a:srgbClr val="FFFFFF"/>
          </a:solidFill>
          <a:ln w="9525">
            <a:solidFill>
              <a:srgbClr val="DCE3E4"/>
            </a:solidFill>
            <a:prstDash val="solid"/>
          </a:ln>
        </p:spPr>
      </p:sp>
      <p:sp>
        <p:nvSpPr>
          <p:cNvPr id="7" name="Text 3"/>
          <p:cNvSpPr txBox="1"/>
          <p:nvPr/>
        </p:nvSpPr>
        <p:spPr>
          <a:xfrm>
            <a:off x="7726680" y="1463040"/>
            <a:ext cx="3840480" cy="3200400"/>
          </a:xfrm>
          <a:prstGeom prst="rect">
            <a:avLst/>
          </a:prstGeom>
          <a:noFill/>
          <a:ln/>
        </p:spPr>
        <p:txBody>
          <a:bodyPr wrap="square" lIns="0" tIns="0" rIns="0" bIns="0" rtlCol="0" anchor="t"/>
          <a:lstStyle/>
          <a:p>
            <a:pPr indent="0" marL="0">
              <a:buNone/>
            </a:pPr>
            <a:r>
              <a:rPr lang="en-US" sz="1400" b="1" dirty="0">
                <a:solidFill>
                  <a:srgbClr val="0E5A5F"/>
                </a:solidFill>
              </a:rPr>
              <a:t>Context</a:t>
            </a:r>
            <a:endParaRPr lang="en-US" sz="1400" dirty="0"/>
          </a:p>
          <a:p>
            <a:pPr indent="0" marL="0">
              <a:buNone/>
            </a:pPr>
            <a:r>
              <a:rPr lang="en-US" sz="1200" dirty="0">
                <a:solidFill>
                  <a:srgbClr val="1E2A2F"/>
                </a:solidFill>
              </a:rPr>
              <a:t>About 15 agents recruited on USD 100 a month for 6 months; changed to USD 25 a week; about 10 left.</a:t>
            </a:r>
            <a:endParaRPr lang="en-US" sz="1400" dirty="0"/>
          </a:p>
          <a:p>
            <a:pPr indent="0" marL="0">
              <a:buNone/>
            </a:pPr>
            <a:r>
              <a:rPr lang="en-US" sz="500" dirty="0">
                <a:solidFill>
                  <a:srgbClr val="1E2A2F"/>
                </a:solidFill>
              </a:rPr>
              <a:t> </a:t>
            </a:r>
            <a:endParaRPr lang="en-US" sz="1400" dirty="0"/>
          </a:p>
          <a:p>
            <a:pPr indent="0" marL="0">
              <a:buNone/>
            </a:pPr>
            <a:r>
              <a:rPr lang="en-US" sz="1200" b="1" dirty="0">
                <a:solidFill>
                  <a:srgbClr val="1E2A2F"/>
                </a:solidFill>
              </a:rPr>
              <a:t>Agent side: </a:t>
            </a:r>
            <a:pPr indent="0" marL="0">
              <a:buNone/>
            </a:pPr>
            <a:r>
              <a:rPr lang="en-US" sz="1200" dirty="0">
                <a:solidFill>
                  <a:srgbClr val="1E2A2F"/>
                </a:solidFill>
              </a:rPr>
              <a:t>inconsistency, waiting for leads, little self-marketing.</a:t>
            </a:r>
            <a:endParaRPr lang="en-US" sz="1400" dirty="0"/>
          </a:p>
          <a:p>
            <a:pPr indent="0" marL="0">
              <a:buNone/>
            </a:pPr>
            <a:r>
              <a:rPr lang="en-US" sz="500" dirty="0">
                <a:solidFill>
                  <a:srgbClr val="1E2A2F"/>
                </a:solidFill>
              </a:rPr>
              <a:t> </a:t>
            </a:r>
            <a:endParaRPr lang="en-US" sz="1400" dirty="0"/>
          </a:p>
          <a:p>
            <a:pPr indent="0" marL="0">
              <a:buNone/>
            </a:pPr>
            <a:r>
              <a:rPr lang="en-US" sz="1200" b="1" dirty="0">
                <a:solidFill>
                  <a:srgbClr val="1E2A2F"/>
                </a:solidFill>
              </a:rPr>
              <a:t>Company side: </a:t>
            </a:r>
            <a:pPr indent="0" marL="0">
              <a:buNone/>
            </a:pPr>
            <a:r>
              <a:rPr lang="en-US" sz="1200" dirty="0">
                <a:solidFill>
                  <a:srgbClr val="1E2A2F"/>
                </a:solidFill>
              </a:rPr>
              <a:t>transport, lunch, airtime, campaign support, a pay model still developing.</a:t>
            </a:r>
            <a:endParaRPr lang="en-US" sz="1400" dirty="0"/>
          </a:p>
          <a:p>
            <a:pPr indent="0" marL="0">
              <a:buNone/>
            </a:pPr>
            <a:r>
              <a:rPr lang="en-US" sz="500" dirty="0">
                <a:solidFill>
                  <a:srgbClr val="1E2A2F"/>
                </a:solidFill>
              </a:rPr>
              <a:t> </a:t>
            </a:r>
            <a:endParaRPr lang="en-US" sz="1400" dirty="0"/>
          </a:p>
          <a:p>
            <a:pPr indent="0" marL="0">
              <a:buNone/>
            </a:pPr>
            <a:r>
              <a:rPr lang="en-US" sz="1200" b="1" dirty="0">
                <a:solidFill>
                  <a:srgbClr val="1E2A2F"/>
                </a:solidFill>
              </a:rPr>
              <a:t>11 accounts have never sold. A selling agent in September made 6 joinings and 4.3 paid.</a:t>
            </a:r>
            <a:endParaRPr lang="en-US" sz="14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Accounts grew to 26, but selling agents fell to 4.</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Each selling agent adds about 6 joinings and 4 paid a month.</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Productivity standard, weekly one-to-ones, and a clear support package.</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AGENTS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Five sellers produce most of our paid policies; five have none</a:t>
            </a:r>
            <a:endParaRPr lang="en-US" sz="2600" dirty="0"/>
          </a:p>
        </p:txBody>
      </p:sp>
      <p:graphicFrame>
        <p:nvGraphicFramePr>
          <p:cNvPr id="5" name="Chart 0" descr=""/>
          <p:cNvGraphicFramePr/>
          <p:nvPr/>
        </p:nvGraphicFramePr>
        <p:xfrm>
          <a:off x="457200" y="1234440"/>
          <a:ext cx="11277295" cy="3794760"/>
        </p:xfrm>
        <a:graphic xmlns:a="http://schemas.openxmlformats.org/drawingml/2006/main">
          <a:graphicData uri="http://schemas.openxmlformats.org/drawingml/2006/chart">
            <c:chart xmlns:c="http://schemas.openxmlformats.org/drawingml/2006/chart" r:id="rId1"/>
          </a:graphicData>
        </a:graphic>
      </p:graphicFrame>
      <p:sp>
        <p:nvSpPr>
          <p:cNvPr id="6"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7"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Office counter (22), Pesuate (18), Gugulethu (16) and Nqobile (15) lead on paid.</a:t>
            </a:r>
            <a:endParaRPr lang="en-US" sz="1050" dirty="0"/>
          </a:p>
        </p:txBody>
      </p:sp>
      <p:sp>
        <p:nvSpPr>
          <p:cNvPr id="8"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Sales that are never paid bring in no money.</a:t>
            </a:r>
            <a:endParaRPr lang="en-US" sz="1050" dirty="0"/>
          </a:p>
        </p:txBody>
      </p:sp>
      <p:sp>
        <p:nvSpPr>
          <p:cNvPr id="10"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1"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Rank and pay agents on paid policies, not registrations.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AGENTS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Gugulethu converts every sale; seven sellers are below 40%</a:t>
            </a:r>
            <a:endParaRPr lang="en-US" sz="2600" dirty="0"/>
          </a:p>
        </p:txBody>
      </p:sp>
      <p:graphicFrame>
        <p:nvGraphicFramePr>
          <p:cNvPr id="5" name="Chart 0" descr=""/>
          <p:cNvGraphicFramePr/>
          <p:nvPr/>
        </p:nvGraphicFramePr>
        <p:xfrm>
          <a:off x="457200" y="1280160"/>
          <a:ext cx="11277295" cy="3520440"/>
        </p:xfrm>
        <a:graphic xmlns:a="http://schemas.openxmlformats.org/drawingml/2006/main">
          <a:graphicData uri="http://schemas.openxmlformats.org/drawingml/2006/chart">
            <c:chart xmlns:c="http://schemas.openxmlformats.org/drawingml/2006/chart" r:id="rId1"/>
          </a:graphicData>
        </a:graphic>
      </p:graphicFrame>
      <p:sp>
        <p:nvSpPr>
          <p:cNvPr id="6"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7"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Conversion ranges from 100% (Gugulethu) to 0% (Peacemaker).</a:t>
            </a:r>
            <a:endParaRPr lang="en-US" sz="1050" dirty="0"/>
          </a:p>
        </p:txBody>
      </p:sp>
      <p:sp>
        <p:nvSpPr>
          <p:cNvPr id="8"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Low converters create registrations that never pay and become inactive.</a:t>
            </a:r>
            <a:endParaRPr lang="en-US" sz="1050" dirty="0"/>
          </a:p>
        </p:txBody>
      </p:sp>
      <p:sp>
        <p:nvSpPr>
          <p:cNvPr id="10"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1"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One-to-one coaching for the seven below 40%; collect first premium on the day.</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AGENTS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Sales come in bursts; only five sellers made a sale in September</a:t>
            </a:r>
            <a:endParaRPr lang="en-US" sz="2600" dirty="0"/>
          </a:p>
        </p:txBody>
      </p:sp>
      <p:graphicFrame>
        <p:nvGraphicFramePr>
          <p:cNvPr id="5" name="Chart 0" descr=""/>
          <p:cNvGraphicFramePr/>
          <p:nvPr/>
        </p:nvGraphicFramePr>
        <p:xfrm>
          <a:off x="457200" y="1280160"/>
          <a:ext cx="11277295" cy="3520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Sellers with the most joinings shown; Oct 1–4 excluded. Full figures in Appendix B.</a:t>
            </a:r>
            <a:endParaRPr lang="en-US" sz="1000" dirty="0"/>
          </a:p>
        </p:txBody>
      </p:sp>
      <p:sp>
        <p:nvSpPr>
          <p:cNvPr id="7"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8"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Most sellers peaked once (often June) and faded; September relied on Gugulethu and Pesuate.</a:t>
            </a:r>
            <a:endParaRPr lang="en-US" sz="1050" dirty="0"/>
          </a:p>
        </p:txBody>
      </p:sp>
      <p:sp>
        <p:nvSpPr>
          <p:cNvPr id="9"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0"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Bursts make sales unpredictable and hide quiet agents for months.</a:t>
            </a:r>
            <a:endParaRPr lang="en-US" sz="1050" dirty="0"/>
          </a:p>
        </p:txBody>
      </p:sp>
      <p:sp>
        <p:nvSpPr>
          <p:cNvPr id="11"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2"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Weekly targets and one-to-ones; flag any agent with no sale for two weeks.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FILABUSI</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A local agent who owns her territory outsells the rest of the team</a:t>
            </a:r>
            <a:endParaRPr lang="en-US" sz="2600" dirty="0"/>
          </a:p>
        </p:txBody>
      </p:sp>
      <p:graphicFrame>
        <p:nvGraphicFramePr>
          <p:cNvPr id="5" name="Chart 0" descr=""/>
          <p:cNvGraphicFramePr/>
          <p:nvPr/>
        </p:nvGraphicFramePr>
        <p:xfrm>
          <a:off x="457200" y="1280160"/>
          <a:ext cx="384048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434840" y="1280160"/>
          <a:ext cx="3200400" cy="3429000"/>
        </p:xfrm>
        <a:graphic xmlns:a="http://schemas.openxmlformats.org/drawingml/2006/main">
          <a:graphicData uri="http://schemas.openxmlformats.org/drawingml/2006/chart">
            <c:chart xmlns:c="http://schemas.openxmlformats.org/drawingml/2006/chart" r:id="rId2"/>
          </a:graphicData>
        </a:graphic>
      </p:graphicFrame>
      <p:sp>
        <p:nvSpPr>
          <p:cNvPr id="7" name="card"/>
          <p:cNvSpPr/>
          <p:nvPr/>
        </p:nvSpPr>
        <p:spPr>
          <a:xfrm>
            <a:off x="7909560" y="1325880"/>
            <a:ext cx="3822192" cy="749808"/>
          </a:xfrm>
          <a:prstGeom prst="roundRect">
            <a:avLst>
              <a:gd name="adj" fmla="val 9756"/>
            </a:avLst>
          </a:prstGeom>
          <a:solidFill>
            <a:srgbClr val="FFFFFF"/>
          </a:solidFill>
          <a:ln w="9525">
            <a:solidFill>
              <a:srgbClr val="DCE3E4"/>
            </a:solidFill>
            <a:prstDash val="solid"/>
          </a:ln>
        </p:spPr>
      </p:sp>
      <p:sp>
        <p:nvSpPr>
          <p:cNvPr id="8" name="icon circle"/>
          <p:cNvSpPr/>
          <p:nvPr/>
        </p:nvSpPr>
        <p:spPr>
          <a:xfrm>
            <a:off x="8046720" y="1453896"/>
            <a:ext cx="493776" cy="493776"/>
          </a:xfrm>
          <a:prstGeom prst="ellipse">
            <a:avLst/>
          </a:prstGeom>
          <a:solidFill>
            <a:srgbClr val="0E5A5F"/>
          </a:solidFill>
          <a:ln w="12700">
            <a:solidFill>
              <a:srgbClr val="0E5A5F"/>
            </a:solidFill>
            <a:prstDash val="solid"/>
          </a:ln>
        </p:spPr>
      </p:sp>
      <p:pic>
        <p:nvPicPr>
          <p:cNvPr id="9" name="Image 0" descr="FaCalendarCheck">    </p:cNvPr>
          <p:cNvPicPr>
            <a:picLocks noChangeAspect="1"/>
          </p:cNvPicPr>
          <p:nvPr/>
        </p:nvPicPr>
        <p:blipFill>
          <a:blip r:embed="rId3"/>
          <a:stretch>
            <a:fillRect/>
          </a:stretch>
        </p:blipFill>
        <p:spPr>
          <a:xfrm>
            <a:off x="8170164" y="1577340"/>
            <a:ext cx="246888" cy="246888"/>
          </a:xfrm>
          <a:prstGeom prst="rect">
            <a:avLst/>
          </a:prstGeom>
        </p:spPr>
      </p:pic>
      <p:sp>
        <p:nvSpPr>
          <p:cNvPr id="10" name="Text 4"/>
          <p:cNvSpPr txBox="1"/>
          <p:nvPr/>
        </p:nvSpPr>
        <p:spPr>
          <a:xfrm>
            <a:off x="8686800" y="1417320"/>
            <a:ext cx="2926080" cy="566928"/>
          </a:xfrm>
          <a:prstGeom prst="rect">
            <a:avLst/>
          </a:prstGeom>
          <a:noFill/>
          <a:ln/>
        </p:spPr>
        <p:txBody>
          <a:bodyPr wrap="square" lIns="0" tIns="0" rIns="0" bIns="0" rtlCol="0" anchor="ctr"/>
          <a:lstStyle/>
          <a:p>
            <a:pPr indent="0" marL="0">
              <a:buNone/>
            </a:pPr>
            <a:r>
              <a:rPr lang="en-US" sz="1500" b="1" dirty="0">
                <a:solidFill>
                  <a:srgbClr val="1E2A2F"/>
                </a:solidFill>
              </a:rPr>
              <a:t>Works daily</a:t>
            </a:r>
            <a:endParaRPr lang="en-US" sz="1500" dirty="0"/>
          </a:p>
        </p:txBody>
      </p:sp>
      <p:sp>
        <p:nvSpPr>
          <p:cNvPr id="11" name="card"/>
          <p:cNvSpPr/>
          <p:nvPr/>
        </p:nvSpPr>
        <p:spPr>
          <a:xfrm>
            <a:off x="7909560" y="2194560"/>
            <a:ext cx="3822192" cy="749808"/>
          </a:xfrm>
          <a:prstGeom prst="roundRect">
            <a:avLst>
              <a:gd name="adj" fmla="val 9756"/>
            </a:avLst>
          </a:prstGeom>
          <a:solidFill>
            <a:srgbClr val="FFFFFF"/>
          </a:solidFill>
          <a:ln w="9525">
            <a:solidFill>
              <a:srgbClr val="DCE3E4"/>
            </a:solidFill>
            <a:prstDash val="solid"/>
          </a:ln>
        </p:spPr>
      </p:sp>
      <p:sp>
        <p:nvSpPr>
          <p:cNvPr id="12" name="icon circle"/>
          <p:cNvSpPr/>
          <p:nvPr/>
        </p:nvSpPr>
        <p:spPr>
          <a:xfrm>
            <a:off x="8046720" y="2322576"/>
            <a:ext cx="493776" cy="493776"/>
          </a:xfrm>
          <a:prstGeom prst="ellipse">
            <a:avLst/>
          </a:prstGeom>
          <a:solidFill>
            <a:srgbClr val="0E5A5F"/>
          </a:solidFill>
          <a:ln w="12700">
            <a:solidFill>
              <a:srgbClr val="0E5A5F"/>
            </a:solidFill>
            <a:prstDash val="solid"/>
          </a:ln>
        </p:spPr>
      </p:sp>
      <p:pic>
        <p:nvPicPr>
          <p:cNvPr id="13" name="Image 1" descr="FaBullhorn">    </p:cNvPr>
          <p:cNvPicPr>
            <a:picLocks noChangeAspect="1"/>
          </p:cNvPicPr>
          <p:nvPr/>
        </p:nvPicPr>
        <p:blipFill>
          <a:blip r:embed="rId4"/>
          <a:stretch>
            <a:fillRect/>
          </a:stretch>
        </p:blipFill>
        <p:spPr>
          <a:xfrm>
            <a:off x="8170164" y="2446020"/>
            <a:ext cx="246888" cy="246888"/>
          </a:xfrm>
          <a:prstGeom prst="rect">
            <a:avLst/>
          </a:prstGeom>
        </p:spPr>
      </p:pic>
      <p:sp>
        <p:nvSpPr>
          <p:cNvPr id="14" name="Text 7"/>
          <p:cNvSpPr txBox="1"/>
          <p:nvPr/>
        </p:nvSpPr>
        <p:spPr>
          <a:xfrm>
            <a:off x="8686800" y="2286000"/>
            <a:ext cx="2926080" cy="566928"/>
          </a:xfrm>
          <a:prstGeom prst="rect">
            <a:avLst/>
          </a:prstGeom>
          <a:noFill/>
          <a:ln/>
        </p:spPr>
        <p:txBody>
          <a:bodyPr wrap="square" lIns="0" tIns="0" rIns="0" bIns="0" rtlCol="0" anchor="ctr"/>
          <a:lstStyle/>
          <a:p>
            <a:pPr indent="0" marL="0">
              <a:buNone/>
            </a:pPr>
            <a:r>
              <a:rPr lang="en-US" sz="1500" b="1" dirty="0">
                <a:solidFill>
                  <a:srgbClr val="1E2A2F"/>
                </a:solidFill>
              </a:rPr>
              <a:t>Advertises herself</a:t>
            </a:r>
            <a:endParaRPr lang="en-US" sz="1500" dirty="0"/>
          </a:p>
        </p:txBody>
      </p:sp>
      <p:sp>
        <p:nvSpPr>
          <p:cNvPr id="15" name="card"/>
          <p:cNvSpPr/>
          <p:nvPr/>
        </p:nvSpPr>
        <p:spPr>
          <a:xfrm>
            <a:off x="7909560" y="3063240"/>
            <a:ext cx="3822192" cy="749808"/>
          </a:xfrm>
          <a:prstGeom prst="roundRect">
            <a:avLst>
              <a:gd name="adj" fmla="val 9756"/>
            </a:avLst>
          </a:prstGeom>
          <a:solidFill>
            <a:srgbClr val="FFFFFF"/>
          </a:solidFill>
          <a:ln w="9525">
            <a:solidFill>
              <a:srgbClr val="DCE3E4"/>
            </a:solidFill>
            <a:prstDash val="solid"/>
          </a:ln>
        </p:spPr>
      </p:sp>
      <p:sp>
        <p:nvSpPr>
          <p:cNvPr id="16" name="icon circle"/>
          <p:cNvSpPr/>
          <p:nvPr/>
        </p:nvSpPr>
        <p:spPr>
          <a:xfrm>
            <a:off x="8046720" y="3191256"/>
            <a:ext cx="493776" cy="493776"/>
          </a:xfrm>
          <a:prstGeom prst="ellipse">
            <a:avLst/>
          </a:prstGeom>
          <a:solidFill>
            <a:srgbClr val="0E5A5F"/>
          </a:solidFill>
          <a:ln w="12700">
            <a:solidFill>
              <a:srgbClr val="0E5A5F"/>
            </a:solidFill>
            <a:prstDash val="solid"/>
          </a:ln>
        </p:spPr>
      </p:sp>
      <p:pic>
        <p:nvPicPr>
          <p:cNvPr id="17" name="Image 2" descr="FaWalking">    </p:cNvPr>
          <p:cNvPicPr>
            <a:picLocks noChangeAspect="1"/>
          </p:cNvPicPr>
          <p:nvPr/>
        </p:nvPicPr>
        <p:blipFill>
          <a:blip r:embed="rId5"/>
          <a:stretch>
            <a:fillRect/>
          </a:stretch>
        </p:blipFill>
        <p:spPr>
          <a:xfrm>
            <a:off x="8170164" y="3314700"/>
            <a:ext cx="246888" cy="246888"/>
          </a:xfrm>
          <a:prstGeom prst="rect">
            <a:avLst/>
          </a:prstGeom>
        </p:spPr>
      </p:pic>
      <p:sp>
        <p:nvSpPr>
          <p:cNvPr id="18" name="Text 10"/>
          <p:cNvSpPr txBox="1"/>
          <p:nvPr/>
        </p:nvSpPr>
        <p:spPr>
          <a:xfrm>
            <a:off x="8686800" y="3154680"/>
            <a:ext cx="2926080" cy="566928"/>
          </a:xfrm>
          <a:prstGeom prst="rect">
            <a:avLst/>
          </a:prstGeom>
          <a:noFill/>
          <a:ln/>
        </p:spPr>
        <p:txBody>
          <a:bodyPr wrap="square" lIns="0" tIns="0" rIns="0" bIns="0" rtlCol="0" anchor="ctr"/>
          <a:lstStyle/>
          <a:p>
            <a:pPr indent="0" marL="0">
              <a:buNone/>
            </a:pPr>
            <a:r>
              <a:rPr lang="en-US" sz="1500" b="1" dirty="0">
                <a:solidFill>
                  <a:srgbClr val="1E2A2F"/>
                </a:solidFill>
              </a:rPr>
              <a:t>Doesn't wait for leads</a:t>
            </a:r>
            <a:endParaRPr lang="en-US" sz="1500" dirty="0"/>
          </a:p>
        </p:txBody>
      </p:sp>
      <p:sp>
        <p:nvSpPr>
          <p:cNvPr id="19" name="card"/>
          <p:cNvSpPr/>
          <p:nvPr/>
        </p:nvSpPr>
        <p:spPr>
          <a:xfrm>
            <a:off x="7909560" y="3931920"/>
            <a:ext cx="3822192" cy="749808"/>
          </a:xfrm>
          <a:prstGeom prst="roundRect">
            <a:avLst>
              <a:gd name="adj" fmla="val 9756"/>
            </a:avLst>
          </a:prstGeom>
          <a:solidFill>
            <a:srgbClr val="FFFFFF"/>
          </a:solidFill>
          <a:ln w="9525">
            <a:solidFill>
              <a:srgbClr val="DCE3E4"/>
            </a:solidFill>
            <a:prstDash val="solid"/>
          </a:ln>
        </p:spPr>
      </p:sp>
      <p:sp>
        <p:nvSpPr>
          <p:cNvPr id="20" name="icon circle"/>
          <p:cNvSpPr/>
          <p:nvPr/>
        </p:nvSpPr>
        <p:spPr>
          <a:xfrm>
            <a:off x="8046720" y="4059936"/>
            <a:ext cx="493776" cy="493776"/>
          </a:xfrm>
          <a:prstGeom prst="ellipse">
            <a:avLst/>
          </a:prstGeom>
          <a:solidFill>
            <a:srgbClr val="0E5A5F"/>
          </a:solidFill>
          <a:ln w="12700">
            <a:solidFill>
              <a:srgbClr val="0E5A5F"/>
            </a:solidFill>
            <a:prstDash val="solid"/>
          </a:ln>
        </p:spPr>
      </p:sp>
      <p:pic>
        <p:nvPicPr>
          <p:cNvPr id="21" name="Image 3" descr="FaMapMarkerAlt">    </p:cNvPr>
          <p:cNvPicPr>
            <a:picLocks noChangeAspect="1"/>
          </p:cNvPicPr>
          <p:nvPr/>
        </p:nvPicPr>
        <p:blipFill>
          <a:blip r:embed="rId6"/>
          <a:stretch>
            <a:fillRect/>
          </a:stretch>
        </p:blipFill>
        <p:spPr>
          <a:xfrm>
            <a:off x="8170164" y="4183380"/>
            <a:ext cx="246888" cy="246888"/>
          </a:xfrm>
          <a:prstGeom prst="rect">
            <a:avLst/>
          </a:prstGeom>
        </p:spPr>
      </p:pic>
      <p:sp>
        <p:nvSpPr>
          <p:cNvPr id="22" name="Text 13"/>
          <p:cNvSpPr txBox="1"/>
          <p:nvPr/>
        </p:nvSpPr>
        <p:spPr>
          <a:xfrm>
            <a:off x="8686800" y="4023360"/>
            <a:ext cx="2926080" cy="566928"/>
          </a:xfrm>
          <a:prstGeom prst="rect">
            <a:avLst/>
          </a:prstGeom>
          <a:noFill/>
          <a:ln/>
        </p:spPr>
        <p:txBody>
          <a:bodyPr wrap="square" lIns="0" tIns="0" rIns="0" bIns="0" rtlCol="0" anchor="ctr"/>
          <a:lstStyle/>
          <a:p>
            <a:pPr indent="0" marL="0">
              <a:buNone/>
            </a:pPr>
            <a:r>
              <a:rPr lang="en-US" sz="1500" b="1" dirty="0">
                <a:solidFill>
                  <a:srgbClr val="1E2A2F"/>
                </a:solidFill>
              </a:rPr>
              <a:t>Owns her territory</a:t>
            </a:r>
            <a:endParaRPr lang="en-US" sz="1500" dirty="0"/>
          </a:p>
        </p:txBody>
      </p:sp>
      <p:sp>
        <p:nvSpPr>
          <p:cNvPr id="23" name="Text 14"/>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16 sold and 16 paid since July.</a:t>
            </a:r>
            <a:endParaRPr lang="en-US" sz="1000" dirty="0"/>
          </a:p>
        </p:txBody>
      </p:sp>
      <p:sp>
        <p:nvSpPr>
          <p:cNvPr id="24"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25" name="Text 16"/>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One resident agent produced 41% of September's new business, all of it paid.</a:t>
            </a:r>
            <a:endParaRPr lang="en-US" sz="1050" dirty="0"/>
          </a:p>
        </p:txBody>
      </p:sp>
      <p:sp>
        <p:nvSpPr>
          <p:cNvPr id="26"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27" name="Text 18"/>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Local presence, personal marketing, consistency and ownership produce results.</a:t>
            </a:r>
            <a:endParaRPr lang="en-US" sz="1050" dirty="0"/>
          </a:p>
        </p:txBody>
      </p:sp>
      <p:sp>
        <p:nvSpPr>
          <p:cNvPr id="28"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29" name="Text 20"/>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Recruit resident agents per territory, starting with Lupane.</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SOKUSILE CAMPAIGN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With company support, 4 in 10 Sokusile registrations paid</a:t>
            </a:r>
            <a:endParaRPr lang="en-US" sz="2600" dirty="0"/>
          </a:p>
        </p:txBody>
      </p:sp>
      <p:sp>
        <p:nvSpPr>
          <p:cNvPr id="5" name="funnel stage"/>
          <p:cNvSpPr/>
          <p:nvPr/>
        </p:nvSpPr>
        <p:spPr>
          <a:xfrm>
            <a:off x="457200" y="1417320"/>
            <a:ext cx="4754880" cy="914400"/>
          </a:xfrm>
          <a:prstGeom prst="roundRect">
            <a:avLst>
              <a:gd name="adj" fmla="val 10000"/>
            </a:avLst>
          </a:prstGeom>
          <a:solidFill>
            <a:srgbClr val="2E6DB4"/>
          </a:solidFill>
          <a:ln w="12700">
            <a:solidFill>
              <a:srgbClr val="2E6DB4"/>
            </a:solidFill>
            <a:prstDash val="solid"/>
          </a:ln>
        </p:spPr>
      </p:sp>
      <p:sp>
        <p:nvSpPr>
          <p:cNvPr id="6" name="Text 3"/>
          <p:cNvSpPr txBox="1"/>
          <p:nvPr/>
        </p:nvSpPr>
        <p:spPr>
          <a:xfrm>
            <a:off x="457200" y="1417320"/>
            <a:ext cx="475488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43  </a:t>
            </a:r>
            <a:pPr algn="ctr" indent="0" marL="0">
              <a:buNone/>
            </a:pPr>
            <a:r>
              <a:rPr lang="en-US" sz="1500" dirty="0">
                <a:solidFill>
                  <a:srgbClr val="FFFFFF"/>
                </a:solidFill>
              </a:rPr>
              <a:t>Registered</a:t>
            </a:r>
            <a:endParaRPr lang="en-US" sz="1400" dirty="0"/>
          </a:p>
        </p:txBody>
      </p:sp>
      <p:sp>
        <p:nvSpPr>
          <p:cNvPr id="7" name="funnel stage"/>
          <p:cNvSpPr/>
          <p:nvPr/>
        </p:nvSpPr>
        <p:spPr>
          <a:xfrm>
            <a:off x="1188720" y="2560320"/>
            <a:ext cx="3291840" cy="914400"/>
          </a:xfrm>
          <a:prstGeom prst="roundRect">
            <a:avLst>
              <a:gd name="adj" fmla="val 10000"/>
            </a:avLst>
          </a:prstGeom>
          <a:solidFill>
            <a:srgbClr val="34ADB3"/>
          </a:solidFill>
          <a:ln w="12700">
            <a:solidFill>
              <a:srgbClr val="34ADB3"/>
            </a:solidFill>
            <a:prstDash val="solid"/>
          </a:ln>
        </p:spPr>
      </p:sp>
      <p:sp>
        <p:nvSpPr>
          <p:cNvPr id="8" name="Text 5"/>
          <p:cNvSpPr txBox="1"/>
          <p:nvPr/>
        </p:nvSpPr>
        <p:spPr>
          <a:xfrm>
            <a:off x="1188720" y="2560320"/>
            <a:ext cx="329184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17  </a:t>
            </a:r>
            <a:pPr algn="ctr" indent="0" marL="0">
              <a:buNone/>
            </a:pPr>
            <a:r>
              <a:rPr lang="en-US" sz="1500" dirty="0">
                <a:solidFill>
                  <a:srgbClr val="FFFFFF"/>
                </a:solidFill>
              </a:rPr>
              <a:t>Paid during campaign</a:t>
            </a:r>
            <a:endParaRPr lang="en-US" sz="1400" dirty="0"/>
          </a:p>
        </p:txBody>
      </p:sp>
      <p:sp>
        <p:nvSpPr>
          <p:cNvPr id="9" name="Text 6"/>
          <p:cNvSpPr txBox="1"/>
          <p:nvPr/>
        </p:nvSpPr>
        <p:spPr>
          <a:xfrm>
            <a:off x="457200" y="3794760"/>
            <a:ext cx="4754880" cy="548640"/>
          </a:xfrm>
          <a:prstGeom prst="rect">
            <a:avLst/>
          </a:prstGeom>
          <a:noFill/>
          <a:ln/>
        </p:spPr>
        <p:txBody>
          <a:bodyPr wrap="square" lIns="0" tIns="0" rIns="0" bIns="0" rtlCol="0" anchor="t"/>
          <a:lstStyle/>
          <a:p>
            <a:pPr algn="ctr" indent="0" marL="0">
              <a:buNone/>
            </a:pPr>
            <a:r>
              <a:rPr lang="en-US" sz="1400" b="1" dirty="0">
                <a:solidFill>
                  <a:srgbClr val="2E8B57"/>
                </a:solidFill>
              </a:rPr>
              <a:t>39.5% paid </a:t>
            </a:r>
            <a:pPr algn="ctr" indent="0" marL="0">
              <a:buNone/>
            </a:pPr>
            <a:r>
              <a:rPr lang="en-US" sz="1400" dirty="0">
                <a:solidFill>
                  <a:srgbClr val="5B6B71"/>
                </a:solidFill>
              </a:rPr>
              <a:t>during the campaign (target 40%); more paid after follow-up</a:t>
            </a:r>
            <a:endParaRPr lang="en-US" sz="1400" dirty="0"/>
          </a:p>
        </p:txBody>
      </p:sp>
      <p:sp>
        <p:nvSpPr>
          <p:cNvPr id="10" name="Text 7"/>
          <p:cNvSpPr txBox="1"/>
          <p:nvPr/>
        </p:nvSpPr>
        <p:spPr>
          <a:xfrm>
            <a:off x="5669280" y="1371600"/>
            <a:ext cx="6035040" cy="274320"/>
          </a:xfrm>
          <a:prstGeom prst="rect">
            <a:avLst/>
          </a:prstGeom>
          <a:noFill/>
          <a:ln/>
        </p:spPr>
        <p:txBody>
          <a:bodyPr wrap="square" lIns="0" tIns="0" rIns="0" bIns="0" rtlCol="0" anchor="t"/>
          <a:lstStyle/>
          <a:p>
            <a:pPr indent="0" marL="0">
              <a:buNone/>
            </a:pPr>
            <a:r>
              <a:rPr lang="en-US" sz="1050" b="1" spc="100" kern="0" dirty="0">
                <a:solidFill>
                  <a:srgbClr val="0E5A5F"/>
                </a:solidFill>
              </a:rPr>
              <a:t>WHAT THE COMPANY PROVIDED</a:t>
            </a:r>
            <a:endParaRPr lang="en-US" sz="1050" dirty="0"/>
          </a:p>
        </p:txBody>
      </p:sp>
      <p:sp>
        <p:nvSpPr>
          <p:cNvPr id="11" name="card"/>
          <p:cNvSpPr/>
          <p:nvPr/>
        </p:nvSpPr>
        <p:spPr>
          <a:xfrm>
            <a:off x="5669280" y="1691640"/>
            <a:ext cx="1389888" cy="1234440"/>
          </a:xfrm>
          <a:prstGeom prst="roundRect">
            <a:avLst>
              <a:gd name="adj" fmla="val 5926"/>
            </a:avLst>
          </a:prstGeom>
          <a:solidFill>
            <a:srgbClr val="FFFFFF"/>
          </a:solidFill>
          <a:ln w="9525">
            <a:solidFill>
              <a:srgbClr val="DCE3E4"/>
            </a:solidFill>
            <a:prstDash val="solid"/>
          </a:ln>
        </p:spPr>
      </p:sp>
      <p:sp>
        <p:nvSpPr>
          <p:cNvPr id="12" name="icon circle"/>
          <p:cNvSpPr/>
          <p:nvPr/>
        </p:nvSpPr>
        <p:spPr>
          <a:xfrm>
            <a:off x="6089904" y="1810512"/>
            <a:ext cx="548640" cy="548640"/>
          </a:xfrm>
          <a:prstGeom prst="ellipse">
            <a:avLst/>
          </a:prstGeom>
          <a:solidFill>
            <a:srgbClr val="0E5A5F"/>
          </a:solidFill>
          <a:ln w="12700">
            <a:solidFill>
              <a:srgbClr val="0E5A5F"/>
            </a:solidFill>
            <a:prstDash val="solid"/>
          </a:ln>
        </p:spPr>
      </p:sp>
      <p:pic>
        <p:nvPicPr>
          <p:cNvPr id="13" name="Image 0" descr="FaCampground">    </p:cNvPr>
          <p:cNvPicPr>
            <a:picLocks noChangeAspect="1"/>
          </p:cNvPicPr>
          <p:nvPr/>
        </p:nvPicPr>
        <p:blipFill>
          <a:blip r:embed="rId1"/>
          <a:stretch>
            <a:fillRect/>
          </a:stretch>
        </p:blipFill>
        <p:spPr>
          <a:xfrm>
            <a:off x="6227064" y="1947672"/>
            <a:ext cx="274320" cy="274320"/>
          </a:xfrm>
          <a:prstGeom prst="rect">
            <a:avLst/>
          </a:prstGeom>
        </p:spPr>
      </p:pic>
      <p:sp>
        <p:nvSpPr>
          <p:cNvPr id="14" name="Text 10"/>
          <p:cNvSpPr txBox="1"/>
          <p:nvPr/>
        </p:nvSpPr>
        <p:spPr>
          <a:xfrm>
            <a:off x="5669280" y="2450592"/>
            <a:ext cx="1389888" cy="365760"/>
          </a:xfrm>
          <a:prstGeom prst="rect">
            <a:avLst/>
          </a:prstGeom>
          <a:noFill/>
          <a:ln/>
        </p:spPr>
        <p:txBody>
          <a:bodyPr wrap="square" lIns="0" tIns="0" rIns="0" bIns="0" rtlCol="0" anchor="t"/>
          <a:lstStyle/>
          <a:p>
            <a:pPr algn="ctr" indent="0" marL="0">
              <a:buNone/>
            </a:pPr>
            <a:r>
              <a:rPr lang="en-US" sz="1400" b="1" dirty="0">
                <a:solidFill>
                  <a:srgbClr val="1E2A2F"/>
                </a:solidFill>
              </a:rPr>
              <a:t>Tent</a:t>
            </a:r>
            <a:endParaRPr lang="en-US" sz="1400" dirty="0"/>
          </a:p>
        </p:txBody>
      </p:sp>
      <p:sp>
        <p:nvSpPr>
          <p:cNvPr id="15" name="card"/>
          <p:cNvSpPr/>
          <p:nvPr/>
        </p:nvSpPr>
        <p:spPr>
          <a:xfrm>
            <a:off x="7205472" y="1691640"/>
            <a:ext cx="1389888" cy="1234440"/>
          </a:xfrm>
          <a:prstGeom prst="roundRect">
            <a:avLst>
              <a:gd name="adj" fmla="val 5926"/>
            </a:avLst>
          </a:prstGeom>
          <a:solidFill>
            <a:srgbClr val="FFFFFF"/>
          </a:solidFill>
          <a:ln w="9525">
            <a:solidFill>
              <a:srgbClr val="DCE3E4"/>
            </a:solidFill>
            <a:prstDash val="solid"/>
          </a:ln>
        </p:spPr>
      </p:sp>
      <p:sp>
        <p:nvSpPr>
          <p:cNvPr id="16" name="icon circle"/>
          <p:cNvSpPr/>
          <p:nvPr/>
        </p:nvSpPr>
        <p:spPr>
          <a:xfrm>
            <a:off x="7626096" y="1810512"/>
            <a:ext cx="548640" cy="548640"/>
          </a:xfrm>
          <a:prstGeom prst="ellipse">
            <a:avLst/>
          </a:prstGeom>
          <a:solidFill>
            <a:srgbClr val="0E5A5F"/>
          </a:solidFill>
          <a:ln w="12700">
            <a:solidFill>
              <a:srgbClr val="0E5A5F"/>
            </a:solidFill>
            <a:prstDash val="solid"/>
          </a:ln>
        </p:spPr>
      </p:sp>
      <p:pic>
        <p:nvPicPr>
          <p:cNvPr id="17" name="Image 1" descr="FaMicrophone">    </p:cNvPr>
          <p:cNvPicPr>
            <a:picLocks noChangeAspect="1"/>
          </p:cNvPicPr>
          <p:nvPr/>
        </p:nvPicPr>
        <p:blipFill>
          <a:blip r:embed="rId2"/>
          <a:stretch>
            <a:fillRect/>
          </a:stretch>
        </p:blipFill>
        <p:spPr>
          <a:xfrm>
            <a:off x="7763256" y="1947672"/>
            <a:ext cx="274320" cy="274320"/>
          </a:xfrm>
          <a:prstGeom prst="rect">
            <a:avLst/>
          </a:prstGeom>
        </p:spPr>
      </p:pic>
      <p:sp>
        <p:nvSpPr>
          <p:cNvPr id="18" name="Text 13"/>
          <p:cNvSpPr txBox="1"/>
          <p:nvPr/>
        </p:nvSpPr>
        <p:spPr>
          <a:xfrm>
            <a:off x="7205472" y="2450592"/>
            <a:ext cx="1389888" cy="365760"/>
          </a:xfrm>
          <a:prstGeom prst="rect">
            <a:avLst/>
          </a:prstGeom>
          <a:noFill/>
          <a:ln/>
        </p:spPr>
        <p:txBody>
          <a:bodyPr wrap="square" lIns="0" tIns="0" rIns="0" bIns="0" rtlCol="0" anchor="t"/>
          <a:lstStyle/>
          <a:p>
            <a:pPr algn="ctr" indent="0" marL="0">
              <a:buNone/>
            </a:pPr>
            <a:r>
              <a:rPr lang="en-US" sz="1400" b="1" dirty="0">
                <a:solidFill>
                  <a:srgbClr val="1E2A2F"/>
                </a:solidFill>
              </a:rPr>
              <a:t>PA system</a:t>
            </a:r>
            <a:endParaRPr lang="en-US" sz="1400" dirty="0"/>
          </a:p>
        </p:txBody>
      </p:sp>
      <p:sp>
        <p:nvSpPr>
          <p:cNvPr id="19" name="card"/>
          <p:cNvSpPr/>
          <p:nvPr/>
        </p:nvSpPr>
        <p:spPr>
          <a:xfrm>
            <a:off x="8741664" y="1691640"/>
            <a:ext cx="1389888" cy="1234440"/>
          </a:xfrm>
          <a:prstGeom prst="roundRect">
            <a:avLst>
              <a:gd name="adj" fmla="val 5926"/>
            </a:avLst>
          </a:prstGeom>
          <a:solidFill>
            <a:srgbClr val="FFFFFF"/>
          </a:solidFill>
          <a:ln w="9525">
            <a:solidFill>
              <a:srgbClr val="DCE3E4"/>
            </a:solidFill>
            <a:prstDash val="solid"/>
          </a:ln>
        </p:spPr>
      </p:sp>
      <p:sp>
        <p:nvSpPr>
          <p:cNvPr id="20" name="icon circle"/>
          <p:cNvSpPr/>
          <p:nvPr/>
        </p:nvSpPr>
        <p:spPr>
          <a:xfrm>
            <a:off x="9162288" y="1810512"/>
            <a:ext cx="548640" cy="548640"/>
          </a:xfrm>
          <a:prstGeom prst="ellipse">
            <a:avLst/>
          </a:prstGeom>
          <a:solidFill>
            <a:srgbClr val="0E5A5F"/>
          </a:solidFill>
          <a:ln w="12700">
            <a:solidFill>
              <a:srgbClr val="0E5A5F"/>
            </a:solidFill>
            <a:prstDash val="solid"/>
          </a:ln>
        </p:spPr>
      </p:sp>
      <p:pic>
        <p:nvPicPr>
          <p:cNvPr id="21" name="Image 2" descr="FaBus">    </p:cNvPr>
          <p:cNvPicPr>
            <a:picLocks noChangeAspect="1"/>
          </p:cNvPicPr>
          <p:nvPr/>
        </p:nvPicPr>
        <p:blipFill>
          <a:blip r:embed="rId3"/>
          <a:stretch>
            <a:fillRect/>
          </a:stretch>
        </p:blipFill>
        <p:spPr>
          <a:xfrm>
            <a:off x="9299448" y="1947672"/>
            <a:ext cx="274320" cy="274320"/>
          </a:xfrm>
          <a:prstGeom prst="rect">
            <a:avLst/>
          </a:prstGeom>
        </p:spPr>
      </p:pic>
      <p:sp>
        <p:nvSpPr>
          <p:cNvPr id="22" name="Text 16"/>
          <p:cNvSpPr txBox="1"/>
          <p:nvPr/>
        </p:nvSpPr>
        <p:spPr>
          <a:xfrm>
            <a:off x="8741664" y="2450592"/>
            <a:ext cx="1389888" cy="365760"/>
          </a:xfrm>
          <a:prstGeom prst="rect">
            <a:avLst/>
          </a:prstGeom>
          <a:noFill/>
          <a:ln/>
        </p:spPr>
        <p:txBody>
          <a:bodyPr wrap="square" lIns="0" tIns="0" rIns="0" bIns="0" rtlCol="0" anchor="t"/>
          <a:lstStyle/>
          <a:p>
            <a:pPr algn="ctr" indent="0" marL="0">
              <a:buNone/>
            </a:pPr>
            <a:r>
              <a:rPr lang="en-US" sz="1400" b="1" dirty="0">
                <a:solidFill>
                  <a:srgbClr val="1E2A2F"/>
                </a:solidFill>
              </a:rPr>
              <a:t>Transport</a:t>
            </a:r>
            <a:endParaRPr lang="en-US" sz="1400" dirty="0"/>
          </a:p>
        </p:txBody>
      </p:sp>
      <p:sp>
        <p:nvSpPr>
          <p:cNvPr id="23" name="card"/>
          <p:cNvSpPr/>
          <p:nvPr/>
        </p:nvSpPr>
        <p:spPr>
          <a:xfrm>
            <a:off x="10277856" y="1691640"/>
            <a:ext cx="1389888" cy="1234440"/>
          </a:xfrm>
          <a:prstGeom prst="roundRect">
            <a:avLst>
              <a:gd name="adj" fmla="val 5926"/>
            </a:avLst>
          </a:prstGeom>
          <a:solidFill>
            <a:srgbClr val="FFFFFF"/>
          </a:solidFill>
          <a:ln w="9525">
            <a:solidFill>
              <a:srgbClr val="DCE3E4"/>
            </a:solidFill>
            <a:prstDash val="solid"/>
          </a:ln>
        </p:spPr>
      </p:sp>
      <p:sp>
        <p:nvSpPr>
          <p:cNvPr id="24" name="icon circle"/>
          <p:cNvSpPr/>
          <p:nvPr/>
        </p:nvSpPr>
        <p:spPr>
          <a:xfrm>
            <a:off x="10698480" y="1810512"/>
            <a:ext cx="548640" cy="548640"/>
          </a:xfrm>
          <a:prstGeom prst="ellipse">
            <a:avLst/>
          </a:prstGeom>
          <a:solidFill>
            <a:srgbClr val="0E5A5F"/>
          </a:solidFill>
          <a:ln w="12700">
            <a:solidFill>
              <a:srgbClr val="0E5A5F"/>
            </a:solidFill>
            <a:prstDash val="solid"/>
          </a:ln>
        </p:spPr>
      </p:sp>
      <p:pic>
        <p:nvPicPr>
          <p:cNvPr id="25" name="Image 3" descr="FaUtensils">    </p:cNvPr>
          <p:cNvPicPr>
            <a:picLocks noChangeAspect="1"/>
          </p:cNvPicPr>
          <p:nvPr/>
        </p:nvPicPr>
        <p:blipFill>
          <a:blip r:embed="rId4"/>
          <a:stretch>
            <a:fillRect/>
          </a:stretch>
        </p:blipFill>
        <p:spPr>
          <a:xfrm>
            <a:off x="10835640" y="1947672"/>
            <a:ext cx="274320" cy="274320"/>
          </a:xfrm>
          <a:prstGeom prst="rect">
            <a:avLst/>
          </a:prstGeom>
        </p:spPr>
      </p:pic>
      <p:sp>
        <p:nvSpPr>
          <p:cNvPr id="26" name="Text 19"/>
          <p:cNvSpPr txBox="1"/>
          <p:nvPr/>
        </p:nvSpPr>
        <p:spPr>
          <a:xfrm>
            <a:off x="10277856" y="2450592"/>
            <a:ext cx="1389888" cy="365760"/>
          </a:xfrm>
          <a:prstGeom prst="rect">
            <a:avLst/>
          </a:prstGeom>
          <a:noFill/>
          <a:ln/>
        </p:spPr>
        <p:txBody>
          <a:bodyPr wrap="square" lIns="0" tIns="0" rIns="0" bIns="0" rtlCol="0" anchor="t"/>
          <a:lstStyle/>
          <a:p>
            <a:pPr algn="ctr" indent="0" marL="0">
              <a:buNone/>
            </a:pPr>
            <a:r>
              <a:rPr lang="en-US" sz="1400" b="1" dirty="0">
                <a:solidFill>
                  <a:srgbClr val="1E2A2F"/>
                </a:solidFill>
              </a:rPr>
              <a:t>Lunch</a:t>
            </a:r>
            <a:endParaRPr lang="en-US" sz="1400" dirty="0"/>
          </a:p>
        </p:txBody>
      </p:sp>
      <p:sp>
        <p:nvSpPr>
          <p:cNvPr id="27" name="card"/>
          <p:cNvSpPr/>
          <p:nvPr/>
        </p:nvSpPr>
        <p:spPr>
          <a:xfrm>
            <a:off x="5669280" y="3127248"/>
            <a:ext cx="6062472" cy="1234440"/>
          </a:xfrm>
          <a:prstGeom prst="roundRect">
            <a:avLst>
              <a:gd name="adj" fmla="val 5926"/>
            </a:avLst>
          </a:prstGeom>
          <a:solidFill>
            <a:srgbClr val="FBF3E0"/>
          </a:solidFill>
          <a:ln w="9525">
            <a:solidFill>
              <a:srgbClr val="DCE3E4"/>
            </a:solidFill>
            <a:prstDash val="solid"/>
          </a:ln>
        </p:spPr>
      </p:sp>
      <p:sp>
        <p:nvSpPr>
          <p:cNvPr id="28" name="Text 21"/>
          <p:cNvSpPr txBox="1"/>
          <p:nvPr/>
        </p:nvSpPr>
        <p:spPr>
          <a:xfrm>
            <a:off x="5852160" y="3246120"/>
            <a:ext cx="5760720" cy="1005840"/>
          </a:xfrm>
          <a:prstGeom prst="rect">
            <a:avLst/>
          </a:prstGeom>
          <a:noFill/>
          <a:ln/>
        </p:spPr>
        <p:txBody>
          <a:bodyPr wrap="square" lIns="0" tIns="0" rIns="0" bIns="0" rtlCol="0" anchor="t"/>
          <a:lstStyle/>
          <a:p>
            <a:pPr indent="0" marL="0">
              <a:buNone/>
            </a:pPr>
            <a:r>
              <a:rPr lang="en-US" sz="1400" b="1" dirty="0">
                <a:solidFill>
                  <a:srgbClr val="1E2A2F"/>
                </a:solidFill>
              </a:rPr>
              <a:t>Cost and return on investment</a:t>
            </a:r>
            <a:endParaRPr lang="en-US" sz="1400" dirty="0"/>
          </a:p>
          <a:p>
            <a:pPr indent="0" marL="0">
              <a:buNone/>
            </a:pPr>
            <a:r>
              <a:rPr lang="en-US" sz="1400" b="1" dirty="0">
                <a:solidFill>
                  <a:srgbClr val="C98A00"/>
                </a:solidFill>
              </a:rPr>
              <a:t>Data not yet captured — process starts October 2026</a:t>
            </a:r>
            <a:endParaRPr lang="en-US" sz="1400" dirty="0"/>
          </a:p>
        </p:txBody>
      </p:sp>
      <p:sp>
        <p:nvSpPr>
          <p:cNvPr id="2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30" name="Text 2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43 registered and 17 paid during the campaign (39.5%), with more after follow-up.</a:t>
            </a:r>
            <a:endParaRPr lang="en-US" sz="1050" dirty="0"/>
          </a:p>
        </p:txBody>
      </p:sp>
      <p:sp>
        <p:nvSpPr>
          <p:cNvPr id="3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32" name="Text 2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Supported campaigns hit our conversion target in weeks.</a:t>
            </a:r>
            <a:endParaRPr lang="en-US" sz="1050" dirty="0"/>
          </a:p>
        </p:txBody>
      </p:sp>
      <p:sp>
        <p:nvSpPr>
          <p:cNvPr id="3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34" name="Text 2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Run a monthly campaign accelerator with a cost sheet and ROI.</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GROWTH MODEL</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A resident agent in each territory, supported by regular campaigns</a:t>
            </a:r>
            <a:endParaRPr lang="en-US" sz="2600" dirty="0"/>
          </a:p>
        </p:txBody>
      </p:sp>
      <p:sp>
        <p:nvSpPr>
          <p:cNvPr id="5" name="card"/>
          <p:cNvSpPr/>
          <p:nvPr/>
        </p:nvSpPr>
        <p:spPr>
          <a:xfrm>
            <a:off x="457200" y="1371600"/>
            <a:ext cx="11277295" cy="2514600"/>
          </a:xfrm>
          <a:prstGeom prst="roundRect">
            <a:avLst>
              <a:gd name="adj" fmla="val 2909"/>
            </a:avLst>
          </a:prstGeom>
          <a:solidFill>
            <a:srgbClr val="FFFFFF"/>
          </a:solidFill>
          <a:ln w="9525">
            <a:solidFill>
              <a:srgbClr val="DCE3E4"/>
            </a:solidFill>
            <a:prstDash val="solid"/>
          </a:ln>
        </p:spPr>
      </p:sp>
      <p:sp>
        <p:nvSpPr>
          <p:cNvPr id="6" name="Text 3"/>
          <p:cNvSpPr txBox="1"/>
          <p:nvPr/>
        </p:nvSpPr>
        <p:spPr>
          <a:xfrm>
            <a:off x="685800" y="1481328"/>
            <a:ext cx="5486400" cy="256032"/>
          </a:xfrm>
          <a:prstGeom prst="rect">
            <a:avLst/>
          </a:prstGeom>
          <a:noFill/>
          <a:ln/>
        </p:spPr>
        <p:txBody>
          <a:bodyPr wrap="square" lIns="0" tIns="0" rIns="0" bIns="0" rtlCol="0" anchor="t"/>
          <a:lstStyle/>
          <a:p>
            <a:pPr indent="0" marL="0">
              <a:buNone/>
            </a:pPr>
            <a:r>
              <a:rPr lang="en-US" sz="1050" b="1" spc="100" kern="0" dirty="0">
                <a:solidFill>
                  <a:srgbClr val="0E5A5F"/>
                </a:solidFill>
              </a:rPr>
              <a:t>ILLUSTRATIVE: ONE TERRITORY OVER TIME</a:t>
            </a:r>
            <a:endParaRPr lang="en-US" sz="1050" dirty="0"/>
          </a:p>
        </p:txBody>
      </p:sp>
      <p:sp>
        <p:nvSpPr>
          <p:cNvPr id="7" name="resident agent band"/>
          <p:cNvSpPr/>
          <p:nvPr/>
        </p:nvSpPr>
        <p:spPr>
          <a:xfrm>
            <a:off x="731520" y="3063240"/>
            <a:ext cx="10728655" cy="502920"/>
          </a:xfrm>
          <a:prstGeom prst="roundRect">
            <a:avLst>
              <a:gd name="adj" fmla="val 18182"/>
            </a:avLst>
          </a:prstGeom>
          <a:solidFill>
            <a:srgbClr val="2E6DB4"/>
          </a:solidFill>
          <a:ln w="12700">
            <a:solidFill>
              <a:srgbClr val="2E6DB4"/>
            </a:solidFill>
            <a:prstDash val="solid"/>
          </a:ln>
        </p:spPr>
      </p:sp>
      <p:sp>
        <p:nvSpPr>
          <p:cNvPr id="8" name="Text 5"/>
          <p:cNvSpPr txBox="1"/>
          <p:nvPr/>
        </p:nvSpPr>
        <p:spPr>
          <a:xfrm>
            <a:off x="914400" y="3063240"/>
            <a:ext cx="10362895" cy="502920"/>
          </a:xfrm>
          <a:prstGeom prst="rect">
            <a:avLst/>
          </a:prstGeom>
          <a:noFill/>
          <a:ln/>
        </p:spPr>
        <p:txBody>
          <a:bodyPr wrap="square" lIns="0" tIns="0" rIns="0" bIns="0" rtlCol="0" anchor="ctr"/>
          <a:lstStyle/>
          <a:p>
            <a:pPr indent="0" marL="0">
              <a:buNone/>
            </a:pPr>
            <a:r>
              <a:rPr lang="en-US" sz="1400" b="1" dirty="0">
                <a:solidFill>
                  <a:srgbClr val="FFFFFF"/>
                </a:solidFill>
              </a:rPr>
              <a:t>Resident local agent: daily presence, self-marketing, follow-up, collections</a:t>
            </a:r>
            <a:endParaRPr lang="en-US" sz="1400" dirty="0"/>
          </a:p>
        </p:txBody>
      </p:sp>
      <p:sp>
        <p:nvSpPr>
          <p:cNvPr id="9" name="campaign block"/>
          <p:cNvSpPr/>
          <p:nvPr/>
        </p:nvSpPr>
        <p:spPr>
          <a:xfrm>
            <a:off x="1554480" y="1874520"/>
            <a:ext cx="2377440" cy="1051560"/>
          </a:xfrm>
          <a:prstGeom prst="roundRect">
            <a:avLst>
              <a:gd name="adj" fmla="val 8696"/>
            </a:avLst>
          </a:prstGeom>
          <a:solidFill>
            <a:srgbClr val="E07B39"/>
          </a:solidFill>
          <a:ln w="12700">
            <a:solidFill>
              <a:srgbClr val="E07B39"/>
            </a:solidFill>
            <a:prstDash val="solid"/>
          </a:ln>
        </p:spPr>
      </p:sp>
      <p:sp>
        <p:nvSpPr>
          <p:cNvPr id="10" name="Text 7"/>
          <p:cNvSpPr txBox="1"/>
          <p:nvPr/>
        </p:nvSpPr>
        <p:spPr>
          <a:xfrm>
            <a:off x="1554480" y="1874520"/>
            <a:ext cx="2377440" cy="1051560"/>
          </a:xfrm>
          <a:prstGeom prst="rect">
            <a:avLst/>
          </a:prstGeom>
          <a:noFill/>
          <a:ln/>
        </p:spPr>
        <p:txBody>
          <a:bodyPr wrap="square" lIns="0" tIns="0" rIns="0" bIns="0" rtlCol="0" anchor="ctr"/>
          <a:lstStyle/>
          <a:p>
            <a:pPr algn="ctr" indent="0" marL="0">
              <a:buNone/>
            </a:pPr>
            <a:r>
              <a:rPr lang="en-US" sz="1400" b="1" dirty="0">
                <a:solidFill>
                  <a:srgbClr val="FFFFFF"/>
                </a:solidFill>
              </a:rPr>
              <a:t>Campaign accelerator</a:t>
            </a:r>
            <a:endParaRPr lang="en-US" sz="1400" dirty="0"/>
          </a:p>
          <a:p>
            <a:pPr algn="ctr" indent="0" marL="0">
              <a:buNone/>
            </a:pPr>
            <a:r>
              <a:rPr lang="en-US" sz="1200" dirty="0">
                <a:solidFill>
                  <a:srgbClr val="FFFFFF"/>
                </a:solidFill>
              </a:rPr>
              <a:t>Spike of leads</a:t>
            </a:r>
            <a:endParaRPr lang="en-US" sz="1400" dirty="0"/>
          </a:p>
        </p:txBody>
      </p:sp>
      <p:sp>
        <p:nvSpPr>
          <p:cNvPr id="11" name="campaign block"/>
          <p:cNvSpPr/>
          <p:nvPr/>
        </p:nvSpPr>
        <p:spPr>
          <a:xfrm>
            <a:off x="5029200" y="1874520"/>
            <a:ext cx="2377440" cy="1051560"/>
          </a:xfrm>
          <a:prstGeom prst="roundRect">
            <a:avLst>
              <a:gd name="adj" fmla="val 8696"/>
            </a:avLst>
          </a:prstGeom>
          <a:solidFill>
            <a:srgbClr val="E07B39"/>
          </a:solidFill>
          <a:ln w="12700">
            <a:solidFill>
              <a:srgbClr val="E07B39"/>
            </a:solidFill>
            <a:prstDash val="solid"/>
          </a:ln>
        </p:spPr>
      </p:sp>
      <p:sp>
        <p:nvSpPr>
          <p:cNvPr id="12" name="Text 9"/>
          <p:cNvSpPr txBox="1"/>
          <p:nvPr/>
        </p:nvSpPr>
        <p:spPr>
          <a:xfrm>
            <a:off x="5029200" y="1874520"/>
            <a:ext cx="2377440" cy="1051560"/>
          </a:xfrm>
          <a:prstGeom prst="rect">
            <a:avLst/>
          </a:prstGeom>
          <a:noFill/>
          <a:ln/>
        </p:spPr>
        <p:txBody>
          <a:bodyPr wrap="square" lIns="0" tIns="0" rIns="0" bIns="0" rtlCol="0" anchor="ctr"/>
          <a:lstStyle/>
          <a:p>
            <a:pPr algn="ctr" indent="0" marL="0">
              <a:buNone/>
            </a:pPr>
            <a:r>
              <a:rPr lang="en-US" sz="1400" b="1" dirty="0">
                <a:solidFill>
                  <a:srgbClr val="FFFFFF"/>
                </a:solidFill>
              </a:rPr>
              <a:t>Campaign accelerator</a:t>
            </a:r>
            <a:endParaRPr lang="en-US" sz="1400" dirty="0"/>
          </a:p>
          <a:p>
            <a:pPr algn="ctr" indent="0" marL="0">
              <a:buNone/>
            </a:pPr>
            <a:r>
              <a:rPr lang="en-US" sz="1200" dirty="0">
                <a:solidFill>
                  <a:srgbClr val="FFFFFF"/>
                </a:solidFill>
              </a:rPr>
              <a:t>Spike of leads</a:t>
            </a:r>
            <a:endParaRPr lang="en-US" sz="1400" dirty="0"/>
          </a:p>
        </p:txBody>
      </p:sp>
      <p:sp>
        <p:nvSpPr>
          <p:cNvPr id="13" name="campaign block"/>
          <p:cNvSpPr/>
          <p:nvPr/>
        </p:nvSpPr>
        <p:spPr>
          <a:xfrm>
            <a:off x="8503920" y="1874520"/>
            <a:ext cx="2377440" cy="1051560"/>
          </a:xfrm>
          <a:prstGeom prst="roundRect">
            <a:avLst>
              <a:gd name="adj" fmla="val 8696"/>
            </a:avLst>
          </a:prstGeom>
          <a:solidFill>
            <a:srgbClr val="E07B39"/>
          </a:solidFill>
          <a:ln w="12700">
            <a:solidFill>
              <a:srgbClr val="E07B39"/>
            </a:solidFill>
            <a:prstDash val="solid"/>
          </a:ln>
        </p:spPr>
      </p:sp>
      <p:sp>
        <p:nvSpPr>
          <p:cNvPr id="14" name="Text 11"/>
          <p:cNvSpPr txBox="1"/>
          <p:nvPr/>
        </p:nvSpPr>
        <p:spPr>
          <a:xfrm>
            <a:off x="8503920" y="1874520"/>
            <a:ext cx="2377440" cy="1051560"/>
          </a:xfrm>
          <a:prstGeom prst="rect">
            <a:avLst/>
          </a:prstGeom>
          <a:noFill/>
          <a:ln/>
        </p:spPr>
        <p:txBody>
          <a:bodyPr wrap="square" lIns="0" tIns="0" rIns="0" bIns="0" rtlCol="0" anchor="ctr"/>
          <a:lstStyle/>
          <a:p>
            <a:pPr algn="ctr" indent="0" marL="0">
              <a:buNone/>
            </a:pPr>
            <a:r>
              <a:rPr lang="en-US" sz="1400" b="1" dirty="0">
                <a:solidFill>
                  <a:srgbClr val="FFFFFF"/>
                </a:solidFill>
              </a:rPr>
              <a:t>Campaign accelerator</a:t>
            </a:r>
            <a:endParaRPr lang="en-US" sz="1400" dirty="0"/>
          </a:p>
          <a:p>
            <a:pPr algn="ctr" indent="0" marL="0">
              <a:buNone/>
            </a:pPr>
            <a:r>
              <a:rPr lang="en-US" sz="1200" dirty="0">
                <a:solidFill>
                  <a:srgbClr val="FFFFFF"/>
                </a:solidFill>
              </a:rPr>
              <a:t>Spike of leads</a:t>
            </a:r>
            <a:endParaRPr lang="en-US" sz="1400" dirty="0"/>
          </a:p>
        </p:txBody>
      </p:sp>
      <p:sp>
        <p:nvSpPr>
          <p:cNvPr id="15" name="card"/>
          <p:cNvSpPr/>
          <p:nvPr/>
        </p:nvSpPr>
        <p:spPr>
          <a:xfrm>
            <a:off x="457200" y="4114800"/>
            <a:ext cx="3637178" cy="1234440"/>
          </a:xfrm>
          <a:prstGeom prst="roundRect">
            <a:avLst>
              <a:gd name="adj" fmla="val 5926"/>
            </a:avLst>
          </a:prstGeom>
          <a:solidFill>
            <a:srgbClr val="FFFFFF"/>
          </a:solidFill>
          <a:ln w="9525">
            <a:solidFill>
              <a:srgbClr val="DCE3E4"/>
            </a:solidFill>
            <a:prstDash val="solid"/>
          </a:ln>
        </p:spPr>
      </p:sp>
      <p:sp>
        <p:nvSpPr>
          <p:cNvPr id="16" name="icon circle"/>
          <p:cNvSpPr/>
          <p:nvPr/>
        </p:nvSpPr>
        <p:spPr>
          <a:xfrm>
            <a:off x="640080" y="4315968"/>
            <a:ext cx="548640" cy="548640"/>
          </a:xfrm>
          <a:prstGeom prst="ellipse">
            <a:avLst/>
          </a:prstGeom>
          <a:solidFill>
            <a:srgbClr val="0E5A5F"/>
          </a:solidFill>
          <a:ln w="12700">
            <a:solidFill>
              <a:srgbClr val="0E5A5F"/>
            </a:solidFill>
            <a:prstDash val="solid"/>
          </a:ln>
        </p:spPr>
      </p:sp>
      <p:pic>
        <p:nvPicPr>
          <p:cNvPr id="17" name="Image 0" descr="FaUserCheck">    </p:cNvPr>
          <p:cNvPicPr>
            <a:picLocks noChangeAspect="1"/>
          </p:cNvPicPr>
          <p:nvPr/>
        </p:nvPicPr>
        <p:blipFill>
          <a:blip r:embed="rId1"/>
          <a:stretch>
            <a:fillRect/>
          </a:stretch>
        </p:blipFill>
        <p:spPr>
          <a:xfrm>
            <a:off x="777240" y="4453128"/>
            <a:ext cx="274320" cy="274320"/>
          </a:xfrm>
          <a:prstGeom prst="rect">
            <a:avLst/>
          </a:prstGeom>
        </p:spPr>
      </p:pic>
      <p:sp>
        <p:nvSpPr>
          <p:cNvPr id="18" name="Text 14"/>
          <p:cNvSpPr txBox="1"/>
          <p:nvPr/>
        </p:nvSpPr>
        <p:spPr>
          <a:xfrm>
            <a:off x="1371600" y="4224528"/>
            <a:ext cx="2585618" cy="1051560"/>
          </a:xfrm>
          <a:prstGeom prst="rect">
            <a:avLst/>
          </a:prstGeom>
          <a:noFill/>
          <a:ln/>
        </p:spPr>
        <p:txBody>
          <a:bodyPr wrap="square" lIns="0" tIns="0" rIns="0" bIns="0" rtlCol="0" anchor="t"/>
          <a:lstStyle/>
          <a:p>
            <a:pPr indent="0" marL="0">
              <a:buNone/>
            </a:pPr>
            <a:r>
              <a:rPr lang="en-US" sz="1600" b="1" dirty="0">
                <a:solidFill>
                  <a:srgbClr val="1E2A2F"/>
                </a:solidFill>
              </a:rPr>
              <a:t>Resident agent</a:t>
            </a:r>
            <a:endParaRPr lang="en-US" sz="1400" dirty="0"/>
          </a:p>
          <a:p>
            <a:pPr indent="0" marL="0">
              <a:buNone/>
            </a:pPr>
            <a:r>
              <a:rPr lang="en-US" sz="1300" dirty="0">
                <a:solidFill>
                  <a:srgbClr val="5B6B71"/>
                </a:solidFill>
              </a:rPr>
              <a:t>Lives in the area, sells daily, owns the territory</a:t>
            </a:r>
            <a:endParaRPr lang="en-US" sz="1400" dirty="0"/>
          </a:p>
        </p:txBody>
      </p:sp>
      <p:sp>
        <p:nvSpPr>
          <p:cNvPr id="19" name="card"/>
          <p:cNvSpPr/>
          <p:nvPr/>
        </p:nvSpPr>
        <p:spPr>
          <a:xfrm>
            <a:off x="4277258" y="4114800"/>
            <a:ext cx="3637178" cy="1234440"/>
          </a:xfrm>
          <a:prstGeom prst="roundRect">
            <a:avLst>
              <a:gd name="adj" fmla="val 5926"/>
            </a:avLst>
          </a:prstGeom>
          <a:solidFill>
            <a:srgbClr val="FFFFFF"/>
          </a:solidFill>
          <a:ln w="9525">
            <a:solidFill>
              <a:srgbClr val="DCE3E4"/>
            </a:solidFill>
            <a:prstDash val="solid"/>
          </a:ln>
        </p:spPr>
      </p:sp>
      <p:sp>
        <p:nvSpPr>
          <p:cNvPr id="20" name="icon circle"/>
          <p:cNvSpPr/>
          <p:nvPr/>
        </p:nvSpPr>
        <p:spPr>
          <a:xfrm>
            <a:off x="4460138" y="4315968"/>
            <a:ext cx="548640" cy="548640"/>
          </a:xfrm>
          <a:prstGeom prst="ellipse">
            <a:avLst/>
          </a:prstGeom>
          <a:solidFill>
            <a:srgbClr val="0E5A5F"/>
          </a:solidFill>
          <a:ln w="12700">
            <a:solidFill>
              <a:srgbClr val="0E5A5F"/>
            </a:solidFill>
            <a:prstDash val="solid"/>
          </a:ln>
        </p:spPr>
      </p:sp>
      <p:pic>
        <p:nvPicPr>
          <p:cNvPr id="21" name="Image 1" descr="FaBullhorn">    </p:cNvPr>
          <p:cNvPicPr>
            <a:picLocks noChangeAspect="1"/>
          </p:cNvPicPr>
          <p:nvPr/>
        </p:nvPicPr>
        <p:blipFill>
          <a:blip r:embed="rId2"/>
          <a:stretch>
            <a:fillRect/>
          </a:stretch>
        </p:blipFill>
        <p:spPr>
          <a:xfrm>
            <a:off x="4597298" y="4453128"/>
            <a:ext cx="274320" cy="274320"/>
          </a:xfrm>
          <a:prstGeom prst="rect">
            <a:avLst/>
          </a:prstGeom>
        </p:spPr>
      </p:pic>
      <p:sp>
        <p:nvSpPr>
          <p:cNvPr id="22" name="Text 17"/>
          <p:cNvSpPr txBox="1"/>
          <p:nvPr/>
        </p:nvSpPr>
        <p:spPr>
          <a:xfrm>
            <a:off x="5191658" y="4224528"/>
            <a:ext cx="2585618" cy="1051560"/>
          </a:xfrm>
          <a:prstGeom prst="rect">
            <a:avLst/>
          </a:prstGeom>
          <a:noFill/>
          <a:ln/>
        </p:spPr>
        <p:txBody>
          <a:bodyPr wrap="square" lIns="0" tIns="0" rIns="0" bIns="0" rtlCol="0" anchor="t"/>
          <a:lstStyle/>
          <a:p>
            <a:pPr indent="0" marL="0">
              <a:buNone/>
            </a:pPr>
            <a:r>
              <a:rPr lang="en-US" sz="1600" b="1" dirty="0">
                <a:solidFill>
                  <a:srgbClr val="1E2A2F"/>
                </a:solidFill>
              </a:rPr>
              <a:t>Campaign kit</a:t>
            </a:r>
            <a:endParaRPr lang="en-US" sz="1400" dirty="0"/>
          </a:p>
          <a:p>
            <a:pPr indent="0" marL="0">
              <a:buNone/>
            </a:pPr>
            <a:r>
              <a:rPr lang="en-US" sz="1300" dirty="0">
                <a:solidFill>
                  <a:srgbClr val="5B6B71"/>
                </a:solidFill>
              </a:rPr>
              <a:t>Tent, PA, transport, lunch, advertising, Join &amp; Win</a:t>
            </a:r>
            <a:endParaRPr lang="en-US" sz="1400" dirty="0"/>
          </a:p>
        </p:txBody>
      </p:sp>
      <p:sp>
        <p:nvSpPr>
          <p:cNvPr id="23" name="card"/>
          <p:cNvSpPr/>
          <p:nvPr/>
        </p:nvSpPr>
        <p:spPr>
          <a:xfrm>
            <a:off x="8097317" y="4114800"/>
            <a:ext cx="3637178" cy="1234440"/>
          </a:xfrm>
          <a:prstGeom prst="roundRect">
            <a:avLst>
              <a:gd name="adj" fmla="val 5926"/>
            </a:avLst>
          </a:prstGeom>
          <a:solidFill>
            <a:srgbClr val="E3EFEF"/>
          </a:solidFill>
          <a:ln w="9525">
            <a:solidFill>
              <a:srgbClr val="DCE3E4"/>
            </a:solidFill>
            <a:prstDash val="solid"/>
          </a:ln>
        </p:spPr>
      </p:sp>
      <p:sp>
        <p:nvSpPr>
          <p:cNvPr id="24" name="icon circle"/>
          <p:cNvSpPr/>
          <p:nvPr/>
        </p:nvSpPr>
        <p:spPr>
          <a:xfrm>
            <a:off x="8280197" y="4315968"/>
            <a:ext cx="548640" cy="548640"/>
          </a:xfrm>
          <a:prstGeom prst="ellipse">
            <a:avLst/>
          </a:prstGeom>
          <a:solidFill>
            <a:srgbClr val="0E5A5F"/>
          </a:solidFill>
          <a:ln w="12700">
            <a:solidFill>
              <a:srgbClr val="0E5A5F"/>
            </a:solidFill>
            <a:prstDash val="solid"/>
          </a:ln>
        </p:spPr>
      </p:sp>
      <p:pic>
        <p:nvPicPr>
          <p:cNvPr id="25" name="Image 2" descr="FaMapMarkerAlt">    </p:cNvPr>
          <p:cNvPicPr>
            <a:picLocks noChangeAspect="1"/>
          </p:cNvPicPr>
          <p:nvPr/>
        </p:nvPicPr>
        <p:blipFill>
          <a:blip r:embed="rId3"/>
          <a:stretch>
            <a:fillRect/>
          </a:stretch>
        </p:blipFill>
        <p:spPr>
          <a:xfrm>
            <a:off x="8417357" y="4453128"/>
            <a:ext cx="274320" cy="274320"/>
          </a:xfrm>
          <a:prstGeom prst="rect">
            <a:avLst/>
          </a:prstGeom>
        </p:spPr>
      </p:pic>
      <p:sp>
        <p:nvSpPr>
          <p:cNvPr id="26" name="Text 20"/>
          <p:cNvSpPr txBox="1"/>
          <p:nvPr/>
        </p:nvSpPr>
        <p:spPr>
          <a:xfrm>
            <a:off x="9011717" y="4224528"/>
            <a:ext cx="2585618" cy="1051560"/>
          </a:xfrm>
          <a:prstGeom prst="rect">
            <a:avLst/>
          </a:prstGeom>
          <a:noFill/>
          <a:ln/>
        </p:spPr>
        <p:txBody>
          <a:bodyPr wrap="square" lIns="0" tIns="0" rIns="0" bIns="0" rtlCol="0" anchor="t"/>
          <a:lstStyle/>
          <a:p>
            <a:pPr indent="0" marL="0">
              <a:buNone/>
            </a:pPr>
            <a:r>
              <a:rPr lang="en-US" sz="1600" b="1" dirty="0">
                <a:solidFill>
                  <a:srgbClr val="1E2A2F"/>
                </a:solidFill>
              </a:rPr>
              <a:t>Lupane first</a:t>
            </a:r>
            <a:endParaRPr lang="en-US" sz="1400" dirty="0"/>
          </a:p>
          <a:p>
            <a:pPr indent="0" marL="0">
              <a:buNone/>
            </a:pPr>
            <a:r>
              <a:rPr lang="en-US" sz="1300" dirty="0">
                <a:solidFill>
                  <a:srgbClr val="5B6B71"/>
                </a:solidFill>
              </a:rPr>
              <a:t>Then two more areas; each measured on joinings, paid and cost</a:t>
            </a:r>
            <a:endParaRPr lang="en-US" sz="1400" dirty="0"/>
          </a:p>
        </p:txBody>
      </p:sp>
      <p:sp>
        <p:nvSpPr>
          <p:cNvPr id="27" name="Text 21"/>
          <p:cNvSpPr txBox="1"/>
          <p:nvPr/>
        </p:nvSpPr>
        <p:spPr>
          <a:xfrm>
            <a:off x="457200" y="5623560"/>
            <a:ext cx="11277295" cy="365760"/>
          </a:xfrm>
          <a:prstGeom prst="rect">
            <a:avLst/>
          </a:prstGeom>
          <a:noFill/>
          <a:ln/>
        </p:spPr>
        <p:txBody>
          <a:bodyPr wrap="square" lIns="0" tIns="0" rIns="0" bIns="0" rtlCol="0" anchor="t"/>
          <a:lstStyle/>
          <a:p>
            <a:pPr indent="0" marL="0">
              <a:buNone/>
            </a:pPr>
            <a:r>
              <a:rPr lang="en-US" sz="1400" i="1" dirty="0">
                <a:solidFill>
                  <a:srgbClr val="0E5A5F"/>
                </a:solidFill>
              </a:rPr>
              <a:t>Built on what has worked: Filabusi (resident agent) and Sokusile (supported campaign).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PRODUCTS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UMTHUNZI sells and pays; UMNDENI sells but mostly does not pay</a:t>
            </a:r>
            <a:endParaRPr lang="en-US" sz="2600" dirty="0"/>
          </a:p>
        </p:txBody>
      </p:sp>
      <p:graphicFrame>
        <p:nvGraphicFramePr>
          <p:cNvPr id="5" name="Chart 0" descr=""/>
          <p:cNvGraphicFramePr/>
          <p:nvPr/>
        </p:nvGraphicFramePr>
        <p:xfrm>
          <a:off x="457200" y="1280160"/>
          <a:ext cx="722376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909560" y="1417320"/>
          <a:ext cx="3822192" cy="914400"/>
        </p:xfrm>
        <a:graphic>
          <a:graphicData uri="http://schemas.openxmlformats.org/drawingml/2006/table">
            <a:tbl>
              <a:tblPr/>
              <a:tblGrid>
                <a:gridCol w="1234440"/>
                <a:gridCol w="1143000"/>
                <a:gridCol w="144475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Avg premium</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 today</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84048">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UMTHUNZI</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12.21</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63 active / in grace</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UMNDENI</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7.22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105 inactive</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YEDWANA</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4.08</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7909560" y="3154680"/>
            <a:ext cx="3822192" cy="822960"/>
          </a:xfrm>
          <a:prstGeom prst="rect">
            <a:avLst/>
          </a:prstGeom>
          <a:noFill/>
          <a:ln/>
        </p:spPr>
        <p:txBody>
          <a:bodyPr wrap="square" lIns="0" tIns="0" rIns="0" bIns="0" rtlCol="0" anchor="t"/>
          <a:lstStyle/>
          <a:p>
            <a:pPr indent="0" marL="0">
              <a:buNone/>
            </a:pPr>
            <a:r>
              <a:rPr lang="en-US" sz="1200" dirty="0">
                <a:solidFill>
                  <a:srgbClr val="5B6B71"/>
                </a:solidFill>
              </a:rPr>
              <a:t>* 24 of the 29 Legacy Individual policies are South African clients. Legacy products are not counted as new business.</a:t>
            </a:r>
            <a:endParaRPr lang="en-US" sz="12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UMTHUNZI: 69 paid at USD 12.21; UMNDENI: 28 paid of 133, with 105 inactive.</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UMNDENI's low payment turns sales into inactive policies.</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Test an UMNDENI redesign (next slide); promote UMTHUNZI in campaigns.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UMNDENI</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UMNDENI may not fit the way our families are made up</a:t>
            </a:r>
            <a:endParaRPr lang="en-US" sz="2600" dirty="0"/>
          </a:p>
        </p:txBody>
      </p:sp>
      <p:sp>
        <p:nvSpPr>
          <p:cNvPr id="5" name="card"/>
          <p:cNvSpPr/>
          <p:nvPr/>
        </p:nvSpPr>
        <p:spPr>
          <a:xfrm>
            <a:off x="457200" y="1371600"/>
            <a:ext cx="5394960" cy="3566160"/>
          </a:xfrm>
          <a:prstGeom prst="roundRect">
            <a:avLst>
              <a:gd name="adj" fmla="val 2051"/>
            </a:avLst>
          </a:prstGeom>
          <a:solidFill>
            <a:srgbClr val="FFFFFF"/>
          </a:solidFill>
          <a:ln w="9525">
            <a:solidFill>
              <a:srgbClr val="DCE3E4"/>
            </a:solidFill>
            <a:prstDash val="solid"/>
          </a:ln>
        </p:spPr>
      </p:sp>
      <p:sp>
        <p:nvSpPr>
          <p:cNvPr id="6" name="Text 3"/>
          <p:cNvSpPr txBox="1"/>
          <p:nvPr/>
        </p:nvSpPr>
        <p:spPr>
          <a:xfrm>
            <a:off x="685800" y="1481328"/>
            <a:ext cx="4572000" cy="256032"/>
          </a:xfrm>
          <a:prstGeom prst="rect">
            <a:avLst/>
          </a:prstGeom>
          <a:noFill/>
          <a:ln/>
        </p:spPr>
        <p:txBody>
          <a:bodyPr wrap="square" lIns="0" tIns="0" rIns="0" bIns="0" rtlCol="0" anchor="t"/>
          <a:lstStyle/>
          <a:p>
            <a:pPr indent="0" marL="0">
              <a:buNone/>
            </a:pPr>
            <a:r>
              <a:rPr lang="en-US" sz="1050" b="1" spc="100" kern="0" dirty="0">
                <a:solidFill>
                  <a:srgbClr val="0E5A5F"/>
                </a:solidFill>
              </a:rPr>
              <a:t>UMNDENI TODAY</a:t>
            </a:r>
            <a:endParaRPr lang="en-US" sz="1050" dirty="0"/>
          </a:p>
        </p:txBody>
      </p:sp>
      <p:sp>
        <p:nvSpPr>
          <p:cNvPr id="7" name="icon circle"/>
          <p:cNvSpPr/>
          <p:nvPr/>
        </p:nvSpPr>
        <p:spPr>
          <a:xfrm>
            <a:off x="731520" y="1874520"/>
            <a:ext cx="548640" cy="548640"/>
          </a:xfrm>
          <a:prstGeom prst="ellipse">
            <a:avLst/>
          </a:prstGeom>
          <a:solidFill>
            <a:srgbClr val="2E6DB4"/>
          </a:solidFill>
          <a:ln w="12700">
            <a:solidFill>
              <a:srgbClr val="2E6DB4"/>
            </a:solidFill>
            <a:prstDash val="solid"/>
          </a:ln>
        </p:spPr>
      </p:sp>
      <p:pic>
        <p:nvPicPr>
          <p:cNvPr id="8" name="Image 0" descr="FaUser">    </p:cNvPr>
          <p:cNvPicPr>
            <a:picLocks noChangeAspect="1"/>
          </p:cNvPicPr>
          <p:nvPr/>
        </p:nvPicPr>
        <p:blipFill>
          <a:blip r:embed="rId1"/>
          <a:stretch>
            <a:fillRect/>
          </a:stretch>
        </p:blipFill>
        <p:spPr>
          <a:xfrm>
            <a:off x="868680" y="2011680"/>
            <a:ext cx="274320" cy="274320"/>
          </a:xfrm>
          <a:prstGeom prst="rect">
            <a:avLst/>
          </a:prstGeom>
        </p:spPr>
      </p:pic>
      <p:sp>
        <p:nvSpPr>
          <p:cNvPr id="9" name="icon circle"/>
          <p:cNvSpPr/>
          <p:nvPr/>
        </p:nvSpPr>
        <p:spPr>
          <a:xfrm>
            <a:off x="1389888" y="1874520"/>
            <a:ext cx="548640" cy="548640"/>
          </a:xfrm>
          <a:prstGeom prst="ellipse">
            <a:avLst/>
          </a:prstGeom>
          <a:solidFill>
            <a:srgbClr val="2E6DB4"/>
          </a:solidFill>
          <a:ln w="12700">
            <a:solidFill>
              <a:srgbClr val="2E6DB4"/>
            </a:solidFill>
            <a:prstDash val="solid"/>
          </a:ln>
        </p:spPr>
      </p:sp>
      <p:pic>
        <p:nvPicPr>
          <p:cNvPr id="10" name="Image 1" descr="FaUser">    </p:cNvPr>
          <p:cNvPicPr>
            <a:picLocks noChangeAspect="1"/>
          </p:cNvPicPr>
          <p:nvPr/>
        </p:nvPicPr>
        <p:blipFill>
          <a:blip r:embed="rId2"/>
          <a:stretch>
            <a:fillRect/>
          </a:stretch>
        </p:blipFill>
        <p:spPr>
          <a:xfrm>
            <a:off x="1527048" y="2011680"/>
            <a:ext cx="274320" cy="274320"/>
          </a:xfrm>
          <a:prstGeom prst="rect">
            <a:avLst/>
          </a:prstGeom>
        </p:spPr>
      </p:pic>
      <p:sp>
        <p:nvSpPr>
          <p:cNvPr id="11" name="Text 6"/>
          <p:cNvSpPr txBox="1"/>
          <p:nvPr/>
        </p:nvSpPr>
        <p:spPr>
          <a:xfrm>
            <a:off x="731520" y="2478024"/>
            <a:ext cx="4846320" cy="292608"/>
          </a:xfrm>
          <a:prstGeom prst="rect">
            <a:avLst/>
          </a:prstGeom>
          <a:noFill/>
          <a:ln/>
        </p:spPr>
        <p:txBody>
          <a:bodyPr wrap="square" lIns="0" tIns="0" rIns="0" bIns="0" rtlCol="0" anchor="t"/>
          <a:lstStyle/>
          <a:p>
            <a:pPr indent="0" marL="0">
              <a:buNone/>
            </a:pPr>
            <a:r>
              <a:rPr lang="en-US" sz="1300" dirty="0">
                <a:solidFill>
                  <a:srgbClr val="5B6B71"/>
                </a:solidFill>
              </a:rPr>
              <a:t>2 adults (up to age 64)</a:t>
            </a:r>
            <a:endParaRPr lang="en-US" sz="1300" dirty="0"/>
          </a:p>
        </p:txBody>
      </p:sp>
      <p:sp>
        <p:nvSpPr>
          <p:cNvPr id="12" name="icon circle"/>
          <p:cNvSpPr/>
          <p:nvPr/>
        </p:nvSpPr>
        <p:spPr>
          <a:xfrm>
            <a:off x="731520" y="2880360"/>
            <a:ext cx="548640" cy="548640"/>
          </a:xfrm>
          <a:prstGeom prst="ellipse">
            <a:avLst/>
          </a:prstGeom>
          <a:solidFill>
            <a:srgbClr val="34ADB3"/>
          </a:solidFill>
          <a:ln w="12700">
            <a:solidFill>
              <a:srgbClr val="34ADB3"/>
            </a:solidFill>
            <a:prstDash val="solid"/>
          </a:ln>
        </p:spPr>
      </p:sp>
      <p:pic>
        <p:nvPicPr>
          <p:cNvPr id="13" name="Image 2" descr="FaChild">    </p:cNvPr>
          <p:cNvPicPr>
            <a:picLocks noChangeAspect="1"/>
          </p:cNvPicPr>
          <p:nvPr/>
        </p:nvPicPr>
        <p:blipFill>
          <a:blip r:embed="rId3"/>
          <a:stretch>
            <a:fillRect/>
          </a:stretch>
        </p:blipFill>
        <p:spPr>
          <a:xfrm>
            <a:off x="868680" y="3017520"/>
            <a:ext cx="274320" cy="274320"/>
          </a:xfrm>
          <a:prstGeom prst="rect">
            <a:avLst/>
          </a:prstGeom>
        </p:spPr>
      </p:pic>
      <p:sp>
        <p:nvSpPr>
          <p:cNvPr id="14" name="icon circle"/>
          <p:cNvSpPr/>
          <p:nvPr/>
        </p:nvSpPr>
        <p:spPr>
          <a:xfrm>
            <a:off x="1389888" y="2880360"/>
            <a:ext cx="548640" cy="548640"/>
          </a:xfrm>
          <a:prstGeom prst="ellipse">
            <a:avLst/>
          </a:prstGeom>
          <a:solidFill>
            <a:srgbClr val="34ADB3"/>
          </a:solidFill>
          <a:ln w="12700">
            <a:solidFill>
              <a:srgbClr val="34ADB3"/>
            </a:solidFill>
            <a:prstDash val="solid"/>
          </a:ln>
        </p:spPr>
      </p:sp>
      <p:pic>
        <p:nvPicPr>
          <p:cNvPr id="15" name="Image 3" descr="FaChild">    </p:cNvPr>
          <p:cNvPicPr>
            <a:picLocks noChangeAspect="1"/>
          </p:cNvPicPr>
          <p:nvPr/>
        </p:nvPicPr>
        <p:blipFill>
          <a:blip r:embed="rId4"/>
          <a:stretch>
            <a:fillRect/>
          </a:stretch>
        </p:blipFill>
        <p:spPr>
          <a:xfrm>
            <a:off x="1527048" y="3017520"/>
            <a:ext cx="274320" cy="274320"/>
          </a:xfrm>
          <a:prstGeom prst="rect">
            <a:avLst/>
          </a:prstGeom>
        </p:spPr>
      </p:pic>
      <p:sp>
        <p:nvSpPr>
          <p:cNvPr id="16" name="icon circle"/>
          <p:cNvSpPr/>
          <p:nvPr/>
        </p:nvSpPr>
        <p:spPr>
          <a:xfrm>
            <a:off x="2048256" y="2880360"/>
            <a:ext cx="548640" cy="548640"/>
          </a:xfrm>
          <a:prstGeom prst="ellipse">
            <a:avLst/>
          </a:prstGeom>
          <a:solidFill>
            <a:srgbClr val="34ADB3"/>
          </a:solidFill>
          <a:ln w="12700">
            <a:solidFill>
              <a:srgbClr val="34ADB3"/>
            </a:solidFill>
            <a:prstDash val="solid"/>
          </a:ln>
        </p:spPr>
      </p:sp>
      <p:pic>
        <p:nvPicPr>
          <p:cNvPr id="17" name="Image 4" descr="FaChild">    </p:cNvPr>
          <p:cNvPicPr>
            <a:picLocks noChangeAspect="1"/>
          </p:cNvPicPr>
          <p:nvPr/>
        </p:nvPicPr>
        <p:blipFill>
          <a:blip r:embed="rId5"/>
          <a:stretch>
            <a:fillRect/>
          </a:stretch>
        </p:blipFill>
        <p:spPr>
          <a:xfrm>
            <a:off x="2185416" y="3017520"/>
            <a:ext cx="274320" cy="274320"/>
          </a:xfrm>
          <a:prstGeom prst="rect">
            <a:avLst/>
          </a:prstGeom>
        </p:spPr>
      </p:pic>
      <p:sp>
        <p:nvSpPr>
          <p:cNvPr id="18" name="icon circle"/>
          <p:cNvSpPr/>
          <p:nvPr/>
        </p:nvSpPr>
        <p:spPr>
          <a:xfrm>
            <a:off x="2706624" y="2880360"/>
            <a:ext cx="548640" cy="548640"/>
          </a:xfrm>
          <a:prstGeom prst="ellipse">
            <a:avLst/>
          </a:prstGeom>
          <a:solidFill>
            <a:srgbClr val="34ADB3"/>
          </a:solidFill>
          <a:ln w="12700">
            <a:solidFill>
              <a:srgbClr val="34ADB3"/>
            </a:solidFill>
            <a:prstDash val="solid"/>
          </a:ln>
        </p:spPr>
      </p:sp>
      <p:pic>
        <p:nvPicPr>
          <p:cNvPr id="19" name="Image 5" descr="FaChild">    </p:cNvPr>
          <p:cNvPicPr>
            <a:picLocks noChangeAspect="1"/>
          </p:cNvPicPr>
          <p:nvPr/>
        </p:nvPicPr>
        <p:blipFill>
          <a:blip r:embed="rId6"/>
          <a:stretch>
            <a:fillRect/>
          </a:stretch>
        </p:blipFill>
        <p:spPr>
          <a:xfrm>
            <a:off x="2843784" y="3017520"/>
            <a:ext cx="274320" cy="274320"/>
          </a:xfrm>
          <a:prstGeom prst="rect">
            <a:avLst/>
          </a:prstGeom>
        </p:spPr>
      </p:pic>
      <p:sp>
        <p:nvSpPr>
          <p:cNvPr id="20" name="Text 11"/>
          <p:cNvSpPr txBox="1"/>
          <p:nvPr/>
        </p:nvSpPr>
        <p:spPr>
          <a:xfrm>
            <a:off x="731520" y="3483864"/>
            <a:ext cx="4846320" cy="292608"/>
          </a:xfrm>
          <a:prstGeom prst="rect">
            <a:avLst/>
          </a:prstGeom>
          <a:noFill/>
          <a:ln/>
        </p:spPr>
        <p:txBody>
          <a:bodyPr wrap="square" lIns="0" tIns="0" rIns="0" bIns="0" rtlCol="0" anchor="t"/>
          <a:lstStyle/>
          <a:p>
            <a:pPr indent="0" marL="0">
              <a:buNone/>
            </a:pPr>
            <a:r>
              <a:rPr lang="en-US" sz="1300" dirty="0">
                <a:solidFill>
                  <a:srgbClr val="5B6B71"/>
                </a:solidFill>
              </a:rPr>
              <a:t>4 children (age 0–20)</a:t>
            </a:r>
            <a:endParaRPr lang="en-US" sz="1300" dirty="0"/>
          </a:p>
        </p:txBody>
      </p:sp>
      <p:sp>
        <p:nvSpPr>
          <p:cNvPr id="21" name="Text 12"/>
          <p:cNvSpPr txBox="1"/>
          <p:nvPr/>
        </p:nvSpPr>
        <p:spPr>
          <a:xfrm>
            <a:off x="731520" y="4069080"/>
            <a:ext cx="4846320" cy="640080"/>
          </a:xfrm>
          <a:prstGeom prst="rect">
            <a:avLst/>
          </a:prstGeom>
          <a:noFill/>
          <a:ln/>
        </p:spPr>
        <p:txBody>
          <a:bodyPr wrap="square" lIns="0" tIns="0" rIns="0" bIns="0" rtlCol="0" anchor="t"/>
          <a:lstStyle/>
          <a:p>
            <a:pPr indent="0" marL="0">
              <a:buNone/>
            </a:pPr>
            <a:r>
              <a:rPr lang="en-US" sz="1300" dirty="0">
                <a:solidFill>
                  <a:srgbClr val="1E2A2F"/>
                </a:solidFill>
              </a:rPr>
              <a:t>Premium USD 7.22 a month on average, already below UMTHUNZI.</a:t>
            </a:r>
            <a:endParaRPr lang="en-US" sz="1300" dirty="0"/>
          </a:p>
        </p:txBody>
      </p:sp>
      <p:sp>
        <p:nvSpPr>
          <p:cNvPr id="22" name="card"/>
          <p:cNvSpPr/>
          <p:nvPr/>
        </p:nvSpPr>
        <p:spPr>
          <a:xfrm>
            <a:off x="6172200" y="1371600"/>
            <a:ext cx="5559552" cy="3566160"/>
          </a:xfrm>
          <a:prstGeom prst="roundRect">
            <a:avLst>
              <a:gd name="adj" fmla="val 2051"/>
            </a:avLst>
          </a:prstGeom>
          <a:solidFill>
            <a:srgbClr val="FFFFFF"/>
          </a:solidFill>
          <a:ln w="9525">
            <a:solidFill>
              <a:srgbClr val="DCE3E4"/>
            </a:solidFill>
            <a:prstDash val="solid"/>
          </a:ln>
        </p:spPr>
      </p:sp>
      <p:sp>
        <p:nvSpPr>
          <p:cNvPr id="23" name="Text 14"/>
          <p:cNvSpPr txBox="1"/>
          <p:nvPr/>
        </p:nvSpPr>
        <p:spPr>
          <a:xfrm>
            <a:off x="6400800" y="1481328"/>
            <a:ext cx="4572000" cy="256032"/>
          </a:xfrm>
          <a:prstGeom prst="rect">
            <a:avLst/>
          </a:prstGeom>
          <a:noFill/>
          <a:ln/>
        </p:spPr>
        <p:txBody>
          <a:bodyPr wrap="square" lIns="0" tIns="0" rIns="0" bIns="0" rtlCol="0" anchor="t"/>
          <a:lstStyle/>
          <a:p>
            <a:pPr indent="0" marL="0">
              <a:buNone/>
            </a:pPr>
            <a:r>
              <a:rPr lang="en-US" sz="1050" b="1" spc="100" kern="0" dirty="0">
                <a:solidFill>
                  <a:srgbClr val="0E5A5F"/>
                </a:solidFill>
              </a:rPr>
              <a:t>MANY FALAKHE FAMILIES</a:t>
            </a:r>
            <a:endParaRPr lang="en-US" sz="1050" dirty="0"/>
          </a:p>
        </p:txBody>
      </p:sp>
      <p:sp>
        <p:nvSpPr>
          <p:cNvPr id="24" name="icon circle"/>
          <p:cNvSpPr/>
          <p:nvPr/>
        </p:nvSpPr>
        <p:spPr>
          <a:xfrm>
            <a:off x="6446520" y="1874520"/>
            <a:ext cx="548640" cy="548640"/>
          </a:xfrm>
          <a:prstGeom prst="ellipse">
            <a:avLst/>
          </a:prstGeom>
          <a:solidFill>
            <a:srgbClr val="E07B39"/>
          </a:solidFill>
          <a:ln w="12700">
            <a:solidFill>
              <a:srgbClr val="E07B39"/>
            </a:solidFill>
            <a:prstDash val="solid"/>
          </a:ln>
        </p:spPr>
      </p:sp>
      <p:pic>
        <p:nvPicPr>
          <p:cNvPr id="25" name="Image 6" descr="FaUserFriends">    </p:cNvPr>
          <p:cNvPicPr>
            <a:picLocks noChangeAspect="1"/>
          </p:cNvPicPr>
          <p:nvPr/>
        </p:nvPicPr>
        <p:blipFill>
          <a:blip r:embed="rId7"/>
          <a:stretch>
            <a:fillRect/>
          </a:stretch>
        </p:blipFill>
        <p:spPr>
          <a:xfrm>
            <a:off x="6583680" y="2011680"/>
            <a:ext cx="274320" cy="274320"/>
          </a:xfrm>
          <a:prstGeom prst="rect">
            <a:avLst/>
          </a:prstGeom>
        </p:spPr>
      </p:pic>
      <p:sp>
        <p:nvSpPr>
          <p:cNvPr id="26" name="Text 16"/>
          <p:cNvSpPr txBox="1"/>
          <p:nvPr/>
        </p:nvSpPr>
        <p:spPr>
          <a:xfrm>
            <a:off x="7178040" y="1874520"/>
            <a:ext cx="4389120" cy="548640"/>
          </a:xfrm>
          <a:prstGeom prst="rect">
            <a:avLst/>
          </a:prstGeom>
          <a:noFill/>
          <a:ln/>
        </p:spPr>
        <p:txBody>
          <a:bodyPr wrap="square" lIns="0" tIns="0" rIns="0" bIns="0" rtlCol="0" anchor="ctr"/>
          <a:lstStyle/>
          <a:p>
            <a:pPr indent="0" marL="0">
              <a:buNone/>
            </a:pPr>
            <a:r>
              <a:rPr lang="en-US" sz="1400" dirty="0">
                <a:solidFill>
                  <a:srgbClr val="1E2A2F"/>
                </a:solidFill>
              </a:rPr>
              <a:t>Grandparents and older relatives over 64</a:t>
            </a:r>
            <a:endParaRPr lang="en-US" sz="1400" dirty="0"/>
          </a:p>
        </p:txBody>
      </p:sp>
      <p:sp>
        <p:nvSpPr>
          <p:cNvPr id="27" name="icon circle"/>
          <p:cNvSpPr/>
          <p:nvPr/>
        </p:nvSpPr>
        <p:spPr>
          <a:xfrm>
            <a:off x="6446520" y="2743200"/>
            <a:ext cx="548640" cy="548640"/>
          </a:xfrm>
          <a:prstGeom prst="ellipse">
            <a:avLst/>
          </a:prstGeom>
          <a:solidFill>
            <a:srgbClr val="E07B39"/>
          </a:solidFill>
          <a:ln w="12700">
            <a:solidFill>
              <a:srgbClr val="E07B39"/>
            </a:solidFill>
            <a:prstDash val="solid"/>
          </a:ln>
        </p:spPr>
      </p:sp>
      <p:pic>
        <p:nvPicPr>
          <p:cNvPr id="28" name="Image 7" descr="FaUserGraduate">    </p:cNvPr>
          <p:cNvPicPr>
            <a:picLocks noChangeAspect="1"/>
          </p:cNvPicPr>
          <p:nvPr/>
        </p:nvPicPr>
        <p:blipFill>
          <a:blip r:embed="rId8"/>
          <a:stretch>
            <a:fillRect/>
          </a:stretch>
        </p:blipFill>
        <p:spPr>
          <a:xfrm>
            <a:off x="6583680" y="2880360"/>
            <a:ext cx="274320" cy="274320"/>
          </a:xfrm>
          <a:prstGeom prst="rect">
            <a:avLst/>
          </a:prstGeom>
        </p:spPr>
      </p:pic>
      <p:sp>
        <p:nvSpPr>
          <p:cNvPr id="29" name="Text 18"/>
          <p:cNvSpPr txBox="1"/>
          <p:nvPr/>
        </p:nvSpPr>
        <p:spPr>
          <a:xfrm>
            <a:off x="7178040" y="2743200"/>
            <a:ext cx="4389120" cy="548640"/>
          </a:xfrm>
          <a:prstGeom prst="rect">
            <a:avLst/>
          </a:prstGeom>
          <a:noFill/>
          <a:ln/>
        </p:spPr>
        <p:txBody>
          <a:bodyPr wrap="square" lIns="0" tIns="0" rIns="0" bIns="0" rtlCol="0" anchor="ctr"/>
          <a:lstStyle/>
          <a:p>
            <a:pPr indent="0" marL="0">
              <a:buNone/>
            </a:pPr>
            <a:r>
              <a:rPr lang="en-US" sz="1400" dirty="0">
                <a:solidFill>
                  <a:srgbClr val="1E2A2F"/>
                </a:solidFill>
              </a:rPr>
              <a:t>Adult children over 20 still at home</a:t>
            </a:r>
            <a:endParaRPr lang="en-US" sz="1400" dirty="0"/>
          </a:p>
        </p:txBody>
      </p:sp>
      <p:sp>
        <p:nvSpPr>
          <p:cNvPr id="30" name="icon circle"/>
          <p:cNvSpPr/>
          <p:nvPr/>
        </p:nvSpPr>
        <p:spPr>
          <a:xfrm>
            <a:off x="6446520" y="3611880"/>
            <a:ext cx="548640" cy="548640"/>
          </a:xfrm>
          <a:prstGeom prst="ellipse">
            <a:avLst/>
          </a:prstGeom>
          <a:solidFill>
            <a:srgbClr val="E07B39"/>
          </a:solidFill>
          <a:ln w="12700">
            <a:solidFill>
              <a:srgbClr val="E07B39"/>
            </a:solidFill>
            <a:prstDash val="solid"/>
          </a:ln>
        </p:spPr>
      </p:sp>
      <p:pic>
        <p:nvPicPr>
          <p:cNvPr id="31" name="Image 8" descr="FaUsers">    </p:cNvPr>
          <p:cNvPicPr>
            <a:picLocks noChangeAspect="1"/>
          </p:cNvPicPr>
          <p:nvPr/>
        </p:nvPicPr>
        <p:blipFill>
          <a:blip r:embed="rId9"/>
          <a:stretch>
            <a:fillRect/>
          </a:stretch>
        </p:blipFill>
        <p:spPr>
          <a:xfrm>
            <a:off x="6583680" y="3749040"/>
            <a:ext cx="274320" cy="274320"/>
          </a:xfrm>
          <a:prstGeom prst="rect">
            <a:avLst/>
          </a:prstGeom>
        </p:spPr>
      </p:pic>
      <p:sp>
        <p:nvSpPr>
          <p:cNvPr id="32" name="Text 20"/>
          <p:cNvSpPr txBox="1"/>
          <p:nvPr/>
        </p:nvSpPr>
        <p:spPr>
          <a:xfrm>
            <a:off x="7178040" y="3611880"/>
            <a:ext cx="4389120" cy="548640"/>
          </a:xfrm>
          <a:prstGeom prst="rect">
            <a:avLst/>
          </a:prstGeom>
          <a:noFill/>
          <a:ln/>
        </p:spPr>
        <p:txBody>
          <a:bodyPr wrap="square" lIns="0" tIns="0" rIns="0" bIns="0" rtlCol="0" anchor="ctr"/>
          <a:lstStyle/>
          <a:p>
            <a:pPr indent="0" marL="0">
              <a:buNone/>
            </a:pPr>
            <a:r>
              <a:rPr lang="en-US" sz="1400" dirty="0">
                <a:solidFill>
                  <a:srgbClr val="1E2A2F"/>
                </a:solidFill>
              </a:rPr>
              <a:t>Extended family members cared for</a:t>
            </a:r>
            <a:endParaRPr lang="en-US" sz="1400" dirty="0"/>
          </a:p>
        </p:txBody>
      </p:sp>
      <p:sp>
        <p:nvSpPr>
          <p:cNvPr id="33" name="Text 21"/>
          <p:cNvSpPr txBox="1"/>
          <p:nvPr/>
        </p:nvSpPr>
        <p:spPr>
          <a:xfrm>
            <a:off x="6446520" y="4480560"/>
            <a:ext cx="5120640" cy="320040"/>
          </a:xfrm>
          <a:prstGeom prst="rect">
            <a:avLst/>
          </a:prstGeom>
          <a:noFill/>
          <a:ln/>
        </p:spPr>
        <p:txBody>
          <a:bodyPr wrap="square" lIns="0" tIns="0" rIns="0" bIns="0" rtlCol="0" anchor="t"/>
          <a:lstStyle/>
          <a:p>
            <a:pPr indent="0" marL="0">
              <a:buNone/>
            </a:pPr>
            <a:r>
              <a:rPr lang="en-US" sz="1300" i="1" dirty="0">
                <a:solidFill>
                  <a:srgbClr val="5B6B71"/>
                </a:solidFill>
              </a:rPr>
              <a:t>Not covered by the current design?</a:t>
            </a:r>
            <a:endParaRPr lang="en-US" sz="1300" dirty="0"/>
          </a:p>
        </p:txBody>
      </p:sp>
      <p:sp>
        <p:nvSpPr>
          <p:cNvPr id="34" name="card"/>
          <p:cNvSpPr/>
          <p:nvPr/>
        </p:nvSpPr>
        <p:spPr>
          <a:xfrm>
            <a:off x="457200" y="5120640"/>
            <a:ext cx="11277295" cy="1097280"/>
          </a:xfrm>
          <a:prstGeom prst="roundRect">
            <a:avLst>
              <a:gd name="adj" fmla="val 6667"/>
            </a:avLst>
          </a:prstGeom>
          <a:solidFill>
            <a:srgbClr val="E3EFEF"/>
          </a:solidFill>
          <a:ln w="9525">
            <a:solidFill>
              <a:srgbClr val="DCE3E4"/>
            </a:solidFill>
            <a:prstDash val="solid"/>
          </a:ln>
        </p:spPr>
      </p:sp>
      <p:sp>
        <p:nvSpPr>
          <p:cNvPr id="35" name="Text 23"/>
          <p:cNvSpPr txBox="1"/>
          <p:nvPr/>
        </p:nvSpPr>
        <p:spPr>
          <a:xfrm>
            <a:off x="685800" y="5230368"/>
            <a:ext cx="10820095" cy="868680"/>
          </a:xfrm>
          <a:prstGeom prst="rect">
            <a:avLst/>
          </a:prstGeom>
          <a:noFill/>
          <a:ln/>
        </p:spPr>
        <p:txBody>
          <a:bodyPr wrap="square" lIns="0" tIns="0" rIns="0" bIns="0" rtlCol="0" anchor="ctr"/>
          <a:lstStyle/>
          <a:p>
            <a:pPr indent="0" marL="0">
              <a:buNone/>
            </a:pPr>
            <a:r>
              <a:rPr lang="en-US" sz="1500" b="1" dirty="0">
                <a:solidFill>
                  <a:srgbClr val="1E2A2F"/>
                </a:solidFill>
              </a:rPr>
              <a:t>Test (61–90 days): </a:t>
            </a:r>
            <a:pPr indent="0" marL="0">
              <a:buNone/>
            </a:pPr>
            <a:r>
              <a:rPr lang="en-US" sz="1500" dirty="0">
                <a:solidFill>
                  <a:srgbClr val="1E2A2F"/>
                </a:solidFill>
              </a:rPr>
              <a:t>offer extra adults, extended-family options and upgrades, first to the 105 inactive UMNDENI customers. Measure paid conversion (today 21%).</a:t>
            </a:r>
            <a:endParaRPr lang="en-US" sz="15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POLICIES IN FORCE</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Policies in force reached 582, including clients moved onto the system</a:t>
            </a:r>
            <a:endParaRPr lang="en-US" sz="2600" dirty="0"/>
          </a:p>
        </p:txBody>
      </p:sp>
      <p:graphicFrame>
        <p:nvGraphicFramePr>
          <p:cNvPr id="5" name="Chart 0" descr=""/>
          <p:cNvGraphicFramePr/>
          <p:nvPr/>
        </p:nvGraphicFramePr>
        <p:xfrm>
          <a:off x="457200" y="1280160"/>
          <a:ext cx="78638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549640" y="1463040"/>
            <a:ext cx="3182112" cy="2286000"/>
          </a:xfrm>
          <a:prstGeom prst="roundRect">
            <a:avLst>
              <a:gd name="adj" fmla="val 3200"/>
            </a:avLst>
          </a:prstGeom>
          <a:solidFill>
            <a:srgbClr val="E3EFEF"/>
          </a:solidFill>
          <a:ln w="9525">
            <a:solidFill>
              <a:srgbClr val="DCE3E4"/>
            </a:solidFill>
            <a:prstDash val="solid"/>
          </a:ln>
        </p:spPr>
      </p:sp>
      <p:sp>
        <p:nvSpPr>
          <p:cNvPr id="7" name="Text 3"/>
          <p:cNvSpPr txBox="1"/>
          <p:nvPr/>
        </p:nvSpPr>
        <p:spPr>
          <a:xfrm>
            <a:off x="8732520" y="1600200"/>
            <a:ext cx="2834640" cy="2057400"/>
          </a:xfrm>
          <a:prstGeom prst="rect">
            <a:avLst/>
          </a:prstGeom>
          <a:noFill/>
          <a:ln/>
        </p:spPr>
        <p:txBody>
          <a:bodyPr wrap="square" lIns="0" tIns="0" rIns="0" bIns="0" rtlCol="0" anchor="t"/>
          <a:lstStyle/>
          <a:p>
            <a:pPr indent="0" marL="0">
              <a:buNone/>
            </a:pPr>
            <a:r>
              <a:rPr lang="en-US" sz="1400" b="1" dirty="0">
                <a:solidFill>
                  <a:srgbClr val="0E5A5F"/>
                </a:solidFill>
              </a:rPr>
              <a:t>Existing clients moved onto the system</a:t>
            </a:r>
            <a:endParaRPr lang="en-US" sz="1400" dirty="0"/>
          </a:p>
          <a:p>
            <a:pPr indent="0" marL="0">
              <a:buNone/>
            </a:pPr>
            <a:r>
              <a:rPr lang="en-US" sz="1400" dirty="0">
                <a:solidFill>
                  <a:srgbClr val="1E2A2F"/>
                </a:solidFill>
              </a:rPr>
              <a:t>Jul 124 · Aug 217 · Sep 135, recorded alongside new sales.</a:t>
            </a:r>
            <a:endParaRPr lang="en-US" sz="14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Policies in force rose from 14 (1 June) to 582 (4 October).</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The whole book is now on one system, so we can track it properly from here.</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Report new sales, existing clients and lapses separately each month.</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RETENTION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In September lapses overtook new paid policies, so the book shrank</a:t>
            </a:r>
            <a:endParaRPr lang="en-US" sz="2600" dirty="0"/>
          </a:p>
        </p:txBody>
      </p:sp>
      <p:graphicFrame>
        <p:nvGraphicFramePr>
          <p:cNvPr id="5" name="Chart 0" descr=""/>
          <p:cNvGraphicFramePr/>
          <p:nvPr/>
        </p:nvGraphicFramePr>
        <p:xfrm>
          <a:off x="457200" y="1280160"/>
          <a:ext cx="78638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549640" y="1463040"/>
            <a:ext cx="3182112" cy="2286000"/>
          </a:xfrm>
          <a:prstGeom prst="roundRect">
            <a:avLst>
              <a:gd name="adj" fmla="val 3200"/>
            </a:avLst>
          </a:prstGeom>
          <a:solidFill>
            <a:srgbClr val="FFFFFF"/>
          </a:solidFill>
          <a:ln w="9525">
            <a:solidFill>
              <a:srgbClr val="DCE3E4"/>
            </a:solidFill>
            <a:prstDash val="solid"/>
          </a:ln>
        </p:spPr>
      </p:sp>
      <p:sp>
        <p:nvSpPr>
          <p:cNvPr id="7" name="Text 3"/>
          <p:cNvSpPr txBox="1"/>
          <p:nvPr/>
        </p:nvSpPr>
        <p:spPr>
          <a:xfrm>
            <a:off x="8732520" y="1600200"/>
            <a:ext cx="2834640" cy="2057400"/>
          </a:xfrm>
          <a:prstGeom prst="rect">
            <a:avLst/>
          </a:prstGeom>
          <a:noFill/>
          <a:ln/>
        </p:spPr>
        <p:txBody>
          <a:bodyPr wrap="square" lIns="0" tIns="0" rIns="0" bIns="0" rtlCol="0" anchor="t"/>
          <a:lstStyle/>
          <a:p>
            <a:pPr indent="0" marL="0">
              <a:buNone/>
            </a:pPr>
            <a:r>
              <a:rPr lang="en-US" sz="1800" b="1" dirty="0">
                <a:solidFill>
                  <a:srgbClr val="0E5A5F"/>
                </a:solidFill>
                <a:latin typeface="Cambria" pitchFamily="34" charset="0"/>
                <a:ea typeface="Cambria" pitchFamily="34" charset="-122"/>
                <a:cs typeface="Cambria" pitchFamily="34" charset="-120"/>
              </a:rPr>
              <a:t>September</a:t>
            </a:r>
            <a:endParaRPr lang="en-US" sz="1800" dirty="0"/>
          </a:p>
          <a:p>
            <a:pPr indent="0" marL="0">
              <a:buNone/>
            </a:pPr>
            <a:r>
              <a:rPr lang="en-US" sz="1800" dirty="0">
                <a:solidFill>
                  <a:srgbClr val="1E2A2F"/>
                </a:solidFill>
                <a:latin typeface="Cambria" pitchFamily="34" charset="0"/>
                <a:ea typeface="Cambria" pitchFamily="34" charset="-122"/>
                <a:cs typeface="Cambria" pitchFamily="34" charset="-120"/>
              </a:rPr>
              <a:t>22 new paid</a:t>
            </a:r>
            <a:endParaRPr lang="en-US" sz="1800" dirty="0"/>
          </a:p>
          <a:p>
            <a:pPr indent="0" marL="0">
              <a:buNone/>
            </a:pPr>
            <a:r>
              <a:rPr lang="en-US" sz="1800" dirty="0">
                <a:solidFill>
                  <a:srgbClr val="1E2A2F"/>
                </a:solidFill>
                <a:latin typeface="Cambria" pitchFamily="34" charset="0"/>
                <a:ea typeface="Cambria" pitchFamily="34" charset="-122"/>
                <a:cs typeface="Cambria" pitchFamily="34" charset="-120"/>
              </a:rPr>
              <a:t>− 28 lapsed</a:t>
            </a:r>
            <a:endParaRPr lang="en-US" sz="1800" dirty="0"/>
          </a:p>
          <a:p>
            <a:pPr indent="0" marL="0">
              <a:buNone/>
            </a:pPr>
            <a:r>
              <a:rPr lang="en-US" sz="2200" b="1" dirty="0">
                <a:solidFill>
                  <a:srgbClr val="C0392B"/>
                </a:solidFill>
                <a:latin typeface="Cambria" pitchFamily="34" charset="0"/>
                <a:ea typeface="Cambria" pitchFamily="34" charset="-122"/>
                <a:cs typeface="Cambria" pitchFamily="34" charset="-120"/>
              </a:rPr>
              <a:t>= −6 net</a:t>
            </a:r>
            <a:endParaRPr lang="en-US" sz="18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Net growth fell from +31 in June to −6 in September.</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Retention now matters as much as selling.</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Daily grace call list and payment reminders from this month.</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RETENTION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Calling customers in grace works: recovery rose from 17% to 75%</a:t>
            </a:r>
            <a:endParaRPr lang="en-US" sz="2600" dirty="0"/>
          </a:p>
        </p:txBody>
      </p:sp>
      <p:graphicFrame>
        <p:nvGraphicFramePr>
          <p:cNvPr id="5" name="Chart 0" descr=""/>
          <p:cNvGraphicFramePr/>
          <p:nvPr/>
        </p:nvGraphicFramePr>
        <p:xfrm>
          <a:off x="457200" y="1280160"/>
          <a:ext cx="603504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720840" y="1280160"/>
          <a:ext cx="5010912" cy="265176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6812280" y="4041648"/>
            <a:ext cx="4846320" cy="320040"/>
          </a:xfrm>
          <a:prstGeom prst="rect">
            <a:avLst/>
          </a:prstGeom>
          <a:noFill/>
          <a:ln/>
        </p:spPr>
        <p:txBody>
          <a:bodyPr wrap="square" lIns="0" tIns="0" rIns="0" bIns="0" rtlCol="0" anchor="t"/>
          <a:lstStyle/>
          <a:p>
            <a:pPr indent="0" marL="0">
              <a:buNone/>
            </a:pPr>
            <a:r>
              <a:rPr lang="en-US" sz="1400" b="1" dirty="0">
                <a:solidFill>
                  <a:srgbClr val="1E2A2F"/>
                </a:solidFill>
              </a:rPr>
              <a:t>Lapse rate: </a:t>
            </a:r>
            <a:pPr indent="0" marL="0">
              <a:buNone/>
            </a:pPr>
            <a:r>
              <a:rPr lang="en-US" sz="1400" b="1" dirty="0">
                <a:solidFill>
                  <a:srgbClr val="C0392B"/>
                </a:solidFill>
              </a:rPr>
              <a:t>Aug 2.0% → Sep 6.6%</a:t>
            </a:r>
            <a:endParaRPr lang="en-US" sz="1400" dirty="0"/>
          </a:p>
        </p:txBody>
      </p:sp>
      <p:sp>
        <p:nvSpPr>
          <p:cNvPr id="8" name="Text 3"/>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Structured grace follow-up started in September. Lapses are counted from August arrears onwards.</a:t>
            </a:r>
            <a:endParaRPr lang="en-US" sz="10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Recovery rose from 17% to 75%; the lapse rate rose from 2.0% to 6.6%.</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Each recovered policy keeps premium we already earned.</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Daily grace call list, owned by a named person, with SMS reminders.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INACTIVE POLICIES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213 policies never made a first payment, worth USD 2,001 a month</a:t>
            </a:r>
            <a:endParaRPr lang="en-US" sz="2600" dirty="0"/>
          </a:p>
        </p:txBody>
      </p:sp>
      <p:graphicFrame>
        <p:nvGraphicFramePr>
          <p:cNvPr id="5" name="Chart 0" descr=""/>
          <p:cNvGraphicFramePr/>
          <p:nvPr/>
        </p:nvGraphicFramePr>
        <p:xfrm>
          <a:off x="457200" y="1280160"/>
          <a:ext cx="78638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549640" y="1463040"/>
            <a:ext cx="3182112" cy="2286000"/>
          </a:xfrm>
          <a:prstGeom prst="roundRect">
            <a:avLst>
              <a:gd name="adj" fmla="val 3200"/>
            </a:avLst>
          </a:prstGeom>
          <a:solidFill>
            <a:srgbClr val="E3EFEF"/>
          </a:solidFill>
          <a:ln w="9525">
            <a:solidFill>
              <a:srgbClr val="DCE3E4"/>
            </a:solidFill>
            <a:prstDash val="solid"/>
          </a:ln>
        </p:spPr>
      </p:sp>
      <p:sp>
        <p:nvSpPr>
          <p:cNvPr id="7" name="Text 3"/>
          <p:cNvSpPr txBox="1"/>
          <p:nvPr/>
        </p:nvSpPr>
        <p:spPr>
          <a:xfrm>
            <a:off x="8732520" y="1600200"/>
            <a:ext cx="2834640" cy="2057400"/>
          </a:xfrm>
          <a:prstGeom prst="rect">
            <a:avLst/>
          </a:prstGeom>
          <a:noFill/>
          <a:ln/>
        </p:spPr>
        <p:txBody>
          <a:bodyPr wrap="square" lIns="0" tIns="0" rIns="0" bIns="0" rtlCol="0" anchor="t"/>
          <a:lstStyle/>
          <a:p>
            <a:pPr indent="0" marL="0">
              <a:buNone/>
            </a:pPr>
            <a:r>
              <a:rPr lang="en-US" sz="1400" b="1" dirty="0">
                <a:solidFill>
                  <a:srgbClr val="0E5A5F"/>
                </a:solidFill>
              </a:rPr>
              <a:t>Today</a:t>
            </a:r>
            <a:endParaRPr lang="en-US" sz="1400" dirty="0"/>
          </a:p>
          <a:p>
            <a:pPr indent="0" marL="0">
              <a:buNone/>
            </a:pPr>
            <a:r>
              <a:rPr lang="en-US" sz="1400" b="1" dirty="0">
                <a:solidFill>
                  <a:srgbClr val="1E2A2F"/>
                </a:solidFill>
              </a:rPr>
              <a:t>213 inactive in total today</a:t>
            </a:r>
            <a:endParaRPr lang="en-US" sz="1400" dirty="0"/>
          </a:p>
          <a:p>
            <a:pPr indent="0" marL="0">
              <a:buNone/>
            </a:pPr>
            <a:r>
              <a:rPr lang="en-US" sz="1400" dirty="0">
                <a:solidFill>
                  <a:srgbClr val="1E2A2F"/>
                </a:solidFill>
              </a:rPr>
              <a:t>USD 2,001 a month of premium never collected</a:t>
            </a:r>
            <a:endParaRPr lang="en-US" sz="1400" dirty="0"/>
          </a:p>
          <a:p>
            <a:pPr indent="0" marL="0">
              <a:buNone/>
            </a:pPr>
            <a:r>
              <a:rPr lang="en-US" sz="600" dirty="0">
                <a:solidFill>
                  <a:srgbClr val="1E2A2F"/>
                </a:solidFill>
              </a:rPr>
              <a:t> </a:t>
            </a:r>
            <a:endParaRPr lang="en-US" sz="1400" dirty="0"/>
          </a:p>
          <a:p>
            <a:pPr indent="0" marL="0">
              <a:buNone/>
            </a:pPr>
            <a:r>
              <a:rPr lang="en-US" sz="1200" dirty="0">
                <a:solidFill>
                  <a:srgbClr val="5B6B71"/>
                </a:solidFill>
              </a:rPr>
              <a:t>Inactive = captured, never activated by a first payment. Not lapsed.</a:t>
            </a:r>
            <a:endParaRPr lang="en-US" sz="14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Inactive new business grew from 51 to 194; 213 in total today.</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These people have already said yes once; they are our cheapest leads.</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Call all 213 within 30 days; record the reason for any refusal.</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LIVES COVERED</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now cover 3,782 lives, 453 of them from new sales</a:t>
            </a:r>
            <a:endParaRPr lang="en-US" sz="2600" dirty="0"/>
          </a:p>
        </p:txBody>
      </p:sp>
      <p:graphicFrame>
        <p:nvGraphicFramePr>
          <p:cNvPr id="5" name="Chart 0" descr=""/>
          <p:cNvGraphicFramePr/>
          <p:nvPr/>
        </p:nvGraphicFramePr>
        <p:xfrm>
          <a:off x="457200" y="1280160"/>
          <a:ext cx="73152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8001000" y="1280160"/>
          <a:ext cx="3730752" cy="3520440"/>
        </p:xfrm>
        <a:graphic xmlns:a="http://schemas.openxmlformats.org/drawingml/2006/main">
          <a:graphicData uri="http://schemas.openxmlformats.org/drawingml/2006/chart">
            <c:chart xmlns:c="http://schemas.openxmlformats.org/drawingml/2006/chart" r:id="rId2"/>
          </a:graphicData>
        </a:graphic>
      </p:graphicFrame>
      <p:sp>
        <p:nvSpPr>
          <p:cNvPr id="7"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8"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Lives covered rose from 34 to 3,782: 3,185 with existing clients, 453 from new sales.</a:t>
            </a:r>
            <a:endParaRPr lang="en-US" sz="1050" dirty="0"/>
          </a:p>
        </p:txBody>
      </p:sp>
      <p:sp>
        <p:nvSpPr>
          <p:cNvPr id="9"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Every life covered is a funeral we have promised to deliver.</a:t>
            </a:r>
            <a:endParaRPr lang="en-US" sz="1050" dirty="0"/>
          </a:p>
        </p:txBody>
      </p:sp>
      <p:sp>
        <p:nvSpPr>
          <p:cNvPr id="11"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2"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Track lives from new sales separately each month.</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COLLECTIONS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are collecting about half of the dollar premium due</a:t>
            </a:r>
            <a:endParaRPr lang="en-US" sz="2600" dirty="0"/>
          </a:p>
        </p:txBody>
      </p:sp>
      <p:graphicFrame>
        <p:nvGraphicFramePr>
          <p:cNvPr id="5" name="Chart 0" descr=""/>
          <p:cNvGraphicFramePr/>
          <p:nvPr/>
        </p:nvGraphicFramePr>
        <p:xfrm>
          <a:off x="457200" y="1280160"/>
          <a:ext cx="64008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7040880" y="1280160"/>
          <a:ext cx="4690872" cy="2514600"/>
        </p:xfrm>
        <a:graphic xmlns:a="http://schemas.openxmlformats.org/drawingml/2006/main">
          <a:graphicData uri="http://schemas.openxmlformats.org/drawingml/2006/chart">
            <c:chart xmlns:c="http://schemas.openxmlformats.org/drawingml/2006/chart" r:id="rId2"/>
          </a:graphicData>
        </a:graphic>
      </p:graphicFrame>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040880" y="3858768"/>
          <a:ext cx="4690872" cy="914400"/>
        </p:xfrm>
        <a:graphic>
          <a:graphicData uri="http://schemas.openxmlformats.org/drawingml/2006/table">
            <a:tbl>
              <a:tblPr/>
              <a:tblGrid>
                <a:gridCol w="1051560"/>
                <a:gridCol w="909828"/>
                <a:gridCol w="909828"/>
                <a:gridCol w="909828"/>
                <a:gridCol w="909828"/>
              </a:tblGrid>
              <a:tr h="329184">
                <a:tc>
                  <a:txBody>
                    <a:bodyPr/>
                    <a:lstStyle/>
                    <a:p>
                      <a:pPr algn="l" indent="0" marL="0">
                        <a:buNone/>
                      </a:pP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−21 pts</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8" name="Text 2"/>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ZAR collections run above 100% because of arrears and advance payments. USD figures shown.</a:t>
            </a:r>
            <a:endParaRPr lang="en-US" sz="10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USD collection fell from 98–100% to 49% (USD 2,284 of 4,675).</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At 70% we would collect about USD 980 more each month.</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SMS reminders, EcoCash and debit orders; daily follow-up of arrears.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MONEY IN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Money in peaked at USD 16,760 in August and fell 10% in September</a:t>
            </a:r>
            <a:endParaRPr lang="en-US" sz="2600" dirty="0"/>
          </a:p>
        </p:txBody>
      </p:sp>
      <p:graphicFrame>
        <p:nvGraphicFramePr>
          <p:cNvPr id="5" name="Chart 0" descr=""/>
          <p:cNvGraphicFramePr/>
          <p:nvPr/>
        </p:nvGraphicFramePr>
        <p:xfrm>
          <a:off x="457200" y="1280160"/>
          <a:ext cx="78638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549640" y="1463040"/>
            <a:ext cx="3182112" cy="2286000"/>
          </a:xfrm>
          <a:prstGeom prst="roundRect">
            <a:avLst>
              <a:gd name="adj" fmla="val 3200"/>
            </a:avLst>
          </a:prstGeom>
          <a:solidFill>
            <a:srgbClr val="FFFFFF"/>
          </a:solidFill>
          <a:ln w="9525">
            <a:solidFill>
              <a:srgbClr val="DCE3E4"/>
            </a:solidFill>
            <a:prstDash val="solid"/>
          </a:ln>
        </p:spPr>
      </p:sp>
      <p:sp>
        <p:nvSpPr>
          <p:cNvPr id="7" name="Text 3"/>
          <p:cNvSpPr txBox="1"/>
          <p:nvPr/>
        </p:nvSpPr>
        <p:spPr>
          <a:xfrm>
            <a:off x="8732520" y="1600200"/>
            <a:ext cx="2834640" cy="2057400"/>
          </a:xfrm>
          <a:prstGeom prst="rect">
            <a:avLst/>
          </a:prstGeom>
          <a:noFill/>
          <a:ln/>
        </p:spPr>
        <p:txBody>
          <a:bodyPr wrap="square" lIns="0" tIns="0" rIns="0" bIns="0" rtlCol="0" anchor="t"/>
          <a:lstStyle/>
          <a:p>
            <a:pPr indent="0" marL="0">
              <a:buNone/>
            </a:pPr>
            <a:r>
              <a:rPr lang="en-US" sz="1400" b="1" dirty="0">
                <a:solidFill>
                  <a:srgbClr val="0E5A5F"/>
                </a:solidFill>
              </a:rPr>
              <a:t>Jun–Sep total</a:t>
            </a:r>
            <a:endParaRPr lang="en-US" sz="1400" dirty="0"/>
          </a:p>
          <a:p>
            <a:pPr indent="0" marL="0">
              <a:buNone/>
            </a:pPr>
            <a:r>
              <a:rPr lang="en-US" sz="2200" b="1" dirty="0">
                <a:solidFill>
                  <a:srgbClr val="1E2A2F"/>
                </a:solidFill>
                <a:latin typeface="Cambria" pitchFamily="34" charset="0"/>
                <a:ea typeface="Cambria" pitchFamily="34" charset="-122"/>
                <a:cs typeface="Cambria" pitchFamily="34" charset="-120"/>
              </a:rPr>
              <a:t>USD 56,221</a:t>
            </a:r>
            <a:endParaRPr lang="en-US" sz="1400" dirty="0"/>
          </a:p>
          <a:p>
            <a:pPr indent="0" marL="0">
              <a:buNone/>
            </a:pPr>
            <a:r>
              <a:rPr lang="en-US" sz="1200" dirty="0">
                <a:solidFill>
                  <a:srgbClr val="5B6B71"/>
                </a:solidFill>
              </a:rPr>
              <a:t>Money records start in June.</a:t>
            </a:r>
            <a:endParaRPr lang="en-US" sz="14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Money in rose to USD 16,760 (Aug), then fell to USD 15,078 (Sep).</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Most money in is lumpy (societies, cash funerals), not monthly premium.</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Grow predictable premium income: collections and paid new business.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MONEY IN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Societies and cash funerals bring in 83% of our money</a:t>
            </a:r>
            <a:endParaRPr lang="en-US" sz="2600" dirty="0"/>
          </a:p>
        </p:txBody>
      </p:sp>
      <p:graphicFrame>
        <p:nvGraphicFramePr>
          <p:cNvPr id="5" name="Chart 0" descr=""/>
          <p:cNvGraphicFramePr/>
          <p:nvPr/>
        </p:nvGraphicFramePr>
        <p:xfrm>
          <a:off x="457200" y="1280160"/>
          <a:ext cx="69494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7635240" y="1280160"/>
          <a:ext cx="4096512" cy="3520440"/>
        </p:xfrm>
        <a:graphic xmlns:a="http://schemas.openxmlformats.org/drawingml/2006/main">
          <a:graphicData uri="http://schemas.openxmlformats.org/drawingml/2006/chart">
            <c:chart xmlns:c="http://schemas.openxmlformats.org/drawingml/2006/chart" r:id="rId2"/>
          </a:graphicData>
        </a:graphic>
      </p:graphicFrame>
      <p:sp>
        <p:nvSpPr>
          <p:cNvPr id="7"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8"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Jun–Sep: societies 47%, cash funerals 36%, individual 13%, member premiums 5%.</a:t>
            </a:r>
            <a:endParaRPr lang="en-US" sz="1050" dirty="0"/>
          </a:p>
        </p:txBody>
      </p:sp>
      <p:sp>
        <p:nvSpPr>
          <p:cNvPr id="9"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Our biggest streams are lumpy and their profit is not yet measured.</a:t>
            </a:r>
            <a:endParaRPr lang="en-US" sz="1050" dirty="0"/>
          </a:p>
        </p:txBody>
      </p:sp>
      <p:sp>
        <p:nvSpPr>
          <p:cNvPr id="11"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2"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Cost every funeral; run society ledgers; grow premium income.</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FUNERALS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conducted 22 funerals in September; most are not yet costed</a:t>
            </a:r>
            <a:endParaRPr lang="en-US" sz="2600" dirty="0"/>
          </a:p>
        </p:txBody>
      </p:sp>
      <p:graphicFrame>
        <p:nvGraphicFramePr>
          <p:cNvPr id="5" name="Chart 0" descr=""/>
          <p:cNvGraphicFramePr/>
          <p:nvPr/>
        </p:nvGraphicFramePr>
        <p:xfrm>
          <a:off x="457200" y="1280160"/>
          <a:ext cx="676656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452360" y="1325880"/>
            <a:ext cx="4279392" cy="1691640"/>
          </a:xfrm>
          <a:prstGeom prst="roundRect">
            <a:avLst>
              <a:gd name="adj" fmla="val 4324"/>
            </a:avLst>
          </a:prstGeom>
          <a:solidFill>
            <a:srgbClr val="FFFFFF"/>
          </a:solidFill>
          <a:ln w="9525">
            <a:solidFill>
              <a:srgbClr val="DCE3E4"/>
            </a:solidFill>
            <a:prstDash val="solid"/>
          </a:ln>
        </p:spPr>
      </p:sp>
      <p:sp>
        <p:nvSpPr>
          <p:cNvPr id="7" name="Text 3"/>
          <p:cNvSpPr txBox="1"/>
          <p:nvPr/>
        </p:nvSpPr>
        <p:spPr>
          <a:xfrm>
            <a:off x="7635240" y="1444752"/>
            <a:ext cx="3931920" cy="1508760"/>
          </a:xfrm>
          <a:prstGeom prst="rect">
            <a:avLst/>
          </a:prstGeom>
          <a:noFill/>
          <a:ln/>
        </p:spPr>
        <p:txBody>
          <a:bodyPr wrap="square" lIns="0" tIns="0" rIns="0" bIns="0" rtlCol="0" anchor="t"/>
          <a:lstStyle/>
          <a:p>
            <a:pPr indent="0" marL="0">
              <a:buNone/>
            </a:pPr>
            <a:r>
              <a:rPr lang="en-US" sz="1300" b="1" dirty="0">
                <a:solidFill>
                  <a:srgbClr val="0E5A5F"/>
                </a:solidFill>
              </a:rPr>
              <a:t>Costing</a:t>
            </a:r>
            <a:endParaRPr lang="en-US" sz="1300" dirty="0"/>
          </a:p>
          <a:p>
            <a:pPr indent="0" marL="0">
              <a:buNone/>
            </a:pPr>
            <a:r>
              <a:rPr lang="en-US" sz="1300" dirty="0">
                <a:solidFill>
                  <a:srgbClr val="1E2A2F"/>
                </a:solidFill>
              </a:rPr>
              <a:t>Costed: 20 of 44 cash, 45 of 81 policy funerals.</a:t>
            </a:r>
            <a:endParaRPr lang="en-US" sz="1300" dirty="0"/>
          </a:p>
          <a:p>
            <a:pPr indent="0" marL="0">
              <a:buNone/>
            </a:pPr>
            <a:r>
              <a:rPr lang="en-US" sz="1300" b="1" dirty="0">
                <a:solidFill>
                  <a:srgbClr val="1E2A2F"/>
                </a:solidFill>
              </a:rPr>
              <a:t>20 costed cash funerals left USD 5,336 (USD 267 each).</a:t>
            </a:r>
            <a:endParaRPr lang="en-US" sz="1300" dirty="0"/>
          </a:p>
        </p:txBody>
      </p:sp>
      <p:sp>
        <p:nvSpPr>
          <p:cNvPr id="8" name="card"/>
          <p:cNvSpPr/>
          <p:nvPr/>
        </p:nvSpPr>
        <p:spPr>
          <a:xfrm>
            <a:off x="7452360" y="3154680"/>
            <a:ext cx="4279392" cy="1645920"/>
          </a:xfrm>
          <a:prstGeom prst="roundRect">
            <a:avLst>
              <a:gd name="adj" fmla="val 4444"/>
            </a:avLst>
          </a:prstGeom>
          <a:solidFill>
            <a:srgbClr val="E3EFEF"/>
          </a:solidFill>
          <a:ln w="9525">
            <a:solidFill>
              <a:srgbClr val="DCE3E4"/>
            </a:solidFill>
            <a:prstDash val="solid"/>
          </a:ln>
        </p:spPr>
      </p:sp>
      <p:sp>
        <p:nvSpPr>
          <p:cNvPr id="9" name="Text 5"/>
          <p:cNvSpPr txBox="1"/>
          <p:nvPr/>
        </p:nvSpPr>
        <p:spPr>
          <a:xfrm>
            <a:off x="7635240" y="3273552"/>
            <a:ext cx="3931920" cy="1463040"/>
          </a:xfrm>
          <a:prstGeom prst="rect">
            <a:avLst/>
          </a:prstGeom>
          <a:noFill/>
          <a:ln/>
        </p:spPr>
        <p:txBody>
          <a:bodyPr wrap="square" lIns="0" tIns="0" rIns="0" bIns="0" rtlCol="0" anchor="t"/>
          <a:lstStyle/>
          <a:p>
            <a:pPr indent="0" marL="0">
              <a:buNone/>
            </a:pPr>
            <a:r>
              <a:rPr lang="en-US" sz="1300" b="1" dirty="0">
                <a:solidFill>
                  <a:srgbClr val="0E5A5F"/>
                </a:solidFill>
              </a:rPr>
              <a:t>Why costing matters</a:t>
            </a:r>
            <a:endParaRPr lang="en-US" sz="1300" dirty="0"/>
          </a:p>
          <a:p>
            <a:pPr indent="0" marL="0">
              <a:buNone/>
            </a:pPr>
            <a:r>
              <a:rPr lang="en-US" sz="1300" dirty="0">
                <a:solidFill>
                  <a:srgbClr val="1E2A2F"/>
                </a:solidFill>
              </a:rPr>
              <a:t>A cost on every funeral shows which funerals, products and societies make money.</a:t>
            </a:r>
            <a:endParaRPr lang="en-US" sz="1300" dirty="0"/>
          </a:p>
        </p:txBody>
      </p:sp>
      <p:sp>
        <p:nvSpPr>
          <p:cNvPr id="10"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Policy funerals rose to 29 (Aug); cash funerals fell to 4 (Sep).</a:t>
            </a:r>
            <a:endParaRPr lang="en-US" sz="1050" dirty="0"/>
          </a:p>
        </p:txBody>
      </p:sp>
      <p:sp>
        <p:nvSpPr>
          <p:cNvPr id="12"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3" name="Text 9"/>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Costed cash funerals made about USD 267 each, but most are not costed.</a:t>
            </a:r>
            <a:endParaRPr lang="en-US" sz="1050" dirty="0"/>
          </a:p>
        </p:txBody>
      </p:sp>
      <p:sp>
        <p:nvSpPr>
          <p:cNvPr id="14"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5" name="Text 11"/>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Record cost, vehicle and burial date on every funeral from October.</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QUOTATIONS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51 of 103 funeral quotations did not convert: USD 21,013 + ZAR 86,300</a:t>
            </a:r>
            <a:endParaRPr lang="en-US" sz="2600" dirty="0"/>
          </a:p>
        </p:txBody>
      </p:sp>
      <p:sp>
        <p:nvSpPr>
          <p:cNvPr id="5" name="funnel stage"/>
          <p:cNvSpPr/>
          <p:nvPr/>
        </p:nvSpPr>
        <p:spPr>
          <a:xfrm>
            <a:off x="457200" y="1417320"/>
            <a:ext cx="5120640" cy="914400"/>
          </a:xfrm>
          <a:prstGeom prst="roundRect">
            <a:avLst>
              <a:gd name="adj" fmla="val 10000"/>
            </a:avLst>
          </a:prstGeom>
          <a:solidFill>
            <a:srgbClr val="2E6DB4"/>
          </a:solidFill>
          <a:ln w="12700">
            <a:solidFill>
              <a:srgbClr val="2E6DB4"/>
            </a:solidFill>
            <a:prstDash val="solid"/>
          </a:ln>
        </p:spPr>
      </p:sp>
      <p:sp>
        <p:nvSpPr>
          <p:cNvPr id="6" name="Text 3"/>
          <p:cNvSpPr txBox="1"/>
          <p:nvPr/>
        </p:nvSpPr>
        <p:spPr>
          <a:xfrm>
            <a:off x="548640" y="1417320"/>
            <a:ext cx="493776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103  </a:t>
            </a:r>
            <a:pPr algn="ctr" indent="0" marL="0">
              <a:buNone/>
            </a:pPr>
            <a:r>
              <a:rPr lang="en-US" sz="1400" dirty="0">
                <a:solidFill>
                  <a:srgbClr val="FFFFFF"/>
                </a:solidFill>
              </a:rPr>
              <a:t>Quotations issued</a:t>
            </a:r>
            <a:endParaRPr lang="en-US" sz="1400" dirty="0"/>
          </a:p>
        </p:txBody>
      </p:sp>
      <p:sp>
        <p:nvSpPr>
          <p:cNvPr id="7" name="funnel stage"/>
          <p:cNvSpPr/>
          <p:nvPr/>
        </p:nvSpPr>
        <p:spPr>
          <a:xfrm>
            <a:off x="1097280" y="2514600"/>
            <a:ext cx="3840480" cy="914400"/>
          </a:xfrm>
          <a:prstGeom prst="roundRect">
            <a:avLst>
              <a:gd name="adj" fmla="val 10000"/>
            </a:avLst>
          </a:prstGeom>
          <a:solidFill>
            <a:srgbClr val="34ADB3"/>
          </a:solidFill>
          <a:ln w="12700">
            <a:solidFill>
              <a:srgbClr val="34ADB3"/>
            </a:solidFill>
            <a:prstDash val="solid"/>
          </a:ln>
        </p:spPr>
      </p:sp>
      <p:sp>
        <p:nvSpPr>
          <p:cNvPr id="8" name="Text 5"/>
          <p:cNvSpPr txBox="1"/>
          <p:nvPr/>
        </p:nvSpPr>
        <p:spPr>
          <a:xfrm>
            <a:off x="1188720" y="2514600"/>
            <a:ext cx="36576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52  </a:t>
            </a:r>
            <a:pPr algn="ctr" indent="0" marL="0">
              <a:buNone/>
            </a:pPr>
            <a:r>
              <a:rPr lang="en-US" sz="1400" dirty="0">
                <a:solidFill>
                  <a:srgbClr val="FFFFFF"/>
                </a:solidFill>
              </a:rPr>
              <a:t>Converted</a:t>
            </a:r>
            <a:endParaRPr lang="en-US" sz="1400" dirty="0"/>
          </a:p>
        </p:txBody>
      </p:sp>
      <p:sp>
        <p:nvSpPr>
          <p:cNvPr id="9" name="funnel stage"/>
          <p:cNvSpPr/>
          <p:nvPr/>
        </p:nvSpPr>
        <p:spPr>
          <a:xfrm>
            <a:off x="457200" y="3611880"/>
            <a:ext cx="5120640" cy="914400"/>
          </a:xfrm>
          <a:prstGeom prst="roundRect">
            <a:avLst>
              <a:gd name="adj" fmla="val 10000"/>
            </a:avLst>
          </a:prstGeom>
          <a:solidFill>
            <a:srgbClr val="E07B39"/>
          </a:solidFill>
          <a:ln w="12700">
            <a:solidFill>
              <a:srgbClr val="E07B39"/>
            </a:solidFill>
            <a:prstDash val="solid"/>
          </a:ln>
        </p:spPr>
      </p:sp>
      <p:sp>
        <p:nvSpPr>
          <p:cNvPr id="10" name="Text 7"/>
          <p:cNvSpPr txBox="1"/>
          <p:nvPr/>
        </p:nvSpPr>
        <p:spPr>
          <a:xfrm>
            <a:off x="548640" y="3611880"/>
            <a:ext cx="493776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51  </a:t>
            </a:r>
            <a:pPr algn="ctr" indent="0" marL="0">
              <a:buNone/>
            </a:pPr>
            <a:r>
              <a:rPr lang="en-US" sz="1400" dirty="0">
                <a:solidFill>
                  <a:srgbClr val="FFFFFF"/>
                </a:solidFill>
              </a:rPr>
              <a:t>Not converted: USD 21,013 + ZAR 86,300</a:t>
            </a:r>
            <a:endParaRPr lang="en-US" sz="1400" dirty="0"/>
          </a:p>
        </p:txBody>
      </p:sp>
      <p:sp>
        <p:nvSpPr>
          <p:cNvPr id="11" name="placeholder frame"/>
          <p:cNvSpPr/>
          <p:nvPr/>
        </p:nvSpPr>
        <p:spPr>
          <a:xfrm>
            <a:off x="5989320" y="1417320"/>
            <a:ext cx="5742432" cy="3291840"/>
          </a:xfrm>
          <a:prstGeom prst="roundRect">
            <a:avLst>
              <a:gd name="adj" fmla="val 2222"/>
            </a:avLst>
          </a:prstGeom>
          <a:solidFill>
            <a:srgbClr val="FFFFFF"/>
          </a:solidFill>
          <a:ln w="15875">
            <a:solidFill>
              <a:srgbClr val="8A979C"/>
            </a:solidFill>
            <a:prstDash val="dash"/>
          </a:ln>
        </p:spPr>
      </p:sp>
      <p:sp>
        <p:nvSpPr>
          <p:cNvPr id="12" name="Text 9"/>
          <p:cNvSpPr txBox="1"/>
          <p:nvPr/>
        </p:nvSpPr>
        <p:spPr>
          <a:xfrm>
            <a:off x="6217920" y="1554480"/>
            <a:ext cx="5303520" cy="594360"/>
          </a:xfrm>
          <a:prstGeom prst="rect">
            <a:avLst/>
          </a:prstGeom>
          <a:noFill/>
          <a:ln/>
        </p:spPr>
        <p:txBody>
          <a:bodyPr wrap="square" lIns="0" tIns="0" rIns="0" bIns="0" rtlCol="0" anchor="t"/>
          <a:lstStyle/>
          <a:p>
            <a:pPr indent="0" marL="0">
              <a:buNone/>
            </a:pPr>
            <a:r>
              <a:rPr lang="en-US" sz="1500" b="1" dirty="0">
                <a:solidFill>
                  <a:srgbClr val="1E2A2F"/>
                </a:solidFill>
              </a:rPr>
              <a:t>Future report: data from October 2026</a:t>
            </a:r>
            <a:endParaRPr lang="en-US" sz="1500" dirty="0"/>
          </a:p>
          <a:p>
            <a:pPr indent="0" marL="0">
              <a:buNone/>
            </a:pPr>
            <a:r>
              <a:rPr lang="en-US" sz="1200" dirty="0">
                <a:solidFill>
                  <a:srgbClr val="5B6B71"/>
                </a:solidFill>
              </a:rPr>
              <a:t>Quotations not converted, by loss reason</a:t>
            </a:r>
            <a:endParaRPr lang="en-US" sz="1500" dirty="0"/>
          </a:p>
        </p:txBody>
      </p:sp>
      <p:sp>
        <p:nvSpPr>
          <p:cNvPr id="13" name="Text 10"/>
          <p:cNvSpPr txBox="1"/>
          <p:nvPr/>
        </p:nvSpPr>
        <p:spPr>
          <a:xfrm>
            <a:off x="6217920" y="2267712"/>
            <a:ext cx="1371600" cy="274320"/>
          </a:xfrm>
          <a:prstGeom prst="rect">
            <a:avLst/>
          </a:prstGeom>
          <a:noFill/>
          <a:ln/>
        </p:spPr>
        <p:txBody>
          <a:bodyPr wrap="square" lIns="0" tIns="0" rIns="0" bIns="0" rtlCol="0" anchor="ctr"/>
          <a:lstStyle/>
          <a:p>
            <a:pPr indent="0" marL="0">
              <a:buNone/>
            </a:pPr>
            <a:r>
              <a:rPr lang="en-US" sz="1200" dirty="0">
                <a:solidFill>
                  <a:srgbClr val="5B6B71"/>
                </a:solidFill>
              </a:rPr>
              <a:t>Price</a:t>
            </a:r>
            <a:endParaRPr lang="en-US" sz="1200" dirty="0"/>
          </a:p>
        </p:txBody>
      </p:sp>
      <p:sp>
        <p:nvSpPr>
          <p:cNvPr id="14" name="empty bar"/>
          <p:cNvSpPr/>
          <p:nvPr/>
        </p:nvSpPr>
        <p:spPr>
          <a:xfrm>
            <a:off x="7635240" y="2331720"/>
            <a:ext cx="3840480" cy="155448"/>
          </a:xfrm>
          <a:prstGeom prst="rect">
            <a:avLst/>
          </a:prstGeom>
          <a:solidFill>
            <a:srgbClr val="EEF1F2"/>
          </a:solidFill>
          <a:ln w="12700">
            <a:solidFill>
              <a:srgbClr val="EEF1F2"/>
            </a:solidFill>
            <a:prstDash val="solid"/>
          </a:ln>
        </p:spPr>
      </p:sp>
      <p:sp>
        <p:nvSpPr>
          <p:cNvPr id="15" name="Text 12"/>
          <p:cNvSpPr txBox="1"/>
          <p:nvPr/>
        </p:nvSpPr>
        <p:spPr>
          <a:xfrm>
            <a:off x="6217920" y="2606040"/>
            <a:ext cx="1371600" cy="274320"/>
          </a:xfrm>
          <a:prstGeom prst="rect">
            <a:avLst/>
          </a:prstGeom>
          <a:noFill/>
          <a:ln/>
        </p:spPr>
        <p:txBody>
          <a:bodyPr wrap="square" lIns="0" tIns="0" rIns="0" bIns="0" rtlCol="0" anchor="ctr"/>
          <a:lstStyle/>
          <a:p>
            <a:pPr indent="0" marL="0">
              <a:buNone/>
            </a:pPr>
            <a:r>
              <a:rPr lang="en-US" sz="1200" dirty="0">
                <a:solidFill>
                  <a:srgbClr val="5B6B71"/>
                </a:solidFill>
              </a:rPr>
              <a:t>Competitor</a:t>
            </a:r>
            <a:endParaRPr lang="en-US" sz="1200" dirty="0"/>
          </a:p>
        </p:txBody>
      </p:sp>
      <p:sp>
        <p:nvSpPr>
          <p:cNvPr id="16" name="empty bar"/>
          <p:cNvSpPr/>
          <p:nvPr/>
        </p:nvSpPr>
        <p:spPr>
          <a:xfrm>
            <a:off x="7635240" y="2670048"/>
            <a:ext cx="3840480" cy="155448"/>
          </a:xfrm>
          <a:prstGeom prst="rect">
            <a:avLst/>
          </a:prstGeom>
          <a:solidFill>
            <a:srgbClr val="EEF1F2"/>
          </a:solidFill>
          <a:ln w="12700">
            <a:solidFill>
              <a:srgbClr val="EEF1F2"/>
            </a:solidFill>
            <a:prstDash val="solid"/>
          </a:ln>
        </p:spPr>
      </p:sp>
      <p:sp>
        <p:nvSpPr>
          <p:cNvPr id="17" name="Text 14"/>
          <p:cNvSpPr txBox="1"/>
          <p:nvPr/>
        </p:nvSpPr>
        <p:spPr>
          <a:xfrm>
            <a:off x="6217920" y="2944368"/>
            <a:ext cx="1371600" cy="274320"/>
          </a:xfrm>
          <a:prstGeom prst="rect">
            <a:avLst/>
          </a:prstGeom>
          <a:noFill/>
          <a:ln/>
        </p:spPr>
        <p:txBody>
          <a:bodyPr wrap="square" lIns="0" tIns="0" rIns="0" bIns="0" rtlCol="0" anchor="ctr"/>
          <a:lstStyle/>
          <a:p>
            <a:pPr indent="0" marL="0">
              <a:buNone/>
            </a:pPr>
            <a:r>
              <a:rPr lang="en-US" sz="1200" dirty="0">
                <a:solidFill>
                  <a:srgbClr val="5B6B71"/>
                </a:solidFill>
              </a:rPr>
              <a:t>Affordability</a:t>
            </a:r>
            <a:endParaRPr lang="en-US" sz="1200" dirty="0"/>
          </a:p>
        </p:txBody>
      </p:sp>
      <p:sp>
        <p:nvSpPr>
          <p:cNvPr id="18" name="empty bar"/>
          <p:cNvSpPr/>
          <p:nvPr/>
        </p:nvSpPr>
        <p:spPr>
          <a:xfrm>
            <a:off x="7635240" y="3008376"/>
            <a:ext cx="3840480" cy="155448"/>
          </a:xfrm>
          <a:prstGeom prst="rect">
            <a:avLst/>
          </a:prstGeom>
          <a:solidFill>
            <a:srgbClr val="EEF1F2"/>
          </a:solidFill>
          <a:ln w="12700">
            <a:solidFill>
              <a:srgbClr val="EEF1F2"/>
            </a:solidFill>
            <a:prstDash val="solid"/>
          </a:ln>
        </p:spPr>
      </p:sp>
      <p:sp>
        <p:nvSpPr>
          <p:cNvPr id="19" name="Text 16"/>
          <p:cNvSpPr txBox="1"/>
          <p:nvPr/>
        </p:nvSpPr>
        <p:spPr>
          <a:xfrm>
            <a:off x="6217920" y="3282696"/>
            <a:ext cx="1371600" cy="274320"/>
          </a:xfrm>
          <a:prstGeom prst="rect">
            <a:avLst/>
          </a:prstGeom>
          <a:noFill/>
          <a:ln/>
        </p:spPr>
        <p:txBody>
          <a:bodyPr wrap="square" lIns="0" tIns="0" rIns="0" bIns="0" rtlCol="0" anchor="ctr"/>
          <a:lstStyle/>
          <a:p>
            <a:pPr indent="0" marL="0">
              <a:buNone/>
            </a:pPr>
            <a:r>
              <a:rPr lang="en-US" sz="1200" dirty="0">
                <a:solidFill>
                  <a:srgbClr val="5B6B71"/>
                </a:solidFill>
              </a:rPr>
              <a:t>Service</a:t>
            </a:r>
            <a:endParaRPr lang="en-US" sz="1200" dirty="0"/>
          </a:p>
        </p:txBody>
      </p:sp>
      <p:sp>
        <p:nvSpPr>
          <p:cNvPr id="20" name="empty bar"/>
          <p:cNvSpPr/>
          <p:nvPr/>
        </p:nvSpPr>
        <p:spPr>
          <a:xfrm>
            <a:off x="7635240" y="3346704"/>
            <a:ext cx="3840480" cy="155448"/>
          </a:xfrm>
          <a:prstGeom prst="rect">
            <a:avLst/>
          </a:prstGeom>
          <a:solidFill>
            <a:srgbClr val="EEF1F2"/>
          </a:solidFill>
          <a:ln w="12700">
            <a:solidFill>
              <a:srgbClr val="EEF1F2"/>
            </a:solidFill>
            <a:prstDash val="solid"/>
          </a:ln>
        </p:spPr>
      </p:sp>
      <p:sp>
        <p:nvSpPr>
          <p:cNvPr id="21" name="Text 18"/>
          <p:cNvSpPr txBox="1"/>
          <p:nvPr/>
        </p:nvSpPr>
        <p:spPr>
          <a:xfrm>
            <a:off x="6217920" y="3621024"/>
            <a:ext cx="1371600" cy="274320"/>
          </a:xfrm>
          <a:prstGeom prst="rect">
            <a:avLst/>
          </a:prstGeom>
          <a:noFill/>
          <a:ln/>
        </p:spPr>
        <p:txBody>
          <a:bodyPr wrap="square" lIns="0" tIns="0" rIns="0" bIns="0" rtlCol="0" anchor="ctr"/>
          <a:lstStyle/>
          <a:p>
            <a:pPr indent="0" marL="0">
              <a:buNone/>
            </a:pPr>
            <a:r>
              <a:rPr lang="en-US" sz="1200" dirty="0">
                <a:solidFill>
                  <a:srgbClr val="5B6B71"/>
                </a:solidFill>
              </a:rPr>
              <a:t>Availability</a:t>
            </a:r>
            <a:endParaRPr lang="en-US" sz="1200" dirty="0"/>
          </a:p>
        </p:txBody>
      </p:sp>
      <p:sp>
        <p:nvSpPr>
          <p:cNvPr id="22" name="empty bar"/>
          <p:cNvSpPr/>
          <p:nvPr/>
        </p:nvSpPr>
        <p:spPr>
          <a:xfrm>
            <a:off x="7635240" y="3685032"/>
            <a:ext cx="3840480" cy="155448"/>
          </a:xfrm>
          <a:prstGeom prst="rect">
            <a:avLst/>
          </a:prstGeom>
          <a:solidFill>
            <a:srgbClr val="EEF1F2"/>
          </a:solidFill>
          <a:ln w="12700">
            <a:solidFill>
              <a:srgbClr val="EEF1F2"/>
            </a:solidFill>
            <a:prstDash val="solid"/>
          </a:ln>
        </p:spPr>
      </p:sp>
      <p:sp>
        <p:nvSpPr>
          <p:cNvPr id="23" name="Text 20"/>
          <p:cNvSpPr txBox="1"/>
          <p:nvPr/>
        </p:nvSpPr>
        <p:spPr>
          <a:xfrm>
            <a:off x="6217920" y="3959352"/>
            <a:ext cx="1371600" cy="274320"/>
          </a:xfrm>
          <a:prstGeom prst="rect">
            <a:avLst/>
          </a:prstGeom>
          <a:noFill/>
          <a:ln/>
        </p:spPr>
        <p:txBody>
          <a:bodyPr wrap="square" lIns="0" tIns="0" rIns="0" bIns="0" rtlCol="0" anchor="ctr"/>
          <a:lstStyle/>
          <a:p>
            <a:pPr indent="0" marL="0">
              <a:buNone/>
            </a:pPr>
            <a:r>
              <a:rPr lang="en-US" sz="1200" dirty="0">
                <a:solidFill>
                  <a:srgbClr val="5B6B71"/>
                </a:solidFill>
              </a:rPr>
              <a:t>Delayed</a:t>
            </a:r>
            <a:endParaRPr lang="en-US" sz="1200" dirty="0"/>
          </a:p>
        </p:txBody>
      </p:sp>
      <p:sp>
        <p:nvSpPr>
          <p:cNvPr id="24" name="empty bar"/>
          <p:cNvSpPr/>
          <p:nvPr/>
        </p:nvSpPr>
        <p:spPr>
          <a:xfrm>
            <a:off x="7635240" y="4023360"/>
            <a:ext cx="3840480" cy="155448"/>
          </a:xfrm>
          <a:prstGeom prst="rect">
            <a:avLst/>
          </a:prstGeom>
          <a:solidFill>
            <a:srgbClr val="EEF1F2"/>
          </a:solidFill>
          <a:ln w="12700">
            <a:solidFill>
              <a:srgbClr val="EEF1F2"/>
            </a:solidFill>
            <a:prstDash val="solid"/>
          </a:ln>
        </p:spPr>
      </p:sp>
      <p:sp>
        <p:nvSpPr>
          <p:cNvPr id="25" name="Text 22"/>
          <p:cNvSpPr txBox="1"/>
          <p:nvPr/>
        </p:nvSpPr>
        <p:spPr>
          <a:xfrm>
            <a:off x="6217920" y="4297680"/>
            <a:ext cx="1371600" cy="274320"/>
          </a:xfrm>
          <a:prstGeom prst="rect">
            <a:avLst/>
          </a:prstGeom>
          <a:noFill/>
          <a:ln/>
        </p:spPr>
        <p:txBody>
          <a:bodyPr wrap="square" lIns="0" tIns="0" rIns="0" bIns="0" rtlCol="0" anchor="ctr"/>
          <a:lstStyle/>
          <a:p>
            <a:pPr indent="0" marL="0">
              <a:buNone/>
            </a:pPr>
            <a:r>
              <a:rPr lang="en-US" sz="1200" dirty="0">
                <a:solidFill>
                  <a:srgbClr val="5B6B71"/>
                </a:solidFill>
              </a:rPr>
              <a:t>Other</a:t>
            </a:r>
            <a:endParaRPr lang="en-US" sz="1200" dirty="0"/>
          </a:p>
        </p:txBody>
      </p:sp>
      <p:sp>
        <p:nvSpPr>
          <p:cNvPr id="26" name="empty bar"/>
          <p:cNvSpPr/>
          <p:nvPr/>
        </p:nvSpPr>
        <p:spPr>
          <a:xfrm>
            <a:off x="7635240" y="4361688"/>
            <a:ext cx="3840480" cy="155448"/>
          </a:xfrm>
          <a:prstGeom prst="rect">
            <a:avLst/>
          </a:prstGeom>
          <a:solidFill>
            <a:srgbClr val="EEF1F2"/>
          </a:solidFill>
          <a:ln w="12700">
            <a:solidFill>
              <a:srgbClr val="EEF1F2"/>
            </a:solidFill>
            <a:prstDash val="solid"/>
          </a:ln>
        </p:spPr>
      </p:sp>
      <p:sp>
        <p:nvSpPr>
          <p:cNvPr id="27"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28" name="Text 2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103 quotations: 52 converted, 51 lost (USD 21,013 + ZAR 86,300).</a:t>
            </a:r>
            <a:endParaRPr lang="en-US" sz="1050" dirty="0"/>
          </a:p>
        </p:txBody>
      </p:sp>
      <p:sp>
        <p:nvSpPr>
          <p:cNvPr id="29"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30" name="Text 2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Without a reason for each loss, we cannot fix the cause.</a:t>
            </a:r>
            <a:endParaRPr lang="en-US" sz="1050" dirty="0"/>
          </a:p>
        </p:txBody>
      </p:sp>
      <p:sp>
        <p:nvSpPr>
          <p:cNvPr id="31"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32" name="Text 2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Month-end follow-up of every open quotation, with a loss reason.</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FUNERAL LEADS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Every funeral we conduct is a room full of potential customers</a:t>
            </a:r>
            <a:endParaRPr lang="en-US" sz="2600" dirty="0"/>
          </a:p>
        </p:txBody>
      </p:sp>
      <p:sp>
        <p:nvSpPr>
          <p:cNvPr id="5" name="card"/>
          <p:cNvSpPr/>
          <p:nvPr/>
        </p:nvSpPr>
        <p:spPr>
          <a:xfrm>
            <a:off x="457200" y="1508760"/>
            <a:ext cx="1627632" cy="1828800"/>
          </a:xfrm>
          <a:prstGeom prst="roundRect">
            <a:avLst>
              <a:gd name="adj" fmla="val 4494"/>
            </a:avLst>
          </a:prstGeom>
          <a:solidFill>
            <a:srgbClr val="FFFFFF"/>
          </a:solidFill>
          <a:ln w="9525">
            <a:solidFill>
              <a:srgbClr val="DCE3E4"/>
            </a:solidFill>
            <a:prstDash val="solid"/>
          </a:ln>
        </p:spPr>
      </p:sp>
      <p:sp>
        <p:nvSpPr>
          <p:cNvPr id="6" name="icon circle"/>
          <p:cNvSpPr/>
          <p:nvPr/>
        </p:nvSpPr>
        <p:spPr>
          <a:xfrm>
            <a:off x="905256" y="1691640"/>
            <a:ext cx="731520" cy="731520"/>
          </a:xfrm>
          <a:prstGeom prst="ellipse">
            <a:avLst/>
          </a:prstGeom>
          <a:solidFill>
            <a:srgbClr val="0E5A5F"/>
          </a:solidFill>
          <a:ln w="12700">
            <a:solidFill>
              <a:srgbClr val="0E5A5F"/>
            </a:solidFill>
            <a:prstDash val="solid"/>
          </a:ln>
        </p:spPr>
      </p:sp>
      <p:pic>
        <p:nvPicPr>
          <p:cNvPr id="7" name="Image 0" descr="FaClipboardList">    </p:cNvPr>
          <p:cNvPicPr>
            <a:picLocks noChangeAspect="1"/>
          </p:cNvPicPr>
          <p:nvPr/>
        </p:nvPicPr>
        <p:blipFill>
          <a:blip r:embed="rId1"/>
          <a:stretch>
            <a:fillRect/>
          </a:stretch>
        </p:blipFill>
        <p:spPr>
          <a:xfrm>
            <a:off x="1088136" y="1874520"/>
            <a:ext cx="365760" cy="365760"/>
          </a:xfrm>
          <a:prstGeom prst="rect">
            <a:avLst/>
          </a:prstGeom>
        </p:spPr>
      </p:pic>
      <p:sp>
        <p:nvSpPr>
          <p:cNvPr id="8" name="Text 4"/>
          <p:cNvSpPr txBox="1"/>
          <p:nvPr/>
        </p:nvSpPr>
        <p:spPr>
          <a:xfrm>
            <a:off x="502920"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Attendee register</a:t>
            </a:r>
            <a:endParaRPr lang="en-US" sz="1500" dirty="0"/>
          </a:p>
        </p:txBody>
      </p:sp>
      <p:sp>
        <p:nvSpPr>
          <p:cNvPr id="9" name="arrow"/>
          <p:cNvSpPr/>
          <p:nvPr/>
        </p:nvSpPr>
        <p:spPr>
          <a:xfrm>
            <a:off x="2103120" y="2286000"/>
            <a:ext cx="265725" cy="274320"/>
          </a:xfrm>
          <a:prstGeom prst="rightArrow">
            <a:avLst/>
          </a:prstGeom>
          <a:solidFill>
            <a:srgbClr val="0E5A5F"/>
          </a:solidFill>
          <a:ln w="12700">
            <a:solidFill>
              <a:srgbClr val="0E5A5F"/>
            </a:solidFill>
            <a:prstDash val="solid"/>
          </a:ln>
        </p:spPr>
      </p:sp>
      <p:sp>
        <p:nvSpPr>
          <p:cNvPr id="10" name="card"/>
          <p:cNvSpPr/>
          <p:nvPr/>
        </p:nvSpPr>
        <p:spPr>
          <a:xfrm>
            <a:off x="2387133" y="1508760"/>
            <a:ext cx="1627632" cy="1828800"/>
          </a:xfrm>
          <a:prstGeom prst="roundRect">
            <a:avLst>
              <a:gd name="adj" fmla="val 4494"/>
            </a:avLst>
          </a:prstGeom>
          <a:solidFill>
            <a:srgbClr val="FFFFFF"/>
          </a:solidFill>
          <a:ln w="9525">
            <a:solidFill>
              <a:srgbClr val="DCE3E4"/>
            </a:solidFill>
            <a:prstDash val="solid"/>
          </a:ln>
        </p:spPr>
      </p:sp>
      <p:sp>
        <p:nvSpPr>
          <p:cNvPr id="11" name="icon circle"/>
          <p:cNvSpPr/>
          <p:nvPr/>
        </p:nvSpPr>
        <p:spPr>
          <a:xfrm>
            <a:off x="2835189" y="1691640"/>
            <a:ext cx="731520" cy="731520"/>
          </a:xfrm>
          <a:prstGeom prst="ellipse">
            <a:avLst/>
          </a:prstGeom>
          <a:solidFill>
            <a:srgbClr val="0E5A5F"/>
          </a:solidFill>
          <a:ln w="12700">
            <a:solidFill>
              <a:srgbClr val="0E5A5F"/>
            </a:solidFill>
            <a:prstDash val="solid"/>
          </a:ln>
        </p:spPr>
      </p:sp>
      <p:pic>
        <p:nvPicPr>
          <p:cNvPr id="12" name="Image 1" descr="FaAddressBook">    </p:cNvPr>
          <p:cNvPicPr>
            <a:picLocks noChangeAspect="1"/>
          </p:cNvPicPr>
          <p:nvPr/>
        </p:nvPicPr>
        <p:blipFill>
          <a:blip r:embed="rId2"/>
          <a:stretch>
            <a:fillRect/>
          </a:stretch>
        </p:blipFill>
        <p:spPr>
          <a:xfrm>
            <a:off x="3018069" y="1874520"/>
            <a:ext cx="365760" cy="365760"/>
          </a:xfrm>
          <a:prstGeom prst="rect">
            <a:avLst/>
          </a:prstGeom>
        </p:spPr>
      </p:pic>
      <p:sp>
        <p:nvSpPr>
          <p:cNvPr id="13" name="Text 8"/>
          <p:cNvSpPr txBox="1"/>
          <p:nvPr/>
        </p:nvSpPr>
        <p:spPr>
          <a:xfrm>
            <a:off x="2432853"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Contacts</a:t>
            </a:r>
            <a:endParaRPr lang="en-US" sz="1500" dirty="0"/>
          </a:p>
        </p:txBody>
      </p:sp>
      <p:sp>
        <p:nvSpPr>
          <p:cNvPr id="14" name="arrow"/>
          <p:cNvSpPr/>
          <p:nvPr/>
        </p:nvSpPr>
        <p:spPr>
          <a:xfrm>
            <a:off x="4033053" y="2286000"/>
            <a:ext cx="265725" cy="274320"/>
          </a:xfrm>
          <a:prstGeom prst="rightArrow">
            <a:avLst/>
          </a:prstGeom>
          <a:solidFill>
            <a:srgbClr val="0E5A5F"/>
          </a:solidFill>
          <a:ln w="12700">
            <a:solidFill>
              <a:srgbClr val="0E5A5F"/>
            </a:solidFill>
            <a:prstDash val="solid"/>
          </a:ln>
        </p:spPr>
      </p:sp>
      <p:sp>
        <p:nvSpPr>
          <p:cNvPr id="15" name="card"/>
          <p:cNvSpPr/>
          <p:nvPr/>
        </p:nvSpPr>
        <p:spPr>
          <a:xfrm>
            <a:off x="4317065" y="1508760"/>
            <a:ext cx="1627632" cy="1828800"/>
          </a:xfrm>
          <a:prstGeom prst="roundRect">
            <a:avLst>
              <a:gd name="adj" fmla="val 4494"/>
            </a:avLst>
          </a:prstGeom>
          <a:solidFill>
            <a:srgbClr val="FFFFFF"/>
          </a:solidFill>
          <a:ln w="9525">
            <a:solidFill>
              <a:srgbClr val="DCE3E4"/>
            </a:solidFill>
            <a:prstDash val="solid"/>
          </a:ln>
        </p:spPr>
      </p:sp>
      <p:sp>
        <p:nvSpPr>
          <p:cNvPr id="16" name="icon circle"/>
          <p:cNvSpPr/>
          <p:nvPr/>
        </p:nvSpPr>
        <p:spPr>
          <a:xfrm>
            <a:off x="4765121" y="1691640"/>
            <a:ext cx="731520" cy="731520"/>
          </a:xfrm>
          <a:prstGeom prst="ellipse">
            <a:avLst/>
          </a:prstGeom>
          <a:solidFill>
            <a:srgbClr val="0E5A5F"/>
          </a:solidFill>
          <a:ln w="12700">
            <a:solidFill>
              <a:srgbClr val="0E5A5F"/>
            </a:solidFill>
            <a:prstDash val="solid"/>
          </a:ln>
        </p:spPr>
      </p:sp>
      <p:pic>
        <p:nvPicPr>
          <p:cNvPr id="17" name="Image 2" descr="FaUserTie">    </p:cNvPr>
          <p:cNvPicPr>
            <a:picLocks noChangeAspect="1"/>
          </p:cNvPicPr>
          <p:nvPr/>
        </p:nvPicPr>
        <p:blipFill>
          <a:blip r:embed="rId3"/>
          <a:stretch>
            <a:fillRect/>
          </a:stretch>
        </p:blipFill>
        <p:spPr>
          <a:xfrm>
            <a:off x="4948001" y="1874520"/>
            <a:ext cx="365760" cy="365760"/>
          </a:xfrm>
          <a:prstGeom prst="rect">
            <a:avLst/>
          </a:prstGeom>
        </p:spPr>
      </p:pic>
      <p:sp>
        <p:nvSpPr>
          <p:cNvPr id="18" name="Text 12"/>
          <p:cNvSpPr txBox="1"/>
          <p:nvPr/>
        </p:nvSpPr>
        <p:spPr>
          <a:xfrm>
            <a:off x="4362785"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Assigned agent</a:t>
            </a:r>
            <a:endParaRPr lang="en-US" sz="1500" dirty="0"/>
          </a:p>
        </p:txBody>
      </p:sp>
      <p:sp>
        <p:nvSpPr>
          <p:cNvPr id="19" name="arrow"/>
          <p:cNvSpPr/>
          <p:nvPr/>
        </p:nvSpPr>
        <p:spPr>
          <a:xfrm>
            <a:off x="5962985" y="2286000"/>
            <a:ext cx="265725" cy="274320"/>
          </a:xfrm>
          <a:prstGeom prst="rightArrow">
            <a:avLst/>
          </a:prstGeom>
          <a:solidFill>
            <a:srgbClr val="0E5A5F"/>
          </a:solidFill>
          <a:ln w="12700">
            <a:solidFill>
              <a:srgbClr val="0E5A5F"/>
            </a:solidFill>
            <a:prstDash val="solid"/>
          </a:ln>
        </p:spPr>
      </p:sp>
      <p:sp>
        <p:nvSpPr>
          <p:cNvPr id="20" name="card"/>
          <p:cNvSpPr/>
          <p:nvPr/>
        </p:nvSpPr>
        <p:spPr>
          <a:xfrm>
            <a:off x="6246998" y="1508760"/>
            <a:ext cx="1627632" cy="1828800"/>
          </a:xfrm>
          <a:prstGeom prst="roundRect">
            <a:avLst>
              <a:gd name="adj" fmla="val 4494"/>
            </a:avLst>
          </a:prstGeom>
          <a:solidFill>
            <a:srgbClr val="FFFFFF"/>
          </a:solidFill>
          <a:ln w="9525">
            <a:solidFill>
              <a:srgbClr val="DCE3E4"/>
            </a:solidFill>
            <a:prstDash val="solid"/>
          </a:ln>
        </p:spPr>
      </p:sp>
      <p:sp>
        <p:nvSpPr>
          <p:cNvPr id="21" name="icon circle"/>
          <p:cNvSpPr/>
          <p:nvPr/>
        </p:nvSpPr>
        <p:spPr>
          <a:xfrm>
            <a:off x="6695054" y="1691640"/>
            <a:ext cx="731520" cy="731520"/>
          </a:xfrm>
          <a:prstGeom prst="ellipse">
            <a:avLst/>
          </a:prstGeom>
          <a:solidFill>
            <a:srgbClr val="0E5A5F"/>
          </a:solidFill>
          <a:ln w="12700">
            <a:solidFill>
              <a:srgbClr val="0E5A5F"/>
            </a:solidFill>
            <a:prstDash val="solid"/>
          </a:ln>
        </p:spPr>
      </p:sp>
      <p:pic>
        <p:nvPicPr>
          <p:cNvPr id="22" name="Image 3" descr="FaComments">    </p:cNvPr>
          <p:cNvPicPr>
            <a:picLocks noChangeAspect="1"/>
          </p:cNvPicPr>
          <p:nvPr/>
        </p:nvPicPr>
        <p:blipFill>
          <a:blip r:embed="rId4"/>
          <a:stretch>
            <a:fillRect/>
          </a:stretch>
        </p:blipFill>
        <p:spPr>
          <a:xfrm>
            <a:off x="6877934" y="1874520"/>
            <a:ext cx="365760" cy="365760"/>
          </a:xfrm>
          <a:prstGeom prst="rect">
            <a:avLst/>
          </a:prstGeom>
        </p:spPr>
      </p:pic>
      <p:sp>
        <p:nvSpPr>
          <p:cNvPr id="23" name="Text 16"/>
          <p:cNvSpPr txBox="1"/>
          <p:nvPr/>
        </p:nvSpPr>
        <p:spPr>
          <a:xfrm>
            <a:off x="6292718"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Presentation</a:t>
            </a:r>
            <a:endParaRPr lang="en-US" sz="1500" dirty="0"/>
          </a:p>
        </p:txBody>
      </p:sp>
      <p:sp>
        <p:nvSpPr>
          <p:cNvPr id="24" name="arrow"/>
          <p:cNvSpPr/>
          <p:nvPr/>
        </p:nvSpPr>
        <p:spPr>
          <a:xfrm>
            <a:off x="7892918" y="2286000"/>
            <a:ext cx="265725" cy="274320"/>
          </a:xfrm>
          <a:prstGeom prst="rightArrow">
            <a:avLst/>
          </a:prstGeom>
          <a:solidFill>
            <a:srgbClr val="0E5A5F"/>
          </a:solidFill>
          <a:ln w="12700">
            <a:solidFill>
              <a:srgbClr val="0E5A5F"/>
            </a:solidFill>
            <a:prstDash val="solid"/>
          </a:ln>
        </p:spPr>
      </p:sp>
      <p:sp>
        <p:nvSpPr>
          <p:cNvPr id="25" name="card"/>
          <p:cNvSpPr/>
          <p:nvPr/>
        </p:nvSpPr>
        <p:spPr>
          <a:xfrm>
            <a:off x="8176931" y="1508760"/>
            <a:ext cx="1627632" cy="1828800"/>
          </a:xfrm>
          <a:prstGeom prst="roundRect">
            <a:avLst>
              <a:gd name="adj" fmla="val 4494"/>
            </a:avLst>
          </a:prstGeom>
          <a:solidFill>
            <a:srgbClr val="FFFFFF"/>
          </a:solidFill>
          <a:ln w="9525">
            <a:solidFill>
              <a:srgbClr val="DCE3E4"/>
            </a:solidFill>
            <a:prstDash val="solid"/>
          </a:ln>
        </p:spPr>
      </p:sp>
      <p:sp>
        <p:nvSpPr>
          <p:cNvPr id="26" name="icon circle"/>
          <p:cNvSpPr/>
          <p:nvPr/>
        </p:nvSpPr>
        <p:spPr>
          <a:xfrm>
            <a:off x="8624987" y="1691640"/>
            <a:ext cx="731520" cy="731520"/>
          </a:xfrm>
          <a:prstGeom prst="ellipse">
            <a:avLst/>
          </a:prstGeom>
          <a:solidFill>
            <a:srgbClr val="0E5A5F"/>
          </a:solidFill>
          <a:ln w="12700">
            <a:solidFill>
              <a:srgbClr val="0E5A5F"/>
            </a:solidFill>
            <a:prstDash val="solid"/>
          </a:ln>
        </p:spPr>
      </p:sp>
      <p:pic>
        <p:nvPicPr>
          <p:cNvPr id="27" name="Image 4" descr="FaFileSignature">    </p:cNvPr>
          <p:cNvPicPr>
            <a:picLocks noChangeAspect="1"/>
          </p:cNvPicPr>
          <p:nvPr/>
        </p:nvPicPr>
        <p:blipFill>
          <a:blip r:embed="rId5"/>
          <a:stretch>
            <a:fillRect/>
          </a:stretch>
        </p:blipFill>
        <p:spPr>
          <a:xfrm>
            <a:off x="8807867" y="1874520"/>
            <a:ext cx="365760" cy="365760"/>
          </a:xfrm>
          <a:prstGeom prst="rect">
            <a:avLst/>
          </a:prstGeom>
        </p:spPr>
      </p:pic>
      <p:sp>
        <p:nvSpPr>
          <p:cNvPr id="28" name="Text 20"/>
          <p:cNvSpPr txBox="1"/>
          <p:nvPr/>
        </p:nvSpPr>
        <p:spPr>
          <a:xfrm>
            <a:off x="8222651"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Policy</a:t>
            </a:r>
            <a:endParaRPr lang="en-US" sz="1500" dirty="0"/>
          </a:p>
        </p:txBody>
      </p:sp>
      <p:sp>
        <p:nvSpPr>
          <p:cNvPr id="29" name="arrow"/>
          <p:cNvSpPr/>
          <p:nvPr/>
        </p:nvSpPr>
        <p:spPr>
          <a:xfrm>
            <a:off x="9822851" y="2286000"/>
            <a:ext cx="265725" cy="274320"/>
          </a:xfrm>
          <a:prstGeom prst="rightArrow">
            <a:avLst/>
          </a:prstGeom>
          <a:solidFill>
            <a:srgbClr val="0E5A5F"/>
          </a:solidFill>
          <a:ln w="12700">
            <a:solidFill>
              <a:srgbClr val="0E5A5F"/>
            </a:solidFill>
            <a:prstDash val="solid"/>
          </a:ln>
        </p:spPr>
      </p:sp>
      <p:sp>
        <p:nvSpPr>
          <p:cNvPr id="30" name="card"/>
          <p:cNvSpPr/>
          <p:nvPr/>
        </p:nvSpPr>
        <p:spPr>
          <a:xfrm>
            <a:off x="10106863" y="1508760"/>
            <a:ext cx="1627632" cy="1828800"/>
          </a:xfrm>
          <a:prstGeom prst="roundRect">
            <a:avLst>
              <a:gd name="adj" fmla="val 4494"/>
            </a:avLst>
          </a:prstGeom>
          <a:solidFill>
            <a:srgbClr val="E3EFEF"/>
          </a:solidFill>
          <a:ln w="9525">
            <a:solidFill>
              <a:srgbClr val="DCE3E4"/>
            </a:solidFill>
            <a:prstDash val="solid"/>
          </a:ln>
        </p:spPr>
      </p:sp>
      <p:sp>
        <p:nvSpPr>
          <p:cNvPr id="31" name="icon circle"/>
          <p:cNvSpPr/>
          <p:nvPr/>
        </p:nvSpPr>
        <p:spPr>
          <a:xfrm>
            <a:off x="10554919" y="1691640"/>
            <a:ext cx="731520" cy="731520"/>
          </a:xfrm>
          <a:prstGeom prst="ellipse">
            <a:avLst/>
          </a:prstGeom>
          <a:solidFill>
            <a:srgbClr val="0E5A5F"/>
          </a:solidFill>
          <a:ln w="12700">
            <a:solidFill>
              <a:srgbClr val="0E5A5F"/>
            </a:solidFill>
            <a:prstDash val="solid"/>
          </a:ln>
        </p:spPr>
      </p:sp>
      <p:pic>
        <p:nvPicPr>
          <p:cNvPr id="32" name="Image 5" descr="FaMoneyBillWave">    </p:cNvPr>
          <p:cNvPicPr>
            <a:picLocks noChangeAspect="1"/>
          </p:cNvPicPr>
          <p:nvPr/>
        </p:nvPicPr>
        <p:blipFill>
          <a:blip r:embed="rId6"/>
          <a:stretch>
            <a:fillRect/>
          </a:stretch>
        </p:blipFill>
        <p:spPr>
          <a:xfrm>
            <a:off x="10737799" y="1874520"/>
            <a:ext cx="365760" cy="365760"/>
          </a:xfrm>
          <a:prstGeom prst="rect">
            <a:avLst/>
          </a:prstGeom>
        </p:spPr>
      </p:pic>
      <p:sp>
        <p:nvSpPr>
          <p:cNvPr id="33" name="Text 24"/>
          <p:cNvSpPr txBox="1"/>
          <p:nvPr/>
        </p:nvSpPr>
        <p:spPr>
          <a:xfrm>
            <a:off x="10152583"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First payment</a:t>
            </a:r>
            <a:endParaRPr lang="en-US" sz="1500" dirty="0"/>
          </a:p>
        </p:txBody>
      </p:sp>
      <p:sp>
        <p:nvSpPr>
          <p:cNvPr id="34" name="card"/>
          <p:cNvSpPr/>
          <p:nvPr/>
        </p:nvSpPr>
        <p:spPr>
          <a:xfrm>
            <a:off x="457200" y="3657600"/>
            <a:ext cx="3637178" cy="1463040"/>
          </a:xfrm>
          <a:prstGeom prst="roundRect">
            <a:avLst>
              <a:gd name="adj" fmla="val 5000"/>
            </a:avLst>
          </a:prstGeom>
          <a:solidFill>
            <a:srgbClr val="FFFFFF"/>
          </a:solidFill>
          <a:ln w="9525">
            <a:solidFill>
              <a:srgbClr val="DCE3E4"/>
            </a:solidFill>
            <a:prstDash val="solid"/>
          </a:ln>
        </p:spPr>
      </p:sp>
      <p:sp>
        <p:nvSpPr>
          <p:cNvPr id="35" name="icon circle"/>
          <p:cNvSpPr/>
          <p:nvPr/>
        </p:nvSpPr>
        <p:spPr>
          <a:xfrm>
            <a:off x="640080" y="3840480"/>
            <a:ext cx="548640" cy="548640"/>
          </a:xfrm>
          <a:prstGeom prst="ellipse">
            <a:avLst/>
          </a:prstGeom>
          <a:solidFill>
            <a:srgbClr val="2E6DB4"/>
          </a:solidFill>
          <a:ln w="12700">
            <a:solidFill>
              <a:srgbClr val="2E6DB4"/>
            </a:solidFill>
            <a:prstDash val="solid"/>
          </a:ln>
        </p:spPr>
      </p:sp>
      <p:pic>
        <p:nvPicPr>
          <p:cNvPr id="36" name="Image 6" descr="FaCoins">    </p:cNvPr>
          <p:cNvPicPr>
            <a:picLocks noChangeAspect="1"/>
          </p:cNvPicPr>
          <p:nvPr/>
        </p:nvPicPr>
        <p:blipFill>
          <a:blip r:embed="rId7"/>
          <a:stretch>
            <a:fillRect/>
          </a:stretch>
        </p:blipFill>
        <p:spPr>
          <a:xfrm>
            <a:off x="777240" y="3977640"/>
            <a:ext cx="274320" cy="274320"/>
          </a:xfrm>
          <a:prstGeom prst="rect">
            <a:avLst/>
          </a:prstGeom>
        </p:spPr>
      </p:pic>
      <p:sp>
        <p:nvSpPr>
          <p:cNvPr id="37" name="Text 27"/>
          <p:cNvSpPr txBox="1"/>
          <p:nvPr/>
        </p:nvSpPr>
        <p:spPr>
          <a:xfrm>
            <a:off x="1371600" y="3794760"/>
            <a:ext cx="2585618" cy="1234440"/>
          </a:xfrm>
          <a:prstGeom prst="rect">
            <a:avLst/>
          </a:prstGeom>
          <a:noFill/>
          <a:ln/>
        </p:spPr>
        <p:txBody>
          <a:bodyPr wrap="square" lIns="0" tIns="0" rIns="0" bIns="0" rtlCol="0" anchor="t"/>
          <a:lstStyle/>
          <a:p>
            <a:pPr indent="0" marL="0">
              <a:buNone/>
            </a:pPr>
            <a:r>
              <a:rPr lang="en-US" sz="1500" b="1" dirty="0">
                <a:solidFill>
                  <a:srgbClr val="1E2A2F"/>
                </a:solidFill>
              </a:rPr>
              <a:t>Agent allowance = acquisition cost</a:t>
            </a:r>
            <a:endParaRPr lang="en-US" sz="1500" dirty="0"/>
          </a:p>
          <a:p>
            <a:pPr indent="0" marL="0">
              <a:buNone/>
            </a:pPr>
            <a:r>
              <a:rPr lang="en-US" sz="1300" dirty="0">
                <a:solidFill>
                  <a:srgbClr val="5B6B71"/>
                </a:solidFill>
              </a:rPr>
              <a:t>Paid per funeral attended, treated as a sales cost.</a:t>
            </a:r>
            <a:endParaRPr lang="en-US" sz="1500" dirty="0"/>
          </a:p>
        </p:txBody>
      </p:sp>
      <p:sp>
        <p:nvSpPr>
          <p:cNvPr id="38" name="card"/>
          <p:cNvSpPr/>
          <p:nvPr/>
        </p:nvSpPr>
        <p:spPr>
          <a:xfrm>
            <a:off x="4277258" y="3657600"/>
            <a:ext cx="3637178" cy="1463040"/>
          </a:xfrm>
          <a:prstGeom prst="roundRect">
            <a:avLst>
              <a:gd name="adj" fmla="val 5000"/>
            </a:avLst>
          </a:prstGeom>
          <a:solidFill>
            <a:srgbClr val="FFFFFF"/>
          </a:solidFill>
          <a:ln w="9525">
            <a:solidFill>
              <a:srgbClr val="DCE3E4"/>
            </a:solidFill>
            <a:prstDash val="solid"/>
          </a:ln>
        </p:spPr>
      </p:sp>
      <p:sp>
        <p:nvSpPr>
          <p:cNvPr id="39" name="icon circle"/>
          <p:cNvSpPr/>
          <p:nvPr/>
        </p:nvSpPr>
        <p:spPr>
          <a:xfrm>
            <a:off x="4460138" y="3840480"/>
            <a:ext cx="548640" cy="548640"/>
          </a:xfrm>
          <a:prstGeom prst="ellipse">
            <a:avLst/>
          </a:prstGeom>
          <a:solidFill>
            <a:srgbClr val="2E6DB4"/>
          </a:solidFill>
          <a:ln w="12700">
            <a:solidFill>
              <a:srgbClr val="2E6DB4"/>
            </a:solidFill>
            <a:prstDash val="solid"/>
          </a:ln>
        </p:spPr>
      </p:sp>
      <p:pic>
        <p:nvPicPr>
          <p:cNvPr id="40" name="Image 7" descr="FaCalculator">    </p:cNvPr>
          <p:cNvPicPr>
            <a:picLocks noChangeAspect="1"/>
          </p:cNvPicPr>
          <p:nvPr/>
        </p:nvPicPr>
        <p:blipFill>
          <a:blip r:embed="rId8"/>
          <a:stretch>
            <a:fillRect/>
          </a:stretch>
        </p:blipFill>
        <p:spPr>
          <a:xfrm>
            <a:off x="4597298" y="3977640"/>
            <a:ext cx="274320" cy="274320"/>
          </a:xfrm>
          <a:prstGeom prst="rect">
            <a:avLst/>
          </a:prstGeom>
        </p:spPr>
      </p:pic>
      <p:sp>
        <p:nvSpPr>
          <p:cNvPr id="41" name="Text 30"/>
          <p:cNvSpPr txBox="1"/>
          <p:nvPr/>
        </p:nvSpPr>
        <p:spPr>
          <a:xfrm>
            <a:off x="5191658" y="3794760"/>
            <a:ext cx="2585618" cy="1234440"/>
          </a:xfrm>
          <a:prstGeom prst="rect">
            <a:avLst/>
          </a:prstGeom>
          <a:noFill/>
          <a:ln/>
        </p:spPr>
        <p:txBody>
          <a:bodyPr wrap="square" lIns="0" tIns="0" rIns="0" bIns="0" rtlCol="0" anchor="t"/>
          <a:lstStyle/>
          <a:p>
            <a:pPr indent="0" marL="0">
              <a:buNone/>
            </a:pPr>
            <a:r>
              <a:rPr lang="en-US" sz="1500" b="1" dirty="0">
                <a:solidFill>
                  <a:srgbClr val="1E2A2F"/>
                </a:solidFill>
              </a:rPr>
              <a:t>Measure cost per acquired policy</a:t>
            </a:r>
            <a:endParaRPr lang="en-US" sz="1500" dirty="0"/>
          </a:p>
          <a:p>
            <a:pPr indent="0" marL="0">
              <a:buNone/>
            </a:pPr>
            <a:r>
              <a:rPr lang="en-US" sz="1300" dirty="0">
                <a:solidFill>
                  <a:srgbClr val="5B6B71"/>
                </a:solidFill>
              </a:rPr>
              <a:t>Allowance paid ÷ policies that make a first payment.</a:t>
            </a:r>
            <a:endParaRPr lang="en-US" sz="1500" dirty="0"/>
          </a:p>
        </p:txBody>
      </p:sp>
      <p:sp>
        <p:nvSpPr>
          <p:cNvPr id="42" name="card"/>
          <p:cNvSpPr/>
          <p:nvPr/>
        </p:nvSpPr>
        <p:spPr>
          <a:xfrm>
            <a:off x="8097317" y="3657600"/>
            <a:ext cx="3637178" cy="1463040"/>
          </a:xfrm>
          <a:prstGeom prst="roundRect">
            <a:avLst>
              <a:gd name="adj" fmla="val 5000"/>
            </a:avLst>
          </a:prstGeom>
          <a:solidFill>
            <a:srgbClr val="FFFFFF"/>
          </a:solidFill>
          <a:ln w="9525">
            <a:solidFill>
              <a:srgbClr val="DCE3E4"/>
            </a:solidFill>
            <a:prstDash val="solid"/>
          </a:ln>
        </p:spPr>
      </p:sp>
      <p:sp>
        <p:nvSpPr>
          <p:cNvPr id="43" name="icon circle"/>
          <p:cNvSpPr/>
          <p:nvPr/>
        </p:nvSpPr>
        <p:spPr>
          <a:xfrm>
            <a:off x="8280197" y="3840480"/>
            <a:ext cx="548640" cy="548640"/>
          </a:xfrm>
          <a:prstGeom prst="ellipse">
            <a:avLst/>
          </a:prstGeom>
          <a:solidFill>
            <a:srgbClr val="2E6DB4"/>
          </a:solidFill>
          <a:ln w="12700">
            <a:solidFill>
              <a:srgbClr val="2E6DB4"/>
            </a:solidFill>
            <a:prstDash val="solid"/>
          </a:ln>
        </p:spPr>
      </p:sp>
      <p:pic>
        <p:nvPicPr>
          <p:cNvPr id="44" name="Image 8" descr="FaFlask">    </p:cNvPr>
          <p:cNvPicPr>
            <a:picLocks noChangeAspect="1"/>
          </p:cNvPicPr>
          <p:nvPr/>
        </p:nvPicPr>
        <p:blipFill>
          <a:blip r:embed="rId9"/>
          <a:stretch>
            <a:fillRect/>
          </a:stretch>
        </p:blipFill>
        <p:spPr>
          <a:xfrm>
            <a:off x="8417357" y="3977640"/>
            <a:ext cx="274320" cy="274320"/>
          </a:xfrm>
          <a:prstGeom prst="rect">
            <a:avLst/>
          </a:prstGeom>
        </p:spPr>
      </p:pic>
      <p:sp>
        <p:nvSpPr>
          <p:cNvPr id="45" name="Text 33"/>
          <p:cNvSpPr txBox="1"/>
          <p:nvPr/>
        </p:nvSpPr>
        <p:spPr>
          <a:xfrm>
            <a:off x="9011717" y="3794760"/>
            <a:ext cx="2585618" cy="1234440"/>
          </a:xfrm>
          <a:prstGeom prst="rect">
            <a:avLst/>
          </a:prstGeom>
          <a:noFill/>
          <a:ln/>
        </p:spPr>
        <p:txBody>
          <a:bodyPr wrap="square" lIns="0" tIns="0" rIns="0" bIns="0" rtlCol="0" anchor="t"/>
          <a:lstStyle/>
          <a:p>
            <a:pPr indent="0" marL="0">
              <a:buNone/>
            </a:pPr>
            <a:r>
              <a:rPr lang="en-US" sz="1500" b="1" dirty="0">
                <a:solidFill>
                  <a:srgbClr val="1E2A2F"/>
                </a:solidFill>
              </a:rPr>
              <a:t>60-day trial</a:t>
            </a:r>
            <a:endParaRPr lang="en-US" sz="1500" dirty="0"/>
          </a:p>
          <a:p>
            <a:pPr indent="0" marL="0">
              <a:buNone/>
            </a:pPr>
            <a:r>
              <a:rPr lang="en-US" sz="1300" dirty="0">
                <a:solidFill>
                  <a:srgbClr val="5B6B71"/>
                </a:solidFill>
              </a:rPr>
              <a:t>Keep, change or stop based on cost per policy.</a:t>
            </a:r>
            <a:endParaRPr lang="en-US" sz="1500" dirty="0"/>
          </a:p>
        </p:txBody>
      </p:sp>
      <p:sp>
        <p:nvSpPr>
          <p:cNvPr id="46" name="Text 34"/>
          <p:cNvSpPr txBox="1"/>
          <p:nvPr/>
        </p:nvSpPr>
        <p:spPr>
          <a:xfrm>
            <a:off x="457200" y="5349240"/>
            <a:ext cx="11277295" cy="365760"/>
          </a:xfrm>
          <a:prstGeom prst="rect">
            <a:avLst/>
          </a:prstGeom>
          <a:noFill/>
          <a:ln/>
        </p:spPr>
        <p:txBody>
          <a:bodyPr wrap="square" lIns="0" tIns="0" rIns="0" bIns="0" rtlCol="0" anchor="t"/>
          <a:lstStyle/>
          <a:p>
            <a:pPr indent="0" marL="0">
              <a:buNone/>
            </a:pPr>
            <a:r>
              <a:rPr lang="en-US" sz="1400" b="1" dirty="0">
                <a:solidFill>
                  <a:srgbClr val="C98A00"/>
                </a:solidFill>
              </a:rPr>
              <a:t>Today: </a:t>
            </a:r>
            <a:pPr indent="0" marL="0">
              <a:buNone/>
            </a:pPr>
            <a:r>
              <a:rPr lang="en-US" sz="1400" dirty="0">
                <a:solidFill>
                  <a:srgbClr val="C98A00"/>
                </a:solidFill>
              </a:rPr>
              <a:t>attendees are not captured. Data not yet captured — process starts October 2026.</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MORTUARY</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Most mortuary intakes are for other parlours and buy nothing else</a:t>
            </a:r>
            <a:endParaRPr lang="en-US" sz="2600" dirty="0"/>
          </a:p>
        </p:txBody>
      </p:sp>
      <p:graphicFrame>
        <p:nvGraphicFramePr>
          <p:cNvPr id="5" name="Chart 0" descr=""/>
          <p:cNvGraphicFramePr/>
          <p:nvPr/>
        </p:nvGraphicFramePr>
        <p:xfrm>
          <a:off x="457200" y="1280160"/>
          <a:ext cx="54864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26480" y="1280160"/>
          <a:ext cx="3291840" cy="3520440"/>
        </p:xfrm>
        <a:graphic xmlns:a="http://schemas.openxmlformats.org/drawingml/2006/main">
          <a:graphicData uri="http://schemas.openxmlformats.org/drawingml/2006/chart">
            <c:chart xmlns:c="http://schemas.openxmlformats.org/drawingml/2006/chart" r:id="rId2"/>
          </a:graphicData>
        </a:graphic>
      </p:graphicFrame>
      <p:sp>
        <p:nvSpPr>
          <p:cNvPr id="7" name="card"/>
          <p:cNvSpPr/>
          <p:nvPr/>
        </p:nvSpPr>
        <p:spPr>
          <a:xfrm>
            <a:off x="9601200" y="1325880"/>
            <a:ext cx="2130552" cy="3429000"/>
          </a:xfrm>
          <a:prstGeom prst="roundRect">
            <a:avLst>
              <a:gd name="adj" fmla="val 3433"/>
            </a:avLst>
          </a:prstGeom>
          <a:solidFill>
            <a:srgbClr val="FFFFFF"/>
          </a:solidFill>
          <a:ln w="9525">
            <a:solidFill>
              <a:srgbClr val="DCE3E4"/>
            </a:solidFill>
            <a:prstDash val="solid"/>
          </a:ln>
        </p:spPr>
      </p:sp>
      <p:sp>
        <p:nvSpPr>
          <p:cNvPr id="8" name="Text 3"/>
          <p:cNvSpPr txBox="1"/>
          <p:nvPr/>
        </p:nvSpPr>
        <p:spPr>
          <a:xfrm>
            <a:off x="9738360" y="1463040"/>
            <a:ext cx="1874520" cy="3200400"/>
          </a:xfrm>
          <a:prstGeom prst="rect">
            <a:avLst/>
          </a:prstGeom>
          <a:noFill/>
          <a:ln/>
        </p:spPr>
        <p:txBody>
          <a:bodyPr wrap="square" lIns="0" tIns="0" rIns="0" bIns="0" rtlCol="0" anchor="t"/>
          <a:lstStyle/>
          <a:p>
            <a:pPr indent="0" marL="0">
              <a:buNone/>
            </a:pPr>
            <a:r>
              <a:rPr lang="en-US" sz="2000" b="1" dirty="0">
                <a:solidFill>
                  <a:srgbClr val="1E2A2F"/>
                </a:solidFill>
                <a:latin typeface="Cambria" pitchFamily="34" charset="0"/>
                <a:ea typeface="Cambria" pitchFamily="34" charset="-122"/>
                <a:cs typeface="Cambria" pitchFamily="34" charset="-120"/>
              </a:rPr>
              <a:t>61 of 83</a:t>
            </a:r>
            <a:endParaRPr lang="en-US" sz="1400" dirty="0"/>
          </a:p>
          <a:p>
            <a:pPr indent="0" marL="0">
              <a:buNone/>
            </a:pPr>
            <a:r>
              <a:rPr lang="en-US" sz="1200" dirty="0">
                <a:solidFill>
                  <a:srgbClr val="5B6B71"/>
                </a:solidFill>
              </a:rPr>
              <a:t>intakes for other parlours</a:t>
            </a:r>
            <a:endParaRPr lang="en-US" sz="1400" dirty="0"/>
          </a:p>
          <a:p>
            <a:pPr indent="0" marL="0">
              <a:buNone/>
            </a:pPr>
            <a:r>
              <a:rPr lang="en-US" sz="800" dirty="0">
                <a:solidFill>
                  <a:srgbClr val="1E2A2F"/>
                </a:solidFill>
              </a:rPr>
              <a:t> </a:t>
            </a:r>
            <a:endParaRPr lang="en-US" sz="1400" dirty="0"/>
          </a:p>
          <a:p>
            <a:pPr indent="0" marL="0">
              <a:buNone/>
            </a:pPr>
            <a:r>
              <a:rPr lang="en-US" sz="2000" b="1" dirty="0">
                <a:solidFill>
                  <a:srgbClr val="C0392B"/>
                </a:solidFill>
                <a:latin typeface="Cambria" pitchFamily="34" charset="0"/>
                <a:ea typeface="Cambria" pitchFamily="34" charset="-122"/>
                <a:cs typeface="Cambria" pitchFamily="34" charset="-120"/>
              </a:rPr>
              <a:t>USD 1,140</a:t>
            </a:r>
            <a:endParaRPr lang="en-US" sz="1400" dirty="0"/>
          </a:p>
          <a:p>
            <a:pPr indent="0" marL="0">
              <a:buNone/>
            </a:pPr>
            <a:r>
              <a:rPr lang="en-US" sz="1200" dirty="0">
                <a:solidFill>
                  <a:srgbClr val="5B6B71"/>
                </a:solidFill>
              </a:rPr>
              <a:t>charged; none recorded collected</a:t>
            </a:r>
            <a:endParaRPr lang="en-US" sz="1400" dirty="0"/>
          </a:p>
          <a:p>
            <a:pPr indent="0" marL="0">
              <a:buNone/>
            </a:pPr>
            <a:r>
              <a:rPr lang="en-US" sz="800" dirty="0">
                <a:solidFill>
                  <a:srgbClr val="1E2A2F"/>
                </a:solidFill>
              </a:rPr>
              <a:t> </a:t>
            </a:r>
            <a:endParaRPr lang="en-US" sz="1400" dirty="0"/>
          </a:p>
          <a:p>
            <a:pPr indent="0" marL="0">
              <a:buNone/>
            </a:pPr>
            <a:r>
              <a:rPr lang="en-US" sz="1200" b="1" dirty="0">
                <a:solidFill>
                  <a:srgbClr val="1E2A2F"/>
                </a:solidFill>
              </a:rPr>
              <a:t>Services sold: </a:t>
            </a:r>
            <a:pPr indent="0" marL="0">
              <a:buNone/>
            </a:pPr>
            <a:r>
              <a:rPr lang="en-US" sz="1200" dirty="0">
                <a:solidFill>
                  <a:srgbClr val="C98A00"/>
                </a:solidFill>
              </a:rPr>
              <a:t>Data not yet captured — process starts October 2026</a:t>
            </a:r>
            <a:endParaRPr lang="en-US" sz="14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83 intakes (61 for other parlours); USD 1,140 storage charged, none recorded collected.</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Families using other parlours still need wash and dress, chapel, hearse and cars.</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Collect the USD 1,140; offer and record services on every intake.</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FLEET</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62 of 129 funerals have no vehicle recorded, so transport cost is unclear</a:t>
            </a:r>
            <a:endParaRPr lang="en-US" sz="2600" dirty="0"/>
          </a:p>
        </p:txBody>
      </p:sp>
      <p:graphicFrame>
        <p:nvGraphicFramePr>
          <p:cNvPr id="5" name="Chart 0" descr=""/>
          <p:cNvGraphicFramePr/>
          <p:nvPr/>
        </p:nvGraphicFramePr>
        <p:xfrm>
          <a:off x="457200" y="1280160"/>
          <a:ext cx="51206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715000" y="1280160"/>
          <a:ext cx="3017520" cy="3520440"/>
        </p:xfrm>
        <a:graphic xmlns:a="http://schemas.openxmlformats.org/drawingml/2006/main">
          <a:graphicData uri="http://schemas.openxmlformats.org/drawingml/2006/chart">
            <c:chart xmlns:c="http://schemas.openxmlformats.org/drawingml/2006/chart" r:id="rId2"/>
          </a:graphicData>
        </a:graphic>
      </p:graphicFrame>
      <p:sp>
        <p:nvSpPr>
          <p:cNvPr id="7" name="card"/>
          <p:cNvSpPr/>
          <p:nvPr/>
        </p:nvSpPr>
        <p:spPr>
          <a:xfrm>
            <a:off x="8915400" y="1325880"/>
            <a:ext cx="2816352" cy="3429000"/>
          </a:xfrm>
          <a:prstGeom prst="roundRect">
            <a:avLst>
              <a:gd name="adj" fmla="val 2597"/>
            </a:avLst>
          </a:prstGeom>
          <a:solidFill>
            <a:srgbClr val="FFFFFF"/>
          </a:solidFill>
          <a:ln w="9525">
            <a:solidFill>
              <a:srgbClr val="DCE3E4"/>
            </a:solidFill>
            <a:prstDash val="solid"/>
          </a:ln>
        </p:spPr>
      </p:sp>
      <p:sp>
        <p:nvSpPr>
          <p:cNvPr id="8" name="Text 3"/>
          <p:cNvSpPr txBox="1"/>
          <p:nvPr/>
        </p:nvSpPr>
        <p:spPr>
          <a:xfrm>
            <a:off x="9052560" y="1444752"/>
            <a:ext cx="2560320" cy="3246120"/>
          </a:xfrm>
          <a:prstGeom prst="rect">
            <a:avLst/>
          </a:prstGeom>
          <a:noFill/>
          <a:ln/>
        </p:spPr>
        <p:txBody>
          <a:bodyPr wrap="square" lIns="0" tIns="0" rIns="0" bIns="0" rtlCol="0" anchor="t"/>
          <a:lstStyle/>
          <a:p>
            <a:pPr indent="0" marL="0">
              <a:buNone/>
            </a:pPr>
            <a:r>
              <a:rPr lang="en-US" sz="1300" b="1" dirty="0">
                <a:solidFill>
                  <a:srgbClr val="0E5A5F"/>
                </a:solidFill>
              </a:rPr>
              <a:t>Cost per funeral</a:t>
            </a:r>
            <a:endParaRPr lang="en-US" sz="1300" dirty="0"/>
          </a:p>
          <a:p>
            <a:pPr indent="0" marL="0">
              <a:buNone/>
            </a:pPr>
            <a:r>
              <a:rPr lang="en-US" sz="1300" dirty="0">
                <a:solidFill>
                  <a:srgbClr val="1E2A2F"/>
                </a:solidFill>
              </a:rPr>
              <a:t>Quantum GL: USD 102</a:t>
            </a:r>
            <a:endParaRPr lang="en-US" sz="1300" dirty="0"/>
          </a:p>
          <a:p>
            <a:pPr indent="0" marL="0">
              <a:buNone/>
            </a:pPr>
            <a:r>
              <a:rPr lang="en-US" sz="1300" dirty="0">
                <a:solidFill>
                  <a:srgbClr val="1E2A2F"/>
                </a:solidFill>
              </a:rPr>
              <a:t>AHO8415: USD 69</a:t>
            </a:r>
            <a:endParaRPr lang="en-US" sz="1300" dirty="0"/>
          </a:p>
          <a:p>
            <a:pPr indent="0" marL="0">
              <a:buNone/>
            </a:pPr>
            <a:r>
              <a:rPr lang="en-US" sz="1300" dirty="0">
                <a:solidFill>
                  <a:srgbClr val="1E2A2F"/>
                </a:solidFill>
              </a:rPr>
              <a:t>AHO8416: USD 32</a:t>
            </a:r>
            <a:endParaRPr lang="en-US" sz="1300" dirty="0"/>
          </a:p>
          <a:p>
            <a:pPr indent="0" marL="0">
              <a:buNone/>
            </a:pPr>
            <a:r>
              <a:rPr lang="en-US" sz="600" dirty="0">
                <a:solidFill>
                  <a:srgbClr val="1E2A2F"/>
                </a:solidFill>
              </a:rPr>
              <a:t> </a:t>
            </a:r>
            <a:endParaRPr lang="en-US" sz="1300" dirty="0"/>
          </a:p>
          <a:p>
            <a:pPr indent="0" marL="0">
              <a:buNone/>
            </a:pPr>
            <a:r>
              <a:rPr lang="en-US" sz="1300" b="1" dirty="0">
                <a:solidFill>
                  <a:srgbClr val="0E5A5F"/>
                </a:solidFill>
              </a:rPr>
              <a:t>No recorded usage</a:t>
            </a:r>
            <a:endParaRPr lang="en-US" sz="1300" dirty="0"/>
          </a:p>
          <a:p>
            <a:pPr indent="0" marL="0">
              <a:buNone/>
            </a:pPr>
            <a:r>
              <a:rPr lang="en-US" sz="1200" dirty="0">
                <a:solidFill>
                  <a:srgbClr val="1E2A2F"/>
                </a:solidFill>
              </a:rPr>
              <a:t>Bus ADS3367, Red Kombi ACL2548, Hilux KN69CXGP (not confirmed idle)</a:t>
            </a:r>
            <a:endParaRPr lang="en-US" sz="1300" dirty="0"/>
          </a:p>
          <a:p>
            <a:pPr indent="0" marL="0">
              <a:buNone/>
            </a:pPr>
            <a:r>
              <a:rPr lang="en-US" sz="600" dirty="0">
                <a:solidFill>
                  <a:srgbClr val="1E2A2F"/>
                </a:solidFill>
              </a:rPr>
              <a:t> </a:t>
            </a:r>
            <a:endParaRPr lang="en-US" sz="1300" dirty="0"/>
          </a:p>
          <a:p>
            <a:pPr indent="0" marL="0">
              <a:buNone/>
            </a:pPr>
            <a:r>
              <a:rPr lang="en-US" sz="1300" b="1" dirty="0">
                <a:solidFill>
                  <a:srgbClr val="C0392B"/>
                </a:solidFill>
              </a:rPr>
              <a:t>USD 9,771 of running costs not traced</a:t>
            </a:r>
            <a:endParaRPr lang="en-US" sz="13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62 of 129 funerals have no vehicle; 3 vehicles have no recorded usage.</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We can't price funerals or decide on hiring vs owning without this.</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Record a vehicle and fuel requisition on every funeral (61–90 days).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SOCIETIES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All 80 societies are depositing, but their profit is not yet visible</a:t>
            </a:r>
            <a:endParaRPr lang="en-US" sz="2600" dirty="0"/>
          </a:p>
        </p:txBody>
      </p:sp>
      <p:graphicFrame>
        <p:nvGraphicFramePr>
          <p:cNvPr id="5" name="Chart 0" descr=""/>
          <p:cNvGraphicFramePr/>
          <p:nvPr/>
        </p:nvGraphicFramePr>
        <p:xfrm>
          <a:off x="457200" y="1280160"/>
          <a:ext cx="45720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166360" y="1280160"/>
          <a:ext cx="3017520" cy="3520440"/>
        </p:xfrm>
        <a:graphic xmlns:a="http://schemas.openxmlformats.org/drawingml/2006/main">
          <a:graphicData uri="http://schemas.openxmlformats.org/drawingml/2006/chart">
            <c:chart xmlns:c="http://schemas.openxmlformats.org/drawingml/2006/chart" r:id="rId2"/>
          </a:graphicData>
        </a:graphic>
      </p:graphicFrame>
      <p:sp>
        <p:nvSpPr>
          <p:cNvPr id="7" name="card"/>
          <p:cNvSpPr/>
          <p:nvPr/>
        </p:nvSpPr>
        <p:spPr>
          <a:xfrm>
            <a:off x="8366760" y="1325880"/>
            <a:ext cx="3364992" cy="3429000"/>
          </a:xfrm>
          <a:prstGeom prst="roundRect">
            <a:avLst>
              <a:gd name="adj" fmla="val 2174"/>
            </a:avLst>
          </a:prstGeom>
          <a:solidFill>
            <a:srgbClr val="FFFFFF"/>
          </a:solidFill>
          <a:ln w="9525">
            <a:solidFill>
              <a:srgbClr val="DCE3E4"/>
            </a:solidFill>
            <a:prstDash val="solid"/>
          </a:ln>
        </p:spPr>
      </p:sp>
      <p:sp>
        <p:nvSpPr>
          <p:cNvPr id="8" name="Text 3"/>
          <p:cNvSpPr txBox="1"/>
          <p:nvPr/>
        </p:nvSpPr>
        <p:spPr>
          <a:xfrm>
            <a:off x="8549640" y="1463040"/>
            <a:ext cx="3017520" cy="256032"/>
          </a:xfrm>
          <a:prstGeom prst="rect">
            <a:avLst/>
          </a:prstGeom>
          <a:noFill/>
          <a:ln/>
        </p:spPr>
        <p:txBody>
          <a:bodyPr wrap="square" lIns="0" tIns="0" rIns="0" bIns="0" rtlCol="0" anchor="t"/>
          <a:lstStyle/>
          <a:p>
            <a:pPr indent="0" marL="0">
              <a:buNone/>
            </a:pPr>
            <a:r>
              <a:rPr lang="en-US" sz="1050" b="1" spc="100" kern="0" dirty="0">
                <a:solidFill>
                  <a:srgbClr val="0E5A5F"/>
                </a:solidFill>
              </a:rPr>
              <a:t>SOCIETY HEALTH KPI</a:t>
            </a:r>
            <a:endParaRPr lang="en-US" sz="1050" dirty="0"/>
          </a:p>
        </p:txBody>
      </p:sp>
      <p:sp>
        <p:nvSpPr>
          <p:cNvPr id="9" name="Text 4"/>
          <p:cNvSpPr txBox="1"/>
          <p:nvPr/>
        </p:nvSpPr>
        <p:spPr>
          <a:xfrm>
            <a:off x="8549640" y="1783080"/>
            <a:ext cx="3017520" cy="1371600"/>
          </a:xfrm>
          <a:prstGeom prst="rect">
            <a:avLst/>
          </a:prstGeom>
          <a:noFill/>
          <a:ln/>
        </p:spPr>
        <p:txBody>
          <a:bodyPr wrap="square" lIns="0" tIns="0" rIns="0" bIns="0" rtlCol="0" anchor="t"/>
          <a:lstStyle/>
          <a:p>
            <a:pPr indent="0" marL="0">
              <a:buNone/>
            </a:pPr>
            <a:r>
              <a:rPr lang="en-US" sz="1700" dirty="0">
                <a:solidFill>
                  <a:srgbClr val="1E2A2F"/>
                </a:solidFill>
                <a:latin typeface="Cambria" pitchFamily="34" charset="0"/>
                <a:ea typeface="Cambria" pitchFamily="34" charset="-122"/>
                <a:cs typeface="Cambria" pitchFamily="34" charset="-120"/>
              </a:rPr>
              <a:t>Opening ledger</a:t>
            </a:r>
            <a:endParaRPr lang="en-US" sz="1700" dirty="0"/>
          </a:p>
          <a:p>
            <a:pPr indent="0" marL="0">
              <a:buNone/>
            </a:pPr>
            <a:r>
              <a:rPr lang="en-US" sz="1700" dirty="0">
                <a:solidFill>
                  <a:srgbClr val="1E2A2F"/>
                </a:solidFill>
                <a:latin typeface="Cambria" pitchFamily="34" charset="0"/>
                <a:ea typeface="Cambria" pitchFamily="34" charset="-122"/>
                <a:cs typeface="Cambria" pitchFamily="34" charset="-120"/>
              </a:rPr>
              <a:t>+ Deposits</a:t>
            </a:r>
            <a:endParaRPr lang="en-US" sz="1700" dirty="0"/>
          </a:p>
          <a:p>
            <a:pPr indent="0" marL="0">
              <a:buNone/>
            </a:pPr>
            <a:r>
              <a:rPr lang="en-US" sz="1700" dirty="0">
                <a:solidFill>
                  <a:srgbClr val="1E2A2F"/>
                </a:solidFill>
                <a:latin typeface="Cambria" pitchFamily="34" charset="0"/>
                <a:ea typeface="Cambria" pitchFamily="34" charset="-122"/>
                <a:cs typeface="Cambria" pitchFamily="34" charset="-120"/>
              </a:rPr>
              <a:t>− Services</a:t>
            </a:r>
            <a:endParaRPr lang="en-US" sz="1700" dirty="0"/>
          </a:p>
          <a:p>
            <a:pPr indent="0" marL="0">
              <a:buNone/>
            </a:pPr>
            <a:r>
              <a:rPr lang="en-US" sz="1700" b="1" dirty="0">
                <a:solidFill>
                  <a:srgbClr val="1E2A2F"/>
                </a:solidFill>
                <a:latin typeface="Cambria" pitchFamily="34" charset="0"/>
                <a:ea typeface="Cambria" pitchFamily="34" charset="-122"/>
                <a:cs typeface="Cambria" pitchFamily="34" charset="-120"/>
              </a:rPr>
              <a:t>= Closing</a:t>
            </a:r>
            <a:endParaRPr lang="en-US" sz="1700" dirty="0"/>
          </a:p>
        </p:txBody>
      </p:sp>
      <p:sp>
        <p:nvSpPr>
          <p:cNvPr id="10" name="Text 5"/>
          <p:cNvSpPr txBox="1"/>
          <p:nvPr/>
        </p:nvSpPr>
        <p:spPr>
          <a:xfrm>
            <a:off x="8549640" y="3246120"/>
            <a:ext cx="3017520" cy="1371600"/>
          </a:xfrm>
          <a:prstGeom prst="rect">
            <a:avLst/>
          </a:prstGeom>
          <a:noFill/>
          <a:ln/>
        </p:spPr>
        <p:txBody>
          <a:bodyPr wrap="square" lIns="0" tIns="0" rIns="0" bIns="0" rtlCol="0" anchor="t"/>
          <a:lstStyle/>
          <a:p>
            <a:pPr indent="0" marL="0">
              <a:buNone/>
            </a:pPr>
            <a:r>
              <a:rPr lang="en-US" sz="1200" b="1" dirty="0">
                <a:solidFill>
                  <a:srgbClr val="C0392B"/>
                </a:solidFill>
              </a:rPr>
              <a:t>Can't be calculated yet: </a:t>
            </a:r>
            <a:pPr indent="0" marL="0">
              <a:buNone/>
            </a:pPr>
            <a:r>
              <a:rPr lang="en-US" sz="1200" dirty="0">
                <a:solidFill>
                  <a:srgbClr val="1E2A2F"/>
                </a:solidFill>
              </a:rPr>
              <a:t>no funeral has ever been deducted from a ledger; June–July deposits not credited.</a:t>
            </a:r>
            <a:endParaRPr lang="en-US" sz="1200" dirty="0"/>
          </a:p>
        </p:txBody>
      </p:sp>
      <p:sp>
        <p:nvSpPr>
          <p:cNvPr id="11"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2" name="Text 7"/>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80 societies, all depositing; 22 with members (198), 58 with none.</a:t>
            </a:r>
            <a:endParaRPr lang="en-US" sz="1050" dirty="0"/>
          </a:p>
        </p:txBody>
      </p:sp>
      <p:sp>
        <p:nvSpPr>
          <p:cNvPr id="13"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4" name="Text 9"/>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Societies are 47% of money in, but their profit is invisible.</a:t>
            </a:r>
            <a:endParaRPr lang="en-US" sz="1050" dirty="0"/>
          </a:p>
        </p:txBody>
      </p:sp>
      <p:sp>
        <p:nvSpPr>
          <p:cNvPr id="15"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6" name="Text 11"/>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Credit all deposits, deduct every funeral; capture members for the 20 largest.</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CROSS-SELLING</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Everyone who deals with Falakhe is a potential customer</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035040" y="1371600"/>
          <a:ext cx="5696712" cy="914400"/>
        </p:xfrm>
        <a:graphic>
          <a:graphicData uri="http://schemas.openxmlformats.org/drawingml/2006/table">
            <a:tbl>
              <a:tblPr/>
              <a:tblGrid>
                <a:gridCol w="2057400"/>
                <a:gridCol w="3639312"/>
              </a:tblGrid>
              <a:tr h="42976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Touchpoint</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Measurable today?</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Funeral families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98A00"/>
                          </a:solidFill>
                          <a:latin typeface="Calibri" pitchFamily="34" charset="0"/>
                          <a:ea typeface="Calibri" pitchFamily="34" charset="-122"/>
                          <a:cs typeface="Calibri" pitchFamily="34" charset="-120"/>
                        </a:rPr>
                        <a:t>Partly: funerals recorded; costing incomplete</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Mortuary clients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98A00"/>
                          </a:solidFill>
                          <a:latin typeface="Calibri" pitchFamily="34" charset="0"/>
                          <a:ea typeface="Calibri" pitchFamily="34" charset="-122"/>
                          <a:cs typeface="Calibri" pitchFamily="34" charset="-120"/>
                        </a:rPr>
                        <a:t>Partly: intakes recorded; services sold not captured</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Funeral attendees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0392B"/>
                          </a:solidFill>
                          <a:latin typeface="Calibri" pitchFamily="34" charset="0"/>
                          <a:ea typeface="Calibri" pitchFamily="34" charset="-122"/>
                          <a:cs typeface="Calibri" pitchFamily="34" charset="-120"/>
                        </a:rPr>
                        <a:t>No: register starts October</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Suppliers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0392B"/>
                          </a:solidFill>
                          <a:latin typeface="Calibri" pitchFamily="34" charset="0"/>
                          <a:ea typeface="Calibri" pitchFamily="34" charset="-122"/>
                          <a:cs typeface="Calibri" pitchFamily="34" charset="-120"/>
                        </a:rPr>
                        <a:t>No: data needed</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Employees and agents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2E8B57"/>
                          </a:solidFill>
                          <a:latin typeface="Calibri" pitchFamily="34" charset="0"/>
                          <a:ea typeface="Calibri" pitchFamily="34" charset="-122"/>
                          <a:cs typeface="Calibri" pitchFamily="34" charset="-120"/>
                        </a:rPr>
                        <a:t>Yes: agent sales captured</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Society members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98A00"/>
                          </a:solidFill>
                          <a:latin typeface="Calibri" pitchFamily="34" charset="0"/>
                          <a:ea typeface="Calibri" pitchFamily="34" charset="-122"/>
                          <a:cs typeface="Calibri" pitchFamily="34" charset="-120"/>
                        </a:rPr>
                        <a:t>Partly: 198 members in 22 of 80 societies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Policyholder add-ons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0392B"/>
                          </a:solidFill>
                          <a:latin typeface="Calibri" pitchFamily="34" charset="0"/>
                          <a:ea typeface="Calibri" pitchFamily="34" charset="-122"/>
                          <a:cs typeface="Calibri" pitchFamily="34" charset="-120"/>
                        </a:rPr>
                        <a:t>No: data needed</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spoke"/>
          <p:cNvSpPr/>
          <p:nvPr/>
        </p:nvSpPr>
        <p:spPr>
          <a:xfrm flipH="1">
            <a:off x="2971800" y="1719072"/>
            <a:ext cx="9144" cy="1572768"/>
          </a:xfrm>
          <a:prstGeom prst="line">
            <a:avLst/>
          </a:prstGeom>
          <a:noFill/>
          <a:ln w="25400">
            <a:solidFill>
              <a:srgbClr val="CFE3E3"/>
            </a:solidFill>
            <a:prstDash val="solid"/>
          </a:ln>
        </p:spPr>
      </p:sp>
      <p:sp>
        <p:nvSpPr>
          <p:cNvPr id="7" name="icon circle"/>
          <p:cNvSpPr/>
          <p:nvPr/>
        </p:nvSpPr>
        <p:spPr>
          <a:xfrm>
            <a:off x="2670048" y="1417320"/>
            <a:ext cx="603504" cy="603504"/>
          </a:xfrm>
          <a:prstGeom prst="ellipse">
            <a:avLst/>
          </a:prstGeom>
          <a:solidFill>
            <a:srgbClr val="2E6DB4"/>
          </a:solidFill>
          <a:ln w="12700">
            <a:solidFill>
              <a:srgbClr val="2E6DB4"/>
            </a:solidFill>
            <a:prstDash val="solid"/>
          </a:ln>
        </p:spPr>
      </p:sp>
      <p:pic>
        <p:nvPicPr>
          <p:cNvPr id="8" name="Image 0" descr="FaHandsHelping">    </p:cNvPr>
          <p:cNvPicPr>
            <a:picLocks noChangeAspect="1"/>
          </p:cNvPicPr>
          <p:nvPr/>
        </p:nvPicPr>
        <p:blipFill>
          <a:blip r:embed="rId1"/>
          <a:stretch>
            <a:fillRect/>
          </a:stretch>
        </p:blipFill>
        <p:spPr>
          <a:xfrm>
            <a:off x="2820924" y="1568196"/>
            <a:ext cx="301752" cy="301752"/>
          </a:xfrm>
          <a:prstGeom prst="rect">
            <a:avLst/>
          </a:prstGeom>
        </p:spPr>
      </p:pic>
      <p:sp>
        <p:nvSpPr>
          <p:cNvPr id="9" name="Text 4"/>
          <p:cNvSpPr txBox="1"/>
          <p:nvPr/>
        </p:nvSpPr>
        <p:spPr>
          <a:xfrm>
            <a:off x="2212848" y="2039112"/>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Funeral families</a:t>
            </a:r>
            <a:endParaRPr lang="en-US" sz="1100" dirty="0"/>
          </a:p>
        </p:txBody>
      </p:sp>
      <p:sp>
        <p:nvSpPr>
          <p:cNvPr id="10" name="spoke"/>
          <p:cNvSpPr/>
          <p:nvPr/>
        </p:nvSpPr>
        <p:spPr>
          <a:xfrm flipH="1">
            <a:off x="2971800" y="2311235"/>
            <a:ext cx="1229640" cy="980605"/>
          </a:xfrm>
          <a:prstGeom prst="line">
            <a:avLst/>
          </a:prstGeom>
          <a:noFill/>
          <a:ln w="25400">
            <a:solidFill>
              <a:srgbClr val="CFE3E3"/>
            </a:solidFill>
            <a:prstDash val="solid"/>
          </a:ln>
        </p:spPr>
      </p:sp>
      <p:sp>
        <p:nvSpPr>
          <p:cNvPr id="11" name="icon circle"/>
          <p:cNvSpPr/>
          <p:nvPr/>
        </p:nvSpPr>
        <p:spPr>
          <a:xfrm>
            <a:off x="3899688" y="2009483"/>
            <a:ext cx="603504" cy="603504"/>
          </a:xfrm>
          <a:prstGeom prst="ellipse">
            <a:avLst/>
          </a:prstGeom>
          <a:solidFill>
            <a:srgbClr val="E07B39"/>
          </a:solidFill>
          <a:ln w="12700">
            <a:solidFill>
              <a:srgbClr val="E07B39"/>
            </a:solidFill>
            <a:prstDash val="solid"/>
          </a:ln>
        </p:spPr>
      </p:sp>
      <p:pic>
        <p:nvPicPr>
          <p:cNvPr id="12" name="Image 1" descr="FaClinicMedical">    </p:cNvPr>
          <p:cNvPicPr>
            <a:picLocks noChangeAspect="1"/>
          </p:cNvPicPr>
          <p:nvPr/>
        </p:nvPicPr>
        <p:blipFill>
          <a:blip r:embed="rId2"/>
          <a:stretch>
            <a:fillRect/>
          </a:stretch>
        </p:blipFill>
        <p:spPr>
          <a:xfrm>
            <a:off x="4050564" y="2160359"/>
            <a:ext cx="301752" cy="301752"/>
          </a:xfrm>
          <a:prstGeom prst="rect">
            <a:avLst/>
          </a:prstGeom>
        </p:spPr>
      </p:pic>
      <p:sp>
        <p:nvSpPr>
          <p:cNvPr id="13" name="Text 7"/>
          <p:cNvSpPr txBox="1"/>
          <p:nvPr/>
        </p:nvSpPr>
        <p:spPr>
          <a:xfrm>
            <a:off x="3442488" y="2631275"/>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Mortuary clients</a:t>
            </a:r>
            <a:endParaRPr lang="en-US" sz="1100" dirty="0"/>
          </a:p>
        </p:txBody>
      </p:sp>
      <p:sp>
        <p:nvSpPr>
          <p:cNvPr id="14" name="spoke"/>
          <p:cNvSpPr/>
          <p:nvPr/>
        </p:nvSpPr>
        <p:spPr>
          <a:xfrm>
            <a:off x="2971800" y="3291840"/>
            <a:ext cx="1533335" cy="349974"/>
          </a:xfrm>
          <a:prstGeom prst="line">
            <a:avLst/>
          </a:prstGeom>
          <a:noFill/>
          <a:ln w="25400">
            <a:solidFill>
              <a:srgbClr val="CFE3E3"/>
            </a:solidFill>
            <a:prstDash val="solid"/>
          </a:ln>
        </p:spPr>
      </p:sp>
      <p:sp>
        <p:nvSpPr>
          <p:cNvPr id="15" name="icon circle"/>
          <p:cNvSpPr/>
          <p:nvPr/>
        </p:nvSpPr>
        <p:spPr>
          <a:xfrm>
            <a:off x="4203383" y="3340062"/>
            <a:ext cx="603504" cy="603504"/>
          </a:xfrm>
          <a:prstGeom prst="ellipse">
            <a:avLst/>
          </a:prstGeom>
          <a:solidFill>
            <a:srgbClr val="34ADB3"/>
          </a:solidFill>
          <a:ln w="12700">
            <a:solidFill>
              <a:srgbClr val="34ADB3"/>
            </a:solidFill>
            <a:prstDash val="solid"/>
          </a:ln>
        </p:spPr>
      </p:sp>
      <p:pic>
        <p:nvPicPr>
          <p:cNvPr id="16" name="Image 2" descr="FaUsers">    </p:cNvPr>
          <p:cNvPicPr>
            <a:picLocks noChangeAspect="1"/>
          </p:cNvPicPr>
          <p:nvPr/>
        </p:nvPicPr>
        <p:blipFill>
          <a:blip r:embed="rId3"/>
          <a:stretch>
            <a:fillRect/>
          </a:stretch>
        </p:blipFill>
        <p:spPr>
          <a:xfrm>
            <a:off x="4354259" y="3490938"/>
            <a:ext cx="301752" cy="301752"/>
          </a:xfrm>
          <a:prstGeom prst="rect">
            <a:avLst/>
          </a:prstGeom>
        </p:spPr>
      </p:pic>
      <p:sp>
        <p:nvSpPr>
          <p:cNvPr id="17" name="Text 10"/>
          <p:cNvSpPr txBox="1"/>
          <p:nvPr/>
        </p:nvSpPr>
        <p:spPr>
          <a:xfrm>
            <a:off x="3746183" y="3961854"/>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Funeral attendees</a:t>
            </a:r>
            <a:endParaRPr lang="en-US" sz="1100" dirty="0"/>
          </a:p>
        </p:txBody>
      </p:sp>
      <p:sp>
        <p:nvSpPr>
          <p:cNvPr id="18" name="spoke"/>
          <p:cNvSpPr/>
          <p:nvPr/>
        </p:nvSpPr>
        <p:spPr>
          <a:xfrm>
            <a:off x="2971800" y="3291840"/>
            <a:ext cx="682398" cy="1417015"/>
          </a:xfrm>
          <a:prstGeom prst="line">
            <a:avLst/>
          </a:prstGeom>
          <a:noFill/>
          <a:ln w="25400">
            <a:solidFill>
              <a:srgbClr val="CFE3E3"/>
            </a:solidFill>
            <a:prstDash val="solid"/>
          </a:ln>
        </p:spPr>
      </p:sp>
      <p:sp>
        <p:nvSpPr>
          <p:cNvPr id="19" name="icon circle"/>
          <p:cNvSpPr/>
          <p:nvPr/>
        </p:nvSpPr>
        <p:spPr>
          <a:xfrm>
            <a:off x="3352446" y="4407103"/>
            <a:ext cx="603504" cy="603504"/>
          </a:xfrm>
          <a:prstGeom prst="ellipse">
            <a:avLst/>
          </a:prstGeom>
          <a:solidFill>
            <a:srgbClr val="E2B530"/>
          </a:solidFill>
          <a:ln w="12700">
            <a:solidFill>
              <a:srgbClr val="E2B530"/>
            </a:solidFill>
            <a:prstDash val="solid"/>
          </a:ln>
        </p:spPr>
      </p:sp>
      <p:pic>
        <p:nvPicPr>
          <p:cNvPr id="20" name="Image 3" descr="FaTruck">    </p:cNvPr>
          <p:cNvPicPr>
            <a:picLocks noChangeAspect="1"/>
          </p:cNvPicPr>
          <p:nvPr/>
        </p:nvPicPr>
        <p:blipFill>
          <a:blip r:embed="rId4"/>
          <a:stretch>
            <a:fillRect/>
          </a:stretch>
        </p:blipFill>
        <p:spPr>
          <a:xfrm>
            <a:off x="3503322" y="4557979"/>
            <a:ext cx="301752" cy="301752"/>
          </a:xfrm>
          <a:prstGeom prst="rect">
            <a:avLst/>
          </a:prstGeom>
        </p:spPr>
      </p:pic>
      <p:sp>
        <p:nvSpPr>
          <p:cNvPr id="21" name="Text 13"/>
          <p:cNvSpPr txBox="1"/>
          <p:nvPr/>
        </p:nvSpPr>
        <p:spPr>
          <a:xfrm>
            <a:off x="2895246" y="5028895"/>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Suppliers</a:t>
            </a:r>
            <a:endParaRPr lang="en-US" sz="1100" dirty="0"/>
          </a:p>
        </p:txBody>
      </p:sp>
      <p:sp>
        <p:nvSpPr>
          <p:cNvPr id="22" name="spoke"/>
          <p:cNvSpPr/>
          <p:nvPr/>
        </p:nvSpPr>
        <p:spPr>
          <a:xfrm flipH="1">
            <a:off x="2289402" y="3291840"/>
            <a:ext cx="682398" cy="1417015"/>
          </a:xfrm>
          <a:prstGeom prst="line">
            <a:avLst/>
          </a:prstGeom>
          <a:noFill/>
          <a:ln w="25400">
            <a:solidFill>
              <a:srgbClr val="CFE3E3"/>
            </a:solidFill>
            <a:prstDash val="solid"/>
          </a:ln>
        </p:spPr>
      </p:sp>
      <p:sp>
        <p:nvSpPr>
          <p:cNvPr id="23" name="icon circle"/>
          <p:cNvSpPr/>
          <p:nvPr/>
        </p:nvSpPr>
        <p:spPr>
          <a:xfrm>
            <a:off x="1987650" y="4407103"/>
            <a:ext cx="603504" cy="603504"/>
          </a:xfrm>
          <a:prstGeom prst="ellipse">
            <a:avLst/>
          </a:prstGeom>
          <a:solidFill>
            <a:srgbClr val="2E6DB4"/>
          </a:solidFill>
          <a:ln w="12700">
            <a:solidFill>
              <a:srgbClr val="2E6DB4"/>
            </a:solidFill>
            <a:prstDash val="solid"/>
          </a:ln>
        </p:spPr>
      </p:sp>
      <p:pic>
        <p:nvPicPr>
          <p:cNvPr id="24" name="Image 4" descr="FaIdBadge">    </p:cNvPr>
          <p:cNvPicPr>
            <a:picLocks noChangeAspect="1"/>
          </p:cNvPicPr>
          <p:nvPr/>
        </p:nvPicPr>
        <p:blipFill>
          <a:blip r:embed="rId5"/>
          <a:stretch>
            <a:fillRect/>
          </a:stretch>
        </p:blipFill>
        <p:spPr>
          <a:xfrm>
            <a:off x="2138526" y="4557979"/>
            <a:ext cx="301752" cy="301752"/>
          </a:xfrm>
          <a:prstGeom prst="rect">
            <a:avLst/>
          </a:prstGeom>
        </p:spPr>
      </p:pic>
      <p:sp>
        <p:nvSpPr>
          <p:cNvPr id="25" name="Text 16"/>
          <p:cNvSpPr txBox="1"/>
          <p:nvPr/>
        </p:nvSpPr>
        <p:spPr>
          <a:xfrm>
            <a:off x="1530450" y="5028895"/>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Employees and agents</a:t>
            </a:r>
            <a:endParaRPr lang="en-US" sz="1100" dirty="0"/>
          </a:p>
        </p:txBody>
      </p:sp>
      <p:sp>
        <p:nvSpPr>
          <p:cNvPr id="26" name="spoke"/>
          <p:cNvSpPr/>
          <p:nvPr/>
        </p:nvSpPr>
        <p:spPr>
          <a:xfrm flipH="1">
            <a:off x="1438465" y="3291840"/>
            <a:ext cx="1533335" cy="349974"/>
          </a:xfrm>
          <a:prstGeom prst="line">
            <a:avLst/>
          </a:prstGeom>
          <a:noFill/>
          <a:ln w="25400">
            <a:solidFill>
              <a:srgbClr val="CFE3E3"/>
            </a:solidFill>
            <a:prstDash val="solid"/>
          </a:ln>
        </p:spPr>
      </p:sp>
      <p:sp>
        <p:nvSpPr>
          <p:cNvPr id="27" name="icon circle"/>
          <p:cNvSpPr/>
          <p:nvPr/>
        </p:nvSpPr>
        <p:spPr>
          <a:xfrm>
            <a:off x="1136713" y="3340062"/>
            <a:ext cx="603504" cy="603504"/>
          </a:xfrm>
          <a:prstGeom prst="ellipse">
            <a:avLst/>
          </a:prstGeom>
          <a:solidFill>
            <a:srgbClr val="E07B39"/>
          </a:solidFill>
          <a:ln w="12700">
            <a:solidFill>
              <a:srgbClr val="E07B39"/>
            </a:solidFill>
            <a:prstDash val="solid"/>
          </a:ln>
        </p:spPr>
      </p:sp>
      <p:pic>
        <p:nvPicPr>
          <p:cNvPr id="28" name="Image 5" descr="FaPeopleCarry">    </p:cNvPr>
          <p:cNvPicPr>
            <a:picLocks noChangeAspect="1"/>
          </p:cNvPicPr>
          <p:nvPr/>
        </p:nvPicPr>
        <p:blipFill>
          <a:blip r:embed="rId6"/>
          <a:stretch>
            <a:fillRect/>
          </a:stretch>
        </p:blipFill>
        <p:spPr>
          <a:xfrm>
            <a:off x="1287589" y="3490938"/>
            <a:ext cx="301752" cy="301752"/>
          </a:xfrm>
          <a:prstGeom prst="rect">
            <a:avLst/>
          </a:prstGeom>
        </p:spPr>
      </p:pic>
      <p:sp>
        <p:nvSpPr>
          <p:cNvPr id="29" name="Text 19"/>
          <p:cNvSpPr txBox="1"/>
          <p:nvPr/>
        </p:nvSpPr>
        <p:spPr>
          <a:xfrm>
            <a:off x="679513" y="3961854"/>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Society members</a:t>
            </a:r>
            <a:endParaRPr lang="en-US" sz="1100" dirty="0"/>
          </a:p>
        </p:txBody>
      </p:sp>
      <p:sp>
        <p:nvSpPr>
          <p:cNvPr id="30" name="spoke"/>
          <p:cNvSpPr/>
          <p:nvPr/>
        </p:nvSpPr>
        <p:spPr>
          <a:xfrm>
            <a:off x="1742160" y="2311235"/>
            <a:ext cx="1229640" cy="980605"/>
          </a:xfrm>
          <a:prstGeom prst="line">
            <a:avLst/>
          </a:prstGeom>
          <a:noFill/>
          <a:ln w="25400">
            <a:solidFill>
              <a:srgbClr val="CFE3E3"/>
            </a:solidFill>
            <a:prstDash val="solid"/>
          </a:ln>
        </p:spPr>
      </p:sp>
      <p:sp>
        <p:nvSpPr>
          <p:cNvPr id="31" name="icon circle"/>
          <p:cNvSpPr/>
          <p:nvPr/>
        </p:nvSpPr>
        <p:spPr>
          <a:xfrm>
            <a:off x="1440408" y="2009483"/>
            <a:ext cx="603504" cy="603504"/>
          </a:xfrm>
          <a:prstGeom prst="ellipse">
            <a:avLst/>
          </a:prstGeom>
          <a:solidFill>
            <a:srgbClr val="34ADB3"/>
          </a:solidFill>
          <a:ln w="12700">
            <a:solidFill>
              <a:srgbClr val="34ADB3"/>
            </a:solidFill>
            <a:prstDash val="solid"/>
          </a:ln>
        </p:spPr>
      </p:sp>
      <p:pic>
        <p:nvPicPr>
          <p:cNvPr id="32" name="Image 6" descr="FaPlusCircle">    </p:cNvPr>
          <p:cNvPicPr>
            <a:picLocks noChangeAspect="1"/>
          </p:cNvPicPr>
          <p:nvPr/>
        </p:nvPicPr>
        <p:blipFill>
          <a:blip r:embed="rId7"/>
          <a:stretch>
            <a:fillRect/>
          </a:stretch>
        </p:blipFill>
        <p:spPr>
          <a:xfrm>
            <a:off x="1591284" y="2160359"/>
            <a:ext cx="301752" cy="301752"/>
          </a:xfrm>
          <a:prstGeom prst="rect">
            <a:avLst/>
          </a:prstGeom>
        </p:spPr>
      </p:pic>
      <p:sp>
        <p:nvSpPr>
          <p:cNvPr id="33" name="Text 22"/>
          <p:cNvSpPr txBox="1"/>
          <p:nvPr/>
        </p:nvSpPr>
        <p:spPr>
          <a:xfrm>
            <a:off x="983208" y="2631275"/>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Policyholder add-ons</a:t>
            </a:r>
            <a:endParaRPr lang="en-US" sz="1100" dirty="0"/>
          </a:p>
        </p:txBody>
      </p:sp>
      <p:sp>
        <p:nvSpPr>
          <p:cNvPr id="34" name="hub"/>
          <p:cNvSpPr/>
          <p:nvPr/>
        </p:nvSpPr>
        <p:spPr>
          <a:xfrm>
            <a:off x="2286000" y="2606040"/>
            <a:ext cx="1371600" cy="1371600"/>
          </a:xfrm>
          <a:prstGeom prst="ellipse">
            <a:avLst/>
          </a:prstGeom>
          <a:solidFill>
            <a:srgbClr val="0E5A5F"/>
          </a:solidFill>
          <a:ln w="12700">
            <a:solidFill>
              <a:srgbClr val="0E5A5F"/>
            </a:solidFill>
            <a:prstDash val="solid"/>
          </a:ln>
        </p:spPr>
      </p:sp>
      <p:sp>
        <p:nvSpPr>
          <p:cNvPr id="35" name="Text 24"/>
          <p:cNvSpPr txBox="1"/>
          <p:nvPr/>
        </p:nvSpPr>
        <p:spPr>
          <a:xfrm>
            <a:off x="2286000" y="2606040"/>
            <a:ext cx="1371600" cy="13716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Falakhe</a:t>
            </a:r>
            <a:endParaRPr lang="en-US" sz="1600" dirty="0"/>
          </a:p>
        </p:txBody>
      </p:sp>
      <p:sp>
        <p:nvSpPr>
          <p:cNvPr id="36" name="card"/>
          <p:cNvSpPr/>
          <p:nvPr/>
        </p:nvSpPr>
        <p:spPr>
          <a:xfrm>
            <a:off x="6035040" y="4983480"/>
            <a:ext cx="5696712" cy="1188720"/>
          </a:xfrm>
          <a:prstGeom prst="roundRect">
            <a:avLst>
              <a:gd name="adj" fmla="val 6154"/>
            </a:avLst>
          </a:prstGeom>
          <a:solidFill>
            <a:srgbClr val="E3EFEF"/>
          </a:solidFill>
          <a:ln w="9525">
            <a:solidFill>
              <a:srgbClr val="DCE3E4"/>
            </a:solidFill>
            <a:prstDash val="solid"/>
          </a:ln>
        </p:spPr>
      </p:sp>
      <p:sp>
        <p:nvSpPr>
          <p:cNvPr id="37" name="Text 26"/>
          <p:cNvSpPr txBox="1"/>
          <p:nvPr/>
        </p:nvSpPr>
        <p:spPr>
          <a:xfrm>
            <a:off x="6217920" y="5074920"/>
            <a:ext cx="5349240" cy="1005840"/>
          </a:xfrm>
          <a:prstGeom prst="rect">
            <a:avLst/>
          </a:prstGeom>
          <a:noFill/>
          <a:ln/>
        </p:spPr>
        <p:txBody>
          <a:bodyPr wrap="square" lIns="0" tIns="0" rIns="0" bIns="0" rtlCol="0" anchor="ctr"/>
          <a:lstStyle/>
          <a:p>
            <a:pPr indent="0" marL="0">
              <a:buNone/>
            </a:pPr>
            <a:r>
              <a:rPr lang="en-US" sz="1400" b="1" dirty="0">
                <a:solidFill>
                  <a:srgbClr val="1E2A2F"/>
                </a:solidFill>
              </a:rPr>
              <a:t>Monthly “Falakhe Ecosystem Sales Campaign”: </a:t>
            </a:r>
            <a:pPr indent="0" marL="0">
              <a:buNone/>
            </a:pPr>
            <a:r>
              <a:rPr lang="en-US" sz="1400" dirty="0">
                <a:solidFill>
                  <a:srgbClr val="1E2A2F"/>
                </a:solidFill>
              </a:rPr>
              <a:t>one or two touchpoints each month; offers tracked by touchpoint from October.</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WHAT IF (PROJECTED)</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More selling agents would do the most to grow the book</a:t>
            </a:r>
            <a:endParaRPr lang="en-US" sz="2600" dirty="0"/>
          </a:p>
        </p:txBody>
      </p:sp>
      <p:graphicFrame>
        <p:nvGraphicFramePr>
          <p:cNvPr id="5" name="Chart 0" descr=""/>
          <p:cNvGraphicFramePr/>
          <p:nvPr/>
        </p:nvGraphicFramePr>
        <p:xfrm>
          <a:off x="457200" y="1280160"/>
          <a:ext cx="60350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720840" y="1371600"/>
          <a:ext cx="5010912" cy="914400"/>
        </p:xfrm>
        <a:graphic>
          <a:graphicData uri="http://schemas.openxmlformats.org/drawingml/2006/table">
            <a:tbl>
              <a:tblPr/>
              <a:tblGrid>
                <a:gridCol w="3182112"/>
                <a:gridCol w="182880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Lever (one at a time)</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Projected effect</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438912">
                <a:tc>
                  <a:txBody>
                    <a:bodyPr/>
                    <a:lstStyle/>
                    <a:p>
                      <a:pPr indent="0" marL="0">
                        <a:buNone/>
                      </a:pPr>
                      <a:r>
                        <a:rPr lang="en-US" sz="1300" dirty="0">
                          <a:solidFill>
                            <a:srgbClr val="1E2A2F"/>
                          </a:solidFill>
                          <a:latin typeface="Calibri" pitchFamily="34" charset="0"/>
                          <a:ea typeface="Calibri" pitchFamily="34" charset="-122"/>
                          <a:cs typeface="Calibri" pitchFamily="34" charset="-120"/>
                        </a:rPr>
                        <a:t>Collection rate to 60%</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300" b="1" dirty="0">
                          <a:solidFill>
                            <a:srgbClr val="1E2A2F"/>
                          </a:solidFill>
                          <a:latin typeface="Calibri" pitchFamily="34" charset="0"/>
                          <a:ea typeface="Calibri" pitchFamily="34" charset="-122"/>
                          <a:cs typeface="Calibri" pitchFamily="34" charset="-120"/>
                        </a:rPr>
                        <a:t>+USD 514 a month</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E2A2F"/>
                          </a:solidFill>
                          <a:latin typeface="Calibri" pitchFamily="34" charset="0"/>
                          <a:ea typeface="Calibri" pitchFamily="34" charset="-122"/>
                          <a:cs typeface="Calibri" pitchFamily="34" charset="-120"/>
                        </a:rPr>
                        <a:t>Collection rate to 70%</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300" b="1" dirty="0">
                          <a:solidFill>
                            <a:srgbClr val="1E2A2F"/>
                          </a:solidFill>
                          <a:latin typeface="Calibri" pitchFamily="34" charset="0"/>
                          <a:ea typeface="Calibri" pitchFamily="34" charset="-122"/>
                          <a:cs typeface="Calibri" pitchFamily="34" charset="-120"/>
                        </a:rPr>
                        <a:t>+USD 982 a month</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E2A2F"/>
                          </a:solidFill>
                          <a:latin typeface="Calibri" pitchFamily="34" charset="0"/>
                          <a:ea typeface="Calibri" pitchFamily="34" charset="-122"/>
                          <a:cs typeface="Calibri" pitchFamily="34" charset="-120"/>
                        </a:rPr>
                        <a:t>2 more costed cash funerals a month</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300" b="1" dirty="0">
                          <a:solidFill>
                            <a:srgbClr val="1E2A2F"/>
                          </a:solidFill>
                          <a:latin typeface="Calibri" pitchFamily="34" charset="0"/>
                          <a:ea typeface="Calibri" pitchFamily="34" charset="-122"/>
                          <a:cs typeface="Calibri" pitchFamily="34" charset="-120"/>
                        </a:rPr>
                        <a:t>+USD 534</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E2A2F"/>
                          </a:solidFill>
                          <a:latin typeface="Calibri" pitchFamily="34" charset="0"/>
                          <a:ea typeface="Calibri" pitchFamily="34" charset="-122"/>
                          <a:cs typeface="Calibri" pitchFamily="34" charset="-120"/>
                        </a:rPr>
                        <a:t>Conversion at 40% instead of 76%</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300" b="1" dirty="0">
                          <a:solidFill>
                            <a:srgbClr val="C0392B"/>
                          </a:solidFill>
                          <a:latin typeface="Calibri" pitchFamily="34" charset="0"/>
                          <a:ea typeface="Calibri" pitchFamily="34" charset="-122"/>
                          <a:cs typeface="Calibri" pitchFamily="34" charset="-120"/>
                        </a:rPr>
                        <a:t>−10 paid a month</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6720840" y="3794760"/>
            <a:ext cx="5010912" cy="548640"/>
          </a:xfrm>
          <a:prstGeom prst="rect">
            <a:avLst/>
          </a:prstGeom>
          <a:noFill/>
          <a:ln/>
        </p:spPr>
        <p:txBody>
          <a:bodyPr wrap="square" lIns="0" tIns="0" rIns="0" bIns="0" rtlCol="0" anchor="t"/>
          <a:lstStyle/>
          <a:p>
            <a:pPr indent="0" marL="0">
              <a:buNone/>
            </a:pPr>
            <a:r>
              <a:rPr lang="en-US" sz="1200" i="1" dirty="0">
                <a:solidFill>
                  <a:srgbClr val="5B6B71"/>
                </a:solidFill>
              </a:rPr>
              <a:t>All figures projected. If nothing changes, the book is about 484 policies in 12 months.</a:t>
            </a:r>
            <a:endParaRPr lang="en-US" sz="12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10 more selling agents: 878; lapses down 2 points: 592; no change: 484 (projected).</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Agents and retention move the book; collections move the cash.</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Prioritise agent productivity, grace follow-up and collections.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SCENARIOS (PROJECTED)</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With the plan the book could reach about 976 in a year, not 484</a:t>
            </a:r>
            <a:endParaRPr lang="en-US" sz="2600" dirty="0"/>
          </a:p>
        </p:txBody>
      </p:sp>
      <p:graphicFrame>
        <p:nvGraphicFramePr>
          <p:cNvPr id="5" name="Chart 0" descr=""/>
          <p:cNvGraphicFramePr/>
          <p:nvPr/>
        </p:nvGraphicFramePr>
        <p:xfrm>
          <a:off x="457200" y="1280160"/>
          <a:ext cx="566928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63640" y="1280160"/>
          <a:ext cx="5468112" cy="2743200"/>
        </p:xfrm>
        <a:graphic xmlns:a="http://schemas.openxmlformats.org/drawingml/2006/main">
          <a:graphicData uri="http://schemas.openxmlformats.org/drawingml/2006/chart">
            <c:chart xmlns:c="http://schemas.openxmlformats.org/drawingml/2006/chart" r:id="rId2"/>
          </a:graphicData>
        </a:graphic>
      </p:graphicFrame>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4114800"/>
          <a:ext cx="11277295" cy="914400"/>
        </p:xfrm>
        <a:graphic>
          <a:graphicData uri="http://schemas.openxmlformats.org/drawingml/2006/table">
            <a:tbl>
              <a:tblPr/>
              <a:tblGrid>
                <a:gridCol w="3044952"/>
                <a:gridCol w="2743200"/>
                <a:gridCol w="2743200"/>
                <a:gridCol w="2743200"/>
              </a:tblGrid>
              <a:tr h="2286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Assumption</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Current</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With the plan</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Accelerated</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228600">
                <a:tc>
                  <a:txBody>
                    <a:bodyPr/>
                    <a:lstStyle/>
                    <a:p>
                      <a:pPr algn="l" indent="0" marL="0">
                        <a:buNone/>
                      </a:pPr>
                      <a:r>
                        <a:rPr lang="en-US" sz="1100" dirty="0">
                          <a:solidFill>
                            <a:srgbClr val="1E2A2F"/>
                          </a:solidFill>
                          <a:latin typeface="Calibri" pitchFamily="34" charset="0"/>
                          <a:ea typeface="Calibri" pitchFamily="34" charset="-122"/>
                          <a:cs typeface="Calibri" pitchFamily="34" charset="-120"/>
                        </a:rPr>
                        <a:t>Selling agents</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10–12</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12–20</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228600">
                <a:tc>
                  <a:txBody>
                    <a:bodyPr/>
                    <a:lstStyle/>
                    <a:p>
                      <a:pPr algn="l" indent="0" marL="0">
                        <a:buNone/>
                      </a:pPr>
                      <a:r>
                        <a:rPr lang="en-US" sz="1100" dirty="0">
                          <a:solidFill>
                            <a:srgbClr val="1E2A2F"/>
                          </a:solidFill>
                          <a:latin typeface="Calibri" pitchFamily="34" charset="0"/>
                          <a:ea typeface="Calibri" pitchFamily="34" charset="-122"/>
                          <a:cs typeface="Calibri" pitchFamily="34" charset="-120"/>
                        </a:rPr>
                        <a:t>New paid a month</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228600">
                <a:tc>
                  <a:txBody>
                    <a:bodyPr/>
                    <a:lstStyle/>
                    <a:p>
                      <a:pPr algn="l" indent="0" marL="0">
                        <a:buNone/>
                      </a:pPr>
                      <a:r>
                        <a:rPr lang="en-US" sz="1100" dirty="0">
                          <a:solidFill>
                            <a:srgbClr val="1E2A2F"/>
                          </a:solidFill>
                          <a:latin typeface="Calibri" pitchFamily="34" charset="0"/>
                          <a:ea typeface="Calibri" pitchFamily="34" charset="-122"/>
                          <a:cs typeface="Calibri" pitchFamily="34" charset="-120"/>
                        </a:rPr>
                        <a:t>Lapse rate</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At 12 months: current 484, with the plan 976, accelerated 1,424 policies (projected).</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Doing nothing means a smaller book and about USD 14,700 a month.</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Adopt the plan: 10–12 selling agents, 60 paid a month, 3.5% lapses.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BUSINESS HEALTH</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Business health scores 1.9 out of 5; conversion is the one strong area</a:t>
            </a:r>
            <a:endParaRPr lang="en-US" sz="2600" dirty="0"/>
          </a:p>
        </p:txBody>
      </p:sp>
      <p:graphicFrame>
        <p:nvGraphicFramePr>
          <p:cNvPr id="5" name="Chart 0" descr=""/>
          <p:cNvGraphicFramePr/>
          <p:nvPr/>
        </p:nvGraphicFramePr>
        <p:xfrm>
          <a:off x="457200" y="1280160"/>
          <a:ext cx="768096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366760" y="1325880"/>
            <a:ext cx="3364992" cy="1828800"/>
          </a:xfrm>
          <a:prstGeom prst="roundRect">
            <a:avLst>
              <a:gd name="adj" fmla="val 4000"/>
            </a:avLst>
          </a:prstGeom>
          <a:solidFill>
            <a:srgbClr val="FFFFFF"/>
          </a:solidFill>
          <a:ln w="9525">
            <a:solidFill>
              <a:srgbClr val="DCE3E4"/>
            </a:solidFill>
            <a:prstDash val="solid"/>
          </a:ln>
        </p:spPr>
      </p:sp>
      <p:sp>
        <p:nvSpPr>
          <p:cNvPr id="7" name="Text 3"/>
          <p:cNvSpPr txBox="1"/>
          <p:nvPr/>
        </p:nvSpPr>
        <p:spPr>
          <a:xfrm>
            <a:off x="8549640" y="1463040"/>
            <a:ext cx="3017520" cy="1554480"/>
          </a:xfrm>
          <a:prstGeom prst="rect">
            <a:avLst/>
          </a:prstGeom>
          <a:noFill/>
          <a:ln/>
        </p:spPr>
        <p:txBody>
          <a:bodyPr wrap="square" lIns="0" tIns="0" rIns="0" bIns="0" rtlCol="0" anchor="t"/>
          <a:lstStyle/>
          <a:p>
            <a:pPr indent="0" marL="0">
              <a:buNone/>
            </a:pPr>
            <a:r>
              <a:rPr lang="en-US" sz="1400" b="1" dirty="0">
                <a:solidFill>
                  <a:srgbClr val="0E5A5F"/>
                </a:solidFill>
              </a:rPr>
              <a:t>Overall</a:t>
            </a:r>
            <a:endParaRPr lang="en-US" sz="1400" dirty="0"/>
          </a:p>
          <a:p>
            <a:pPr indent="0" marL="0">
              <a:buNone/>
            </a:pPr>
            <a:r>
              <a:rPr lang="en-US" sz="3000" b="1" dirty="0">
                <a:solidFill>
                  <a:srgbClr val="C0392B"/>
                </a:solidFill>
                <a:latin typeface="Cambria" pitchFamily="34" charset="0"/>
                <a:ea typeface="Cambria" pitchFamily="34" charset="-122"/>
                <a:cs typeface="Cambria" pitchFamily="34" charset="-120"/>
              </a:rPr>
              <a:t>1.9 / 5</a:t>
            </a:r>
            <a:endParaRPr lang="en-US" sz="1400" dirty="0"/>
          </a:p>
        </p:txBody>
      </p:sp>
      <p:sp>
        <p:nvSpPr>
          <p:cNvPr id="8" name="Text 4"/>
          <p:cNvSpPr txBox="1"/>
          <p:nvPr/>
        </p:nvSpPr>
        <p:spPr>
          <a:xfrm>
            <a:off x="8366760" y="3291840"/>
            <a:ext cx="3364992" cy="1463040"/>
          </a:xfrm>
          <a:prstGeom prst="rect">
            <a:avLst/>
          </a:prstGeom>
          <a:noFill/>
          <a:ln/>
        </p:spPr>
        <p:txBody>
          <a:bodyPr wrap="square" lIns="0" tIns="0" rIns="0" bIns="0" rtlCol="0" anchor="t"/>
          <a:lstStyle/>
          <a:p>
            <a:pPr indent="0" marL="0">
              <a:buNone/>
            </a:pPr>
            <a:r>
              <a:rPr lang="en-US" sz="1000" dirty="0">
                <a:solidFill>
                  <a:srgbClr val="5B6B71"/>
                </a:solidFill>
              </a:rPr>
              <a:t>Scoring rule: each area scored 1 to 5 against its target. 5 = at or above target; 3 = partly met; 1 = far below target or not yet measurable. Overall = simple average of the ten scores (19 ÷ 10 = 1.9).</a:t>
            </a:r>
            <a:endParaRPr lang="en-US" sz="10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6"/>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Conversion scores 5; five areas score 1; overall 1.9 / 5.</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8"/>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We are strong at one step of the process and weak around it.</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10"/>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Re-score monthly; aim to lift four of the 1s within 90 days.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30 / 60 / 90-DAY PLAN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First 30 days: stop the leaks and call the customers we already have</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365760"/>
                <a:gridCol w="3566160"/>
                <a:gridCol w="1234440"/>
                <a:gridCol w="1097280"/>
                <a:gridCol w="2606040"/>
                <a:gridCol w="2404872"/>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Deadline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gridSpan="6">
                  <a:txBody>
                    <a:bodyPr/>
                    <a:lstStyle/>
                    <a:p>
                      <a:pPr indent="0" marL="0">
                        <a:buNone/>
                      </a:pPr>
                      <a:r>
                        <a:rPr lang="en-US" sz="1200" b="1" dirty="0">
                          <a:solidFill>
                            <a:srgbClr val="0E5A5F"/>
                          </a:solidFill>
                          <a:latin typeface="Calibri" pitchFamily="34" charset="0"/>
                          <a:ea typeface="Calibri" pitchFamily="34" charset="-122"/>
                          <a:cs typeface="Calibri" pitchFamily="34" charset="-120"/>
                        </a:rPr>
                        <a:t>0–30 days: by 4 November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E3EFEF"/>
                    </a:solidFill>
                  </a:tcPr>
                </a:tc>
                <a:tc hMerge="1">
                  <a:tcPr/>
                </a:tc>
                <a:tc hMerge="1">
                  <a:tcPr/>
                </a:tc>
                <a:tc hMerge="1">
                  <a:tcPr/>
                </a:tc>
                <a:tc hMerge="1">
                  <a:tcPr/>
                </a:tc>
                <a:tc hMerge="1">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Daily grace call list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Grace recovery rate (Sep 75%)</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Fewer lapses; protect the book</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Call all 213 inactive policies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Inactive policies activated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Up to USD 2,001 a month</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Start funeral attendee register</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Contacts captured per funeral</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New lead source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Month-end quotation follow-up with loss reason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Open quotations followed up; reasons recorded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51 quotations: USD 21,013 + ZAR 86,300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Collect USD 1,140 mortuary storage fees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collected vs charged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1,140 one-off</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Capture all spending; mark every policy new / legacy / SA</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 of records complete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True view of new business and costs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20624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Owners to be confirmed. Deadlines counted from 5 October 2026.</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30 / 60 / 90-DAY PLAN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Days 31 to 90: build the agent, collection and campaign routine</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365760"/>
                <a:gridCol w="3566160"/>
                <a:gridCol w="1234440"/>
                <a:gridCol w="1097280"/>
                <a:gridCol w="2606040"/>
                <a:gridCol w="2404872"/>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Deadline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gridSpan="6">
                  <a:txBody>
                    <a:bodyPr/>
                    <a:lstStyle/>
                    <a:p>
                      <a:pPr indent="0" marL="0">
                        <a:buNone/>
                      </a:pPr>
                      <a:r>
                        <a:rPr lang="en-US" sz="1200" b="1" dirty="0">
                          <a:solidFill>
                            <a:srgbClr val="0E5A5F"/>
                          </a:solidFill>
                          <a:latin typeface="Calibri" pitchFamily="34" charset="0"/>
                          <a:ea typeface="Calibri" pitchFamily="34" charset="-122"/>
                          <a:cs typeface="Calibri" pitchFamily="34" charset="-120"/>
                        </a:rPr>
                        <a:t>31–60 days: by 4 December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E3EFEF"/>
                    </a:solidFill>
                  </a:tcPr>
                </a:tc>
                <a:tc hMerge="1">
                  <a:tcPr/>
                </a:tc>
                <a:tc hMerge="1">
                  <a:tcPr/>
                </a:tc>
                <a:tc hMerge="1">
                  <a:tcPr/>
                </a:tc>
                <a:tc hMerge="1">
                  <a:tcPr/>
                </a:tc>
                <a:tc hMerge="1">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Productivity standard (6 joinings, 4 paid) and weekly one-to-ones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Selling agents (Sep 4)</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More paid policies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Resident agents for Lupane plus 2 areas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Joinings and paid per territory</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Repeat the Filabusi result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60-day agent-at-funeral trial</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Cost per acquired policy</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Tests funeral lead source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SMS reminders, EcoCash and debit orders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collection rate (target 70%)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About +USD 980 a month at 70%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Capture members for the 20 largest societies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Societies with members (22 of 80)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Society profit visible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gridSpan="6">
                  <a:txBody>
                    <a:bodyPr/>
                    <a:lstStyle/>
                    <a:p>
                      <a:pPr indent="0" marL="0">
                        <a:buNone/>
                      </a:pPr>
                      <a:r>
                        <a:rPr lang="en-US" sz="1200" b="1" dirty="0">
                          <a:solidFill>
                            <a:srgbClr val="0E5A5F"/>
                          </a:solidFill>
                          <a:latin typeface="Calibri" pitchFamily="34" charset="0"/>
                          <a:ea typeface="Calibri" pitchFamily="34" charset="-122"/>
                          <a:cs typeface="Calibri" pitchFamily="34" charset="-120"/>
                        </a:rPr>
                        <a:t>61–90 days: by 3 January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E3EFEF"/>
                    </a:solidFill>
                  </a:tcPr>
                </a:tc>
                <a:tc hMerge="1">
                  <a:tcPr/>
                </a:tc>
                <a:tc hMerge="1">
                  <a:tcPr/>
                </a:tc>
                <a:tc hMerge="1">
                  <a:tcPr/>
                </a:tc>
                <a:tc hMerge="1">
                  <a:tcPr/>
                </a:tc>
                <a:tc hMerge="1">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Monthly campaign accelerator with ROI</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 Jan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Cost per paid policy, per campaign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Repeat Sokusile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Falakhe Ecosystem Sales Campaign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 Jan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Sales by touchpoint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Sales from existing contacts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UMNDENI redesign test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 Jan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UMNDENI paid conversion (21%)</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Activate 105 inactive UMNDENI</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Vehicle on every funeral, with fuel requisition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 Jan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Funerals with vehicle (67 of 129)</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Trace USD 9,771 of costs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DATA FROM OCTOBER 2026</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From October, every record will carry the details we need</a:t>
            </a:r>
            <a:endParaRPr lang="en-US" sz="2600" dirty="0"/>
          </a:p>
        </p:txBody>
      </p:sp>
      <p:sp>
        <p:nvSpPr>
          <p:cNvPr id="5" name="card"/>
          <p:cNvSpPr/>
          <p:nvPr/>
        </p:nvSpPr>
        <p:spPr>
          <a:xfrm>
            <a:off x="457200" y="1417320"/>
            <a:ext cx="3576218" cy="2148840"/>
          </a:xfrm>
          <a:prstGeom prst="roundRect">
            <a:avLst>
              <a:gd name="adj" fmla="val 3404"/>
            </a:avLst>
          </a:prstGeom>
          <a:solidFill>
            <a:srgbClr val="FFFFFF"/>
          </a:solidFill>
          <a:ln w="9525">
            <a:solidFill>
              <a:srgbClr val="DCE3E4"/>
            </a:solidFill>
            <a:prstDash val="solid"/>
          </a:ln>
        </p:spPr>
      </p:sp>
      <p:sp>
        <p:nvSpPr>
          <p:cNvPr id="6" name="icon circle"/>
          <p:cNvSpPr/>
          <p:nvPr/>
        </p:nvSpPr>
        <p:spPr>
          <a:xfrm>
            <a:off x="685800" y="1645920"/>
            <a:ext cx="658368" cy="658368"/>
          </a:xfrm>
          <a:prstGeom prst="ellipse">
            <a:avLst/>
          </a:prstGeom>
          <a:solidFill>
            <a:srgbClr val="0E5A5F"/>
          </a:solidFill>
          <a:ln w="12700">
            <a:solidFill>
              <a:srgbClr val="0E5A5F"/>
            </a:solidFill>
            <a:prstDash val="solid"/>
          </a:ln>
        </p:spPr>
      </p:sp>
      <p:pic>
        <p:nvPicPr>
          <p:cNvPr id="7" name="Image 0" descr="FaFileContract">    </p:cNvPr>
          <p:cNvPicPr>
            <a:picLocks noChangeAspect="1"/>
          </p:cNvPicPr>
          <p:nvPr/>
        </p:nvPicPr>
        <p:blipFill>
          <a:blip r:embed="rId1"/>
          <a:stretch>
            <a:fillRect/>
          </a:stretch>
        </p:blipFill>
        <p:spPr>
          <a:xfrm>
            <a:off x="850392" y="1810512"/>
            <a:ext cx="329184" cy="329184"/>
          </a:xfrm>
          <a:prstGeom prst="rect">
            <a:avLst/>
          </a:prstGeom>
        </p:spPr>
      </p:pic>
      <p:sp>
        <p:nvSpPr>
          <p:cNvPr id="8" name="Text 4"/>
          <p:cNvSpPr txBox="1"/>
          <p:nvPr/>
        </p:nvSpPr>
        <p:spPr>
          <a:xfrm>
            <a:off x="1508760" y="169164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policy</a:t>
            </a:r>
            <a:endParaRPr lang="en-US" sz="1900" dirty="0"/>
          </a:p>
        </p:txBody>
      </p:sp>
      <p:sp>
        <p:nvSpPr>
          <p:cNvPr id="9" name="Text 5"/>
          <p:cNvSpPr txBox="1"/>
          <p:nvPr/>
        </p:nvSpPr>
        <p:spPr>
          <a:xfrm>
            <a:off x="685800" y="2468880"/>
            <a:ext cx="3119018" cy="960120"/>
          </a:xfrm>
          <a:prstGeom prst="rect">
            <a:avLst/>
          </a:prstGeom>
          <a:noFill/>
          <a:ln/>
        </p:spPr>
        <p:txBody>
          <a:bodyPr wrap="square" lIns="0" tIns="0" rIns="0" bIns="0" rtlCol="0" anchor="t"/>
          <a:lstStyle/>
          <a:p>
            <a:pPr indent="0" marL="0">
              <a:buNone/>
            </a:pPr>
            <a:r>
              <a:rPr lang="en-US" sz="1500" dirty="0">
                <a:solidFill>
                  <a:srgbClr val="5B6B71"/>
                </a:solidFill>
              </a:rPr>
              <a:t>New / legacy, country, branch, territory, agent, lead source, campaign</a:t>
            </a:r>
            <a:endParaRPr lang="en-US" sz="1500" dirty="0"/>
          </a:p>
        </p:txBody>
      </p:sp>
      <p:sp>
        <p:nvSpPr>
          <p:cNvPr id="10" name="card"/>
          <p:cNvSpPr/>
          <p:nvPr/>
        </p:nvSpPr>
        <p:spPr>
          <a:xfrm>
            <a:off x="4307738" y="1417320"/>
            <a:ext cx="3576218" cy="2148840"/>
          </a:xfrm>
          <a:prstGeom prst="roundRect">
            <a:avLst>
              <a:gd name="adj" fmla="val 3404"/>
            </a:avLst>
          </a:prstGeom>
          <a:solidFill>
            <a:srgbClr val="FFFFFF"/>
          </a:solidFill>
          <a:ln w="9525">
            <a:solidFill>
              <a:srgbClr val="DCE3E4"/>
            </a:solidFill>
            <a:prstDash val="solid"/>
          </a:ln>
        </p:spPr>
      </p:sp>
      <p:sp>
        <p:nvSpPr>
          <p:cNvPr id="11" name="icon circle"/>
          <p:cNvSpPr/>
          <p:nvPr/>
        </p:nvSpPr>
        <p:spPr>
          <a:xfrm>
            <a:off x="4536338" y="1645920"/>
            <a:ext cx="658368" cy="658368"/>
          </a:xfrm>
          <a:prstGeom prst="ellipse">
            <a:avLst/>
          </a:prstGeom>
          <a:solidFill>
            <a:srgbClr val="0E5A5F"/>
          </a:solidFill>
          <a:ln w="12700">
            <a:solidFill>
              <a:srgbClr val="0E5A5F"/>
            </a:solidFill>
            <a:prstDash val="solid"/>
          </a:ln>
        </p:spPr>
      </p:sp>
      <p:pic>
        <p:nvPicPr>
          <p:cNvPr id="12" name="Image 1" descr="FaUserPlus">    </p:cNvPr>
          <p:cNvPicPr>
            <a:picLocks noChangeAspect="1"/>
          </p:cNvPicPr>
          <p:nvPr/>
        </p:nvPicPr>
        <p:blipFill>
          <a:blip r:embed="rId2"/>
          <a:stretch>
            <a:fillRect/>
          </a:stretch>
        </p:blipFill>
        <p:spPr>
          <a:xfrm>
            <a:off x="4700930" y="1810512"/>
            <a:ext cx="329184" cy="329184"/>
          </a:xfrm>
          <a:prstGeom prst="rect">
            <a:avLst/>
          </a:prstGeom>
        </p:spPr>
      </p:pic>
      <p:sp>
        <p:nvSpPr>
          <p:cNvPr id="13" name="Text 8"/>
          <p:cNvSpPr txBox="1"/>
          <p:nvPr/>
        </p:nvSpPr>
        <p:spPr>
          <a:xfrm>
            <a:off x="5359298" y="169164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lead</a:t>
            </a:r>
            <a:endParaRPr lang="en-US" sz="1900" dirty="0"/>
          </a:p>
        </p:txBody>
      </p:sp>
      <p:sp>
        <p:nvSpPr>
          <p:cNvPr id="14" name="Text 9"/>
          <p:cNvSpPr txBox="1"/>
          <p:nvPr/>
        </p:nvSpPr>
        <p:spPr>
          <a:xfrm>
            <a:off x="4536338" y="2468880"/>
            <a:ext cx="3119018" cy="960120"/>
          </a:xfrm>
          <a:prstGeom prst="rect">
            <a:avLst/>
          </a:prstGeom>
          <a:noFill/>
          <a:ln/>
        </p:spPr>
        <p:txBody>
          <a:bodyPr wrap="square" lIns="0" tIns="0" rIns="0" bIns="0" rtlCol="0" anchor="t"/>
          <a:lstStyle/>
          <a:p>
            <a:pPr indent="0" marL="0">
              <a:buNone/>
            </a:pPr>
            <a:r>
              <a:rPr lang="en-US" sz="1500" dirty="0">
                <a:solidFill>
                  <a:srgbClr val="5B6B71"/>
                </a:solidFill>
              </a:rPr>
              <a:t>Source, agent assigned, outcome</a:t>
            </a:r>
            <a:endParaRPr lang="en-US" sz="1500" dirty="0"/>
          </a:p>
        </p:txBody>
      </p:sp>
      <p:sp>
        <p:nvSpPr>
          <p:cNvPr id="15" name="card"/>
          <p:cNvSpPr/>
          <p:nvPr/>
        </p:nvSpPr>
        <p:spPr>
          <a:xfrm>
            <a:off x="8158277" y="1417320"/>
            <a:ext cx="3576218" cy="2148840"/>
          </a:xfrm>
          <a:prstGeom prst="roundRect">
            <a:avLst>
              <a:gd name="adj" fmla="val 3404"/>
            </a:avLst>
          </a:prstGeom>
          <a:solidFill>
            <a:srgbClr val="FFFFFF"/>
          </a:solidFill>
          <a:ln w="9525">
            <a:solidFill>
              <a:srgbClr val="DCE3E4"/>
            </a:solidFill>
            <a:prstDash val="solid"/>
          </a:ln>
        </p:spPr>
      </p:sp>
      <p:sp>
        <p:nvSpPr>
          <p:cNvPr id="16" name="icon circle"/>
          <p:cNvSpPr/>
          <p:nvPr/>
        </p:nvSpPr>
        <p:spPr>
          <a:xfrm>
            <a:off x="8386877" y="1645920"/>
            <a:ext cx="658368" cy="658368"/>
          </a:xfrm>
          <a:prstGeom prst="ellipse">
            <a:avLst/>
          </a:prstGeom>
          <a:solidFill>
            <a:srgbClr val="0E5A5F"/>
          </a:solidFill>
          <a:ln w="12700">
            <a:solidFill>
              <a:srgbClr val="0E5A5F"/>
            </a:solidFill>
            <a:prstDash val="solid"/>
          </a:ln>
        </p:spPr>
      </p:sp>
      <p:pic>
        <p:nvPicPr>
          <p:cNvPr id="17" name="Image 2" descr="FaHandsHelping">    </p:cNvPr>
          <p:cNvPicPr>
            <a:picLocks noChangeAspect="1"/>
          </p:cNvPicPr>
          <p:nvPr/>
        </p:nvPicPr>
        <p:blipFill>
          <a:blip r:embed="rId3"/>
          <a:stretch>
            <a:fillRect/>
          </a:stretch>
        </p:blipFill>
        <p:spPr>
          <a:xfrm>
            <a:off x="8551469" y="1810512"/>
            <a:ext cx="329184" cy="329184"/>
          </a:xfrm>
          <a:prstGeom prst="rect">
            <a:avLst/>
          </a:prstGeom>
        </p:spPr>
      </p:pic>
      <p:sp>
        <p:nvSpPr>
          <p:cNvPr id="18" name="Text 12"/>
          <p:cNvSpPr txBox="1"/>
          <p:nvPr/>
        </p:nvSpPr>
        <p:spPr>
          <a:xfrm>
            <a:off x="9209837" y="169164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funeral</a:t>
            </a:r>
            <a:endParaRPr lang="en-US" sz="1900" dirty="0"/>
          </a:p>
        </p:txBody>
      </p:sp>
      <p:sp>
        <p:nvSpPr>
          <p:cNvPr id="19" name="Text 13"/>
          <p:cNvSpPr txBox="1"/>
          <p:nvPr/>
        </p:nvSpPr>
        <p:spPr>
          <a:xfrm>
            <a:off x="8386877" y="2468880"/>
            <a:ext cx="3119018" cy="960120"/>
          </a:xfrm>
          <a:prstGeom prst="rect">
            <a:avLst/>
          </a:prstGeom>
          <a:noFill/>
          <a:ln/>
        </p:spPr>
        <p:txBody>
          <a:bodyPr wrap="square" lIns="0" tIns="0" rIns="0" bIns="0" rtlCol="0" anchor="t"/>
          <a:lstStyle/>
          <a:p>
            <a:pPr indent="0" marL="0">
              <a:buNone/>
            </a:pPr>
            <a:r>
              <a:rPr lang="en-US" sz="1500" dirty="0">
                <a:solidFill>
                  <a:srgbClr val="5B6B71"/>
                </a:solidFill>
              </a:rPr>
              <a:t>Cost, vehicle, attendee register</a:t>
            </a:r>
            <a:endParaRPr lang="en-US" sz="1500" dirty="0"/>
          </a:p>
        </p:txBody>
      </p:sp>
      <p:sp>
        <p:nvSpPr>
          <p:cNvPr id="20" name="card"/>
          <p:cNvSpPr/>
          <p:nvPr/>
        </p:nvSpPr>
        <p:spPr>
          <a:xfrm>
            <a:off x="457200" y="3840480"/>
            <a:ext cx="3576218" cy="2148840"/>
          </a:xfrm>
          <a:prstGeom prst="roundRect">
            <a:avLst>
              <a:gd name="adj" fmla="val 3404"/>
            </a:avLst>
          </a:prstGeom>
          <a:solidFill>
            <a:srgbClr val="FFFFFF"/>
          </a:solidFill>
          <a:ln w="9525">
            <a:solidFill>
              <a:srgbClr val="DCE3E4"/>
            </a:solidFill>
            <a:prstDash val="solid"/>
          </a:ln>
        </p:spPr>
      </p:sp>
      <p:sp>
        <p:nvSpPr>
          <p:cNvPr id="21" name="icon circle"/>
          <p:cNvSpPr/>
          <p:nvPr/>
        </p:nvSpPr>
        <p:spPr>
          <a:xfrm>
            <a:off x="685800" y="4069080"/>
            <a:ext cx="658368" cy="658368"/>
          </a:xfrm>
          <a:prstGeom prst="ellipse">
            <a:avLst/>
          </a:prstGeom>
          <a:solidFill>
            <a:srgbClr val="0E5A5F"/>
          </a:solidFill>
          <a:ln w="12700">
            <a:solidFill>
              <a:srgbClr val="0E5A5F"/>
            </a:solidFill>
            <a:prstDash val="solid"/>
          </a:ln>
        </p:spPr>
      </p:sp>
      <p:pic>
        <p:nvPicPr>
          <p:cNvPr id="22" name="Image 3" descr="FaBullhorn">    </p:cNvPr>
          <p:cNvPicPr>
            <a:picLocks noChangeAspect="1"/>
          </p:cNvPicPr>
          <p:nvPr/>
        </p:nvPicPr>
        <p:blipFill>
          <a:blip r:embed="rId4"/>
          <a:stretch>
            <a:fillRect/>
          </a:stretch>
        </p:blipFill>
        <p:spPr>
          <a:xfrm>
            <a:off x="850392" y="4233672"/>
            <a:ext cx="329184" cy="329184"/>
          </a:xfrm>
          <a:prstGeom prst="rect">
            <a:avLst/>
          </a:prstGeom>
        </p:spPr>
      </p:pic>
      <p:sp>
        <p:nvSpPr>
          <p:cNvPr id="23" name="Text 16"/>
          <p:cNvSpPr txBox="1"/>
          <p:nvPr/>
        </p:nvSpPr>
        <p:spPr>
          <a:xfrm>
            <a:off x="1508760" y="411480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campaign</a:t>
            </a:r>
            <a:endParaRPr lang="en-US" sz="1900" dirty="0"/>
          </a:p>
        </p:txBody>
      </p:sp>
      <p:sp>
        <p:nvSpPr>
          <p:cNvPr id="24" name="Text 17"/>
          <p:cNvSpPr txBox="1"/>
          <p:nvPr/>
        </p:nvSpPr>
        <p:spPr>
          <a:xfrm>
            <a:off x="685800" y="4892040"/>
            <a:ext cx="3119018" cy="960120"/>
          </a:xfrm>
          <a:prstGeom prst="rect">
            <a:avLst/>
          </a:prstGeom>
          <a:noFill/>
          <a:ln/>
        </p:spPr>
        <p:txBody>
          <a:bodyPr wrap="square" lIns="0" tIns="0" rIns="0" bIns="0" rtlCol="0" anchor="t"/>
          <a:lstStyle/>
          <a:p>
            <a:pPr indent="0" marL="0">
              <a:buNone/>
            </a:pPr>
            <a:r>
              <a:rPr lang="en-US" sz="1500" dirty="0">
                <a:solidFill>
                  <a:srgbClr val="5B6B71"/>
                </a:solidFill>
              </a:rPr>
              <a:t>Cost through to ROI</a:t>
            </a:r>
            <a:endParaRPr lang="en-US" sz="1500" dirty="0"/>
          </a:p>
        </p:txBody>
      </p:sp>
      <p:sp>
        <p:nvSpPr>
          <p:cNvPr id="25" name="card"/>
          <p:cNvSpPr/>
          <p:nvPr/>
        </p:nvSpPr>
        <p:spPr>
          <a:xfrm>
            <a:off x="4307738" y="3840480"/>
            <a:ext cx="3576218" cy="2148840"/>
          </a:xfrm>
          <a:prstGeom prst="roundRect">
            <a:avLst>
              <a:gd name="adj" fmla="val 3404"/>
            </a:avLst>
          </a:prstGeom>
          <a:solidFill>
            <a:srgbClr val="FFFFFF"/>
          </a:solidFill>
          <a:ln w="9525">
            <a:solidFill>
              <a:srgbClr val="DCE3E4"/>
            </a:solidFill>
            <a:prstDash val="solid"/>
          </a:ln>
        </p:spPr>
      </p:sp>
      <p:sp>
        <p:nvSpPr>
          <p:cNvPr id="26" name="icon circle"/>
          <p:cNvSpPr/>
          <p:nvPr/>
        </p:nvSpPr>
        <p:spPr>
          <a:xfrm>
            <a:off x="4536338" y="4069080"/>
            <a:ext cx="658368" cy="658368"/>
          </a:xfrm>
          <a:prstGeom prst="ellipse">
            <a:avLst/>
          </a:prstGeom>
          <a:solidFill>
            <a:srgbClr val="0E5A5F"/>
          </a:solidFill>
          <a:ln w="12700">
            <a:solidFill>
              <a:srgbClr val="0E5A5F"/>
            </a:solidFill>
            <a:prstDash val="solid"/>
          </a:ln>
        </p:spPr>
      </p:sp>
      <p:pic>
        <p:nvPicPr>
          <p:cNvPr id="27" name="Image 4" descr="FaFileInvoiceDollar">    </p:cNvPr>
          <p:cNvPicPr>
            <a:picLocks noChangeAspect="1"/>
          </p:cNvPicPr>
          <p:nvPr/>
        </p:nvPicPr>
        <p:blipFill>
          <a:blip r:embed="rId5"/>
          <a:stretch>
            <a:fillRect/>
          </a:stretch>
        </p:blipFill>
        <p:spPr>
          <a:xfrm>
            <a:off x="4700930" y="4233672"/>
            <a:ext cx="329184" cy="329184"/>
          </a:xfrm>
          <a:prstGeom prst="rect">
            <a:avLst/>
          </a:prstGeom>
        </p:spPr>
      </p:pic>
      <p:sp>
        <p:nvSpPr>
          <p:cNvPr id="28" name="Text 20"/>
          <p:cNvSpPr txBox="1"/>
          <p:nvPr/>
        </p:nvSpPr>
        <p:spPr>
          <a:xfrm>
            <a:off x="5359298" y="411480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quotation</a:t>
            </a:r>
            <a:endParaRPr lang="en-US" sz="1900" dirty="0"/>
          </a:p>
        </p:txBody>
      </p:sp>
      <p:sp>
        <p:nvSpPr>
          <p:cNvPr id="29" name="Text 21"/>
          <p:cNvSpPr txBox="1"/>
          <p:nvPr/>
        </p:nvSpPr>
        <p:spPr>
          <a:xfrm>
            <a:off x="4536338" y="4892040"/>
            <a:ext cx="3119018" cy="960120"/>
          </a:xfrm>
          <a:prstGeom prst="rect">
            <a:avLst/>
          </a:prstGeom>
          <a:noFill/>
          <a:ln/>
        </p:spPr>
        <p:txBody>
          <a:bodyPr wrap="square" lIns="0" tIns="0" rIns="0" bIns="0" rtlCol="0" anchor="t"/>
          <a:lstStyle/>
          <a:p>
            <a:pPr indent="0" marL="0">
              <a:buNone/>
            </a:pPr>
            <a:r>
              <a:rPr lang="en-US" sz="1500" dirty="0">
                <a:solidFill>
                  <a:srgbClr val="5B6B71"/>
                </a:solidFill>
              </a:rPr>
              <a:t>Loss reason when not converted</a:t>
            </a:r>
            <a:endParaRPr lang="en-US" sz="1500" dirty="0"/>
          </a:p>
        </p:txBody>
      </p:sp>
      <p:sp>
        <p:nvSpPr>
          <p:cNvPr id="30" name="card"/>
          <p:cNvSpPr/>
          <p:nvPr/>
        </p:nvSpPr>
        <p:spPr>
          <a:xfrm>
            <a:off x="8158277" y="3840480"/>
            <a:ext cx="3576218" cy="2148840"/>
          </a:xfrm>
          <a:prstGeom prst="roundRect">
            <a:avLst>
              <a:gd name="adj" fmla="val 3404"/>
            </a:avLst>
          </a:prstGeom>
          <a:solidFill>
            <a:srgbClr val="FFFFFF"/>
          </a:solidFill>
          <a:ln w="9525">
            <a:solidFill>
              <a:srgbClr val="DCE3E4"/>
            </a:solidFill>
            <a:prstDash val="solid"/>
          </a:ln>
        </p:spPr>
      </p:sp>
      <p:sp>
        <p:nvSpPr>
          <p:cNvPr id="31" name="icon circle"/>
          <p:cNvSpPr/>
          <p:nvPr/>
        </p:nvSpPr>
        <p:spPr>
          <a:xfrm>
            <a:off x="8386877" y="4069080"/>
            <a:ext cx="658368" cy="658368"/>
          </a:xfrm>
          <a:prstGeom prst="ellipse">
            <a:avLst/>
          </a:prstGeom>
          <a:solidFill>
            <a:srgbClr val="0E5A5F"/>
          </a:solidFill>
          <a:ln w="12700">
            <a:solidFill>
              <a:srgbClr val="0E5A5F"/>
            </a:solidFill>
            <a:prstDash val="solid"/>
          </a:ln>
        </p:spPr>
      </p:sp>
      <p:pic>
        <p:nvPicPr>
          <p:cNvPr id="32" name="Image 5" descr="FaBook">    </p:cNvPr>
          <p:cNvPicPr>
            <a:picLocks noChangeAspect="1"/>
          </p:cNvPicPr>
          <p:nvPr/>
        </p:nvPicPr>
        <p:blipFill>
          <a:blip r:embed="rId6"/>
          <a:stretch>
            <a:fillRect/>
          </a:stretch>
        </p:blipFill>
        <p:spPr>
          <a:xfrm>
            <a:off x="8551469" y="4233672"/>
            <a:ext cx="329184" cy="329184"/>
          </a:xfrm>
          <a:prstGeom prst="rect">
            <a:avLst/>
          </a:prstGeom>
        </p:spPr>
      </p:pic>
      <p:sp>
        <p:nvSpPr>
          <p:cNvPr id="33" name="Text 24"/>
          <p:cNvSpPr txBox="1"/>
          <p:nvPr/>
        </p:nvSpPr>
        <p:spPr>
          <a:xfrm>
            <a:off x="9209837" y="411480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society</a:t>
            </a:r>
            <a:endParaRPr lang="en-US" sz="1900" dirty="0"/>
          </a:p>
        </p:txBody>
      </p:sp>
      <p:sp>
        <p:nvSpPr>
          <p:cNvPr id="34" name="Text 25"/>
          <p:cNvSpPr txBox="1"/>
          <p:nvPr/>
        </p:nvSpPr>
        <p:spPr>
          <a:xfrm>
            <a:off x="8386877" y="4892040"/>
            <a:ext cx="3119018" cy="960120"/>
          </a:xfrm>
          <a:prstGeom prst="rect">
            <a:avLst/>
          </a:prstGeom>
          <a:noFill/>
          <a:ln/>
        </p:spPr>
        <p:txBody>
          <a:bodyPr wrap="square" lIns="0" tIns="0" rIns="0" bIns="0" rtlCol="0" anchor="t"/>
          <a:lstStyle/>
          <a:p>
            <a:pPr indent="0" marL="0">
              <a:buNone/>
            </a:pPr>
            <a:r>
              <a:rPr lang="en-US" sz="1500" dirty="0">
                <a:solidFill>
                  <a:srgbClr val="5B6B71"/>
                </a:solidFill>
              </a:rPr>
              <a:t>Deposits credited, funerals deducted</a:t>
            </a:r>
            <a:endParaRPr lang="en-US" sz="15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411480"/>
            <a:ext cx="11064240" cy="10058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Falakhe does not need to reinvent the business. It needs to turn what already works into a system</a:t>
            </a:r>
            <a:endParaRPr lang="en-US" sz="2600" dirty="0"/>
          </a:p>
        </p:txBody>
      </p:sp>
      <p:sp>
        <p:nvSpPr>
          <p:cNvPr id="3" name="equation term"/>
          <p:cNvSpPr/>
          <p:nvPr/>
        </p:nvSpPr>
        <p:spPr>
          <a:xfrm>
            <a:off x="548640" y="1691640"/>
            <a:ext cx="2286000" cy="868680"/>
          </a:xfrm>
          <a:prstGeom prst="roundRect">
            <a:avLst>
              <a:gd name="adj" fmla="val 10526"/>
            </a:avLst>
          </a:prstGeom>
          <a:solidFill>
            <a:srgbClr val="0A4246"/>
          </a:solidFill>
          <a:ln w="12700">
            <a:solidFill>
              <a:srgbClr val="3E8A8F"/>
            </a:solidFill>
            <a:prstDash val="solid"/>
          </a:ln>
        </p:spPr>
      </p:sp>
      <p:sp>
        <p:nvSpPr>
          <p:cNvPr id="4" name="Text 2"/>
          <p:cNvSpPr txBox="1"/>
          <p:nvPr/>
        </p:nvSpPr>
        <p:spPr>
          <a:xfrm>
            <a:off x="548640" y="169164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Selling agents</a:t>
            </a:r>
            <a:endParaRPr lang="en-US" sz="1600" dirty="0"/>
          </a:p>
        </p:txBody>
      </p:sp>
      <p:sp>
        <p:nvSpPr>
          <p:cNvPr id="5" name="Text 3"/>
          <p:cNvSpPr txBox="1"/>
          <p:nvPr/>
        </p:nvSpPr>
        <p:spPr>
          <a:xfrm>
            <a:off x="2834640" y="169164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6" name="equation term"/>
          <p:cNvSpPr/>
          <p:nvPr/>
        </p:nvSpPr>
        <p:spPr>
          <a:xfrm>
            <a:off x="3383280" y="1691640"/>
            <a:ext cx="2286000" cy="868680"/>
          </a:xfrm>
          <a:prstGeom prst="roundRect">
            <a:avLst>
              <a:gd name="adj" fmla="val 10526"/>
            </a:avLst>
          </a:prstGeom>
          <a:solidFill>
            <a:srgbClr val="0A4246"/>
          </a:solidFill>
          <a:ln w="12700">
            <a:solidFill>
              <a:srgbClr val="3E8A8F"/>
            </a:solidFill>
            <a:prstDash val="solid"/>
          </a:ln>
        </p:spPr>
      </p:sp>
      <p:sp>
        <p:nvSpPr>
          <p:cNvPr id="7" name="Text 5"/>
          <p:cNvSpPr txBox="1"/>
          <p:nvPr/>
        </p:nvSpPr>
        <p:spPr>
          <a:xfrm>
            <a:off x="3383280" y="169164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Local territory ownership</a:t>
            </a:r>
            <a:endParaRPr lang="en-US" sz="1600" dirty="0"/>
          </a:p>
        </p:txBody>
      </p:sp>
      <p:sp>
        <p:nvSpPr>
          <p:cNvPr id="8" name="Text 6"/>
          <p:cNvSpPr txBox="1"/>
          <p:nvPr/>
        </p:nvSpPr>
        <p:spPr>
          <a:xfrm>
            <a:off x="5669280" y="169164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9" name="equation term"/>
          <p:cNvSpPr/>
          <p:nvPr/>
        </p:nvSpPr>
        <p:spPr>
          <a:xfrm>
            <a:off x="6217920" y="1691640"/>
            <a:ext cx="2286000" cy="868680"/>
          </a:xfrm>
          <a:prstGeom prst="roundRect">
            <a:avLst>
              <a:gd name="adj" fmla="val 10526"/>
            </a:avLst>
          </a:prstGeom>
          <a:solidFill>
            <a:srgbClr val="0A4246"/>
          </a:solidFill>
          <a:ln w="12700">
            <a:solidFill>
              <a:srgbClr val="3E8A8F"/>
            </a:solidFill>
            <a:prstDash val="solid"/>
          </a:ln>
        </p:spPr>
      </p:sp>
      <p:sp>
        <p:nvSpPr>
          <p:cNvPr id="10" name="Text 8"/>
          <p:cNvSpPr txBox="1"/>
          <p:nvPr/>
        </p:nvSpPr>
        <p:spPr>
          <a:xfrm>
            <a:off x="6217920" y="169164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Supported campaigns</a:t>
            </a:r>
            <a:endParaRPr lang="en-US" sz="1600" dirty="0"/>
          </a:p>
        </p:txBody>
      </p:sp>
      <p:sp>
        <p:nvSpPr>
          <p:cNvPr id="11" name="Text 9"/>
          <p:cNvSpPr txBox="1"/>
          <p:nvPr/>
        </p:nvSpPr>
        <p:spPr>
          <a:xfrm>
            <a:off x="8503920" y="169164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12" name="equation term"/>
          <p:cNvSpPr/>
          <p:nvPr/>
        </p:nvSpPr>
        <p:spPr>
          <a:xfrm>
            <a:off x="9052560" y="1691640"/>
            <a:ext cx="2286000" cy="868680"/>
          </a:xfrm>
          <a:prstGeom prst="roundRect">
            <a:avLst>
              <a:gd name="adj" fmla="val 10526"/>
            </a:avLst>
          </a:prstGeom>
          <a:solidFill>
            <a:srgbClr val="0A4246"/>
          </a:solidFill>
          <a:ln w="12700">
            <a:solidFill>
              <a:srgbClr val="3E8A8F"/>
            </a:solidFill>
            <a:prstDash val="solid"/>
          </a:ln>
        </p:spPr>
      </p:sp>
      <p:sp>
        <p:nvSpPr>
          <p:cNvPr id="13" name="Text 11"/>
          <p:cNvSpPr txBox="1"/>
          <p:nvPr/>
        </p:nvSpPr>
        <p:spPr>
          <a:xfrm>
            <a:off x="9052560" y="169164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Strong follow-up</a:t>
            </a:r>
            <a:endParaRPr lang="en-US" sz="1600" dirty="0"/>
          </a:p>
        </p:txBody>
      </p:sp>
      <p:sp>
        <p:nvSpPr>
          <p:cNvPr id="14" name="equation term"/>
          <p:cNvSpPr/>
          <p:nvPr/>
        </p:nvSpPr>
        <p:spPr>
          <a:xfrm>
            <a:off x="548640" y="2971800"/>
            <a:ext cx="2286000" cy="868680"/>
          </a:xfrm>
          <a:prstGeom prst="roundRect">
            <a:avLst>
              <a:gd name="adj" fmla="val 10526"/>
            </a:avLst>
          </a:prstGeom>
          <a:solidFill>
            <a:srgbClr val="0A4246"/>
          </a:solidFill>
          <a:ln w="12700">
            <a:solidFill>
              <a:srgbClr val="3E8A8F"/>
            </a:solidFill>
            <a:prstDash val="solid"/>
          </a:ln>
        </p:spPr>
      </p:sp>
      <p:sp>
        <p:nvSpPr>
          <p:cNvPr id="15" name="Text 13"/>
          <p:cNvSpPr txBox="1"/>
          <p:nvPr/>
        </p:nvSpPr>
        <p:spPr>
          <a:xfrm>
            <a:off x="548640" y="297180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Funeral lead generation</a:t>
            </a:r>
            <a:endParaRPr lang="en-US" sz="1600" dirty="0"/>
          </a:p>
        </p:txBody>
      </p:sp>
      <p:sp>
        <p:nvSpPr>
          <p:cNvPr id="16" name="Text 14"/>
          <p:cNvSpPr txBox="1"/>
          <p:nvPr/>
        </p:nvSpPr>
        <p:spPr>
          <a:xfrm>
            <a:off x="2834640" y="297180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17" name="equation term"/>
          <p:cNvSpPr/>
          <p:nvPr/>
        </p:nvSpPr>
        <p:spPr>
          <a:xfrm>
            <a:off x="3383280" y="2971800"/>
            <a:ext cx="2286000" cy="868680"/>
          </a:xfrm>
          <a:prstGeom prst="roundRect">
            <a:avLst>
              <a:gd name="adj" fmla="val 10526"/>
            </a:avLst>
          </a:prstGeom>
          <a:solidFill>
            <a:srgbClr val="0A4246"/>
          </a:solidFill>
          <a:ln w="12700">
            <a:solidFill>
              <a:srgbClr val="3E8A8F"/>
            </a:solidFill>
            <a:prstDash val="solid"/>
          </a:ln>
        </p:spPr>
      </p:sp>
      <p:sp>
        <p:nvSpPr>
          <p:cNvPr id="18" name="Text 16"/>
          <p:cNvSpPr txBox="1"/>
          <p:nvPr/>
        </p:nvSpPr>
        <p:spPr>
          <a:xfrm>
            <a:off x="3383280" y="297180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Good collections</a:t>
            </a:r>
            <a:endParaRPr lang="en-US" sz="1600" dirty="0"/>
          </a:p>
        </p:txBody>
      </p:sp>
      <p:sp>
        <p:nvSpPr>
          <p:cNvPr id="19" name="Text 17"/>
          <p:cNvSpPr txBox="1"/>
          <p:nvPr/>
        </p:nvSpPr>
        <p:spPr>
          <a:xfrm>
            <a:off x="5669280" y="297180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20" name="equation term"/>
          <p:cNvSpPr/>
          <p:nvPr/>
        </p:nvSpPr>
        <p:spPr>
          <a:xfrm>
            <a:off x="6217920" y="2971800"/>
            <a:ext cx="2286000" cy="868680"/>
          </a:xfrm>
          <a:prstGeom prst="roundRect">
            <a:avLst>
              <a:gd name="adj" fmla="val 10526"/>
            </a:avLst>
          </a:prstGeom>
          <a:solidFill>
            <a:srgbClr val="0A4246"/>
          </a:solidFill>
          <a:ln w="12700">
            <a:solidFill>
              <a:srgbClr val="3E8A8F"/>
            </a:solidFill>
            <a:prstDash val="solid"/>
          </a:ln>
        </p:spPr>
      </p:sp>
      <p:sp>
        <p:nvSpPr>
          <p:cNvPr id="21" name="Text 19"/>
          <p:cNvSpPr txBox="1"/>
          <p:nvPr/>
        </p:nvSpPr>
        <p:spPr>
          <a:xfrm>
            <a:off x="6217920" y="297180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Accurate costing</a:t>
            </a:r>
            <a:endParaRPr lang="en-US" sz="1600" dirty="0"/>
          </a:p>
        </p:txBody>
      </p:sp>
      <p:sp>
        <p:nvSpPr>
          <p:cNvPr id="22" name="Text 20"/>
          <p:cNvSpPr txBox="1"/>
          <p:nvPr/>
        </p:nvSpPr>
        <p:spPr>
          <a:xfrm>
            <a:off x="8503920" y="297180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23" name="equation term"/>
          <p:cNvSpPr/>
          <p:nvPr/>
        </p:nvSpPr>
        <p:spPr>
          <a:xfrm>
            <a:off x="9052560" y="2971800"/>
            <a:ext cx="2286000" cy="868680"/>
          </a:xfrm>
          <a:prstGeom prst="roundRect">
            <a:avLst>
              <a:gd name="adj" fmla="val 10526"/>
            </a:avLst>
          </a:prstGeom>
          <a:solidFill>
            <a:srgbClr val="0A4246"/>
          </a:solidFill>
          <a:ln w="12700">
            <a:solidFill>
              <a:srgbClr val="3E8A8F"/>
            </a:solidFill>
            <a:prstDash val="solid"/>
          </a:ln>
        </p:spPr>
      </p:sp>
      <p:sp>
        <p:nvSpPr>
          <p:cNvPr id="24" name="Text 22"/>
          <p:cNvSpPr txBox="1"/>
          <p:nvPr/>
        </p:nvSpPr>
        <p:spPr>
          <a:xfrm>
            <a:off x="9052560" y="297180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Cross-selling</a:t>
            </a:r>
            <a:endParaRPr lang="en-US" sz="1600" dirty="0"/>
          </a:p>
        </p:txBody>
      </p:sp>
      <p:sp>
        <p:nvSpPr>
          <p:cNvPr id="25" name="Text 23"/>
          <p:cNvSpPr txBox="1"/>
          <p:nvPr/>
        </p:nvSpPr>
        <p:spPr>
          <a:xfrm>
            <a:off x="11338560" y="169164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26" name="Text 24"/>
          <p:cNvSpPr txBox="1"/>
          <p:nvPr/>
        </p:nvSpPr>
        <p:spPr>
          <a:xfrm>
            <a:off x="548640" y="4160520"/>
            <a:ext cx="548640" cy="868680"/>
          </a:xfrm>
          <a:prstGeom prst="rect">
            <a:avLst/>
          </a:prstGeom>
          <a:noFill/>
          <a:ln/>
        </p:spPr>
        <p:txBody>
          <a:bodyPr wrap="square" lIns="0" tIns="0" rIns="0" bIns="0" rtlCol="0" anchor="ctr"/>
          <a:lstStyle/>
          <a:p>
            <a:pPr algn="ctr" indent="0" marL="0">
              <a:buNone/>
            </a:pPr>
            <a:r>
              <a:rPr lang="en-US" sz="3400" b="1" dirty="0">
                <a:solidFill>
                  <a:srgbClr val="9FD0D3"/>
                </a:solidFill>
              </a:rPr>
              <a:t>=</a:t>
            </a:r>
            <a:endParaRPr lang="en-US" sz="3400" dirty="0"/>
          </a:p>
        </p:txBody>
      </p:sp>
      <p:sp>
        <p:nvSpPr>
          <p:cNvPr id="27" name="equation result"/>
          <p:cNvSpPr/>
          <p:nvPr/>
        </p:nvSpPr>
        <p:spPr>
          <a:xfrm>
            <a:off x="1188720" y="4160520"/>
            <a:ext cx="5120640" cy="868680"/>
          </a:xfrm>
          <a:prstGeom prst="roundRect">
            <a:avLst>
              <a:gd name="adj" fmla="val 10526"/>
            </a:avLst>
          </a:prstGeom>
          <a:solidFill>
            <a:srgbClr val="FFFFFF"/>
          </a:solidFill>
          <a:ln w="12700">
            <a:solidFill>
              <a:srgbClr val="FFFFFF"/>
            </a:solidFill>
            <a:prstDash val="solid"/>
          </a:ln>
        </p:spPr>
      </p:sp>
      <p:sp>
        <p:nvSpPr>
          <p:cNvPr id="28" name="Text 26"/>
          <p:cNvSpPr txBox="1"/>
          <p:nvPr/>
        </p:nvSpPr>
        <p:spPr>
          <a:xfrm>
            <a:off x="1188720" y="4160520"/>
            <a:ext cx="5120640" cy="868680"/>
          </a:xfrm>
          <a:prstGeom prst="rect">
            <a:avLst/>
          </a:prstGeom>
          <a:noFill/>
          <a:ln/>
        </p:spPr>
        <p:txBody>
          <a:bodyPr wrap="square" lIns="0" tIns="0" rIns="0" bIns="0" rtlCol="0" anchor="ctr"/>
          <a:lstStyle/>
          <a:p>
            <a:pPr algn="ctr" indent="0" marL="0">
              <a:buNone/>
            </a:pPr>
            <a:r>
              <a:rPr lang="en-US" sz="2200" b="1" dirty="0">
                <a:solidFill>
                  <a:srgbClr val="0E5A5F"/>
                </a:solidFill>
                <a:latin typeface="Cambria" pitchFamily="34" charset="0"/>
                <a:ea typeface="Cambria" pitchFamily="34" charset="-122"/>
                <a:cs typeface="Cambria" pitchFamily="34" charset="-120"/>
              </a:rPr>
              <a:t>Predictable Falakhe growth</a:t>
            </a:r>
            <a:endParaRPr lang="en-US" sz="2200" dirty="0"/>
          </a:p>
        </p:txBody>
      </p:sp>
      <p:sp>
        <p:nvSpPr>
          <p:cNvPr id="29" name="Text 27"/>
          <p:cNvSpPr txBox="1"/>
          <p:nvPr/>
        </p:nvSpPr>
        <p:spPr>
          <a:xfrm>
            <a:off x="548640" y="5349240"/>
            <a:ext cx="9601200" cy="914400"/>
          </a:xfrm>
          <a:prstGeom prst="rect">
            <a:avLst/>
          </a:prstGeom>
          <a:noFill/>
          <a:ln/>
        </p:spPr>
        <p:txBody>
          <a:bodyPr wrap="square" lIns="0" tIns="0" rIns="0" bIns="0" rtlCol="0" anchor="t"/>
          <a:lstStyle/>
          <a:p>
            <a:pPr indent="0" marL="0">
              <a:buNone/>
            </a:pPr>
            <a:r>
              <a:rPr lang="en-US" sz="1400" b="1" dirty="0">
                <a:solidFill>
                  <a:srgbClr val="B9D3D4"/>
                </a:solidFill>
              </a:rPr>
              <a:t>Realistic one-year goal (projected, if the plan is carried out)</a:t>
            </a:r>
            <a:endParaRPr lang="en-US" sz="1400" dirty="0"/>
          </a:p>
          <a:p>
            <a:pPr indent="0" marL="0">
              <a:buNone/>
            </a:pPr>
            <a:r>
              <a:rPr lang="en-US" sz="2000" b="1" dirty="0">
                <a:solidFill>
                  <a:srgbClr val="FFFFFF"/>
                </a:solidFill>
              </a:rPr>
              <a:t>About 1,000 policies in force  ·  about USD 21,000 a month money in</a:t>
            </a:r>
            <a:endParaRPr lang="en-US" sz="1400" dirty="0"/>
          </a:p>
        </p:txBody>
      </p:sp>
      <p:sp>
        <p:nvSpPr>
          <p:cNvPr id="30" name="logo disc"/>
          <p:cNvSpPr/>
          <p:nvPr/>
        </p:nvSpPr>
        <p:spPr>
          <a:xfrm>
            <a:off x="10378440" y="4983480"/>
            <a:ext cx="1280160" cy="1280160"/>
          </a:xfrm>
          <a:prstGeom prst="ellipse">
            <a:avLst/>
          </a:prstGeom>
          <a:solidFill>
            <a:srgbClr val="FFFFFF"/>
          </a:solidFill>
          <a:ln w="12700">
            <a:solidFill>
              <a:srgbClr val="FFFFFF"/>
            </a:solidFill>
            <a:prstDash val="solid"/>
          </a:ln>
        </p:spPr>
      </p:sp>
      <p:pic>
        <p:nvPicPr>
          <p:cNvPr id="31" name="Image 0" descr="Falakhe Funeral Parlour logo">    </p:cNvPr>
          <p:cNvPicPr>
            <a:picLocks noChangeAspect="1"/>
          </p:cNvPicPr>
          <p:nvPr/>
        </p:nvPicPr>
        <p:blipFill>
          <a:blip r:embed="rId1"/>
          <a:stretch>
            <a:fillRect/>
          </a:stretch>
        </p:blipFill>
        <p:spPr>
          <a:xfrm>
            <a:off x="10469880" y="5074920"/>
            <a:ext cx="1097280" cy="1088136"/>
          </a:xfrm>
          <a:prstGeom prst="rect">
            <a:avLst/>
          </a:prstGeom>
        </p:spPr>
      </p:pic>
      <p:sp>
        <p:nvSpPr>
          <p:cNvPr id="33" name="Text 0"/>
          <p:cNvSpPr/>
          <p:nvPr>
            <p:ph idx="100" type="title" hasCustomPrompt="1"/>
          </p:nvPr>
        </p:nvSpPr>
        <p:spPr>
          <a:xfrm>
            <a:off x="731520" y="2148840"/>
            <a:ext cx="7680960" cy="1737360"/>
          </a:xfrm>
          <a:prstGeom prst="rect">
            <a:avLst/>
          </a:prstGeom>
          <a:noFill/>
          <a:ln/>
        </p:spPr>
        <p:txBody>
          <a:bodyPr wrap="square" lIns="0" tIns="0" rIns="0" bIns="0" rtlCol="0" anchor="t"/>
          <a:lstStyle/>
          <a:p>
            <a:pPr algn="l" indent="0" marL="0">
              <a:buNone/>
            </a:pPr>
            <a:endParaRPr lang="en-US" sz="3400" dirty="0"/>
          </a:p>
        </p:txBody>
      </p:sp>
      <p:sp>
        <p:nvSpPr>
          <p:cNvPr id="34" name="Text 0"/>
          <p:cNvSpPr/>
          <p:nvPr>
            <p:ph idx="101" type="body" hasCustomPrompt="1"/>
          </p:nvPr>
        </p:nvSpPr>
        <p:spPr>
          <a:xfrm>
            <a:off x="731520" y="4069080"/>
            <a:ext cx="7680960" cy="109728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A</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Monthly sales against target</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463040"/>
                <a:gridCol w="914400"/>
                <a:gridCol w="731520"/>
                <a:gridCol w="868680"/>
                <a:gridCol w="914400"/>
                <a:gridCol w="731520"/>
                <a:gridCol w="868680"/>
                <a:gridCol w="868680"/>
                <a:gridCol w="822960"/>
                <a:gridCol w="914400"/>
                <a:gridCol w="822960"/>
                <a:gridCol w="1353312"/>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Month</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New joinings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Joined &amp; paid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Conversion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 clients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Legacy product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Existing clients moved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Selling agents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Mar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Apr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May</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Jun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Jul</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Aug</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Total Mar–Sep</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296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1,750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700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480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Oct 1–4 (partial)</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507492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New business = new Zimbabwe policies. SA clients, Legacy products and existing clients moved onto the system are listed separately. March may include some SA returnees who cannot be separated. Gap to target Mar–Sep: joinings −1,454; joined &amp; paid −592. Oct 1–4 is partial.</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B</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Policies sold and paid by seller since March</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547208" cy="914400"/>
        </p:xfrm>
        <a:graphic>
          <a:graphicData uri="http://schemas.openxmlformats.org/drawingml/2006/table">
            <a:tbl>
              <a:tblPr/>
              <a:tblGrid>
                <a:gridCol w="1981048"/>
                <a:gridCol w="777240"/>
                <a:gridCol w="777240"/>
                <a:gridCol w="1005840"/>
                <a:gridCol w="100584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Paid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Conversion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Sep joinings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Office counter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Pesuate Mhlanga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Gugulethu Moyo</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Nqobile Ncube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Nothabo Ndlovu</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Kimberly Chikaunda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Patience Moyo</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Andile Mtukwa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Ayanda Muringazuva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6187288" y="1371600"/>
          <a:ext cx="5547208" cy="914400"/>
        </p:xfrm>
        <a:graphic>
          <a:graphicData uri="http://schemas.openxmlformats.org/drawingml/2006/table">
            <a:tbl>
              <a:tblPr/>
              <a:tblGrid>
                <a:gridCol w="1981048"/>
                <a:gridCol w="777240"/>
                <a:gridCol w="777240"/>
                <a:gridCol w="1005840"/>
                <a:gridCol w="100584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Paid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Conversion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Sep joinings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Norman Mpofu</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Alisa Ncube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Thokozani Moyo</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Peacemaker Matizha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Sibonginkosi Nyathi</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Irvine Nyerukai</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Arnold Chimwe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Lindani Ndebele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457200" y="484632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New business policies, March to 4 October. Conversion shown for sellers with 5 or more sales. “—” = no monthly breakdown available.</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C</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Products: captured, paid and average premium</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2011680"/>
                <a:gridCol w="1005840"/>
                <a:gridCol w="914400"/>
                <a:gridCol w="914400"/>
                <a:gridCol w="1554480"/>
                <a:gridCol w="1828800"/>
                <a:gridCol w="3044952"/>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Product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Captured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Paid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Paid %</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Avg premium (USD)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Status today</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UMTHUNZI</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69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12.21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63 active / grace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Strongest product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UMNDENI</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133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7.22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105 inactive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Two adults to 64 + four children 0–20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YEDWANA</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4.08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Small volume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Legacy Individual</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24 are SA clients; not new business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Legacy Group</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Not new business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D</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Money in by stream and dollar collections, June to September</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3017520"/>
                <a:gridCol w="1371600"/>
                <a:gridCol w="1371600"/>
                <a:gridCol w="1371600"/>
                <a:gridCol w="1371600"/>
                <a:gridCol w="1463040"/>
                <a:gridCol w="1307592"/>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Jun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Jul</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Aug</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Jun–Sep</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Share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Society lump sums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6,922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5,037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7,705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6,706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26,370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Cash funerals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3,145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6,733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5,902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4,375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20,155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Individual premiums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1,915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2,204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7,160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Society-member premiums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1,447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2,537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Money in (total)</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10,558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13,825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16,760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15,078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56,221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Change vs prior month</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Individual USD due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1,749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3,484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4,675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Individual USD collected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1,755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1,925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2,284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Collection rate (target 70%)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98348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Shares are rounded. Money records start in June.</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E</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Funerals, mortuary and vehicle hire, June to September</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3291840"/>
                <a:gridCol w="1554480"/>
                <a:gridCol w="1554480"/>
                <a:gridCol w="1554480"/>
                <a:gridCol w="1554480"/>
                <a:gridCol w="1764792"/>
              </a:tblGrid>
              <a:tr h="384048">
                <a:tc>
                  <a:txBody>
                    <a:bodyPr/>
                    <a:lstStyle/>
                    <a:p>
                      <a:pPr algn="l" indent="0" marL="0">
                        <a:buNone/>
                      </a:pP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Jun</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Jul</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Aug</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Sep</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Policy funerals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Cash funerals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Type not recorded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E2A2F"/>
                          </a:solidFill>
                          <a:latin typeface="Calibri" pitchFamily="34" charset="0"/>
                          <a:ea typeface="Calibri" pitchFamily="34" charset="-122"/>
                          <a:cs typeface="Calibri" pitchFamily="34" charset="-120"/>
                        </a:rPr>
                        <a:t>Total funerals (burial date)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38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39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126</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Mortuary intakes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Storage fees charged (USD)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540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340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220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1,140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Vehicle hire (USD)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1,865</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885</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1,448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725</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4,923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57200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Costed so far: 20 of 44 cash and 45 of 81 policy funerals. 62 of 129 funerals have no vehicle recorded. Storage fees: none recorded as collected.</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F</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Data notes</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4023360"/>
                <a:gridCol w="3657600"/>
                <a:gridCol w="3593592"/>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Effect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September funerals: 22, 21, 18 or 17 depending on the date used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12 cases have no burial date; this report uses 22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Burial date required on every funeral</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Filabusi: about 16 clients reported in September, 12 on the system</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Filabusi's September figure may be low</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Reconcile September policies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September requisitions: 59 recorded (265 in August)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September costs likely understated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Capture all spending</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REQ-00216: fuel USD 1,500, possibly ZAR</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Fleet cost may be overstated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Check the source document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58 societies have no members recorded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Society position cannot be measured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Capture members, largest first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Branch data incomplete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No branch comparison yet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Branch and territory on every policy</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October covers 1–4 only</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Not compared with full months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Full October in the next report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45</a:t>
            </a:fld>
            <a:endParaRPr lang="en-US"/>
          </a:p>
        </p:txBody>
      </p:sp>
    </p:spTree>
  </p:cSld>
  <p:clrMapOvr>
    <a:masterClrMapping/>
  </p:clrMapOvr>
</p:sld>
</file>

<file path=ppt/theme/theme1.xml><?xml version="1.0" encoding="utf-8"?>
<a:theme xmlns:a="http://schemas.openxmlformats.org/drawingml/2006/main" name="Falakhe Report">
  <a:themeElements>
    <a:clrScheme name="Falakhe Report">
      <a:dk1>
        <a:srgbClr val="1E2A2F"/>
      </a:dk1>
      <a:lt1>
        <a:srgbClr val="FFFFFF"/>
      </a:lt1>
      <a:dk2>
        <a:srgbClr val="0E5A5F"/>
      </a:dk2>
      <a:lt2>
        <a:srgbClr val="F5F7F7"/>
      </a:lt2>
      <a:accent1>
        <a:srgbClr val="2E6DB4"/>
      </a:accent1>
      <a:accent2>
        <a:srgbClr val="E07B39"/>
      </a:accent2>
      <a:accent3>
        <a:srgbClr val="34ADB3"/>
      </a:accent3>
      <a:accent4>
        <a:srgbClr val="E2B530"/>
      </a:accent4>
      <a:accent5>
        <a:srgbClr val="0E5A5F"/>
      </a:accent5>
      <a:accent6>
        <a:srgbClr val="6E7C82"/>
      </a:accent6>
      <a:hlink>
        <a:srgbClr val="2E6DB4"/>
      </a:hlink>
      <a:folHlink>
        <a:srgbClr val="0E5A5F"/>
      </a:folHlink>
    </a:clrScheme>
    <a:fontScheme name="Falakhe Re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Falakhe Funeral Parlour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Sales and Operations Intelligence Report</dc:title>
  <dc:subject>PptxGenJS Presentation</dc:subject>
  <dc:creator>Head of Sales and Marketing, Falakhe Funeral Parlour</dc:creator>
  <cp:lastModifiedBy>Head of Sales and Marketing, Falakhe Funeral Parlour</cp:lastModifiedBy>
  <cp:revision>1</cp:revision>
  <dcterms:created xsi:type="dcterms:W3CDTF">2026-10-05T06:58:13Z</dcterms:created>
  <dcterms:modified xsi:type="dcterms:W3CDTF">2026-10-05T06:58:13Z</dcterms:modified>
</cp:coreProperties>
</file>
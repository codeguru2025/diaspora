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8.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4.xml" ContentType="application/vnd.openxmlformats-officedocument.drawingml.chart+xml"/>
  <Override PartName="/ppt/charts/chart15.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6.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7.xml" ContentType="application/vnd.openxmlformats-officedocument.drawingml.chart+xml"/>
  <Override PartName="/ppt/charts/chart18.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9.xml" ContentType="application/vnd.openxmlformats-officedocument.drawingml.chart+xml"/>
  <Override PartName="/ppt/charts/chart20.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21.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22.xml" ContentType="application/vnd.openxmlformats-officedocument.drawingml.chart+xml"/>
  <Override PartName="/ppt/charts/chart23.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24.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5.xml" ContentType="application/vnd.openxmlformats-officedocument.drawingml.chart+xml"/>
  <Override PartName="/ppt/charts/chart26.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7.xml" ContentType="application/vnd.openxmlformats-officedocument.drawingml.chart+xml"/>
  <Override PartName="/ppt/charts/chart28.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29.xml" ContentType="application/vnd.openxmlformats-officedocument.drawingml.chart+xml"/>
  <Override PartName="/ppt/charts/chart30.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31.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32.xml" ContentType="application/vnd.openxmlformats-officedocument.drawingml.chart+xml"/>
  <Override PartName="/ppt/charts/chart33.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charts/chart34.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973563a-034b-41e9-4a11-318b67036ab9}">
          <p14:sldIdLst>
            <p14:sldId id="256"/>
            <p14:sldId id="257"/>
            <p14:sldId id="258"/>
            <p14:sldId id="259"/>
            <p14:sldId id="260"/>
          </p14:sldIdLst>
        </p14:section>
        <p14:section name="Sales and agents" id="{01b52ea5-5048-4673-480d-716cb667acf2}">
          <p14:sldIdLst>
            <p14:sldId id="261"/>
            <p14:sldId id="262"/>
            <p14:sldId id="263"/>
            <p14:sldId id="264"/>
            <p14:sldId id="265"/>
            <p14:sldId id="266"/>
            <p14:sldId id="267"/>
            <p14:sldId id="268"/>
            <p14:sldId id="269"/>
            <p14:sldId id="270"/>
            <p14:sldId id="271"/>
          </p14:sldIdLst>
        </p14:section>
        <p14:section name="Products" id="{61e6ed47-ee99-5fed-53ad-ac4f93c711bc}">
          <p14:sldIdLst>
            <p14:sldId id="272"/>
            <p14:sldId id="273"/>
          </p14:sldIdLst>
        </p14:section>
        <p14:section name="The book and retention" id="{b4490e7b-d725-aea9-804e-37c57c3f9f30}">
          <p14:sldIdLst>
            <p14:sldId id="274"/>
            <p14:sldId id="275"/>
            <p14:sldId id="276"/>
            <p14:sldId id="277"/>
            <p14:sldId id="278"/>
          </p14:sldIdLst>
        </p14:section>
        <p14:section name="Money" id="{63eb8ff8-5187-b7bc-855b-ed0b211515ce}">
          <p14:sldIdLst>
            <p14:sldId id="279"/>
            <p14:sldId id="280"/>
            <p14:sldId id="281"/>
          </p14:sldIdLst>
        </p14:section>
        <p14:section name="Funerals and operations" id="{54332a14-f113-1d0e-43eb-805af0cef680}">
          <p14:sldIdLst>
            <p14:sldId id="282"/>
            <p14:sldId id="283"/>
            <p14:sldId id="284"/>
            <p14:sldId id="285"/>
            <p14:sldId id="286"/>
          </p14:sldIdLst>
        </p14:section>
        <p14:section name="Societies and ecosystem" id="{cef49437-8f85-9627-e31b-942ef28d420e}">
          <p14:sldIdLst>
            <p14:sldId id="287"/>
            <p14:sldId id="288"/>
          </p14:sldIdLst>
        </p14:section>
        <p14:section name="Outlook" id="{1f0963ee-b617-21b4-90fa-60788e1af0bb}">
          <p14:sldIdLst>
            <p14:sldId id="289"/>
            <p14:sldId id="290"/>
            <p14:sldId id="291"/>
          </p14:sldIdLst>
        </p14:section>
        <p14:section name="Plan and conclusion" id="{fb6985c2-99dd-9228-f5cf-4af7681dd3ab}">
          <p14:sldIdLst>
            <p14:sldId id="292"/>
            <p14:sldId id="293"/>
            <p14:sldId id="294"/>
            <p14:sldId id="295"/>
          </p14:sldIdLst>
        </p14:section>
        <p14:section name="Appendix" id="{2056868b-5c2b-a1af-cd5f-4d0045e1a905}">
          <p14:sldIdLst>
            <p14:sldId id="296"/>
            <p14:sldId id="297"/>
            <p14:sldId id="298"/>
            <p14:sldId id="299"/>
            <p14:sldId id="300"/>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Policies captured as “new”, by type (count)</a:t>
            </a:r>
          </a:p>
        </c:rich>
      </c:tx>
      <c:layout/>
      <c:overlay val="0"/>
    </c:title>
    <c:autoTitleDeleted val="0"/>
    <c:plotArea>
      <c:layout/>
      <c:barChart>
        <c:barDir val="col"/>
        <c:grouping val="stacked"/>
        <c:varyColors val="0"/>
        <c:ser>
          <c:idx val="0"/>
          <c:order val="0"/>
          <c:tx>
            <c:strRef>
              <c:f>Sheet1!$B$1</c:f>
              <c:strCache>
                <c:ptCount val="1"/>
                <c:pt idx="0">
                  <c:v>Genuine new (ZW)</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cat>
            <c:multiLvlStrRef>
              <c:f>Sheet1!$A$2:$A$9</c:f>
              <c:multiLvlStrCache>
                <c:ptCount val="8"/>
                <c:lvl>
                  <c:pt idx="0">
                    <c:v>Mar</c:v>
                  </c:pt>
                  <c:pt idx="1">
                    <c:v>Apr</c:v>
                  </c:pt>
                  <c:pt idx="2">
                    <c:v>May</c:v>
                  </c:pt>
                  <c:pt idx="3">
                    <c:v>Jun</c:v>
                  </c:pt>
                  <c:pt idx="4">
                    <c:v>Jul</c:v>
                  </c:pt>
                  <c:pt idx="5">
                    <c:v>Aug</c:v>
                  </c:pt>
                  <c:pt idx="6">
                    <c:v>Sep</c:v>
                  </c:pt>
                  <c:pt idx="7">
                    <c:v>Oct 1–4 (partial)</c:v>
                  </c:pt>
                </c:lvl>
              </c:multiLvlStrCache>
            </c:multiLvlStrRef>
          </c:cat>
          <c:val>
            <c:numRef>
              <c:f>Sheet1!$B$2:$B$9</c:f>
              <c:numCache>
                <c:formatCode>General</c:formatCode>
                <c:ptCount val="8"/>
                <c:pt idx="0">
                  <c:v>64</c:v>
                </c:pt>
                <c:pt idx="1">
                  <c:v>7</c:v>
                </c:pt>
                <c:pt idx="2">
                  <c:v>9</c:v>
                </c:pt>
                <c:pt idx="3">
                  <c:v>117</c:v>
                </c:pt>
                <c:pt idx="4">
                  <c:v>54</c:v>
                </c:pt>
                <c:pt idx="5">
                  <c:v>16</c:v>
                </c:pt>
                <c:pt idx="6">
                  <c:v>29</c:v>
                </c:pt>
                <c:pt idx="7">
                  <c:v>2</c:v>
                </c:pt>
              </c:numCache>
            </c:numRef>
          </c:val>
        </c:ser>
        <c:ser>
          <c:idx val="1"/>
          <c:order val="1"/>
          <c:tx>
            <c:strRef>
              <c:f>Sheet1!$C$1</c:f>
              <c:strCache>
                <c:ptCount val="1"/>
                <c:pt idx="0">
                  <c:v>South African clients</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cat>
            <c:multiLvlStrRef>
              <c:f>Sheet1!$A$2:$A$9</c:f>
              <c:multiLvlStrCache>
                <c:ptCount val="8"/>
                <c:lvl>
                  <c:pt idx="0">
                    <c:v>Mar</c:v>
                  </c:pt>
                  <c:pt idx="1">
                    <c:v>Apr</c:v>
                  </c:pt>
                  <c:pt idx="2">
                    <c:v>May</c:v>
                  </c:pt>
                  <c:pt idx="3">
                    <c:v>Jun</c:v>
                  </c:pt>
                  <c:pt idx="4">
                    <c:v>Jul</c:v>
                  </c:pt>
                  <c:pt idx="5">
                    <c:v>Aug</c:v>
                  </c:pt>
                  <c:pt idx="6">
                    <c:v>Sep</c:v>
                  </c:pt>
                  <c:pt idx="7">
                    <c:v>Oct 1–4 (partial)</c:v>
                  </c:pt>
                </c:lvl>
              </c:multiLvlStrCache>
            </c:multiLvlStrRef>
          </c:cat>
          <c:val>
            <c:numRef>
              <c:f>Sheet1!$C$2:$C$9</c:f>
              <c:numCache>
                <c:formatCode>General</c:formatCode>
                <c:ptCount val="8"/>
                <c:pt idx="0">
                  <c:v>0</c:v>
                </c:pt>
                <c:pt idx="1">
                  <c:v>0</c:v>
                </c:pt>
                <c:pt idx="2">
                  <c:v>0</c:v>
                </c:pt>
                <c:pt idx="3">
                  <c:v>0</c:v>
                </c:pt>
                <c:pt idx="4">
                  <c:v>5</c:v>
                </c:pt>
                <c:pt idx="5">
                  <c:v>12</c:v>
                </c:pt>
                <c:pt idx="6">
                  <c:v>7</c:v>
                </c:pt>
                <c:pt idx="7">
                  <c:v>0</c:v>
                </c:pt>
              </c:numCache>
            </c:numRef>
          </c:val>
        </c:ser>
        <c:ser>
          <c:idx val="2"/>
          <c:order val="2"/>
          <c:tx>
            <c:strRef>
              <c:f>Sheet1!$D$1</c:f>
              <c:strCache>
                <c:ptCount val="1"/>
                <c:pt idx="0">
                  <c:v>Legacy product</c:v>
                </c:pt>
              </c:strCache>
            </c:strRef>
          </c:tx>
          <c:spPr>
            <a:solidFill>
              <a:srgbClr val="34ADB3"/>
            </a:solidFill>
            <a:effectLst/>
          </c:spPr>
          <c:invertIfNegative val="0"/>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cat>
            <c:multiLvlStrRef>
              <c:f>Sheet1!$A$2:$A$9</c:f>
              <c:multiLvlStrCache>
                <c:ptCount val="8"/>
                <c:lvl>
                  <c:pt idx="0">
                    <c:v>Mar</c:v>
                  </c:pt>
                  <c:pt idx="1">
                    <c:v>Apr</c:v>
                  </c:pt>
                  <c:pt idx="2">
                    <c:v>May</c:v>
                  </c:pt>
                  <c:pt idx="3">
                    <c:v>Jun</c:v>
                  </c:pt>
                  <c:pt idx="4">
                    <c:v>Jul</c:v>
                  </c:pt>
                  <c:pt idx="5">
                    <c:v>Aug</c:v>
                  </c:pt>
                  <c:pt idx="6">
                    <c:v>Sep</c:v>
                  </c:pt>
                  <c:pt idx="7">
                    <c:v>Oct 1–4 (partial)</c:v>
                  </c:pt>
                </c:lvl>
              </c:multiLvlStrCache>
            </c:multiLvlStrRef>
          </c:cat>
          <c:val>
            <c:numRef>
              <c:f>Sheet1!$D$2:$D$9</c:f>
              <c:numCache>
                <c:formatCode>General</c:formatCode>
                <c:ptCount val="8"/>
                <c:pt idx="0">
                  <c:v>0</c:v>
                </c:pt>
                <c:pt idx="1">
                  <c:v>0</c:v>
                </c:pt>
                <c:pt idx="2">
                  <c:v>0</c:v>
                </c:pt>
                <c:pt idx="3">
                  <c:v>0</c:v>
                </c:pt>
                <c:pt idx="4">
                  <c:v>7</c:v>
                </c:pt>
                <c:pt idx="5">
                  <c:v>7</c:v>
                </c:pt>
                <c:pt idx="6">
                  <c:v>0</c:v>
                </c:pt>
                <c:pt idx="7">
                  <c:v>0</c:v>
                </c:pt>
              </c:numCache>
            </c:numRef>
          </c:val>
        </c:ser>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Genuine new joinings per month vs target</a:t>
            </a:r>
          </a:p>
        </c:rich>
      </c:tx>
      <c:layout/>
      <c:overlay val="0"/>
    </c:title>
    <c:autoTitleDeleted val="0"/>
    <c:plotArea>
      <c:layout/>
      <c:lineChart>
        <c:varyColors val="0"/>
        <c:ser>
          <c:idx val="0"/>
          <c:order val="0"/>
          <c:tx>
            <c:strRef>
              <c:f>Sheet1!$B$1</c:f>
              <c:strCache>
                <c:ptCount val="1"/>
                <c:pt idx="0">
                  <c:v>Genuine new joinings</c:v>
                </c:pt>
              </c:strCache>
            </c:strRef>
          </c:tx>
          <c:spPr>
            <a:solidFill>
              <a:srgbClr val="2E6DB4"/>
            </a:solidFill>
            <a:ln w="38100" cap="flat">
              <a:solidFill>
                <a:srgbClr val="2E6DB4"/>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6DB4"/>
              </a:solidFill>
              <a:ln w="9525" cap="flat">
                <a:solidFill>
                  <a:srgbClr val="2E6DB4"/>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Sheet1!$B$2:$B$8</c:f>
              <c:numCache>
                <c:formatCode>General</c:formatCode>
                <c:ptCount val="7"/>
                <c:pt idx="0">
                  <c:v>64</c:v>
                </c:pt>
                <c:pt idx="1">
                  <c:v>7</c:v>
                </c:pt>
                <c:pt idx="2">
                  <c:v>9</c:v>
                </c:pt>
                <c:pt idx="3">
                  <c:v>117</c:v>
                </c:pt>
                <c:pt idx="4">
                  <c:v>54</c:v>
                </c:pt>
                <c:pt idx="5">
                  <c:v>16</c:v>
                </c:pt>
                <c:pt idx="6">
                  <c:v>29</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Target (250 a month)</c:v>
                </c:pt>
              </c:strCache>
            </c:strRef>
          </c:tx>
          <c:spPr>
            <a:solidFill>
              <a:srgbClr val="6E7C82"/>
            </a:solidFill>
            <a:ln w="25400" cap="flat">
              <a:solidFill>
                <a:srgbClr val="6E7C82"/>
              </a:solidFill>
              <a:prstDash val="dash"/>
              <a:round/>
            </a:ln>
            <a:effectLst/>
          </c:spPr>
          <c:invertIfNegative val="0"/>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c:symbol val="none"/>
            <c:size val="6"/>
            <c:spPr>
              <a:solidFill>
                <a:srgbClr val="6E7C82"/>
              </a:solidFill>
              <a:ln w="9525" cap="flat">
                <a:solidFill>
                  <a:srgbClr val="6E7C82"/>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Sheet1!$C$2:$C$8</c:f>
              <c:numCache>
                <c:formatCode>General</c:formatCode>
                <c:ptCount val="7"/>
                <c:pt idx="0">
                  <c:v>250</c:v>
                </c:pt>
                <c:pt idx="1">
                  <c:v>250</c:v>
                </c:pt>
                <c:pt idx="2">
                  <c:v>250</c:v>
                </c:pt>
                <c:pt idx="3">
                  <c:v>250</c:v>
                </c:pt>
                <c:pt idx="4">
                  <c:v>250</c:v>
                </c:pt>
                <c:pt idx="5">
                  <c:v>250</c:v>
                </c:pt>
                <c:pt idx="6">
                  <c:v>250</c:v>
                </c:pt>
              </c:numCache>
            </c:numRef>
          </c:val>
          <c:smooth val="0"/>
        </c:ser>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3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Genuine joined and paid per month vs target</a:t>
            </a:r>
          </a:p>
        </c:rich>
      </c:tx>
      <c:layout/>
      <c:overlay val="0"/>
    </c:title>
    <c:autoTitleDeleted val="0"/>
    <c:plotArea>
      <c:layout/>
      <c:lineChart>
        <c:varyColors val="0"/>
        <c:ser>
          <c:idx val="0"/>
          <c:order val="0"/>
          <c:tx>
            <c:strRef>
              <c:f>Sheet1!$B$1</c:f>
              <c:strCache>
                <c:ptCount val="1"/>
                <c:pt idx="0">
                  <c:v>Joined and paid</c:v>
                </c:pt>
              </c:strCache>
            </c:strRef>
          </c:tx>
          <c:spPr>
            <a:solidFill>
              <a:srgbClr val="2E6DB4"/>
            </a:solidFill>
            <a:ln w="38100" cap="flat">
              <a:solidFill>
                <a:srgbClr val="2E6DB4"/>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6DB4"/>
              </a:solidFill>
              <a:ln w="9525" cap="flat">
                <a:solidFill>
                  <a:srgbClr val="2E6DB4"/>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Sheet1!$B$2:$B$8</c:f>
              <c:numCache>
                <c:formatCode>General</c:formatCode>
                <c:ptCount val="7"/>
                <c:pt idx="0">
                  <c:v>16</c:v>
                </c:pt>
                <c:pt idx="1">
                  <c:v>3</c:v>
                </c:pt>
                <c:pt idx="2">
                  <c:v>0</c:v>
                </c:pt>
                <c:pt idx="3">
                  <c:v>31</c:v>
                </c:pt>
                <c:pt idx="4">
                  <c:v>23</c:v>
                </c:pt>
                <c:pt idx="5">
                  <c:v>13</c:v>
                </c:pt>
                <c:pt idx="6">
                  <c:v>22</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Target (100 a month)</c:v>
                </c:pt>
              </c:strCache>
            </c:strRef>
          </c:tx>
          <c:spPr>
            <a:solidFill>
              <a:srgbClr val="6E7C82"/>
            </a:solidFill>
            <a:ln w="25400" cap="flat">
              <a:solidFill>
                <a:srgbClr val="6E7C82"/>
              </a:solidFill>
              <a:prstDash val="dash"/>
              <a:round/>
            </a:ln>
            <a:effectLst/>
          </c:spPr>
          <c:invertIfNegative val="0"/>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c:symbol val="none"/>
            <c:size val="6"/>
            <c:spPr>
              <a:solidFill>
                <a:srgbClr val="6E7C82"/>
              </a:solidFill>
              <a:ln w="9525" cap="flat">
                <a:solidFill>
                  <a:srgbClr val="6E7C82"/>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Sheet1!$C$2:$C$8</c:f>
              <c:numCache>
                <c:formatCode>General</c:formatCode>
                <c:ptCount val="7"/>
                <c:pt idx="0">
                  <c:v>100</c:v>
                </c:pt>
                <c:pt idx="1">
                  <c:v>100</c:v>
                </c:pt>
                <c:pt idx="2">
                  <c:v>100</c:v>
                </c:pt>
                <c:pt idx="3">
                  <c:v>100</c:v>
                </c:pt>
                <c:pt idx="4">
                  <c:v>100</c:v>
                </c:pt>
                <c:pt idx="5">
                  <c:v>100</c:v>
                </c:pt>
                <c:pt idx="6">
                  <c:v>100</c:v>
                </c:pt>
              </c:numCache>
            </c:numRef>
          </c:val>
          <c:smooth val="0"/>
        </c:ser>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2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Paid conversion (joined and paid ÷ genuine joinings)</a:t>
            </a:r>
          </a:p>
        </c:rich>
      </c:tx>
      <c:layout/>
      <c:overlay val="0"/>
    </c:title>
    <c:autoTitleDeleted val="0"/>
    <c:plotArea>
      <c:layout/>
      <c:lineChart>
        <c:varyColors val="0"/>
        <c:ser>
          <c:idx val="0"/>
          <c:order val="0"/>
          <c:tx>
            <c:strRef>
              <c:f>Sheet1!$B$1</c:f>
              <c:strCache>
                <c:ptCount val="1"/>
                <c:pt idx="0">
                  <c:v>Paid conversion</c:v>
                </c:pt>
              </c:strCache>
            </c:strRef>
          </c:tx>
          <c:spPr>
            <a:solidFill>
              <a:srgbClr val="2E6DB4"/>
            </a:solidFill>
            <a:ln w="38100" cap="flat">
              <a:solidFill>
                <a:srgbClr val="2E6DB4"/>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6DB4"/>
              </a:solidFill>
              <a:ln w="9525" cap="flat">
                <a:solidFill>
                  <a:srgbClr val="2E6DB4"/>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Sheet1!$B$2:$B$8</c:f>
              <c:numCache>
                <c:formatCode>General</c:formatCode>
                <c:ptCount val="7"/>
                <c:pt idx="0">
                  <c:v>0.25</c:v>
                </c:pt>
                <c:pt idx="1">
                  <c:v>0.43</c:v>
                </c:pt>
                <c:pt idx="2">
                  <c:v>0</c:v>
                </c:pt>
                <c:pt idx="3">
                  <c:v>0.26</c:v>
                </c:pt>
                <c:pt idx="4">
                  <c:v>0.43</c:v>
                </c:pt>
                <c:pt idx="5">
                  <c:v>0.81</c:v>
                </c:pt>
                <c:pt idx="6">
                  <c:v>0.76</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Target 40%</c:v>
                </c:pt>
              </c:strCache>
            </c:strRef>
          </c:tx>
          <c:spPr>
            <a:solidFill>
              <a:srgbClr val="6E7C82"/>
            </a:solidFill>
            <a:ln w="25400" cap="flat">
              <a:solidFill>
                <a:srgbClr val="6E7C82"/>
              </a:solidFill>
              <a:prstDash val="dash"/>
              <a:round/>
            </a:ln>
            <a:effectLst/>
          </c:spPr>
          <c:invertIfNegative val="0"/>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c:symbol val="none"/>
            <c:size val="6"/>
            <c:spPr>
              <a:solidFill>
                <a:srgbClr val="6E7C82"/>
              </a:solidFill>
              <a:ln w="9525" cap="flat">
                <a:solidFill>
                  <a:srgbClr val="6E7C82"/>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Sheet1!$C$2:$C$8</c:f>
              <c:numCache>
                <c:formatCode>General</c:formatCode>
                <c:ptCount val="7"/>
                <c:pt idx="0">
                  <c:v>0.4</c:v>
                </c:pt>
                <c:pt idx="1">
                  <c:v>0.4</c:v>
                </c:pt>
                <c:pt idx="2">
                  <c:v>0.4</c:v>
                </c:pt>
                <c:pt idx="3">
                  <c:v>0.4</c:v>
                </c:pt>
                <c:pt idx="4">
                  <c:v>0.4</c:v>
                </c:pt>
                <c:pt idx="5">
                  <c:v>0.4</c:v>
                </c:pt>
                <c:pt idx="6">
                  <c:v>0.4</c:v>
                </c:pt>
              </c:numCache>
            </c:numRef>
          </c:val>
          <c:smooth val="0"/>
        </c:ser>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Agent accounts vs productive agents (≥1 genuine sale)</a:t>
            </a:r>
          </a:p>
        </c:rich>
      </c:tx>
      <c:layout/>
      <c:overlay val="0"/>
    </c:title>
    <c:autoTitleDeleted val="0"/>
    <c:plotArea>
      <c:layout/>
      <c:lineChart>
        <c:varyColors val="0"/>
        <c:ser>
          <c:idx val="0"/>
          <c:order val="0"/>
          <c:tx>
            <c:strRef>
              <c:f>Sheet1!$B$1</c:f>
              <c:strCache>
                <c:ptCount val="1"/>
                <c:pt idx="0">
                  <c:v>Agent accounts</c:v>
                </c:pt>
              </c:strCache>
            </c:strRef>
          </c:tx>
          <c:spPr>
            <a:solidFill>
              <a:srgbClr val="2E6DB4"/>
            </a:solidFill>
            <a:ln w="38100" cap="flat">
              <a:solidFill>
                <a:srgbClr val="2E6DB4"/>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6DB4"/>
              </a:solidFill>
              <a:ln w="9525" cap="flat">
                <a:solidFill>
                  <a:srgbClr val="2E6DB4"/>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Sheet1!$B$2:$B$8</c:f>
              <c:numCache>
                <c:formatCode>General</c:formatCode>
                <c:ptCount val="7"/>
                <c:pt idx="0">
                  <c:v>16</c:v>
                </c:pt>
                <c:pt idx="1">
                  <c:v>16</c:v>
                </c:pt>
                <c:pt idx="2">
                  <c:v>16</c:v>
                </c:pt>
                <c:pt idx="3">
                  <c:v>25</c:v>
                </c:pt>
                <c:pt idx="4">
                  <c:v>26</c:v>
                </c:pt>
                <c:pt idx="5">
                  <c:v>26</c:v>
                </c:pt>
                <c:pt idx="6">
                  <c:v>26</c:v>
                </c:pt>
              </c:numCache>
            </c:numRef>
          </c:val>
          <c:smooth val="0"/>
        </c:ser>
        <c:ser>
          <c:idx val="1"/>
          <c:order val="1"/>
          <c:tx>
            <c:strRef>
              <c:f>Sheet1!$C$1</c:f>
              <c:strCache>
                <c:ptCount val="1"/>
                <c:pt idx="0">
                  <c:v>Productive agents</c:v>
                </c:pt>
              </c:strCache>
            </c:strRef>
          </c:tx>
          <c:spPr>
            <a:solidFill>
              <a:srgbClr val="E07B39"/>
            </a:solidFill>
            <a:ln w="38100" cap="flat">
              <a:solidFill>
                <a:srgbClr val="E07B39"/>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E07B39"/>
              </a:solidFill>
              <a:ln w="9525" cap="flat">
                <a:solidFill>
                  <a:srgbClr val="E07B39"/>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Sheet1!$C$2:$C$8</c:f>
              <c:numCache>
                <c:formatCode>General</c:formatCode>
                <c:ptCount val="7"/>
                <c:pt idx="0">
                  <c:v>10</c:v>
                </c:pt>
                <c:pt idx="1">
                  <c:v>4</c:v>
                </c:pt>
                <c:pt idx="2">
                  <c:v>2</c:v>
                </c:pt>
                <c:pt idx="3">
                  <c:v>9</c:v>
                </c:pt>
                <c:pt idx="4">
                  <c:v>6</c:v>
                </c:pt>
                <c:pt idx="5">
                  <c:v>5</c:v>
                </c:pt>
                <c:pt idx="6">
                  <c:v>4</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Genuine policies sold and paid by seller, March – 4 October</a:t>
            </a:r>
          </a:p>
        </c:rich>
      </c:tx>
      <c:layout/>
      <c:overlay val="0"/>
    </c:title>
    <c:autoTitleDeleted val="0"/>
    <c:plotArea>
      <c:layout/>
      <c:barChart>
        <c:barDir val="bar"/>
        <c:grouping val="clustered"/>
        <c:varyColors val="0"/>
        <c:ser>
          <c:idx val="0"/>
          <c:order val="0"/>
          <c:tx>
            <c:strRef>
              <c:f>Sheet1!$B$1</c:f>
              <c:strCache>
                <c:ptCount val="1"/>
                <c:pt idx="0">
                  <c:v>Paid</c:v>
                </c:pt>
              </c:strCache>
            </c:strRef>
          </c:tx>
          <c:spPr>
            <a:solidFill>
              <a:srgbClr val="2E6DB4"/>
            </a:solidFill>
            <a:effectLst/>
          </c:spPr>
          <c:invertIfNegative val="0"/>
          <c:dLbls>
            <c:numFmt formatCode="#,##0" sourceLinked="0"/>
            <c:txPr>
              <a:bodyPr/>
              <a:lstStyle/>
              <a:p>
                <a:pPr>
                  <a:defRPr b="0" i="0" strike="noStrike" sz="900" u="none">
                    <a:solidFill>
                      <a:srgbClr val="1E2A2F"/>
                    </a:solidFill>
                    <a:latin typeface="+mn-lt"/>
                  </a:defRPr>
                </a:pPr>
              </a:p>
            </c:txPr>
            <c:showLegendKey val="0"/>
            <c:showVal val="1"/>
            <c:showCatName val="0"/>
            <c:showSerName val="0"/>
            <c:showPercent val="0"/>
            <c:showBubbleSize val="0"/>
            <c:showLeaderLines val="0"/>
          </c:dLbls>
          <c:cat>
            <c:multiLvlStrRef>
              <c:f>Sheet1!$A$2:$A$18</c:f>
              <c:multiLvlStrCache>
                <c:ptCount val="17"/>
                <c:lvl>
                  <c:pt idx="0">
                    <c:v>Office counter</c:v>
                  </c:pt>
                  <c:pt idx="1">
                    <c:v>Pesuate Mhlanga</c:v>
                  </c:pt>
                  <c:pt idx="2">
                    <c:v>Gugulethu Moyo</c:v>
                  </c:pt>
                  <c:pt idx="3">
                    <c:v>Nqobile Ncube</c:v>
                  </c:pt>
                  <c:pt idx="4">
                    <c:v>Nothabo Ndlovu</c:v>
                  </c:pt>
                  <c:pt idx="5">
                    <c:v>Kimberly Chikaunda</c:v>
                  </c:pt>
                  <c:pt idx="6">
                    <c:v>Patience Moyo</c:v>
                  </c:pt>
                  <c:pt idx="7">
                    <c:v>Andile Mtukwa</c:v>
                  </c:pt>
                  <c:pt idx="8">
                    <c:v>Ayanda Muringazuva</c:v>
                  </c:pt>
                  <c:pt idx="9">
                    <c:v>Norman Mpofu</c:v>
                  </c:pt>
                  <c:pt idx="10">
                    <c:v>Alisa Ncube</c:v>
                  </c:pt>
                  <c:pt idx="11">
                    <c:v>Thokozani Moyo</c:v>
                  </c:pt>
                  <c:pt idx="12">
                    <c:v>Peacemaker Matizha</c:v>
                  </c:pt>
                  <c:pt idx="13">
                    <c:v>Sibonginkosi Nyathi</c:v>
                  </c:pt>
                  <c:pt idx="14">
                    <c:v>Irvine Nyerukai</c:v>
                  </c:pt>
                  <c:pt idx="15">
                    <c:v>Arnold Chimwe</c:v>
                  </c:pt>
                  <c:pt idx="16">
                    <c:v>Lindani Ndebele</c:v>
                  </c:pt>
                </c:lvl>
              </c:multiLvlStrCache>
            </c:multiLvlStrRef>
          </c:cat>
          <c:val>
            <c:numRef>
              <c:f>Sheet1!$B$2:$B$18</c:f>
              <c:numCache>
                <c:formatCode>General</c:formatCode>
                <c:ptCount val="17"/>
                <c:pt idx="0">
                  <c:v>22</c:v>
                </c:pt>
                <c:pt idx="1">
                  <c:v>18</c:v>
                </c:pt>
                <c:pt idx="2">
                  <c:v>16</c:v>
                </c:pt>
                <c:pt idx="3">
                  <c:v>15</c:v>
                </c:pt>
                <c:pt idx="4">
                  <c:v>10</c:v>
                </c:pt>
                <c:pt idx="5">
                  <c:v>9</c:v>
                </c:pt>
                <c:pt idx="6">
                  <c:v>7</c:v>
                </c:pt>
                <c:pt idx="7">
                  <c:v>6</c:v>
                </c:pt>
                <c:pt idx="8">
                  <c:v>3</c:v>
                </c:pt>
                <c:pt idx="9">
                  <c:v>2</c:v>
                </c:pt>
                <c:pt idx="10">
                  <c:v>1</c:v>
                </c:pt>
                <c:pt idx="11">
                  <c:v>1</c:v>
                </c:pt>
                <c:pt idx="12">
                  <c:v>0</c:v>
                </c:pt>
                <c:pt idx="13">
                  <c:v>0</c:v>
                </c:pt>
                <c:pt idx="14">
                  <c:v>0</c:v>
                </c:pt>
                <c:pt idx="15">
                  <c:v>0</c:v>
                </c:pt>
                <c:pt idx="16">
                  <c:v>0</c:v>
                </c:pt>
              </c:numCache>
            </c:numRef>
          </c:val>
        </c:ser>
        <c:ser>
          <c:idx val="1"/>
          <c:order val="1"/>
          <c:tx>
            <c:strRef>
              <c:f>Sheet1!$C$1</c:f>
              <c:strCache>
                <c:ptCount val="1"/>
                <c:pt idx="0">
                  <c:v>Sold</c:v>
                </c:pt>
              </c:strCache>
            </c:strRef>
          </c:tx>
          <c:spPr>
            <a:solidFill>
              <a:srgbClr val="E07B39"/>
            </a:solidFill>
            <a:effectLst/>
          </c:spPr>
          <c:invertIfNegative val="0"/>
          <c:dLbls>
            <c:numFmt formatCode="#,##0" sourceLinked="0"/>
            <c:txPr>
              <a:bodyPr/>
              <a:lstStyle/>
              <a:p>
                <a:pPr>
                  <a:defRPr b="0" i="0" strike="noStrike" sz="900" u="none">
                    <a:solidFill>
                      <a:srgbClr val="1E2A2F"/>
                    </a:solidFill>
                    <a:latin typeface="+mn-lt"/>
                  </a:defRPr>
                </a:pPr>
              </a:p>
            </c:txPr>
            <c:showLegendKey val="0"/>
            <c:showVal val="1"/>
            <c:showCatName val="0"/>
            <c:showSerName val="0"/>
            <c:showPercent val="0"/>
            <c:showBubbleSize val="0"/>
            <c:showLeaderLines val="0"/>
          </c:dLbls>
          <c:cat>
            <c:multiLvlStrRef>
              <c:f>Sheet1!$A$2:$A$18</c:f>
              <c:multiLvlStrCache>
                <c:ptCount val="17"/>
                <c:lvl>
                  <c:pt idx="0">
                    <c:v>Office counter</c:v>
                  </c:pt>
                  <c:pt idx="1">
                    <c:v>Pesuate Mhlanga</c:v>
                  </c:pt>
                  <c:pt idx="2">
                    <c:v>Gugulethu Moyo</c:v>
                  </c:pt>
                  <c:pt idx="3">
                    <c:v>Nqobile Ncube</c:v>
                  </c:pt>
                  <c:pt idx="4">
                    <c:v>Nothabo Ndlovu</c:v>
                  </c:pt>
                  <c:pt idx="5">
                    <c:v>Kimberly Chikaunda</c:v>
                  </c:pt>
                  <c:pt idx="6">
                    <c:v>Patience Moyo</c:v>
                  </c:pt>
                  <c:pt idx="7">
                    <c:v>Andile Mtukwa</c:v>
                  </c:pt>
                  <c:pt idx="8">
                    <c:v>Ayanda Muringazuva</c:v>
                  </c:pt>
                  <c:pt idx="9">
                    <c:v>Norman Mpofu</c:v>
                  </c:pt>
                  <c:pt idx="10">
                    <c:v>Alisa Ncube</c:v>
                  </c:pt>
                  <c:pt idx="11">
                    <c:v>Thokozani Moyo</c:v>
                  </c:pt>
                  <c:pt idx="12">
                    <c:v>Peacemaker Matizha</c:v>
                  </c:pt>
                  <c:pt idx="13">
                    <c:v>Sibonginkosi Nyathi</c:v>
                  </c:pt>
                  <c:pt idx="14">
                    <c:v>Irvine Nyerukai</c:v>
                  </c:pt>
                  <c:pt idx="15">
                    <c:v>Arnold Chimwe</c:v>
                  </c:pt>
                  <c:pt idx="16">
                    <c:v>Lindani Ndebele</c:v>
                  </c:pt>
                </c:lvl>
              </c:multiLvlStrCache>
            </c:multiLvlStrRef>
          </c:cat>
          <c:val>
            <c:numRef>
              <c:f>Sheet1!$C$2:$C$18</c:f>
              <c:numCache>
                <c:formatCode>General</c:formatCode>
                <c:ptCount val="17"/>
                <c:pt idx="0">
                  <c:v>43</c:v>
                </c:pt>
                <c:pt idx="1">
                  <c:v>60</c:v>
                </c:pt>
                <c:pt idx="2">
                  <c:v>16</c:v>
                </c:pt>
                <c:pt idx="3">
                  <c:v>30</c:v>
                </c:pt>
                <c:pt idx="4">
                  <c:v>28</c:v>
                </c:pt>
                <c:pt idx="5">
                  <c:v>44</c:v>
                </c:pt>
                <c:pt idx="6">
                  <c:v>13</c:v>
                </c:pt>
                <c:pt idx="7">
                  <c:v>17</c:v>
                </c:pt>
                <c:pt idx="8">
                  <c:v>22</c:v>
                </c:pt>
                <c:pt idx="9">
                  <c:v>12</c:v>
                </c:pt>
                <c:pt idx="10">
                  <c:v>1</c:v>
                </c:pt>
                <c:pt idx="11">
                  <c:v>1</c:v>
                </c:pt>
                <c:pt idx="12">
                  <c:v>6</c:v>
                </c:pt>
                <c:pt idx="13">
                  <c:v>2</c:v>
                </c:pt>
                <c:pt idx="14">
                  <c:v>1</c:v>
                </c:pt>
                <c:pt idx="15">
                  <c:v>1</c:v>
                </c:pt>
                <c:pt idx="16">
                  <c:v>1</c:v>
                </c:pt>
              </c:numCache>
            </c:numRef>
          </c:val>
        </c:ser>
        <c:dLbls>
          <c:numFmt formatCode="#,##0" sourceLinked="0"/>
          <c:txPr>
            <a:bodyPr/>
            <a:lstStyle/>
            <a:p>
              <a:pPr>
                <a:defRPr b="0" i="0" strike="noStrike" sz="900" u="none">
                  <a:solidFill>
                    <a:srgbClr val="1E2A2F"/>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9D2D4"/>
            </a:solidFill>
            <a:prstDash val="solid"/>
            <a:round/>
          </a:ln>
        </c:spPr>
        <c:txPr>
          <a:bodyPr/>
          <a:lstStyle/>
          <a:p>
            <a:pPr>
              <a:defRPr sz="10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in val="0"/>
        </c:scaling>
        <c:delete val="0"/>
        <c:axPos val="b"/>
        <c:majorGridlines>
          <c:spPr>
            <a:ln w="9525" cap="flat">
              <a:solidFill>
                <a:srgbClr val="E3E8E9"/>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Paid conversion by seller (sellers with 5+ genuine sales)</a:t>
            </a:r>
          </a:p>
        </c:rich>
      </c:tx>
      <c:layout/>
      <c:overlay val="0"/>
    </c:title>
    <c:autoTitleDeleted val="0"/>
    <c:plotArea>
      <c:layout/>
      <c:barChart>
        <c:barDir val="col"/>
        <c:grouping val="clustered"/>
        <c:varyColors val="0"/>
        <c:ser>
          <c:idx val="0"/>
          <c:order val="0"/>
          <c:tx>
            <c:strRef>
              <c:f>Sheet1!$B$1</c:f>
              <c:strCache>
                <c:ptCount val="1"/>
                <c:pt idx="0">
                  <c:v>Paid conversion</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dLblPos val="outEnd"/>
            <c:showLegendKey val="0"/>
            <c:showVal val="1"/>
            <c:showCatName val="0"/>
            <c:showSerName val="0"/>
            <c:showPercent val="0"/>
            <c:showBubbleSize val="0"/>
            <c:showLeaderLines val="0"/>
          </c:dLbls>
          <c:cat>
            <c:multiLvlStrRef>
              <c:f>Sheet1!$A$2:$A$12</c:f>
              <c:multiLvlStrCache>
                <c:ptCount val="11"/>
                <c:lvl>
                  <c:pt idx="0">
                    <c:v>Gugulethu</c:v>
                  </c:pt>
                  <c:pt idx="1">
                    <c:v>Patience</c:v>
                  </c:pt>
                  <c:pt idx="2">
                    <c:v>Office</c:v>
                  </c:pt>
                  <c:pt idx="3">
                    <c:v>Nqobile</c:v>
                  </c:pt>
                  <c:pt idx="4">
                    <c:v>Nothabo</c:v>
                  </c:pt>
                  <c:pt idx="5">
                    <c:v>Andile</c:v>
                  </c:pt>
                  <c:pt idx="6">
                    <c:v>Pesuate</c:v>
                  </c:pt>
                  <c:pt idx="7">
                    <c:v>Kimberly</c:v>
                  </c:pt>
                  <c:pt idx="8">
                    <c:v>Norman</c:v>
                  </c:pt>
                  <c:pt idx="9">
                    <c:v>Ayanda</c:v>
                  </c:pt>
                  <c:pt idx="10">
                    <c:v>Peacemaker</c:v>
                  </c:pt>
                </c:lvl>
              </c:multiLvlStrCache>
            </c:multiLvlStrRef>
          </c:cat>
          <c:val>
            <c:numRef>
              <c:f>Sheet1!$B$2:$B$12</c:f>
              <c:numCache>
                <c:formatCode>General</c:formatCode>
                <c:ptCount val="11"/>
                <c:pt idx="0">
                  <c:v>1</c:v>
                </c:pt>
                <c:pt idx="1">
                  <c:v>0.54</c:v>
                </c:pt>
                <c:pt idx="2">
                  <c:v>0.51</c:v>
                </c:pt>
                <c:pt idx="3">
                  <c:v>0.5</c:v>
                </c:pt>
                <c:pt idx="4">
                  <c:v>0.36</c:v>
                </c:pt>
                <c:pt idx="5">
                  <c:v>0.35</c:v>
                </c:pt>
                <c:pt idx="6">
                  <c:v>0.3</c:v>
                </c:pt>
                <c:pt idx="7">
                  <c:v>0.2</c:v>
                </c:pt>
                <c:pt idx="8">
                  <c:v>0.17</c:v>
                </c:pt>
                <c:pt idx="9">
                  <c:v>0.14</c:v>
                </c:pt>
                <c:pt idx="10">
                  <c:v>0</c:v>
                </c:pt>
              </c:numCache>
            </c:numRef>
          </c:val>
        </c:ser>
        <c:dLbls>
          <c:numFmt formatCode="0%" sourceLinked="0"/>
          <c:txPr>
            <a:bodyPr/>
            <a:lstStyle/>
            <a:p>
              <a:pPr>
                <a:defRPr b="0" i="0" strike="noStrike" sz="1100" u="none">
                  <a:solidFill>
                    <a:srgbClr val="1E2A2F"/>
                  </a:solidFill>
                  <a:latin typeface="+mn-lt"/>
                </a:defRPr>
              </a:pPr>
            </a:p>
          </c:txPr>
          <c:dLblPos val="outEnd"/>
          <c:showLegendKey val="0"/>
          <c:showVal val="1"/>
          <c:showCatName val="0"/>
          <c:showSerName val="0"/>
          <c:showPercent val="0"/>
          <c:showBubbleSize val="0"/>
          <c:showLeaderLines val="0"/>
        </c:dLbls>
        <c:gapWidth val="50"/>
        <c:overlap val="0"/>
        <c:axId val="2094734554"/>
        <c:axId val="2094734552"/>
        <c:axId val="2094734556"/>
      </c:barChart>
      <c:lineChart>
        <c:varyColors val="0"/>
        <c:ser>
          <c:idx val="1"/>
          <c:order val="1"/>
          <c:tx>
            <c:strRef>
              <c:f>Sheet1!$C$1</c:f>
              <c:strCache>
                <c:ptCount val="1"/>
                <c:pt idx="0">
                  <c:v>Standard 40%</c:v>
                </c:pt>
              </c:strCache>
            </c:strRef>
          </c:tx>
          <c:spPr>
            <a:solidFill>
              <a:srgbClr val="6E7C82"/>
            </a:solidFill>
            <a:ln w="25400" cap="flat">
              <a:solidFill>
                <a:srgbClr val="6E7C82"/>
              </a:solidFill>
              <a:prstDash val="dash"/>
              <a:round/>
            </a:ln>
            <a:effectLst/>
          </c:spPr>
          <c:invertIfNegative val="0"/>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c:symbol val="none"/>
            <c:size val="6"/>
            <c:spPr>
              <a:solidFill>
                <a:srgbClr val="6E7C82"/>
              </a:solidFill>
              <a:ln w="9525" cap="flat">
                <a:solidFill>
                  <a:srgbClr val="6E7C82"/>
                </a:solidFill>
                <a:prstDash val="solid"/>
                <a:round/>
              </a:ln>
              <a:effectLst/>
            </c:spPr>
          </c:marker>
          <c:cat>
            <c:multiLvlStrRef>
              <c:f>Sheet1!$A$2:$A$12</c:f>
              <c:multiLvlStrCache>
                <c:ptCount val="11"/>
                <c:lvl>
                  <c:pt idx="0">
                    <c:v>Gugulethu</c:v>
                  </c:pt>
                  <c:pt idx="1">
                    <c:v>Patience</c:v>
                  </c:pt>
                  <c:pt idx="2">
                    <c:v>Office</c:v>
                  </c:pt>
                  <c:pt idx="3">
                    <c:v>Nqobile</c:v>
                  </c:pt>
                  <c:pt idx="4">
                    <c:v>Nothabo</c:v>
                  </c:pt>
                  <c:pt idx="5">
                    <c:v>Andile</c:v>
                  </c:pt>
                  <c:pt idx="6">
                    <c:v>Pesuate</c:v>
                  </c:pt>
                  <c:pt idx="7">
                    <c:v>Kimberly</c:v>
                  </c:pt>
                  <c:pt idx="8">
                    <c:v>Norman</c:v>
                  </c:pt>
                  <c:pt idx="9">
                    <c:v>Ayanda</c:v>
                  </c:pt>
                  <c:pt idx="10">
                    <c:v>Peacemaker</c:v>
                  </c:pt>
                </c:lvl>
              </c:multiLvlStrCache>
            </c:multiLvlStrRef>
          </c:cat>
          <c:val>
            <c:numRef>
              <c:f>Sheet1!$C$2:$C$12</c:f>
              <c:numCache>
                <c:formatCode>General</c:formatCode>
                <c:ptCount val="11"/>
                <c:pt idx="0">
                  <c:v>0.4</c:v>
                </c:pt>
                <c:pt idx="1">
                  <c:v>0.4</c:v>
                </c:pt>
                <c:pt idx="2">
                  <c:v>0.4</c:v>
                </c:pt>
                <c:pt idx="3">
                  <c:v>0.4</c:v>
                </c:pt>
                <c:pt idx="4">
                  <c:v>0.4</c:v>
                </c:pt>
                <c:pt idx="5">
                  <c:v>0.4</c:v>
                </c:pt>
                <c:pt idx="6">
                  <c:v>0.4</c:v>
                </c:pt>
                <c:pt idx="7">
                  <c:v>0.4</c:v>
                </c:pt>
                <c:pt idx="8">
                  <c:v>0.4</c:v>
                </c:pt>
                <c:pt idx="9">
                  <c:v>0.4</c:v>
                </c:pt>
                <c:pt idx="10">
                  <c:v>0.4</c:v>
                </c:pt>
              </c:numCache>
            </c:numRef>
          </c:val>
          <c:smooth val="0"/>
        </c:ser>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Genuine joinings by seller and month (count)</a:t>
            </a:r>
          </a:p>
        </c:rich>
      </c:tx>
      <c:layout/>
      <c:overlay val="0"/>
    </c:title>
    <c:autoTitleDeleted val="0"/>
    <c:plotArea>
      <c:layout/>
      <c:barChart>
        <c:barDir val="col"/>
        <c:grouping val="stacked"/>
        <c:varyColors val="0"/>
        <c:ser>
          <c:idx val="0"/>
          <c:order val="0"/>
          <c:tx>
            <c:strRef>
              <c:f>Sheet1!$B$1</c:f>
              <c:strCache>
                <c:ptCount val="1"/>
                <c:pt idx="0">
                  <c:v>Mar</c:v>
                </c:pt>
              </c:strCache>
            </c:strRef>
          </c:tx>
          <c:spPr>
            <a:solidFill>
              <a:srgbClr val="E3F1F2"/>
            </a:solidFill>
            <a:effectLst/>
          </c:spPr>
          <c:invertIfNegative val="0"/>
          <c:dLbls>
            <c:numFmt formatCode="#,##0;;;" sourceLinked="0"/>
            <c:txPr>
              <a:bodyPr/>
              <a:lstStyle/>
              <a:p>
                <a:pPr>
                  <a:defRPr b="0" i="0" strike="noStrike" sz="900" u="none">
                    <a:solidFill>
                      <a:srgbClr val="1E2A2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Pesuate</c:v>
                  </c:pt>
                  <c:pt idx="1">
                    <c:v>Kimberly</c:v>
                  </c:pt>
                  <c:pt idx="2">
                    <c:v>Nqobile</c:v>
                  </c:pt>
                  <c:pt idx="3">
                    <c:v>Nothabo</c:v>
                  </c:pt>
                  <c:pt idx="4">
                    <c:v>Ayanda</c:v>
                  </c:pt>
                  <c:pt idx="5">
                    <c:v>Andile</c:v>
                  </c:pt>
                  <c:pt idx="6">
                    <c:v>Gugulethu</c:v>
                  </c:pt>
                  <c:pt idx="7">
                    <c:v>Patience</c:v>
                  </c:pt>
                  <c:pt idx="8">
                    <c:v>Norman</c:v>
                  </c:pt>
                  <c:pt idx="9">
                    <c:v>Office</c:v>
                  </c:pt>
                </c:lvl>
              </c:multiLvlStrCache>
            </c:multiLvlStrRef>
          </c:cat>
          <c:val>
            <c:numRef>
              <c:f>Sheet1!$B$2:$B$11</c:f>
              <c:numCache>
                <c:formatCode>General</c:formatCode>
                <c:ptCount val="10"/>
                <c:pt idx="0">
                  <c:v>10</c:v>
                </c:pt>
                <c:pt idx="1">
                  <c:v>11</c:v>
                </c:pt>
                <c:pt idx="2">
                  <c:v>6</c:v>
                </c:pt>
                <c:pt idx="3">
                  <c:v>7</c:v>
                </c:pt>
                <c:pt idx="4">
                  <c:v>4</c:v>
                </c:pt>
                <c:pt idx="5">
                  <c:v>0</c:v>
                </c:pt>
                <c:pt idx="6">
                  <c:v>0</c:v>
                </c:pt>
                <c:pt idx="7">
                  <c:v>10</c:v>
                </c:pt>
                <c:pt idx="8">
                  <c:v>12</c:v>
                </c:pt>
                <c:pt idx="9">
                  <c:v>0</c:v>
                </c:pt>
              </c:numCache>
            </c:numRef>
          </c:val>
        </c:ser>
        <c:ser>
          <c:idx val="1"/>
          <c:order val="1"/>
          <c:tx>
            <c:strRef>
              <c:f>Sheet1!$C$1</c:f>
              <c:strCache>
                <c:ptCount val="1"/>
                <c:pt idx="0">
                  <c:v>Apr</c:v>
                </c:pt>
              </c:strCache>
            </c:strRef>
          </c:tx>
          <c:spPr>
            <a:solidFill>
              <a:srgbClr val="C9E3E5"/>
            </a:solidFill>
            <a:effectLst/>
          </c:spPr>
          <c:invertIfNegative val="0"/>
          <c:dLbls>
            <c:numFmt formatCode="#,##0;;;" sourceLinked="0"/>
            <c:txPr>
              <a:bodyPr/>
              <a:lstStyle/>
              <a:p>
                <a:pPr>
                  <a:defRPr b="0" i="0" strike="noStrike" sz="900" u="none">
                    <a:solidFill>
                      <a:srgbClr val="1E2A2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Pesuate</c:v>
                  </c:pt>
                  <c:pt idx="1">
                    <c:v>Kimberly</c:v>
                  </c:pt>
                  <c:pt idx="2">
                    <c:v>Nqobile</c:v>
                  </c:pt>
                  <c:pt idx="3">
                    <c:v>Nothabo</c:v>
                  </c:pt>
                  <c:pt idx="4">
                    <c:v>Ayanda</c:v>
                  </c:pt>
                  <c:pt idx="5">
                    <c:v>Andile</c:v>
                  </c:pt>
                  <c:pt idx="6">
                    <c:v>Gugulethu</c:v>
                  </c:pt>
                  <c:pt idx="7">
                    <c:v>Patience</c:v>
                  </c:pt>
                  <c:pt idx="8">
                    <c:v>Norman</c:v>
                  </c:pt>
                  <c:pt idx="9">
                    <c:v>Office</c:v>
                  </c:pt>
                </c:lvl>
              </c:multiLvlStrCache>
            </c:multiLvlStrRef>
          </c:cat>
          <c:val>
            <c:numRef>
              <c:f>Sheet1!$C$2:$C$11</c:f>
              <c:numCache>
                <c:formatCode>General</c:formatCode>
                <c:ptCount val="10"/>
                <c:pt idx="0">
                  <c:v>1</c:v>
                </c:pt>
                <c:pt idx="1">
                  <c:v>4</c:v>
                </c:pt>
                <c:pt idx="2">
                  <c:v>0</c:v>
                </c:pt>
                <c:pt idx="3">
                  <c:v>1</c:v>
                </c:pt>
                <c:pt idx="4">
                  <c:v>0</c:v>
                </c:pt>
                <c:pt idx="5">
                  <c:v>0</c:v>
                </c:pt>
                <c:pt idx="6">
                  <c:v>0</c:v>
                </c:pt>
                <c:pt idx="7">
                  <c:v>0</c:v>
                </c:pt>
                <c:pt idx="8">
                  <c:v>0</c:v>
                </c:pt>
                <c:pt idx="9">
                  <c:v>0</c:v>
                </c:pt>
              </c:numCache>
            </c:numRef>
          </c:val>
        </c:ser>
        <c:ser>
          <c:idx val="2"/>
          <c:order val="2"/>
          <c:tx>
            <c:strRef>
              <c:f>Sheet1!$D$1</c:f>
              <c:strCache>
                <c:ptCount val="1"/>
                <c:pt idx="0">
                  <c:v>May</c:v>
                </c:pt>
              </c:strCache>
            </c:strRef>
          </c:tx>
          <c:spPr>
            <a:solidFill>
              <a:srgbClr val="AED4D7"/>
            </a:solidFill>
            <a:effectLst/>
          </c:spPr>
          <c:invertIfNegative val="0"/>
          <c:dLbls>
            <c:numFmt formatCode="#,##0;;;" sourceLinked="0"/>
            <c:txPr>
              <a:bodyPr/>
              <a:lstStyle/>
              <a:p>
                <a:pPr>
                  <a:defRPr b="0" i="0" strike="noStrike" sz="900" u="none">
                    <a:solidFill>
                      <a:srgbClr val="1E2A2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Pesuate</c:v>
                  </c:pt>
                  <c:pt idx="1">
                    <c:v>Kimberly</c:v>
                  </c:pt>
                  <c:pt idx="2">
                    <c:v>Nqobile</c:v>
                  </c:pt>
                  <c:pt idx="3">
                    <c:v>Nothabo</c:v>
                  </c:pt>
                  <c:pt idx="4">
                    <c:v>Ayanda</c:v>
                  </c:pt>
                  <c:pt idx="5">
                    <c:v>Andile</c:v>
                  </c:pt>
                  <c:pt idx="6">
                    <c:v>Gugulethu</c:v>
                  </c:pt>
                  <c:pt idx="7">
                    <c:v>Patience</c:v>
                  </c:pt>
                  <c:pt idx="8">
                    <c:v>Norman</c:v>
                  </c:pt>
                  <c:pt idx="9">
                    <c:v>Office</c:v>
                  </c:pt>
                </c:lvl>
              </c:multiLvlStrCache>
            </c:multiLvlStrRef>
          </c:cat>
          <c:val>
            <c:numRef>
              <c:f>Sheet1!$D$2:$D$11</c:f>
              <c:numCache>
                <c:formatCode>General</c:formatCode>
                <c:ptCount val="10"/>
                <c:pt idx="0">
                  <c:v>0</c:v>
                </c:pt>
                <c:pt idx="1">
                  <c:v>0</c:v>
                </c:pt>
                <c:pt idx="2">
                  <c:v>2</c:v>
                </c:pt>
                <c:pt idx="3">
                  <c:v>0</c:v>
                </c:pt>
                <c:pt idx="4">
                  <c:v>3</c:v>
                </c:pt>
                <c:pt idx="5">
                  <c:v>0</c:v>
                </c:pt>
                <c:pt idx="6">
                  <c:v>0</c:v>
                </c:pt>
                <c:pt idx="7">
                  <c:v>0</c:v>
                </c:pt>
                <c:pt idx="8">
                  <c:v>0</c:v>
                </c:pt>
                <c:pt idx="9">
                  <c:v>4</c:v>
                </c:pt>
              </c:numCache>
            </c:numRef>
          </c:val>
        </c:ser>
        <c:ser>
          <c:idx val="3"/>
          <c:order val="3"/>
          <c:tx>
            <c:strRef>
              <c:f>Sheet1!$E$1</c:f>
              <c:strCache>
                <c:ptCount val="1"/>
                <c:pt idx="0">
                  <c:v>Jun</c:v>
                </c:pt>
              </c:strCache>
            </c:strRef>
          </c:tx>
          <c:spPr>
            <a:solidFill>
              <a:srgbClr val="92C4C8"/>
            </a:solidFill>
            <a:effectLst/>
          </c:spPr>
          <c:invertIfNegative val="0"/>
          <c:dLbls>
            <c:numFmt formatCode="#,##0;;;" sourceLinked="0"/>
            <c:txPr>
              <a:bodyPr/>
              <a:lstStyle/>
              <a:p>
                <a:pPr>
                  <a:defRPr b="0" i="0" strike="noStrike" sz="900" u="none">
                    <a:solidFill>
                      <a:srgbClr val="1E2A2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Pesuate</c:v>
                  </c:pt>
                  <c:pt idx="1">
                    <c:v>Kimberly</c:v>
                  </c:pt>
                  <c:pt idx="2">
                    <c:v>Nqobile</c:v>
                  </c:pt>
                  <c:pt idx="3">
                    <c:v>Nothabo</c:v>
                  </c:pt>
                  <c:pt idx="4">
                    <c:v>Ayanda</c:v>
                  </c:pt>
                  <c:pt idx="5">
                    <c:v>Andile</c:v>
                  </c:pt>
                  <c:pt idx="6">
                    <c:v>Gugulethu</c:v>
                  </c:pt>
                  <c:pt idx="7">
                    <c:v>Patience</c:v>
                  </c:pt>
                  <c:pt idx="8">
                    <c:v>Norman</c:v>
                  </c:pt>
                  <c:pt idx="9">
                    <c:v>Office</c:v>
                  </c:pt>
                </c:lvl>
              </c:multiLvlStrCache>
            </c:multiLvlStrRef>
          </c:cat>
          <c:val>
            <c:numRef>
              <c:f>Sheet1!$E$2:$E$11</c:f>
              <c:numCache>
                <c:formatCode>General</c:formatCode>
                <c:ptCount val="10"/>
                <c:pt idx="0">
                  <c:v>30</c:v>
                </c:pt>
                <c:pt idx="1">
                  <c:v>12</c:v>
                </c:pt>
                <c:pt idx="2">
                  <c:v>16</c:v>
                </c:pt>
                <c:pt idx="3">
                  <c:v>14</c:v>
                </c:pt>
                <c:pt idx="4">
                  <c:v>15</c:v>
                </c:pt>
                <c:pt idx="5">
                  <c:v>0</c:v>
                </c:pt>
                <c:pt idx="6">
                  <c:v>0</c:v>
                </c:pt>
                <c:pt idx="7">
                  <c:v>2</c:v>
                </c:pt>
                <c:pt idx="8">
                  <c:v>0</c:v>
                </c:pt>
                <c:pt idx="9">
                  <c:v>20</c:v>
                </c:pt>
              </c:numCache>
            </c:numRef>
          </c:val>
        </c:ser>
        <c:ser>
          <c:idx val="4"/>
          <c:order val="4"/>
          <c:tx>
            <c:strRef>
              <c:f>Sheet1!$F$1</c:f>
              <c:strCache>
                <c:ptCount val="1"/>
                <c:pt idx="0">
                  <c:v>Jul</c:v>
                </c:pt>
              </c:strCache>
            </c:strRef>
          </c:tx>
          <c:spPr>
            <a:solidFill>
              <a:srgbClr val="76B3B8"/>
            </a:solidFill>
            <a:effectLst/>
          </c:spPr>
          <c:invertIfNegative val="0"/>
          <c:dLbls>
            <c:numFmt formatCode="#,##0;;;" sourceLinked="0"/>
            <c:txPr>
              <a:bodyPr/>
              <a:lstStyle/>
              <a:p>
                <a:pPr>
                  <a:defRPr b="0" i="0" strike="noStrike" sz="900" u="none">
                    <a:solidFill>
                      <a:srgbClr val="1E2A2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Pesuate</c:v>
                  </c:pt>
                  <c:pt idx="1">
                    <c:v>Kimberly</c:v>
                  </c:pt>
                  <c:pt idx="2">
                    <c:v>Nqobile</c:v>
                  </c:pt>
                  <c:pt idx="3">
                    <c:v>Nothabo</c:v>
                  </c:pt>
                  <c:pt idx="4">
                    <c:v>Ayanda</c:v>
                  </c:pt>
                  <c:pt idx="5">
                    <c:v>Andile</c:v>
                  </c:pt>
                  <c:pt idx="6">
                    <c:v>Gugulethu</c:v>
                  </c:pt>
                  <c:pt idx="7">
                    <c:v>Patience</c:v>
                  </c:pt>
                  <c:pt idx="8">
                    <c:v>Norman</c:v>
                  </c:pt>
                  <c:pt idx="9">
                    <c:v>Office</c:v>
                  </c:pt>
                </c:lvl>
              </c:multiLvlStrCache>
            </c:multiLvlStrRef>
          </c:cat>
          <c:val>
            <c:numRef>
              <c:f>Sheet1!$F$2:$F$11</c:f>
              <c:numCache>
                <c:formatCode>General</c:formatCode>
                <c:ptCount val="10"/>
                <c:pt idx="0">
                  <c:v>9</c:v>
                </c:pt>
                <c:pt idx="1">
                  <c:v>17</c:v>
                </c:pt>
                <c:pt idx="2">
                  <c:v>2</c:v>
                </c:pt>
                <c:pt idx="3">
                  <c:v>2</c:v>
                </c:pt>
                <c:pt idx="4">
                  <c:v>0</c:v>
                </c:pt>
                <c:pt idx="5">
                  <c:v>15</c:v>
                </c:pt>
                <c:pt idx="6">
                  <c:v>3</c:v>
                </c:pt>
                <c:pt idx="7">
                  <c:v>0</c:v>
                </c:pt>
                <c:pt idx="8">
                  <c:v>0</c:v>
                </c:pt>
                <c:pt idx="9">
                  <c:v>6</c:v>
                </c:pt>
              </c:numCache>
            </c:numRef>
          </c:val>
        </c:ser>
        <c:ser>
          <c:idx val="5"/>
          <c:order val="5"/>
          <c:tx>
            <c:strRef>
              <c:f>Sheet1!$G$1</c:f>
              <c:strCache>
                <c:ptCount val="1"/>
                <c:pt idx="0">
                  <c:v>Aug</c:v>
                </c:pt>
              </c:strCache>
            </c:strRef>
          </c:tx>
          <c:spPr>
            <a:solidFill>
              <a:srgbClr val="5BA2A8"/>
            </a:solidFill>
            <a:effectLst/>
          </c:spPr>
          <c:invertIfNegative val="0"/>
          <c:dLbls>
            <c:numFmt formatCode="#,##0;;;" sourceLinked="0"/>
            <c:txPr>
              <a:bodyPr/>
              <a:lstStyle/>
              <a:p>
                <a:pPr>
                  <a:defRPr b="0" i="0" strike="noStrike" sz="900" u="none">
                    <a:solidFill>
                      <a:srgbClr val="1E2A2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Pesuate</c:v>
                  </c:pt>
                  <c:pt idx="1">
                    <c:v>Kimberly</c:v>
                  </c:pt>
                  <c:pt idx="2">
                    <c:v>Nqobile</c:v>
                  </c:pt>
                  <c:pt idx="3">
                    <c:v>Nothabo</c:v>
                  </c:pt>
                  <c:pt idx="4">
                    <c:v>Ayanda</c:v>
                  </c:pt>
                  <c:pt idx="5">
                    <c:v>Andile</c:v>
                  </c:pt>
                  <c:pt idx="6">
                    <c:v>Gugulethu</c:v>
                  </c:pt>
                  <c:pt idx="7">
                    <c:v>Patience</c:v>
                  </c:pt>
                  <c:pt idx="8">
                    <c:v>Norman</c:v>
                  </c:pt>
                  <c:pt idx="9">
                    <c:v>Office</c:v>
                  </c:pt>
                </c:lvl>
              </c:multiLvlStrCache>
            </c:multiLvlStrRef>
          </c:cat>
          <c:val>
            <c:numRef>
              <c:f>Sheet1!$G$2:$G$11</c:f>
              <c:numCache>
                <c:formatCode>General</c:formatCode>
                <c:ptCount val="10"/>
                <c:pt idx="0">
                  <c:v>2</c:v>
                </c:pt>
                <c:pt idx="1">
                  <c:v>0</c:v>
                </c:pt>
                <c:pt idx="2">
                  <c:v>4</c:v>
                </c:pt>
                <c:pt idx="3">
                  <c:v>2</c:v>
                </c:pt>
                <c:pt idx="4">
                  <c:v>0</c:v>
                </c:pt>
                <c:pt idx="5">
                  <c:v>0</c:v>
                </c:pt>
                <c:pt idx="6">
                  <c:v>1</c:v>
                </c:pt>
                <c:pt idx="7">
                  <c:v>1</c:v>
                </c:pt>
                <c:pt idx="8">
                  <c:v>0</c:v>
                </c:pt>
                <c:pt idx="9">
                  <c:v>6</c:v>
                </c:pt>
              </c:numCache>
            </c:numRef>
          </c:val>
        </c:ser>
        <c:ser>
          <c:idx val="6"/>
          <c:order val="6"/>
          <c:tx>
            <c:strRef>
              <c:f>Sheet1!$H$1</c:f>
              <c:strCache>
                <c:ptCount val="1"/>
                <c:pt idx="0">
                  <c:v>Sep</c:v>
                </c:pt>
              </c:strCache>
            </c:strRef>
          </c:tx>
          <c:spPr>
            <a:solidFill>
              <a:srgbClr val="418F96"/>
            </a:solidFill>
            <a:effectLst/>
          </c:spPr>
          <c:invertIfNegative val="0"/>
          <c:dLbls>
            <c:numFmt formatCode="#,##0;;;" sourceLinked="0"/>
            <c:txPr>
              <a:bodyPr/>
              <a:lstStyle/>
              <a:p>
                <a:pPr>
                  <a:defRPr b="0" i="0" strike="noStrike" sz="900" u="none">
                    <a:solidFill>
                      <a:srgbClr val="1E2A2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Pesuate</c:v>
                  </c:pt>
                  <c:pt idx="1">
                    <c:v>Kimberly</c:v>
                  </c:pt>
                  <c:pt idx="2">
                    <c:v>Nqobile</c:v>
                  </c:pt>
                  <c:pt idx="3">
                    <c:v>Nothabo</c:v>
                  </c:pt>
                  <c:pt idx="4">
                    <c:v>Ayanda</c:v>
                  </c:pt>
                  <c:pt idx="5">
                    <c:v>Andile</c:v>
                  </c:pt>
                  <c:pt idx="6">
                    <c:v>Gugulethu</c:v>
                  </c:pt>
                  <c:pt idx="7">
                    <c:v>Patience</c:v>
                  </c:pt>
                  <c:pt idx="8">
                    <c:v>Norman</c:v>
                  </c:pt>
                  <c:pt idx="9">
                    <c:v>Office</c:v>
                  </c:pt>
                </c:lvl>
              </c:multiLvlStrCache>
            </c:multiLvlStrRef>
          </c:cat>
          <c:val>
            <c:numRef>
              <c:f>Sheet1!$H$2:$H$11</c:f>
              <c:numCache>
                <c:formatCode>General</c:formatCode>
                <c:ptCount val="10"/>
                <c:pt idx="0">
                  <c:v>8</c:v>
                </c:pt>
                <c:pt idx="1">
                  <c:v>0</c:v>
                </c:pt>
                <c:pt idx="2">
                  <c:v>0</c:v>
                </c:pt>
                <c:pt idx="3">
                  <c:v>2</c:v>
                </c:pt>
                <c:pt idx="4">
                  <c:v>0</c:v>
                </c:pt>
                <c:pt idx="5">
                  <c:v>2</c:v>
                </c:pt>
                <c:pt idx="6">
                  <c:v>12</c:v>
                </c:pt>
                <c:pt idx="7">
                  <c:v>0</c:v>
                </c:pt>
                <c:pt idx="8">
                  <c:v>0</c:v>
                </c:pt>
                <c:pt idx="9">
                  <c:v>5</c:v>
                </c:pt>
              </c:numCache>
            </c:numRef>
          </c:val>
        </c:ser>
        <c:dLbls>
          <c:numFmt formatCode="#,##0;;;" sourceLinked="0"/>
          <c:txPr>
            <a:bodyPr/>
            <a:lstStyle/>
            <a:p>
              <a:pPr>
                <a:defRPr b="0" i="0" strike="noStrike" sz="900" u="none">
                  <a:solidFill>
                    <a:srgbClr val="1E2A2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r"/>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Gugulethu Moyo — genuine joinings</a:t>
            </a:r>
          </a:p>
        </c:rich>
      </c:tx>
      <c:layout/>
      <c:overlay val="0"/>
    </c:title>
    <c:autoTitleDeleted val="0"/>
    <c:plotArea>
      <c:layout/>
      <c:barChart>
        <c:barDir val="col"/>
        <c:grouping val="clustered"/>
        <c:varyColors val="0"/>
        <c:ser>
          <c:idx val="0"/>
          <c:order val="0"/>
          <c:tx>
            <c:strRef>
              <c:f>Sheet1!$B$1</c:f>
              <c:strCache>
                <c:ptCount val="1"/>
                <c:pt idx="0">
                  <c:v>Joinings (all paid)</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Sheet1!$A$2:$A$4</c:f>
              <c:multiLvlStrCache>
                <c:ptCount val="3"/>
                <c:lvl>
                  <c:pt idx="0">
                    <c:v>Jul</c:v>
                  </c:pt>
                  <c:pt idx="1">
                    <c:v>Aug</c:v>
                  </c:pt>
                  <c:pt idx="2">
                    <c:v>Sep</c:v>
                  </c:pt>
                </c:lvl>
              </c:multiLvlStrCache>
            </c:multiLvlStrRef>
          </c:cat>
          <c:val>
            <c:numRef>
              <c:f>Sheet1!$B$2:$B$4</c:f>
              <c:numCache>
                <c:formatCode>General</c:formatCode>
                <c:ptCount val="3"/>
                <c:pt idx="0">
                  <c:v>3</c:v>
                </c:pt>
                <c:pt idx="1">
                  <c:v>1</c:v>
                </c:pt>
                <c:pt idx="2">
                  <c:v>12</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September genuine joinings (29)</a:t>
            </a:r>
          </a:p>
        </c:rich>
      </c:tx>
      <c:layout/>
      <c:overlay val="0"/>
    </c:title>
    <c:autoTitleDeleted val="0"/>
    <c:plotArea>
      <c:layout/>
      <c:barChart>
        <c:barDir val="col"/>
        <c:grouping val="stacked"/>
        <c:varyColors val="0"/>
        <c:ser>
          <c:idx val="0"/>
          <c:order val="0"/>
          <c:tx>
            <c:strRef>
              <c:f>Sheet1!$B$1</c:f>
              <c:strCache>
                <c:ptCount val="1"/>
                <c:pt idx="0">
                  <c:v>Gugulethu Moyo (41%)</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Sep</c:v>
                  </c:pt>
                </c:lvl>
              </c:multiLvlStrCache>
            </c:multiLvlStrRef>
          </c:cat>
          <c:val>
            <c:numRef>
              <c:f>Sheet1!$B$2:$B$2</c:f>
              <c:numCache>
                <c:formatCode>General</c:formatCode>
                <c:ptCount val="1"/>
                <c:pt idx="0">
                  <c:v>12</c:v>
                </c:pt>
              </c:numCache>
            </c:numRef>
          </c:val>
        </c:ser>
        <c:ser>
          <c:idx val="1"/>
          <c:order val="1"/>
          <c:tx>
            <c:strRef>
              <c:f>Sheet1!$C$1</c:f>
              <c:strCache>
                <c:ptCount val="1"/>
                <c:pt idx="0">
                  <c:v>All other sellers</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Sep</c:v>
                  </c:pt>
                </c:lvl>
              </c:multiLvlStrCache>
            </c:multiLvlStrRef>
          </c:cat>
          <c:val>
            <c:numRef>
              <c:f>Sheet1!$C$2:$C$2</c:f>
              <c:numCache>
                <c:formatCode>General</c:formatCode>
                <c:ptCount val="1"/>
                <c:pt idx="0">
                  <c:v>17</c:v>
                </c:pt>
              </c:numCache>
            </c:numRef>
          </c:val>
        </c:ser>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gapWidth val="8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Policies captured and paid by product</a:t>
            </a:r>
          </a:p>
        </c:rich>
      </c:tx>
      <c:layout/>
      <c:overlay val="0"/>
    </c:title>
    <c:autoTitleDeleted val="0"/>
    <c:plotArea>
      <c:layout/>
      <c:barChart>
        <c:barDir val="col"/>
        <c:grouping val="clustered"/>
        <c:varyColors val="0"/>
        <c:ser>
          <c:idx val="0"/>
          <c:order val="0"/>
          <c:tx>
            <c:strRef>
              <c:f>Sheet1!$B$1</c:f>
              <c:strCache>
                <c:ptCount val="1"/>
                <c:pt idx="0">
                  <c:v>Captured</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Sheet1!$A$2:$A$6</c:f>
              <c:multiLvlStrCache>
                <c:ptCount val="5"/>
                <c:lvl>
                  <c:pt idx="0">
                    <c:v>UMTHUNZI (49% paid)</c:v>
                  </c:pt>
                  <c:pt idx="1">
                    <c:v>UMNDENI (21% paid)</c:v>
                  </c:pt>
                  <c:pt idx="2">
                    <c:v>YEDWANA (52% paid)</c:v>
                  </c:pt>
                  <c:pt idx="3">
                    <c:v>Legacy Individual*</c:v>
                  </c:pt>
                  <c:pt idx="4">
                    <c:v>Legacy Group</c:v>
                  </c:pt>
                </c:lvl>
              </c:multiLvlStrCache>
            </c:multiLvlStrRef>
          </c:cat>
          <c:val>
            <c:numRef>
              <c:f>Sheet1!$B$2:$B$6</c:f>
              <c:numCache>
                <c:formatCode>General</c:formatCode>
                <c:ptCount val="5"/>
                <c:pt idx="0">
                  <c:v>140</c:v>
                </c:pt>
                <c:pt idx="1">
                  <c:v>133</c:v>
                </c:pt>
                <c:pt idx="2">
                  <c:v>25</c:v>
                </c:pt>
                <c:pt idx="3">
                  <c:v>29</c:v>
                </c:pt>
                <c:pt idx="4">
                  <c:v>9</c:v>
                </c:pt>
              </c:numCache>
            </c:numRef>
          </c:val>
        </c:ser>
        <c:ser>
          <c:idx val="1"/>
          <c:order val="1"/>
          <c:tx>
            <c:strRef>
              <c:f>Sheet1!$C$1</c:f>
              <c:strCache>
                <c:ptCount val="1"/>
                <c:pt idx="0">
                  <c:v>Paid</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Sheet1!$A$2:$A$6</c:f>
              <c:multiLvlStrCache>
                <c:ptCount val="5"/>
                <c:lvl>
                  <c:pt idx="0">
                    <c:v>UMTHUNZI (49% paid)</c:v>
                  </c:pt>
                  <c:pt idx="1">
                    <c:v>UMNDENI (21% paid)</c:v>
                  </c:pt>
                  <c:pt idx="2">
                    <c:v>YEDWANA (52% paid)</c:v>
                  </c:pt>
                  <c:pt idx="3">
                    <c:v>Legacy Individual*</c:v>
                  </c:pt>
                  <c:pt idx="4">
                    <c:v>Legacy Group</c:v>
                  </c:pt>
                </c:lvl>
              </c:multiLvlStrCache>
            </c:multiLvlStrRef>
          </c:cat>
          <c:val>
            <c:numRef>
              <c:f>Sheet1!$C$2:$C$6</c:f>
              <c:numCache>
                <c:formatCode>General</c:formatCode>
                <c:ptCount val="5"/>
                <c:pt idx="0">
                  <c:v>69</c:v>
                </c:pt>
                <c:pt idx="1">
                  <c:v>28</c:v>
                </c:pt>
                <c:pt idx="2">
                  <c:v>13</c:v>
                </c:pt>
                <c:pt idx="3">
                  <c:v>26</c:v>
                </c:pt>
                <c:pt idx="4">
                  <c:v>8</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0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6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Policies in force (start of month)</a:t>
            </a:r>
          </a:p>
        </c:rich>
      </c:tx>
      <c:layout/>
      <c:overlay val="0"/>
    </c:title>
    <c:autoTitleDeleted val="0"/>
    <c:plotArea>
      <c:layout/>
      <c:lineChart>
        <c:varyColors val="0"/>
        <c:ser>
          <c:idx val="0"/>
          <c:order val="0"/>
          <c:tx>
            <c:strRef>
              <c:f>Sheet1!$B$1</c:f>
              <c:strCache>
                <c:ptCount val="1"/>
                <c:pt idx="0">
                  <c:v>Policies in force</c:v>
                </c:pt>
              </c:strCache>
            </c:strRef>
          </c:tx>
          <c:spPr>
            <a:solidFill>
              <a:srgbClr val="2E6DB4"/>
            </a:solidFill>
            <a:ln w="38100" cap="flat">
              <a:solidFill>
                <a:srgbClr val="2E6DB4"/>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6DB4"/>
              </a:solidFill>
              <a:ln w="9525" cap="flat">
                <a:solidFill>
                  <a:srgbClr val="2E6DB4"/>
                </a:solidFill>
                <a:prstDash val="solid"/>
                <a:round/>
              </a:ln>
              <a:effectLst/>
            </c:spPr>
          </c:marker>
          <c:cat>
            <c:multiLvlStrRef>
              <c:f>Sheet1!$A$2:$A$9</c:f>
              <c:multiLvlStrCache>
                <c:ptCount val="8"/>
                <c:lvl>
                  <c:pt idx="0">
                    <c:v>1 Apr</c:v>
                  </c:pt>
                  <c:pt idx="1">
                    <c:v>1 May</c:v>
                  </c:pt>
                  <c:pt idx="2">
                    <c:v>1 Jun</c:v>
                  </c:pt>
                  <c:pt idx="3">
                    <c:v>1 Jul</c:v>
                  </c:pt>
                  <c:pt idx="4">
                    <c:v>1 Aug</c:v>
                  </c:pt>
                  <c:pt idx="5">
                    <c:v>1 Sep</c:v>
                  </c:pt>
                  <c:pt idx="6">
                    <c:v>1 Oct</c:v>
                  </c:pt>
                  <c:pt idx="7">
                    <c:v>4 Oct</c:v>
                  </c:pt>
                </c:lvl>
              </c:multiLvlStrCache>
            </c:multiLvlStrRef>
          </c:cat>
          <c:val>
            <c:numRef>
              <c:f>Sheet1!$B$2:$B$9</c:f>
              <c:numCache>
                <c:formatCode>General</c:formatCode>
                <c:ptCount val="8"/>
                <c:pt idx="0">
                  <c:v>14</c:v>
                </c:pt>
                <c:pt idx="1">
                  <c:v>14</c:v>
                </c:pt>
                <c:pt idx="2">
                  <c:v>14</c:v>
                </c:pt>
                <c:pt idx="3">
                  <c:v>47</c:v>
                </c:pt>
                <c:pt idx="4">
                  <c:v>202</c:v>
                </c:pt>
                <c:pt idx="5">
                  <c:v>422</c:v>
                </c:pt>
                <c:pt idx="6">
                  <c:v>574</c:v>
                </c:pt>
                <c:pt idx="7">
                  <c:v>582</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7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New paid vs lapsed, and net growth (count)</a:t>
            </a:r>
          </a:p>
        </c:rich>
      </c:tx>
      <c:layout/>
      <c:overlay val="0"/>
    </c:title>
    <c:autoTitleDeleted val="0"/>
    <c:plotArea>
      <c:layout/>
      <c:barChart>
        <c:barDir val="col"/>
        <c:grouping val="clustered"/>
        <c:varyColors val="0"/>
        <c:ser>
          <c:idx val="0"/>
          <c:order val="0"/>
          <c:tx>
            <c:strRef>
              <c:f>Sheet1!$B$1</c:f>
              <c:strCache>
                <c:ptCount val="1"/>
                <c:pt idx="0">
                  <c:v>Genuine new paid</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dLblPos val="outEnd"/>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31</c:v>
                </c:pt>
                <c:pt idx="1">
                  <c:v>23</c:v>
                </c:pt>
                <c:pt idx="2">
                  <c:v>13</c:v>
                </c:pt>
                <c:pt idx="3">
                  <c:v>22</c:v>
                </c:pt>
              </c:numCache>
            </c:numRef>
          </c:val>
        </c:ser>
        <c:ser>
          <c:idx val="1"/>
          <c:order val="1"/>
          <c:tx>
            <c:strRef>
              <c:f>Sheet1!$C$1</c:f>
              <c:strCache>
                <c:ptCount val="1"/>
                <c:pt idx="0">
                  <c:v>Lapsed</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dLblPos val="outEnd"/>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Sheet1!$C$2:$C$5</c:f>
              <c:numCache>
                <c:formatCode>General</c:formatCode>
                <c:ptCount val="4"/>
                <c:pt idx="0">
                  <c:v>0</c:v>
                </c:pt>
                <c:pt idx="1">
                  <c:v>0</c:v>
                </c:pt>
                <c:pt idx="2">
                  <c:v>4</c:v>
                </c:pt>
                <c:pt idx="3">
                  <c:v>28</c:v>
                </c:pt>
              </c:numCache>
            </c:numRef>
          </c:val>
        </c:ser>
        <c:dLbls>
          <c:numFmt formatCode="#,##0" sourceLinked="0"/>
          <c:txPr>
            <a:bodyPr/>
            <a:lstStyle/>
            <a:p>
              <a:pPr>
                <a:defRPr b="0" i="0" strike="noStrike" sz="1100" u="none">
                  <a:solidFill>
                    <a:srgbClr val="1E2A2F"/>
                  </a:solidFill>
                  <a:latin typeface="+mn-lt"/>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2"/>
          <c:order val="2"/>
          <c:tx>
            <c:strRef>
              <c:f>Sheet1!$D$1</c:f>
              <c:strCache>
                <c:ptCount val="1"/>
                <c:pt idx="0">
                  <c:v>Net growth</c:v>
                </c:pt>
              </c:strCache>
            </c:strRef>
          </c:tx>
          <c:spPr>
            <a:solidFill>
              <a:srgbClr val="34ADB3"/>
            </a:solidFill>
            <a:ln w="38100" cap="flat">
              <a:solidFill>
                <a:srgbClr val="34ADB3"/>
              </a:solidFill>
              <a:prstDash val="solid"/>
              <a:round/>
            </a:ln>
            <a:effectLst/>
          </c:spPr>
          <c:invertIfNegative val="0"/>
          <c:dLbls>
            <c:numFmt formatCode="+#,##0;−#,##0;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9"/>
            <c:spPr>
              <a:solidFill>
                <a:srgbClr val="34ADB3"/>
              </a:solidFill>
              <a:ln w="9525" cap="flat">
                <a:solidFill>
                  <a:srgbClr val="34ADB3"/>
                </a:solidFill>
                <a:prstDash val="solid"/>
                <a:round/>
              </a:ln>
              <a:effectLst/>
            </c:spPr>
          </c:marker>
          <c:cat>
            <c:multiLvlStrRef>
              <c:f>Sheet1!$A$2:$A$5</c:f>
              <c:multiLvlStrCache>
                <c:ptCount val="4"/>
                <c:lvl>
                  <c:pt idx="0">
                    <c:v>Jun</c:v>
                  </c:pt>
                  <c:pt idx="1">
                    <c:v>Jul</c:v>
                  </c:pt>
                  <c:pt idx="2">
                    <c:v>Aug</c:v>
                  </c:pt>
                  <c:pt idx="3">
                    <c:v>Sep</c:v>
                  </c:pt>
                </c:lvl>
              </c:multiLvlStrCache>
            </c:multiLvlStrRef>
          </c:cat>
          <c:val>
            <c:numRef>
              <c:f>Sheet1!$D$2:$D$5</c:f>
              <c:numCache>
                <c:formatCode>General</c:formatCode>
                <c:ptCount val="4"/>
                <c:pt idx="0">
                  <c:v>31</c:v>
                </c:pt>
                <c:pt idx="1">
                  <c:v>23</c:v>
                </c:pt>
                <c:pt idx="2">
                  <c:v>9</c:v>
                </c:pt>
                <c:pt idx="3">
                  <c:v>-6</c:v>
                </c:pt>
              </c:numCache>
            </c:numRef>
          </c:val>
          <c:smooth val="0"/>
        </c:ser>
        <c:dLbls>
          <c:numFmt formatCode="+#,##0;−#,##0;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35"/>
          <c:min val="-1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Into grace, recovered and lapsed (count)</a:t>
            </a:r>
          </a:p>
        </c:rich>
      </c:tx>
      <c:layout/>
      <c:overlay val="0"/>
    </c:title>
    <c:autoTitleDeleted val="0"/>
    <c:plotArea>
      <c:layout/>
      <c:barChart>
        <c:barDir val="col"/>
        <c:grouping val="clustered"/>
        <c:varyColors val="0"/>
        <c:ser>
          <c:idx val="0"/>
          <c:order val="0"/>
          <c:tx>
            <c:strRef>
              <c:f>Sheet1!$B$1</c:f>
              <c:strCache>
                <c:ptCount val="1"/>
                <c:pt idx="0">
                  <c:v>Into grace</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Sheet1!$A$2:$A$4</c:f>
              <c:multiLvlStrCache>
                <c:ptCount val="3"/>
                <c:lvl>
                  <c:pt idx="0">
                    <c:v>Jul</c:v>
                  </c:pt>
                  <c:pt idx="1">
                    <c:v>Aug</c:v>
                  </c:pt>
                  <c:pt idx="2">
                    <c:v>Sep</c:v>
                  </c:pt>
                </c:lvl>
              </c:multiLvlStrCache>
            </c:multiLvlStrRef>
          </c:cat>
          <c:val>
            <c:numRef>
              <c:f>Sheet1!$B$2:$B$4</c:f>
              <c:numCache>
                <c:formatCode>General</c:formatCode>
                <c:ptCount val="3"/>
                <c:pt idx="0">
                  <c:v>6</c:v>
                </c:pt>
                <c:pt idx="1">
                  <c:v>71</c:v>
                </c:pt>
                <c:pt idx="2">
                  <c:v>91</c:v>
                </c:pt>
              </c:numCache>
            </c:numRef>
          </c:val>
        </c:ser>
        <c:ser>
          <c:idx val="1"/>
          <c:order val="1"/>
          <c:tx>
            <c:strRef>
              <c:f>Sheet1!$C$1</c:f>
              <c:strCache>
                <c:ptCount val="1"/>
                <c:pt idx="0">
                  <c:v>Recovered</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Sheet1!$A$2:$A$4</c:f>
              <c:multiLvlStrCache>
                <c:ptCount val="3"/>
                <c:lvl>
                  <c:pt idx="0">
                    <c:v>Jul</c:v>
                  </c:pt>
                  <c:pt idx="1">
                    <c:v>Aug</c:v>
                  </c:pt>
                  <c:pt idx="2">
                    <c:v>Sep</c:v>
                  </c:pt>
                </c:lvl>
              </c:multiLvlStrCache>
            </c:multiLvlStrRef>
          </c:cat>
          <c:val>
            <c:numRef>
              <c:f>Sheet1!$C$2:$C$4</c:f>
              <c:numCache>
                <c:formatCode>General</c:formatCode>
                <c:ptCount val="3"/>
                <c:pt idx="0">
                  <c:v>1</c:v>
                </c:pt>
                <c:pt idx="1">
                  <c:v>27</c:v>
                </c:pt>
                <c:pt idx="2">
                  <c:v>68</c:v>
                </c:pt>
              </c:numCache>
            </c:numRef>
          </c:val>
        </c:ser>
        <c:ser>
          <c:idx val="2"/>
          <c:order val="2"/>
          <c:tx>
            <c:strRef>
              <c:f>Sheet1!$D$1</c:f>
              <c:strCache>
                <c:ptCount val="1"/>
                <c:pt idx="0">
                  <c:v>Lapsed</c:v>
                </c:pt>
              </c:strCache>
            </c:strRef>
          </c:tx>
          <c:spPr>
            <a:solidFill>
              <a:srgbClr val="34ADB3"/>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Sheet1!$A$2:$A$4</c:f>
              <c:multiLvlStrCache>
                <c:ptCount val="3"/>
                <c:lvl>
                  <c:pt idx="0">
                    <c:v>Jul</c:v>
                  </c:pt>
                  <c:pt idx="1">
                    <c:v>Aug</c:v>
                  </c:pt>
                  <c:pt idx="2">
                    <c:v>Sep</c:v>
                  </c:pt>
                </c:lvl>
              </c:multiLvlStrCache>
            </c:multiLvlStrRef>
          </c:cat>
          <c:val>
            <c:numRef>
              <c:f>Sheet1!$D$2:$D$4</c:f>
              <c:numCache>
                <c:formatCode>General</c:formatCode>
                <c:ptCount val="3"/>
                <c:pt idx="0">
                  <c:v>0</c:v>
                </c:pt>
                <c:pt idx="1">
                  <c:v>4</c:v>
                </c:pt>
                <c:pt idx="2">
                  <c:v>28</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Grace recovery rate</a:t>
            </a:r>
          </a:p>
        </c:rich>
      </c:tx>
      <c:layout/>
      <c:overlay val="0"/>
    </c:title>
    <c:autoTitleDeleted val="0"/>
    <c:plotArea>
      <c:layout/>
      <c:lineChart>
        <c:varyColors val="0"/>
        <c:ser>
          <c:idx val="0"/>
          <c:order val="0"/>
          <c:tx>
            <c:strRef>
              <c:f>Sheet1!$B$1</c:f>
              <c:strCache>
                <c:ptCount val="1"/>
                <c:pt idx="0">
                  <c:v>Recovery rate</c:v>
                </c:pt>
              </c:strCache>
            </c:strRef>
          </c:tx>
          <c:spPr>
            <a:solidFill>
              <a:srgbClr val="2E8B57"/>
            </a:solidFill>
            <a:ln w="38100" cap="flat">
              <a:solidFill>
                <a:srgbClr val="2E8B57"/>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8B57"/>
              </a:solidFill>
              <a:ln w="9525" cap="flat">
                <a:solidFill>
                  <a:srgbClr val="2E8B57"/>
                </a:solidFill>
                <a:prstDash val="solid"/>
                <a:round/>
              </a:ln>
              <a:effectLst/>
            </c:spPr>
          </c:marker>
          <c:cat>
            <c:multiLvlStrRef>
              <c:f>Sheet1!$A$2:$A$4</c:f>
              <c:multiLvlStrCache>
                <c:ptCount val="3"/>
                <c:lvl>
                  <c:pt idx="0">
                    <c:v>Jul</c:v>
                  </c:pt>
                  <c:pt idx="1">
                    <c:v>Aug</c:v>
                  </c:pt>
                  <c:pt idx="2">
                    <c:v>Sep</c:v>
                  </c:pt>
                </c:lvl>
              </c:multiLvlStrCache>
            </c:multiLvlStrRef>
          </c:cat>
          <c:val>
            <c:numRef>
              <c:f>Sheet1!$B$2:$B$4</c:f>
              <c:numCache>
                <c:formatCode>General</c:formatCode>
                <c:ptCount val="3"/>
                <c:pt idx="0">
                  <c:v>0.17</c:v>
                </c:pt>
                <c:pt idx="1">
                  <c:v>0.38</c:v>
                </c:pt>
                <c:pt idx="2">
                  <c:v>0.75</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Inactive new-business policies (month-end)</a:t>
            </a:r>
          </a:p>
        </c:rich>
      </c:tx>
      <c:layout/>
      <c:overlay val="0"/>
    </c:title>
    <c:autoTitleDeleted val="0"/>
    <c:plotArea>
      <c:layout/>
      <c:lineChart>
        <c:varyColors val="0"/>
        <c:ser>
          <c:idx val="0"/>
          <c:order val="0"/>
          <c:tx>
            <c:strRef>
              <c:f>Sheet1!$B$1</c:f>
              <c:strCache>
                <c:ptCount val="1"/>
                <c:pt idx="0">
                  <c:v>Inactive (never paid)</c:v>
                </c:pt>
              </c:strCache>
            </c:strRef>
          </c:tx>
          <c:spPr>
            <a:solidFill>
              <a:srgbClr val="E07B39"/>
            </a:solidFill>
            <a:ln w="38100" cap="flat">
              <a:solidFill>
                <a:srgbClr val="E07B39"/>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E07B39"/>
              </a:solidFill>
              <a:ln w="9525" cap="flat">
                <a:solidFill>
                  <a:srgbClr val="E07B39"/>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Sheet1!$B$2:$B$8</c:f>
              <c:numCache>
                <c:formatCode>General</c:formatCode>
                <c:ptCount val="7"/>
                <c:pt idx="0">
                  <c:v>51</c:v>
                </c:pt>
                <c:pt idx="1">
                  <c:v>58</c:v>
                </c:pt>
                <c:pt idx="2">
                  <c:v>67</c:v>
                </c:pt>
                <c:pt idx="3">
                  <c:v>154</c:v>
                </c:pt>
                <c:pt idx="4">
                  <c:v>188</c:v>
                </c:pt>
                <c:pt idx="5">
                  <c:v>190</c:v>
                </c:pt>
                <c:pt idx="6">
                  <c:v>194</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25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Lives covered (month-end)</a:t>
            </a:r>
          </a:p>
        </c:rich>
      </c:tx>
      <c:layout/>
      <c:overlay val="0"/>
    </c:title>
    <c:autoTitleDeleted val="0"/>
    <c:plotArea>
      <c:layout/>
      <c:lineChart>
        <c:varyColors val="0"/>
        <c:ser>
          <c:idx val="0"/>
          <c:order val="0"/>
          <c:tx>
            <c:strRef>
              <c:f>Sheet1!$B$1</c:f>
              <c:strCache>
                <c:ptCount val="1"/>
                <c:pt idx="0">
                  <c:v>Lives covered</c:v>
                </c:pt>
              </c:strCache>
            </c:strRef>
          </c:tx>
          <c:spPr>
            <a:solidFill>
              <a:srgbClr val="2E6DB4"/>
            </a:solidFill>
            <a:ln w="38100" cap="flat">
              <a:solidFill>
                <a:srgbClr val="2E6DB4"/>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6DB4"/>
              </a:solidFill>
              <a:ln w="9525" cap="flat">
                <a:solidFill>
                  <a:srgbClr val="2E6DB4"/>
                </a:solidFill>
                <a:prstDash val="solid"/>
                <a:round/>
              </a:ln>
              <a:effectLst/>
            </c:spPr>
          </c:marker>
          <c:cat>
            <c:multiLvlStrRef>
              <c:f>Sheet1!$A$2:$A$9</c:f>
              <c:multiLvlStrCache>
                <c:ptCount val="8"/>
                <c:lvl>
                  <c:pt idx="0">
                    <c:v>Mar</c:v>
                  </c:pt>
                  <c:pt idx="1">
                    <c:v>Apr</c:v>
                  </c:pt>
                  <c:pt idx="2">
                    <c:v>May</c:v>
                  </c:pt>
                  <c:pt idx="3">
                    <c:v>Jun</c:v>
                  </c:pt>
                  <c:pt idx="4">
                    <c:v>Jul</c:v>
                  </c:pt>
                  <c:pt idx="5">
                    <c:v>Aug</c:v>
                  </c:pt>
                  <c:pt idx="6">
                    <c:v>Sep</c:v>
                  </c:pt>
                  <c:pt idx="7">
                    <c:v>4 Oct</c:v>
                  </c:pt>
                </c:lvl>
              </c:multiLvlStrCache>
            </c:multiLvlStrRef>
          </c:cat>
          <c:val>
            <c:numRef>
              <c:f>Sheet1!$B$2:$B$9</c:f>
              <c:numCache>
                <c:formatCode>General</c:formatCode>
                <c:ptCount val="8"/>
                <c:pt idx="0">
                  <c:v>34</c:v>
                </c:pt>
                <c:pt idx="1">
                  <c:v>34</c:v>
                </c:pt>
                <c:pt idx="2">
                  <c:v>34</c:v>
                </c:pt>
                <c:pt idx="3">
                  <c:v>162</c:v>
                </c:pt>
                <c:pt idx="4">
                  <c:v>1094</c:v>
                </c:pt>
                <c:pt idx="5">
                  <c:v>2575</c:v>
                </c:pt>
                <c:pt idx="6">
                  <c:v>3694</c:v>
                </c:pt>
                <c:pt idx="7">
                  <c:v>3782</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45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Where the lives came from</a:t>
            </a:r>
          </a:p>
        </c:rich>
      </c:tx>
      <c:layout/>
      <c:overlay val="0"/>
    </c:title>
    <c:autoTitleDeleted val="0"/>
    <c:plotArea>
      <c:layout/>
      <c:barChart>
        <c:barDir val="col"/>
        <c:grouping val="clustered"/>
        <c:varyColors val="0"/>
        <c:ser>
          <c:idx val="0"/>
          <c:order val="0"/>
          <c:tx>
            <c:strRef>
              <c:f>Sheet1!$B$1</c:f>
              <c:strCache>
                <c:ptCount val="1"/>
                <c:pt idx="0">
                  <c:v>Lives</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Sheet1!$A$2:$A$3</c:f>
              <c:multiLvlStrCache>
                <c:ptCount val="2"/>
                <c:lvl>
                  <c:pt idx="0">
                    <c:v>Typed-in clients</c:v>
                  </c:pt>
                  <c:pt idx="1">
                    <c:v>New sales</c:v>
                  </c:pt>
                </c:lvl>
              </c:multiLvlStrCache>
            </c:multiLvlStrRef>
          </c:cat>
          <c:val>
            <c:numRef>
              <c:f>Sheet1!$B$2:$B$3</c:f>
              <c:numCache>
                <c:formatCode>General</c:formatCode>
                <c:ptCount val="2"/>
                <c:pt idx="0">
                  <c:v>3185</c:v>
                </c:pt>
                <c:pt idx="1">
                  <c:v>453</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37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Individual USD premium: due vs collected</a:t>
            </a:r>
          </a:p>
        </c:rich>
      </c:tx>
      <c:layout/>
      <c:overlay val="0"/>
    </c:title>
    <c:autoTitleDeleted val="0"/>
    <c:plotArea>
      <c:layout/>
      <c:barChart>
        <c:barDir val="col"/>
        <c:grouping val="clustered"/>
        <c:varyColors val="0"/>
        <c:ser>
          <c:idx val="0"/>
          <c:order val="0"/>
          <c:tx>
            <c:strRef>
              <c:f>Sheet1!$B$1</c:f>
              <c:strCache>
                <c:ptCount val="1"/>
                <c:pt idx="0">
                  <c:v>Due</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499</c:v>
                </c:pt>
                <c:pt idx="1">
                  <c:v>1749</c:v>
                </c:pt>
                <c:pt idx="2">
                  <c:v>3484</c:v>
                </c:pt>
                <c:pt idx="3">
                  <c:v>4675</c:v>
                </c:pt>
              </c:numCache>
            </c:numRef>
          </c:val>
        </c:ser>
        <c:ser>
          <c:idx val="1"/>
          <c:order val="1"/>
          <c:tx>
            <c:strRef>
              <c:f>Sheet1!$C$1</c:f>
              <c:strCache>
                <c:ptCount val="1"/>
                <c:pt idx="0">
                  <c:v>Collected</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Sheet1!$C$2:$C$5</c:f>
              <c:numCache>
                <c:formatCode>General</c:formatCode>
                <c:ptCount val="4"/>
                <c:pt idx="0">
                  <c:v>491</c:v>
                </c:pt>
                <c:pt idx="1">
                  <c:v>1755</c:v>
                </c:pt>
                <c:pt idx="2">
                  <c:v>1925</c:v>
                </c:pt>
                <c:pt idx="3">
                  <c:v>2284</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52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Collection rate vs 70% target</a:t>
            </a:r>
          </a:p>
        </c:rich>
      </c:tx>
      <c:layout/>
      <c:overlay val="0"/>
    </c:title>
    <c:autoTitleDeleted val="0"/>
    <c:plotArea>
      <c:layout/>
      <c:lineChart>
        <c:varyColors val="0"/>
        <c:ser>
          <c:idx val="0"/>
          <c:order val="0"/>
          <c:tx>
            <c:strRef>
              <c:f>Sheet1!$B$1</c:f>
              <c:strCache>
                <c:ptCount val="1"/>
                <c:pt idx="0">
                  <c:v>Collection rate</c:v>
                </c:pt>
              </c:strCache>
            </c:strRef>
          </c:tx>
          <c:spPr>
            <a:solidFill>
              <a:srgbClr val="2E6DB4"/>
            </a:solidFill>
            <a:ln w="38100" cap="flat">
              <a:solidFill>
                <a:srgbClr val="2E6DB4"/>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6DB4"/>
              </a:solidFill>
              <a:ln w="9525" cap="flat">
                <a:solidFill>
                  <a:srgbClr val="2E6DB4"/>
                </a:solidFill>
                <a:prstDash val="solid"/>
                <a:round/>
              </a:ln>
              <a:effectLst/>
            </c:spPr>
          </c:marker>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0.98</c:v>
                </c:pt>
                <c:pt idx="1">
                  <c:v>1</c:v>
                </c:pt>
                <c:pt idx="2">
                  <c:v>0.55</c:v>
                </c:pt>
                <c:pt idx="3">
                  <c:v>0.49</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Target 70%</c:v>
                </c:pt>
              </c:strCache>
            </c:strRef>
          </c:tx>
          <c:spPr>
            <a:solidFill>
              <a:srgbClr val="6E7C82"/>
            </a:solidFill>
            <a:ln w="25400" cap="flat">
              <a:solidFill>
                <a:srgbClr val="6E7C82"/>
              </a:solidFill>
              <a:prstDash val="dash"/>
              <a:round/>
            </a:ln>
            <a:effectLst/>
          </c:spPr>
          <c:invertIfNegative val="0"/>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c:symbol val="none"/>
            <c:size val="6"/>
            <c:spPr>
              <a:solidFill>
                <a:srgbClr val="6E7C82"/>
              </a:solidFill>
              <a:ln w="9525" cap="flat">
                <a:solidFill>
                  <a:srgbClr val="6E7C82"/>
                </a:solidFill>
                <a:prstDash val="solid"/>
                <a:round/>
              </a:ln>
              <a:effectLst/>
            </c:spPr>
          </c:marker>
          <c:cat>
            <c:multiLvlStrRef>
              <c:f>Sheet1!$A$2:$A$5</c:f>
              <c:multiLvlStrCache>
                <c:ptCount val="4"/>
                <c:lvl>
                  <c:pt idx="0">
                    <c:v>Jun</c:v>
                  </c:pt>
                  <c:pt idx="1">
                    <c:v>Jul</c:v>
                  </c:pt>
                  <c:pt idx="2">
                    <c:v>Aug</c:v>
                  </c:pt>
                  <c:pt idx="3">
                    <c:v>Sep</c:v>
                  </c:pt>
                </c:lvl>
              </c:multiLvlStrCache>
            </c:multiLvlStrRef>
          </c:cat>
          <c:val>
            <c:numRef>
              <c:f>Sheet1!$C$2:$C$5</c:f>
              <c:numCache>
                <c:formatCode>General</c:formatCode>
                <c:ptCount val="4"/>
                <c:pt idx="0">
                  <c:v>0.7</c:v>
                </c:pt>
                <c:pt idx="1">
                  <c:v>0.7</c:v>
                </c:pt>
                <c:pt idx="2">
                  <c:v>0.7</c:v>
                </c:pt>
                <c:pt idx="3">
                  <c:v>0.7</c:v>
                </c:pt>
              </c:numCache>
            </c:numRef>
          </c:val>
          <c:smooth val="0"/>
        </c:ser>
        <c:dLbls>
          <c:numFmt formatCode="#,##0" sourceLinked="0"/>
          <c:txPr>
            <a:bodyPr/>
            <a:lstStyle/>
            <a:p>
              <a:pPr>
                <a:defRPr b="0" i="0" strike="noStrike" sz="1100" u="none">
                  <a:solidFill>
                    <a:srgbClr val="1E2A2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Money in per month (USD, cash received)</a:t>
            </a:r>
          </a:p>
        </c:rich>
      </c:tx>
      <c:layout/>
      <c:overlay val="0"/>
    </c:title>
    <c:autoTitleDeleted val="0"/>
    <c:plotArea>
      <c:layout/>
      <c:lineChart>
        <c:varyColors val="0"/>
        <c:ser>
          <c:idx val="0"/>
          <c:order val="0"/>
          <c:tx>
            <c:strRef>
              <c:f>Sheet1!$B$1</c:f>
              <c:strCache>
                <c:ptCount val="1"/>
                <c:pt idx="0">
                  <c:v>Money in (USD)</c:v>
                </c:pt>
              </c:strCache>
            </c:strRef>
          </c:tx>
          <c:spPr>
            <a:solidFill>
              <a:srgbClr val="2E6DB4"/>
            </a:solidFill>
            <a:ln w="38100" cap="flat">
              <a:solidFill>
                <a:srgbClr val="2E6DB4"/>
              </a:solidFill>
              <a:prstDash val="solid"/>
              <a:round/>
            </a:ln>
            <a:effectLst/>
          </c:spPr>
          <c:invertIfNegative val="0"/>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c:symbol val="circle"/>
            <c:size val="8"/>
            <c:spPr>
              <a:solidFill>
                <a:srgbClr val="2E6DB4"/>
              </a:solidFill>
              <a:ln w="9525" cap="flat">
                <a:solidFill>
                  <a:srgbClr val="2E6DB4"/>
                </a:solidFill>
                <a:prstDash val="solid"/>
                <a:round/>
              </a:ln>
              <a:effectLst/>
            </c:spPr>
          </c:marker>
          <c:cat>
            <c:multiLvlStrRef>
              <c:f>Sheet1!$A$2:$A$5</c:f>
              <c:multiLvlStrCache>
                <c:ptCount val="4"/>
                <c:lvl>
                  <c:pt idx="0">
                    <c:v>Jun</c:v>
                  </c:pt>
                  <c:pt idx="1">
                    <c:v>Jul (+31%)</c:v>
                  </c:pt>
                  <c:pt idx="2">
                    <c:v>Aug (+21%)</c:v>
                  </c:pt>
                  <c:pt idx="3">
                    <c:v>Sep (−10%)</c:v>
                  </c:pt>
                </c:lvl>
              </c:multiLvlStrCache>
            </c:multiLvlStrRef>
          </c:cat>
          <c:val>
            <c:numRef>
              <c:f>Sheet1!$B$2:$B$5</c:f>
              <c:numCache>
                <c:formatCode>General</c:formatCode>
                <c:ptCount val="4"/>
                <c:pt idx="0">
                  <c:v>10558</c:v>
                </c:pt>
                <c:pt idx="1">
                  <c:v>13825</c:v>
                </c:pt>
                <c:pt idx="2">
                  <c:v>16760</c:v>
                </c:pt>
                <c:pt idx="3">
                  <c:v>15078</c:v>
                </c:pt>
              </c:numCache>
            </c:numRef>
          </c:val>
          <c:smooth val="0"/>
        </c:ser>
        <c:dLbls>
          <c:numFmt formatCode="#,##0" sourceLinked="0"/>
          <c:txPr>
            <a:bodyPr/>
            <a:lstStyle/>
            <a:p>
              <a:pPr>
                <a:defRPr b="0" i="0" strike="noStrike" sz="11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200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Money in by stream (USD)</a:t>
            </a:r>
          </a:p>
        </c:rich>
      </c:tx>
      <c:layout/>
      <c:overlay val="0"/>
    </c:title>
    <c:autoTitleDeleted val="0"/>
    <c:plotArea>
      <c:layout/>
      <c:barChart>
        <c:barDir val="col"/>
        <c:grouping val="stacked"/>
        <c:varyColors val="0"/>
        <c:ser>
          <c:idx val="0"/>
          <c:order val="0"/>
          <c:tx>
            <c:strRef>
              <c:f>Sheet1!$B$1</c:f>
              <c:strCache>
                <c:ptCount val="1"/>
                <c:pt idx="0">
                  <c:v>Society lump sums</c:v>
                </c:pt>
              </c:strCache>
            </c:strRef>
          </c:tx>
          <c:spPr>
            <a:solidFill>
              <a:srgbClr val="2E6DB4"/>
            </a:solidFill>
            <a:effectLst/>
          </c:spPr>
          <c:invertIfNegative val="0"/>
          <c:dLbls>
            <c:numFmt formatCode="#,##0;;;" sourceLinked="0"/>
            <c:txPr>
              <a:bodyPr/>
              <a:lstStyle/>
              <a:p>
                <a:pPr>
                  <a:defRPr b="0" i="0" strike="noStrike" sz="1000" u="none">
                    <a:solidFill>
                      <a:srgbClr val="1E2A2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6922</c:v>
                </c:pt>
                <c:pt idx="1">
                  <c:v>5037</c:v>
                </c:pt>
                <c:pt idx="2">
                  <c:v>7705</c:v>
                </c:pt>
                <c:pt idx="3">
                  <c:v>6706</c:v>
                </c:pt>
              </c:numCache>
            </c:numRef>
          </c:val>
        </c:ser>
        <c:ser>
          <c:idx val="1"/>
          <c:order val="1"/>
          <c:tx>
            <c:strRef>
              <c:f>Sheet1!$C$1</c:f>
              <c:strCache>
                <c:ptCount val="1"/>
                <c:pt idx="0">
                  <c:v>Cash funerals</c:v>
                </c:pt>
              </c:strCache>
            </c:strRef>
          </c:tx>
          <c:spPr>
            <a:solidFill>
              <a:srgbClr val="E07B39"/>
            </a:solidFill>
            <a:effectLst/>
          </c:spPr>
          <c:invertIfNegative val="0"/>
          <c:dLbls>
            <c:numFmt formatCode="#,##0;;;" sourceLinked="0"/>
            <c:txPr>
              <a:bodyPr/>
              <a:lstStyle/>
              <a:p>
                <a:pPr>
                  <a:defRPr b="0" i="0" strike="noStrike" sz="1000" u="none">
                    <a:solidFill>
                      <a:srgbClr val="1E2A2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Sheet1!$C$2:$C$5</c:f>
              <c:numCache>
                <c:formatCode>General</c:formatCode>
                <c:ptCount val="4"/>
                <c:pt idx="0">
                  <c:v>3145</c:v>
                </c:pt>
                <c:pt idx="1">
                  <c:v>6733</c:v>
                </c:pt>
                <c:pt idx="2">
                  <c:v>5902</c:v>
                </c:pt>
                <c:pt idx="3">
                  <c:v>4375</c:v>
                </c:pt>
              </c:numCache>
            </c:numRef>
          </c:val>
        </c:ser>
        <c:ser>
          <c:idx val="2"/>
          <c:order val="2"/>
          <c:tx>
            <c:strRef>
              <c:f>Sheet1!$D$1</c:f>
              <c:strCache>
                <c:ptCount val="1"/>
                <c:pt idx="0">
                  <c:v>Individual premiums</c:v>
                </c:pt>
              </c:strCache>
            </c:strRef>
          </c:tx>
          <c:spPr>
            <a:solidFill>
              <a:srgbClr val="34ADB3"/>
            </a:solidFill>
            <a:effectLst/>
          </c:spPr>
          <c:invertIfNegative val="0"/>
          <c:dLbls>
            <c:numFmt formatCode="#,##0;;;" sourceLinked="0"/>
            <c:txPr>
              <a:bodyPr/>
              <a:lstStyle/>
              <a:p>
                <a:pPr>
                  <a:defRPr b="0" i="0" strike="noStrike" sz="1000" u="none">
                    <a:solidFill>
                      <a:srgbClr val="1E2A2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Sheet1!$D$2:$D$5</c:f>
              <c:numCache>
                <c:formatCode>General</c:formatCode>
                <c:ptCount val="4"/>
                <c:pt idx="0">
                  <c:v>491</c:v>
                </c:pt>
                <c:pt idx="1">
                  <c:v>1915</c:v>
                </c:pt>
                <c:pt idx="2">
                  <c:v>2204</c:v>
                </c:pt>
                <c:pt idx="3">
                  <c:v>2550</c:v>
                </c:pt>
              </c:numCache>
            </c:numRef>
          </c:val>
        </c:ser>
        <c:ser>
          <c:idx val="3"/>
          <c:order val="3"/>
          <c:tx>
            <c:strRef>
              <c:f>Sheet1!$E$1</c:f>
              <c:strCache>
                <c:ptCount val="1"/>
                <c:pt idx="0">
                  <c:v>Society-member premiums</c:v>
                </c:pt>
              </c:strCache>
            </c:strRef>
          </c:tx>
          <c:spPr>
            <a:solidFill>
              <a:srgbClr val="E2B530"/>
            </a:solidFill>
            <a:effectLst/>
          </c:spPr>
          <c:invertIfNegative val="0"/>
          <c:dLbls>
            <c:numFmt formatCode="#,##0;;;" sourceLinked="0"/>
            <c:txPr>
              <a:bodyPr/>
              <a:lstStyle/>
              <a:p>
                <a:pPr>
                  <a:defRPr b="0" i="0" strike="noStrike" sz="1000" u="none">
                    <a:solidFill>
                      <a:srgbClr val="1E2A2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Sheet1!$E$2:$E$5</c:f>
              <c:numCache>
                <c:formatCode>General</c:formatCode>
                <c:ptCount val="4"/>
                <c:pt idx="0">
                  <c:v>0</c:v>
                </c:pt>
                <c:pt idx="1">
                  <c:v>140</c:v>
                </c:pt>
                <c:pt idx="2">
                  <c:v>950</c:v>
                </c:pt>
                <c:pt idx="3">
                  <c:v>1447</c:v>
                </c:pt>
              </c:numCache>
            </c:numRef>
          </c:val>
        </c:ser>
        <c:dLbls>
          <c:numFmt formatCode="#,##0;;;" sourceLinked="0"/>
          <c:txPr>
            <a:bodyPr/>
            <a:lstStyle/>
            <a:p>
              <a:pPr>
                <a:defRPr b="0" i="0" strike="noStrike" sz="1000" u="none">
                  <a:solidFill>
                    <a:srgbClr val="1E2A2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Mix, June–September</a:t>
            </a:r>
          </a:p>
        </c:rich>
      </c:tx>
      <c:layout/>
      <c:overlay val="0"/>
    </c:title>
    <c:autoTitleDeleted val="0"/>
    <c:plotArea>
      <c:layout/>
      <c:pie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rgbClr val="2E6DB4"/>
              </a:solidFill>
              <a:effectLst/>
            </c:spPr>
          </c:dPt>
          <c:dPt>
            <c:idx val="1"/>
            <c:bubble3D val="0"/>
            <c:spPr>
              <a:solidFill>
                <a:srgbClr val="E07B39"/>
              </a:solidFill>
              <a:effectLst/>
            </c:spPr>
          </c:dPt>
          <c:dPt>
            <c:idx val="2"/>
            <c:bubble3D val="0"/>
            <c:spPr>
              <a:solidFill>
                <a:srgbClr val="34ADB3"/>
              </a:solidFill>
              <a:effectLst/>
            </c:spPr>
          </c:dPt>
          <c:dPt>
            <c:idx val="3"/>
            <c:bubble3D val="0"/>
            <c:spPr>
              <a:solidFill>
                <a:srgbClr val="E2B530"/>
              </a:solidFill>
              <a:effectLst/>
            </c:spPr>
          </c:dPt>
          <c:dLbls>
            <c:dLbl>
              <c:idx val="0"/>
              <c:numFmt formatCode="0%" sourceLinked="0"/>
              <c:spPr/>
              <c:txPr>
                <a:bodyPr/>
                <a:lstStyle/>
                <a:p>
                  <a:pPr>
                    <a:defRPr sz="1100" b="0" i="0" u="none" strike="noStrike">
                      <a:solidFill>
                        <a:srgbClr val="FFFFFF"/>
                      </a:solidFill>
                      <a:latin typeface="+mn-lt"/>
                    </a:defRPr>
                  </a:pPr>
                </a:p>
              </c:txPr>
              <c:dLblPos val="ct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mn-lt"/>
                    </a:defRPr>
                  </a:pPr>
                </a:p>
              </c:txPr>
              <c:dLblPos val="ct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mn-lt"/>
                    </a:defRPr>
                  </a:pPr>
                </a:p>
              </c:txPr>
              <c:dLblPos val="ctr"/>
              <c:showLegendKey val="0"/>
              <c:showVal val="0"/>
              <c:showCatName val="0"/>
              <c:showSerName val="0"/>
              <c:showPercent val="1"/>
              <c:showBubbleSize val="0"/>
            </c:dLbl>
            <c:dLbl>
              <c:idx val="3"/>
              <c:numFmt formatCode="0%" sourceLinked="0"/>
              <c:spPr/>
              <c:txPr>
                <a:bodyPr/>
                <a:lstStyle/>
                <a:p>
                  <a:pPr>
                    <a:defRPr sz="1100" b="0" i="0" u="none" strike="noStrike">
                      <a:solidFill>
                        <a:srgbClr val="FFFFFF"/>
                      </a:solidFill>
                      <a:latin typeface="+mn-lt"/>
                    </a:defRPr>
                  </a:pPr>
                </a:p>
              </c:txPr>
              <c:dLblPos val="ct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Societies</c:v>
                </c:pt>
                <c:pt idx="1">
                  <c:v>Cash funerals</c:v>
                </c:pt>
                <c:pt idx="2">
                  <c:v>Individual</c:v>
                </c:pt>
                <c:pt idx="3">
                  <c:v>Member premiums</c:v>
                </c:pt>
              </c:strCache>
            </c:strRef>
          </c:cat>
          <c:val>
            <c:numRef>
              <c:f>Sheet1!$B$2:$B$5</c:f>
              <c:numCache>
                <c:ptCount val="4"/>
                <c:pt idx="0">
                  <c:v>26370</c:v>
                </c:pt>
                <c:pt idx="1">
                  <c:v>20155</c:v>
                </c:pt>
                <c:pt idx="2">
                  <c:v>7160</c:v>
                </c:pt>
                <c:pt idx="3">
                  <c:v>2537</c:v>
                </c:pt>
              </c:numCache>
            </c:numRef>
          </c:val>
        </c:ser>
        <c:firstSliceAng val="0"/>
      </c:pieChart>
      <c:spPr>
        <a:solidFill>
          <a:srgbClr val="F5F7F7"/>
        </a:solidFill>
        <a:ln>
          <a:noFill/>
        </a:ln>
        <a:effectLst/>
      </c:spPr>
    </c:plotArea>
    <c:legend>
      <c:legendPos val="b"/>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Funerals by burial date and type (count)</a:t>
            </a:r>
          </a:p>
        </c:rich>
      </c:tx>
      <c:layout/>
      <c:overlay val="0"/>
    </c:title>
    <c:autoTitleDeleted val="0"/>
    <c:plotArea>
      <c:layout/>
      <c:barChart>
        <c:barDir val="col"/>
        <c:grouping val="stacked"/>
        <c:varyColors val="0"/>
        <c:ser>
          <c:idx val="0"/>
          <c:order val="0"/>
          <c:tx>
            <c:strRef>
              <c:f>Sheet1!$B$1</c:f>
              <c:strCache>
                <c:ptCount val="1"/>
                <c:pt idx="0">
                  <c:v>Policy</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11</c:v>
                </c:pt>
                <c:pt idx="1">
                  <c:v>23</c:v>
                </c:pt>
                <c:pt idx="2">
                  <c:v>29</c:v>
                </c:pt>
                <c:pt idx="3">
                  <c:v>17</c:v>
                </c:pt>
              </c:numCache>
            </c:numRef>
          </c:val>
        </c:ser>
        <c:ser>
          <c:idx val="1"/>
          <c:order val="1"/>
          <c:tx>
            <c:strRef>
              <c:f>Sheet1!$C$1</c:f>
              <c:strCache>
                <c:ptCount val="1"/>
                <c:pt idx="0">
                  <c:v>Cash</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Sheet1!$C$2:$C$5</c:f>
              <c:numCache>
                <c:formatCode>General</c:formatCode>
                <c:ptCount val="4"/>
                <c:pt idx="0">
                  <c:v>14</c:v>
                </c:pt>
                <c:pt idx="1">
                  <c:v>14</c:v>
                </c:pt>
                <c:pt idx="2">
                  <c:v>10</c:v>
                </c:pt>
                <c:pt idx="3">
                  <c:v>4</c:v>
                </c:pt>
              </c:numCache>
            </c:numRef>
          </c:val>
        </c:ser>
        <c:ser>
          <c:idx val="2"/>
          <c:order val="2"/>
          <c:tx>
            <c:strRef>
              <c:f>Sheet1!$D$1</c:f>
              <c:strCache>
                <c:ptCount val="1"/>
                <c:pt idx="0">
                  <c:v>Type not recorded</c:v>
                </c:pt>
              </c:strCache>
            </c:strRef>
          </c:tx>
          <c:spPr>
            <a:solidFill>
              <a:srgbClr val="34ADB3"/>
            </a:solidFill>
            <a:effectLst/>
          </c:spPr>
          <c:invertIfNegative val="0"/>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Sheet1!$D$2:$D$5</c:f>
              <c:numCache>
                <c:formatCode>General</c:formatCode>
                <c:ptCount val="4"/>
                <c:pt idx="0">
                  <c:v>2</c:v>
                </c:pt>
                <c:pt idx="1">
                  <c:v>1</c:v>
                </c:pt>
                <c:pt idx="2">
                  <c:v>0</c:v>
                </c:pt>
                <c:pt idx="3">
                  <c:v>1</c:v>
                </c:pt>
              </c:numCache>
            </c:numRef>
          </c:val>
        </c:ser>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Mortuary intakes (count)</a:t>
            </a:r>
          </a:p>
        </c:rich>
      </c:tx>
      <c:layout/>
      <c:overlay val="0"/>
    </c:title>
    <c:autoTitleDeleted val="0"/>
    <c:plotArea>
      <c:layout/>
      <c:barChart>
        <c:barDir val="col"/>
        <c:grouping val="clustered"/>
        <c:varyColors val="0"/>
        <c:ser>
          <c:idx val="0"/>
          <c:order val="0"/>
          <c:tx>
            <c:strRef>
              <c:f>Sheet1!$B$1</c:f>
              <c:strCache>
                <c:ptCount val="1"/>
                <c:pt idx="0">
                  <c:v>Intakes</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7</c:v>
                </c:pt>
                <c:pt idx="1">
                  <c:v>41</c:v>
                </c:pt>
                <c:pt idx="2">
                  <c:v>23</c:v>
                </c:pt>
                <c:pt idx="3">
                  <c:v>12</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Storage fees charged (USD)</a:t>
            </a:r>
          </a:p>
        </c:rich>
      </c:tx>
      <c:layout/>
      <c:overlay val="0"/>
    </c:title>
    <c:autoTitleDeleted val="0"/>
    <c:plotArea>
      <c:layout/>
      <c:barChart>
        <c:barDir val="col"/>
        <c:grouping val="clustered"/>
        <c:varyColors val="0"/>
        <c:ser>
          <c:idx val="0"/>
          <c:order val="0"/>
          <c:tx>
            <c:strRef>
              <c:f>Sheet1!$B$1</c:f>
              <c:strCache>
                <c:ptCount val="1"/>
                <c:pt idx="0">
                  <c:v>Charged</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40</c:v>
                </c:pt>
                <c:pt idx="1">
                  <c:v>540</c:v>
                </c:pt>
                <c:pt idx="2">
                  <c:v>340</c:v>
                </c:pt>
                <c:pt idx="3">
                  <c:v>220</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65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Funerals recorded per vehicle</a:t>
            </a:r>
          </a:p>
        </c:rich>
      </c:tx>
      <c:layout/>
      <c:overlay val="0"/>
    </c:title>
    <c:autoTitleDeleted val="0"/>
    <c:plotArea>
      <c:layout/>
      <c:barChart>
        <c:barDir val="bar"/>
        <c:grouping val="clustered"/>
        <c:varyColors val="0"/>
        <c:ser>
          <c:idx val="0"/>
          <c:order val="0"/>
          <c:tx>
            <c:strRef>
              <c:f>Sheet1!$B$1</c:f>
              <c:strCache>
                <c:ptCount val="1"/>
                <c:pt idx="0">
                  <c:v>Funerals</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Sheet1!$A$2:$A$6</c:f>
              <c:multiLvlStrCache>
                <c:ptCount val="5"/>
                <c:lvl>
                  <c:pt idx="0">
                    <c:v>Baby Quantum AHO8415</c:v>
                  </c:pt>
                  <c:pt idx="1">
                    <c:v>Baby Quantum AHO8416</c:v>
                  </c:pt>
                  <c:pt idx="2">
                    <c:v>Quantum GL MB77ZXGP</c:v>
                  </c:pt>
                  <c:pt idx="3">
                    <c:v>Mazda BT50 ADX0618</c:v>
                  </c:pt>
                  <c:pt idx="4">
                    <c:v>Nissan NP300 NB25MGGP</c:v>
                  </c:pt>
                </c:lvl>
              </c:multiLvlStrCache>
            </c:multiLvlStrRef>
          </c:cat>
          <c:val>
            <c:numRef>
              <c:f>Sheet1!$B$2:$B$6</c:f>
              <c:numCache>
                <c:formatCode>General</c:formatCode>
                <c:ptCount val="5"/>
                <c:pt idx="0">
                  <c:v>30</c:v>
                </c:pt>
                <c:pt idx="1">
                  <c:v>23</c:v>
                </c:pt>
                <c:pt idx="2">
                  <c:v>23</c:v>
                </c:pt>
                <c:pt idx="3">
                  <c:v>17</c:v>
                </c:pt>
                <c:pt idx="4">
                  <c:v>4</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9D2D4"/>
            </a:solidFill>
            <a:prstDash val="solid"/>
            <a:round/>
          </a:ln>
        </c:spPr>
        <c:txPr>
          <a:bodyPr/>
          <a:lstStyle/>
          <a:p>
            <a:pPr>
              <a:defRPr sz="10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35"/>
          <c:min val="0"/>
        </c:scaling>
        <c:delete val="0"/>
        <c:axPos val="b"/>
        <c:majorGridlines>
          <c:spPr>
            <a:ln w="9525" cap="flat">
              <a:solidFill>
                <a:srgbClr val="E3E8E9"/>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Vehicle hire (USD)</a:t>
            </a:r>
          </a:p>
        </c:rich>
      </c:tx>
      <c:layout/>
      <c:overlay val="0"/>
    </c:title>
    <c:autoTitleDeleted val="0"/>
    <c:plotArea>
      <c:layout/>
      <c:barChart>
        <c:barDir val="col"/>
        <c:grouping val="clustered"/>
        <c:varyColors val="0"/>
        <c:ser>
          <c:idx val="0"/>
          <c:order val="0"/>
          <c:tx>
            <c:strRef>
              <c:f>Sheet1!$B$1</c:f>
              <c:strCache>
                <c:ptCount val="1"/>
                <c:pt idx="0">
                  <c:v>Hire</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1865</c:v>
                </c:pt>
                <c:pt idx="1">
                  <c:v>885</c:v>
                </c:pt>
                <c:pt idx="2">
                  <c:v>1448</c:v>
                </c:pt>
                <c:pt idx="3">
                  <c:v>725</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22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Societies added to the system</a:t>
            </a:r>
          </a:p>
        </c:rich>
      </c:tx>
      <c:layout/>
      <c:overlay val="0"/>
    </c:title>
    <c:autoTitleDeleted val="0"/>
    <c:plotArea>
      <c:layout/>
      <c:barChart>
        <c:barDir val="col"/>
        <c:grouping val="clustered"/>
        <c:varyColors val="0"/>
        <c:ser>
          <c:idx val="0"/>
          <c:order val="0"/>
          <c:tx>
            <c:strRef>
              <c:f>Sheet1!$B$1</c:f>
              <c:strCache>
                <c:ptCount val="1"/>
                <c:pt idx="0">
                  <c:v>Societies added</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23</c:v>
                </c:pt>
                <c:pt idx="1">
                  <c:v>52</c:v>
                </c:pt>
                <c:pt idx="2">
                  <c:v>4</c:v>
                </c:pt>
                <c:pt idx="3">
                  <c:v>1</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Members captured? (of 80)</a:t>
            </a:r>
          </a:p>
        </c:rich>
      </c:tx>
      <c:layout/>
      <c:overlay val="0"/>
    </c:title>
    <c:autoTitleDeleted val="0"/>
    <c:plotArea>
      <c:layout/>
      <c:barChart>
        <c:barDir val="col"/>
        <c:grouping val="stacked"/>
        <c:varyColors val="0"/>
        <c:ser>
          <c:idx val="0"/>
          <c:order val="0"/>
          <c:tx>
            <c:strRef>
              <c:f>Sheet1!$B$1</c:f>
              <c:strCache>
                <c:ptCount val="1"/>
                <c:pt idx="0">
                  <c:v>Members captured (22)</c:v>
                </c:pt>
              </c:strCache>
            </c:strRef>
          </c:tx>
          <c:spPr>
            <a:solidFill>
              <a:srgbClr val="34ADB3"/>
            </a:solidFill>
            <a:effectLst/>
          </c:spPr>
          <c:invertIfNegative val="0"/>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Societies</c:v>
                  </c:pt>
                </c:lvl>
              </c:multiLvlStrCache>
            </c:multiLvlStrRef>
          </c:cat>
          <c:val>
            <c:numRef>
              <c:f>Sheet1!$B$2:$B$2</c:f>
              <c:numCache>
                <c:formatCode>General</c:formatCode>
                <c:ptCount val="1"/>
                <c:pt idx="0">
                  <c:v>22</c:v>
                </c:pt>
              </c:numCache>
            </c:numRef>
          </c:val>
        </c:ser>
        <c:ser>
          <c:idx val="1"/>
          <c:order val="1"/>
          <c:tx>
            <c:strRef>
              <c:f>Sheet1!$C$1</c:f>
              <c:strCache>
                <c:ptCount val="1"/>
                <c:pt idx="0">
                  <c:v>No members (58)</c:v>
                </c:pt>
              </c:strCache>
            </c:strRef>
          </c:tx>
          <c:spPr>
            <a:solidFill>
              <a:srgbClr val="E07B39"/>
            </a:solidFill>
            <a:effectLst/>
          </c:spPr>
          <c:invertIfNegative val="0"/>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Societies</c:v>
                  </c:pt>
                </c:lvl>
              </c:multiLvlStrCache>
            </c:multiLvlStrRef>
          </c:cat>
          <c:val>
            <c:numRef>
              <c:f>Sheet1!$C$2:$C$2</c:f>
              <c:numCache>
                <c:formatCode>General</c:formatCode>
                <c:ptCount val="1"/>
                <c:pt idx="0">
                  <c:v>58</c:v>
                </c:pt>
              </c:numCache>
            </c:numRef>
          </c:val>
        </c:ser>
        <c:dLbls>
          <c:numFmt formatCode="#,##0;;;" sourceLinked="0"/>
          <c:txPr>
            <a:bodyPr/>
            <a:lstStyle/>
            <a:p>
              <a:pPr>
                <a:defRPr b="0" i="0" strike="noStrike" sz="1100" u="none">
                  <a:solidFill>
                    <a:srgbClr val="1E2A2F"/>
                  </a:solidFill>
                  <a:latin typeface="+mn-lt"/>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Projected book in 12 months (policies)</a:t>
            </a:r>
          </a:p>
        </c:rich>
      </c:tx>
      <c:layout/>
      <c:overlay val="0"/>
    </c:title>
    <c:autoTitleDeleted val="0"/>
    <c:plotArea>
      <c:layout/>
      <c:barChart>
        <c:barDir val="bar"/>
        <c:grouping val="clustered"/>
        <c:varyColors val="0"/>
        <c:ser>
          <c:idx val="0"/>
          <c:order val="0"/>
          <c:tx>
            <c:strRef>
              <c:f>Sheet1!$B$1</c:f>
              <c:strCache>
                <c:ptCount val="1"/>
                <c:pt idx="0">
                  <c:v>Projected book</c:v>
                </c:pt>
              </c:strCache>
            </c:strRef>
          </c:tx>
          <c:spPr>
            <a:solidFill>
              <a:srgbClr val="2E6DB4"/>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Sheet1!$A$2:$A$9</c:f>
              <c:multiLvlStrCache>
                <c:ptCount val="8"/>
                <c:lvl>
                  <c:pt idx="0">
                    <c:v>Base (no change)</c:v>
                  </c:pt>
                  <c:pt idx="1">
                    <c:v>+2 agents</c:v>
                  </c:pt>
                  <c:pt idx="2">
                    <c:v>+5 agents</c:v>
                  </c:pt>
                  <c:pt idx="3">
                    <c:v>+10 agents</c:v>
                  </c:pt>
                  <c:pt idx="4">
                    <c:v>Lapse −1 pt</c:v>
                  </c:pt>
                  <c:pt idx="5">
                    <c:v>Lapse −2 pts</c:v>
                  </c:pt>
                  <c:pt idx="6">
                    <c:v>Funeral leads 5/mo</c:v>
                  </c:pt>
                  <c:pt idx="7">
                    <c:v>Funeral leads 10/mo</c:v>
                  </c:pt>
                </c:lvl>
              </c:multiLvlStrCache>
            </c:multiLvlStrRef>
          </c:cat>
          <c:val>
            <c:numRef>
              <c:f>Sheet1!$B$2:$B$9</c:f>
              <c:numCache>
                <c:formatCode>General</c:formatCode>
                <c:ptCount val="8"/>
                <c:pt idx="0">
                  <c:v>484</c:v>
                </c:pt>
                <c:pt idx="1">
                  <c:v>567</c:v>
                </c:pt>
                <c:pt idx="2">
                  <c:v>676</c:v>
                </c:pt>
                <c:pt idx="3">
                  <c:v>878</c:v>
                </c:pt>
                <c:pt idx="4">
                  <c:v>535</c:v>
                </c:pt>
                <c:pt idx="5">
                  <c:v>592</c:v>
                </c:pt>
                <c:pt idx="6">
                  <c:v>530</c:v>
                </c:pt>
                <c:pt idx="7">
                  <c:v>576</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9D2D4"/>
            </a:solidFill>
            <a:prstDash val="solid"/>
            <a:round/>
          </a:ln>
        </c:spPr>
        <c:txPr>
          <a:bodyPr/>
          <a:lstStyle/>
          <a:p>
            <a:pPr>
              <a:defRPr sz="10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000"/>
          <c:min val="0"/>
        </c:scaling>
        <c:delete val="0"/>
        <c:axPos val="b"/>
        <c:majorGridlines>
          <c:spPr>
            <a:ln w="9525" cap="flat">
              <a:solidFill>
                <a:srgbClr val="E3E8E9"/>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Policies in force — Projected</a:t>
            </a:r>
          </a:p>
        </c:rich>
      </c:tx>
      <c:layout/>
      <c:overlay val="0"/>
    </c:title>
    <c:autoTitleDeleted val="0"/>
    <c:plotArea>
      <c:layout/>
      <c:lineChart>
        <c:varyColors val="0"/>
        <c:ser>
          <c:idx val="0"/>
          <c:order val="0"/>
          <c:tx>
            <c:strRef>
              <c:f>Sheet1!$B$1</c:f>
              <c:strCache>
                <c:ptCount val="1"/>
                <c:pt idx="0">
                  <c:v>Current (Projected)</c:v>
                </c:pt>
              </c:strCache>
            </c:strRef>
          </c:tx>
          <c:spPr>
            <a:solidFill>
              <a:srgbClr val="2E6DB4"/>
            </a:solidFill>
            <a:ln w="38100" cap="flat">
              <a:solidFill>
                <a:srgbClr val="2E6DB4"/>
              </a:solidFill>
              <a:prstDash val="dash"/>
              <a:round/>
            </a:ln>
            <a:effectLst/>
          </c:spPr>
          <c:invertIfNegative val="0"/>
          <c:dLbls>
            <c:numFmt formatCode="#,##0" sourceLinked="0"/>
            <c:txPr>
              <a:bodyPr/>
              <a:lstStyle/>
              <a:p>
                <a:pPr>
                  <a:defRPr b="0" i="0" strike="noStrike" sz="1000" u="none">
                    <a:solidFill>
                      <a:srgbClr val="1E2A2F"/>
                    </a:solidFill>
                    <a:latin typeface="+mn-lt"/>
                  </a:defRPr>
                </a:pPr>
              </a:p>
            </c:txPr>
            <c:dLblPos val="b"/>
            <c:showLegendKey val="0"/>
            <c:showVal val="1"/>
            <c:showCatName val="0"/>
            <c:showSerName val="0"/>
            <c:showPercent val="0"/>
            <c:showBubbleSize val="0"/>
            <c:showLeaderLines val="0"/>
          </c:dLbls>
          <c:marker>
            <c:symbol val="circle"/>
            <c:size val="7"/>
            <c:spPr>
              <a:solidFill>
                <a:srgbClr val="2E6DB4"/>
              </a:solidFill>
              <a:ln w="9525" cap="flat">
                <a:solidFill>
                  <a:srgbClr val="2E6DB4"/>
                </a:solidFill>
                <a:prstDash val="solid"/>
                <a:round/>
              </a:ln>
              <a:effectLst/>
            </c:spPr>
          </c:marker>
          <c:cat>
            <c:multiLvlStrRef>
              <c:f>Sheet1!$A$2:$A$5</c:f>
              <c:multiLvlStrCache>
                <c:ptCount val="4"/>
                <c:lvl>
                  <c:pt idx="0">
                    <c:v>Now</c:v>
                  </c:pt>
                  <c:pt idx="1">
                    <c:v>3 months</c:v>
                  </c:pt>
                  <c:pt idx="2">
                    <c:v>6 months</c:v>
                  </c:pt>
                  <c:pt idx="3">
                    <c:v>12 months</c:v>
                  </c:pt>
                </c:lvl>
              </c:multiLvlStrCache>
            </c:multiLvlStrRef>
          </c:cat>
          <c:val>
            <c:numRef>
              <c:f>Sheet1!$B$2:$B$5</c:f>
              <c:numCache>
                <c:formatCode>General</c:formatCode>
                <c:ptCount val="4"/>
                <c:pt idx="0">
                  <c:v>582</c:v>
                </c:pt>
                <c:pt idx="1">
                  <c:v>552</c:v>
                </c:pt>
                <c:pt idx="2">
                  <c:v>526</c:v>
                </c:pt>
                <c:pt idx="3">
                  <c:v>484</c:v>
                </c:pt>
              </c:numCache>
            </c:numRef>
          </c:val>
          <c:smooth val="0"/>
        </c:ser>
        <c:dLbls>
          <c:numFmt formatCode="#,##0" sourceLinked="0"/>
          <c:txPr>
            <a:bodyPr/>
            <a:lstStyle/>
            <a:p>
              <a:pPr>
                <a:defRPr b="0" i="0" strike="noStrike" sz="1000" u="none">
                  <a:solidFill>
                    <a:srgbClr val="1E2A2F"/>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Intervention (Projected)</c:v>
                </c:pt>
              </c:strCache>
            </c:strRef>
          </c:tx>
          <c:spPr>
            <a:solidFill>
              <a:srgbClr val="E07B39"/>
            </a:solidFill>
            <a:ln w="38100" cap="flat">
              <a:solidFill>
                <a:srgbClr val="E07B39"/>
              </a:solidFill>
              <a:prstDash val="dash"/>
              <a:round/>
            </a:ln>
            <a:effectLst/>
          </c:spPr>
          <c:invertIfNegative val="0"/>
          <c:dLbls>
            <c:numFmt formatCode="#,##0" sourceLinked="0"/>
            <c:txPr>
              <a:bodyPr/>
              <a:lstStyle/>
              <a:p>
                <a:pPr>
                  <a:defRPr b="0" i="0" strike="noStrike" sz="1000" u="none">
                    <a:solidFill>
                      <a:srgbClr val="1E2A2F"/>
                    </a:solidFill>
                    <a:latin typeface="+mn-lt"/>
                  </a:defRPr>
                </a:pPr>
              </a:p>
            </c:txPr>
            <c:dLblPos val="r"/>
            <c:showLegendKey val="0"/>
            <c:showVal val="1"/>
            <c:showCatName val="0"/>
            <c:showSerName val="0"/>
            <c:showPercent val="0"/>
            <c:showBubbleSize val="0"/>
            <c:showLeaderLines val="0"/>
          </c:dLbls>
          <c:marker>
            <c:symbol val="circle"/>
            <c:size val="7"/>
            <c:spPr>
              <a:solidFill>
                <a:srgbClr val="E07B39"/>
              </a:solidFill>
              <a:ln w="9525" cap="flat">
                <a:solidFill>
                  <a:srgbClr val="E07B39"/>
                </a:solidFill>
                <a:prstDash val="solid"/>
                <a:round/>
              </a:ln>
              <a:effectLst/>
            </c:spPr>
          </c:marker>
          <c:cat>
            <c:multiLvlStrRef>
              <c:f>Sheet1!$A$2:$A$5</c:f>
              <c:multiLvlStrCache>
                <c:ptCount val="4"/>
                <c:lvl>
                  <c:pt idx="0">
                    <c:v>Now</c:v>
                  </c:pt>
                  <c:pt idx="1">
                    <c:v>3 months</c:v>
                  </c:pt>
                  <c:pt idx="2">
                    <c:v>6 months</c:v>
                  </c:pt>
                  <c:pt idx="3">
                    <c:v>12 months</c:v>
                  </c:pt>
                </c:lvl>
              </c:multiLvlStrCache>
            </c:multiLvlStrRef>
          </c:cat>
          <c:val>
            <c:numRef>
              <c:f>Sheet1!$C$2:$C$5</c:f>
              <c:numCache>
                <c:formatCode>General</c:formatCode>
                <c:ptCount val="4"/>
                <c:pt idx="0">
                  <c:v>582</c:v>
                </c:pt>
                <c:pt idx="1">
                  <c:v>697</c:v>
                </c:pt>
                <c:pt idx="2">
                  <c:v>800</c:v>
                </c:pt>
                <c:pt idx="3">
                  <c:v>976</c:v>
                </c:pt>
              </c:numCache>
            </c:numRef>
          </c:val>
          <c:smooth val="0"/>
        </c:ser>
        <c:dLbls>
          <c:numFmt formatCode="#,##0" sourceLinked="0"/>
          <c:txPr>
            <a:bodyPr/>
            <a:lstStyle/>
            <a:p>
              <a:pPr>
                <a:defRPr b="0" i="0" strike="noStrike" sz="1000" u="none">
                  <a:solidFill>
                    <a:srgbClr val="1E2A2F"/>
                  </a:solidFill>
                  <a:latin typeface="+mn-lt"/>
                </a:defRPr>
              </a:pPr>
            </a:p>
          </c:txPr>
          <c:dLblPos val="r"/>
          <c:showLegendKey val="0"/>
          <c:showVal val="1"/>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Accelerated (Projected)</c:v>
                </c:pt>
              </c:strCache>
            </c:strRef>
          </c:tx>
          <c:spPr>
            <a:solidFill>
              <a:srgbClr val="34ADB3"/>
            </a:solidFill>
            <a:ln w="38100" cap="flat">
              <a:solidFill>
                <a:srgbClr val="34ADB3"/>
              </a:solidFill>
              <a:prstDash val="dash"/>
              <a:round/>
            </a:ln>
            <a:effectLst/>
          </c:spPr>
          <c:invertIfNegative val="0"/>
          <c:dLbls>
            <c:numFmt formatCode="#,##0" sourceLinked="0"/>
            <c:txPr>
              <a:bodyPr/>
              <a:lstStyle/>
              <a:p>
                <a:pPr>
                  <a:defRPr b="0" i="0" strike="noStrike" sz="1000" u="none">
                    <a:solidFill>
                      <a:srgbClr val="1E2A2F"/>
                    </a:solidFill>
                    <a:latin typeface="+mn-lt"/>
                  </a:defRPr>
                </a:pPr>
              </a:p>
            </c:txPr>
            <c:dLblPos val="t"/>
            <c:showLegendKey val="0"/>
            <c:showVal val="1"/>
            <c:showCatName val="0"/>
            <c:showSerName val="0"/>
            <c:showPercent val="0"/>
            <c:showBubbleSize val="0"/>
            <c:showLeaderLines val="0"/>
          </c:dLbls>
          <c:marker>
            <c:symbol val="circle"/>
            <c:size val="7"/>
            <c:spPr>
              <a:solidFill>
                <a:srgbClr val="34ADB3"/>
              </a:solidFill>
              <a:ln w="9525" cap="flat">
                <a:solidFill>
                  <a:srgbClr val="34ADB3"/>
                </a:solidFill>
                <a:prstDash val="solid"/>
                <a:round/>
              </a:ln>
              <a:effectLst/>
            </c:spPr>
          </c:marker>
          <c:cat>
            <c:multiLvlStrRef>
              <c:f>Sheet1!$A$2:$A$5</c:f>
              <c:multiLvlStrCache>
                <c:ptCount val="4"/>
                <c:lvl>
                  <c:pt idx="0">
                    <c:v>Now</c:v>
                  </c:pt>
                  <c:pt idx="1">
                    <c:v>3 months</c:v>
                  </c:pt>
                  <c:pt idx="2">
                    <c:v>6 months</c:v>
                  </c:pt>
                  <c:pt idx="3">
                    <c:v>12 months</c:v>
                  </c:pt>
                </c:lvl>
              </c:multiLvlStrCache>
            </c:multiLvlStrRef>
          </c:cat>
          <c:val>
            <c:numRef>
              <c:f>Sheet1!$D$2:$D$5</c:f>
              <c:numCache>
                <c:formatCode>General</c:formatCode>
                <c:ptCount val="4"/>
                <c:pt idx="0">
                  <c:v>582</c:v>
                </c:pt>
                <c:pt idx="1">
                  <c:v>822</c:v>
                </c:pt>
                <c:pt idx="2">
                  <c:v>1042</c:v>
                </c:pt>
                <c:pt idx="3">
                  <c:v>1424</c:v>
                </c:pt>
              </c:numCache>
            </c:numRef>
          </c:val>
          <c:smooth val="0"/>
        </c:ser>
        <c:dLbls>
          <c:numFmt formatCode="#,##0" sourceLinked="0"/>
          <c:txPr>
            <a:bodyPr/>
            <a:lstStyle/>
            <a:p>
              <a:pPr>
                <a:defRPr b="0" i="0" strike="noStrike" sz="1000" u="none">
                  <a:solidFill>
                    <a:srgbClr val="1E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16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Money in per month at 12 months — Projected (USD)</a:t>
            </a:r>
          </a:p>
        </c:rich>
      </c:tx>
      <c:layout/>
      <c:overlay val="0"/>
    </c:title>
    <c:autoTitleDeleted val="0"/>
    <c:plotArea>
      <c:layout/>
      <c:barChart>
        <c:barDir val="col"/>
        <c:grouping val="clustered"/>
        <c:varyColors val="0"/>
        <c:ser>
          <c:idx val="0"/>
          <c:order val="0"/>
          <c:tx>
            <c:strRef>
              <c:f>Sheet1!$B$1</c:f>
              <c:strCache>
                <c:ptCount val="1"/>
                <c:pt idx="0">
                  <c:v>Money in, month 12 (Projected)</c:v>
                </c:pt>
              </c:strCache>
            </c:strRef>
          </c:tx>
          <c:spPr>
            <a:solidFill>
              <a:srgbClr val="34ADB3"/>
            </a:solidFill>
            <a:effectLst/>
          </c:spPr>
          <c:invertIfNegative val="0"/>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cat>
            <c:multiLvlStrRef>
              <c:f>Sheet1!$A$2:$A$4</c:f>
              <c:multiLvlStrCache>
                <c:ptCount val="3"/>
                <c:lvl>
                  <c:pt idx="0">
                    <c:v>Current</c:v>
                  </c:pt>
                  <c:pt idx="1">
                    <c:v>Intervention</c:v>
                  </c:pt>
                  <c:pt idx="2">
                    <c:v>Accelerated</c:v>
                  </c:pt>
                </c:lvl>
              </c:multiLvlStrCache>
            </c:multiLvlStrRef>
          </c:cat>
          <c:val>
            <c:numRef>
              <c:f>Sheet1!$B$2:$B$4</c:f>
              <c:numCache>
                <c:formatCode>General</c:formatCode>
                <c:ptCount val="3"/>
                <c:pt idx="0">
                  <c:v>14746</c:v>
                </c:pt>
                <c:pt idx="1">
                  <c:v>21376</c:v>
                </c:pt>
                <c:pt idx="2">
                  <c:v>27847</c:v>
                </c:pt>
              </c:numCache>
            </c:numRef>
          </c:val>
        </c:ser>
        <c:dLbls>
          <c:numFmt formatCode="#,##0" sourceLinked="0"/>
          <c:txPr>
            <a:bodyPr/>
            <a:lstStyle/>
            <a:p>
              <a:pPr>
                <a:defRPr b="0" i="0" strike="noStrike" sz="1100" u="none">
                  <a:solidFill>
                    <a:srgbClr val="1E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32000"/>
          <c:min val="0"/>
        </c:scaling>
        <c:delete val="0"/>
        <c:axPos val="l"/>
        <c:majorGridlines>
          <c:spPr>
            <a:ln w="9525" cap="flat">
              <a:solidFill>
                <a:srgbClr val="E3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valAx>
      <c:spPr>
        <a:solidFill>
          <a:srgbClr val="F5F7F7"/>
        </a:solidFill>
        <a:ln>
          <a:noFill/>
        </a:ln>
        <a:effectLst/>
      </c:spPr>
    </c:plotArea>
    <c:plotVisOnly val="1"/>
    <c:dispBlanksAs val="span"/>
  </c:chart>
  <c:spPr>
    <a:no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E2A2F"/>
                </a:solidFill>
                <a:latin typeface="+mn-lt"/>
              </a:defRPr>
            </a:pPr>
            <a:r>
              <a:rPr sz="1200" b="0" i="0" u="none" strike="noStrike">
                <a:solidFill>
                  <a:srgbClr val="1E2A2F"/>
                </a:solidFill>
                <a:latin typeface="+mn-lt"/>
              </a:rPr>
              <a:t>Score out of 5 by area</a:t>
            </a:r>
          </a:p>
        </c:rich>
      </c:tx>
      <c:layout/>
      <c:overlay val="0"/>
    </c:title>
    <c:autoTitleDeleted val="0"/>
    <c:plotArea>
      <c:layout/>
      <c:barChart>
        <c:barDir val="bar"/>
        <c:grouping val="stacked"/>
        <c:varyColors val="0"/>
        <c:ser>
          <c:idx val="0"/>
          <c:order val="0"/>
          <c:tx>
            <c:strRef>
              <c:f>Sheet1!$B$1</c:f>
              <c:strCache>
                <c:ptCount val="1"/>
                <c:pt idx="0">
                  <c:v>Weak (1)</c:v>
                </c:pt>
              </c:strCache>
            </c:strRef>
          </c:tx>
          <c:spPr>
            <a:solidFill>
              <a:srgbClr val="C0392B"/>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Sales volume</c:v>
                  </c:pt>
                  <c:pt idx="1">
                    <c:v>Conversion</c:v>
                  </c:pt>
                  <c:pt idx="2">
                    <c:v>Retention</c:v>
                  </c:pt>
                  <c:pt idx="3">
                    <c:v>Productive agents</c:v>
                  </c:pt>
                  <c:pt idx="4">
                    <c:v>Collections</c:v>
                  </c:pt>
                  <c:pt idx="5">
                    <c:v>Revenue</c:v>
                  </c:pt>
                  <c:pt idx="6">
                    <c:v>Funeral profitability</c:v>
                  </c:pt>
                  <c:pt idx="7">
                    <c:v>Mortuary</c:v>
                  </c:pt>
                  <c:pt idx="8">
                    <c:v>Society health</c:v>
                  </c:pt>
                  <c:pt idx="9">
                    <c:v>Data quality</c:v>
                  </c:pt>
                </c:lvl>
              </c:multiLvlStrCache>
            </c:multiLvlStrRef>
          </c:cat>
          <c:val>
            <c:numRef>
              <c:f>Sheet1!$B$2:$B$11</c:f>
              <c:numCache>
                <c:formatCode>General</c:formatCode>
                <c:ptCount val="10"/>
                <c:pt idx="0">
                  <c:v>1</c:v>
                </c:pt>
                <c:pt idx="1">
                  <c:v>0</c:v>
                </c:pt>
                <c:pt idx="2">
                  <c:v>1</c:v>
                </c:pt>
                <c:pt idx="3">
                  <c:v>0</c:v>
                </c:pt>
                <c:pt idx="4">
                  <c:v>1</c:v>
                </c:pt>
                <c:pt idx="5">
                  <c:v>1</c:v>
                </c:pt>
                <c:pt idx="6">
                  <c:v>0</c:v>
                </c:pt>
                <c:pt idx="7">
                  <c:v>1</c:v>
                </c:pt>
                <c:pt idx="8">
                  <c:v>0</c:v>
                </c:pt>
                <c:pt idx="9">
                  <c:v>0</c:v>
                </c:pt>
              </c:numCache>
            </c:numRef>
          </c:val>
        </c:ser>
        <c:ser>
          <c:idx val="1"/>
          <c:order val="1"/>
          <c:tx>
            <c:strRef>
              <c:f>Sheet1!$C$1</c:f>
              <c:strCache>
                <c:ptCount val="1"/>
                <c:pt idx="0">
                  <c:v>Developing (2–3)</c:v>
                </c:pt>
              </c:strCache>
            </c:strRef>
          </c:tx>
          <c:spPr>
            <a:solidFill>
              <a:srgbClr val="C98A00"/>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Sales volume</c:v>
                  </c:pt>
                  <c:pt idx="1">
                    <c:v>Conversion</c:v>
                  </c:pt>
                  <c:pt idx="2">
                    <c:v>Retention</c:v>
                  </c:pt>
                  <c:pt idx="3">
                    <c:v>Productive agents</c:v>
                  </c:pt>
                  <c:pt idx="4">
                    <c:v>Collections</c:v>
                  </c:pt>
                  <c:pt idx="5">
                    <c:v>Revenue</c:v>
                  </c:pt>
                  <c:pt idx="6">
                    <c:v>Funeral profitability</c:v>
                  </c:pt>
                  <c:pt idx="7">
                    <c:v>Mortuary</c:v>
                  </c:pt>
                  <c:pt idx="8">
                    <c:v>Society health</c:v>
                  </c:pt>
                  <c:pt idx="9">
                    <c:v>Data quality</c:v>
                  </c:pt>
                </c:lvl>
              </c:multiLvlStrCache>
            </c:multiLvlStrRef>
          </c:cat>
          <c:val>
            <c:numRef>
              <c:f>Sheet1!$C$2:$C$11</c:f>
              <c:numCache>
                <c:formatCode>General</c:formatCode>
                <c:ptCount val="10"/>
                <c:pt idx="0">
                  <c:v>0</c:v>
                </c:pt>
                <c:pt idx="1">
                  <c:v>0</c:v>
                </c:pt>
                <c:pt idx="2">
                  <c:v>0</c:v>
                </c:pt>
                <c:pt idx="3">
                  <c:v>2</c:v>
                </c:pt>
                <c:pt idx="4">
                  <c:v>0</c:v>
                </c:pt>
                <c:pt idx="5">
                  <c:v>0</c:v>
                </c:pt>
                <c:pt idx="6">
                  <c:v>3</c:v>
                </c:pt>
                <c:pt idx="7">
                  <c:v>0</c:v>
                </c:pt>
                <c:pt idx="8">
                  <c:v>2</c:v>
                </c:pt>
                <c:pt idx="9">
                  <c:v>2</c:v>
                </c:pt>
              </c:numCache>
            </c:numRef>
          </c:val>
        </c:ser>
        <c:ser>
          <c:idx val="2"/>
          <c:order val="2"/>
          <c:tx>
            <c:strRef>
              <c:f>Sheet1!$D$1</c:f>
              <c:strCache>
                <c:ptCount val="1"/>
                <c:pt idx="0">
                  <c:v>Strong (4–5)</c:v>
                </c:pt>
              </c:strCache>
            </c:strRef>
          </c:tx>
          <c:spPr>
            <a:solidFill>
              <a:srgbClr val="2E8B57"/>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Sales volume</c:v>
                  </c:pt>
                  <c:pt idx="1">
                    <c:v>Conversion</c:v>
                  </c:pt>
                  <c:pt idx="2">
                    <c:v>Retention</c:v>
                  </c:pt>
                  <c:pt idx="3">
                    <c:v>Productive agents</c:v>
                  </c:pt>
                  <c:pt idx="4">
                    <c:v>Collections</c:v>
                  </c:pt>
                  <c:pt idx="5">
                    <c:v>Revenue</c:v>
                  </c:pt>
                  <c:pt idx="6">
                    <c:v>Funeral profitability</c:v>
                  </c:pt>
                  <c:pt idx="7">
                    <c:v>Mortuary</c:v>
                  </c:pt>
                  <c:pt idx="8">
                    <c:v>Society health</c:v>
                  </c:pt>
                  <c:pt idx="9">
                    <c:v>Data quality</c:v>
                  </c:pt>
                </c:lvl>
              </c:multiLvlStrCache>
            </c:multiLvlStrRef>
          </c:cat>
          <c:val>
            <c:numRef>
              <c:f>Sheet1!$D$2:$D$11</c:f>
              <c:numCache>
                <c:formatCode>General</c:formatCode>
                <c:ptCount val="10"/>
                <c:pt idx="0">
                  <c:v>0</c:v>
                </c:pt>
                <c:pt idx="1">
                  <c:v>5</c:v>
                </c:pt>
                <c:pt idx="2">
                  <c:v>0</c:v>
                </c:pt>
                <c:pt idx="3">
                  <c:v>0</c:v>
                </c:pt>
                <c:pt idx="4">
                  <c:v>0</c:v>
                </c:pt>
                <c:pt idx="5">
                  <c:v>0</c:v>
                </c:pt>
                <c:pt idx="6">
                  <c:v>0</c:v>
                </c:pt>
                <c:pt idx="7">
                  <c:v>0</c:v>
                </c:pt>
                <c:pt idx="8">
                  <c:v>0</c:v>
                </c:pt>
                <c:pt idx="9">
                  <c:v>0</c:v>
                </c:pt>
              </c:numCache>
            </c:numRef>
          </c:val>
        </c:ser>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9D2D4"/>
            </a:solidFill>
            <a:prstDash val="solid"/>
            <a:round/>
          </a:ln>
        </c:spPr>
        <c:txPr>
          <a:bodyPr/>
          <a:lstStyle/>
          <a:p>
            <a:pPr>
              <a:defRPr sz="1100" b="0" i="0" u="none" strike="noStrike">
                <a:solidFill>
                  <a:srgbClr val="5B6B71"/>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9525" cap="flat">
              <a:solidFill>
                <a:srgbClr val="E3E8E9"/>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rgbClr val="8A979C"/>
                </a:solidFill>
                <a:latin typeface="+mn-lt"/>
              </a:defRPr>
            </a:pPr>
            <a:endParaRPr lang="en-US"/>
          </a:p>
        </c:txPr>
        <c:crossAx val="2094734554"/>
        <c:crosses val="autoZero"/>
        <c:crossBetween val="between"/>
        <c:majorUnit val="1"/>
      </c:valAx>
      <c:spPr>
        <a:solidFill>
          <a:srgbClr val="F5F7F7"/>
        </a:solidFill>
        <a:ln>
          <a:noFill/>
        </a:ln>
        <a:effectLst/>
      </c:spPr>
    </c:plotArea>
    <c:legend>
      <c:legendPos val="t"/>
      <c:overlay val="0"/>
      <c:txPr>
        <a:bodyPr/>
        <a:lstStyle/>
        <a:p>
          <a:pPr>
            <a:defRPr sz="1100">
              <a:solidFill>
                <a:srgbClr val="5B6B71"/>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report covers March to the 4th of October 2026. It brings together sales, agents, collections, funerals, mortuary, fleet and societies in one place. I will keep it simple and honest. Every number is money in, meaning cash we actually received, shown in US dollars. Rand amounts are converted at 5 US cents to the rand. Where we do not have data, I will say so plainly rather than guess. October is only four days, so I will never compare it to a full month. At the end I will ask for your support on a 90-day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story in five points. First, the good news: three out of four genuine new customers paid in September, nearly double our 40 percent target. Second, the problem: only 29 genuine new joinings against a target of 250. Third, 28 policies lapsed while only 22 new ones were paid, so the book shrank by 6. Fourth, we know what works: the Sokusile campaign and our Filabusi agent, Gugulethu Moyo. Fifth, if nothing changes, we projected the book to fall from 582 to about 484 in a year. With the plan, it could reach about 976. The rest of the deck explains each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one-page view. Green means on track, amber means watch, red means off track. Conversion and grace recovery are green. Almost everything else is red. We joined 29 genuine customers against 250, 12 percent of target. 22 paid against 100, 22 percent. Lapses jumped from 4 to 28, so net growth was minus 6. Money in fell 10 percent to about 15 thousand dollars. Only 4 of 17 active agents made a genuine sale. We collected 49 percent of US dollar premium due. And 213 policies were captured but never paid. Overall health is 1.9 out of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first five of ten things I believe you need to know. One: we sell well to people we actually reach, but we reach far too few. Two: be careful with system numbers; much of what looks like new business is existing clients being typed in. Three: productive agents fell from 10 to 4, and the causes sit on both sides, theirs and ours. Four: an agent who lives in and owns her territory, Gugulethu in Filabusi, outsells everyone. Five: campaigns where the company gives real support, like Sokusile, work. Each row shows the evidence and what we will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to ten. Six: lapses now cancel out new business; in September we lost more than we gained. Seven: we collect only half of the US dollar premium that is due; reaching 70 percent adds about 980 dollars a month. Eight: 213 policies were captured but never paid; these are warm leads, not lost customers. Nine: societies and cash funerals bring in most of the money, but we cannot yet see their profit because costs and ledgers are incomplete. Ten: every funeral and mortuary visit is a lead we do not use, and we have 51 open quotations worth over 21 thousand dollars plus 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separates what the system calls new joinings into three groups. Blue is genuine new Zimbabwe business. Orange is South African clients. Aqua is policies on the Legacy Individual and Legacy Group products. Underneath, I show existing clients who were typed into the system: 124 in July, 217 in August and 135 in September. None of these are sales. For example, August looked like 35 new joinings, but only 16 were genuine. From here on, every sales number in this deck uses genuine new business only. One caution: March may include South African returnees who were never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genuine new joinings each month against the 250 target, shown as the dashed line. We never got close. Our best month was June with 117, which was mass registration. In September we joined 29, 221 short, which is 12 percent of target. Over March to September we joined 296 against 1,750, which is 17 percent. The lesson: when we reach people, they join. We simply do not reach enough of them. This is a reach and agent-capacity problem, which the agent slides will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paid number, which matters most because it is cash. The target is 100 joined and paid each month. Our best month was June with 31. In September 22 paid, 78 short, which is 22 percent of target. Over the seven months, 108 against 700, 15 percent. May had zero paid. The path to 100 paid is more productive agents, not more registrations without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paid conversion: of the people who joined in a month, how many paid. The target is 40 percent, the dashed line. In March and June we were around 25 percent, because we registered many people without payment. After June we stopped mass registration without payment. Since then conversion jumped: 81 percent in August and 76 percent in September. That is good. But notice that joinings fell at the same time. We fixed quality; now we need to rebuild volume without going back to unpaid registrations.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line is agent accounts on the system, which grew from 16 to 26. The lower line is productive agents, meaning at least one genuine sale in the month. It fell from 9 in June to 4 in September. 11 accounts have never sold at all. A productive agent in September made about 6 joinings and 4 paid, so each extra productive agent matters. Why did this happen? We recruited about 15 agents and promised 100 dollars a month for six months, then changed to 25 dollars a week, and about 10 left. Some agents wait for leads and do not market themselves. But we also gave too little support: transport, lunch, airtime and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ranks every seller by paid genuine policies since March. Orange is policies sold, blue is policies paid. The office counter leads with 22 paid. Pesuate sold the most, 60, but only 18 paid. Gugulethu sold 16 and all 16 paid. Kimberly sold 44 but only 9 paid. At the bottom, five sellers have no paid policies. The gap between orange and blue is unpaid registration. We want agents whose two bars are the same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paid conversion for each seller with at least five sales, against the 40 percent line. Gugulethu is at 100 percent. Patience, the office and Nqobile are around 50 percent. Seven sellers are below the line: Nothabo and Andile just below, then Pesuate, Kimberly, Norman, Ayanda and Peacemaker. Peacemaker has six sales and none paid. These are the agents for one-to-one coaching: how they qualify customers and how they collect the first premium on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is one seller. The colours are months, from light for March to dark for September. Most agents had one or two big months, often June, and then went quiet. Kimberly sold 17 in July and nothing since. Norman sold only in March. In September the sellers were Gugulethu with 12, Pesuate with 8, the office with 5, and Andile and Nothabo with 2 each. Consistency is the missing habit. A weekly target and a weekly conversation would show us early when an agent goes quiet.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Gugulethu Moyo is our agent in Filabusi. Since July she has sold 16 policies and all 16 paid. In September she brought in 12 of our 29 genuine joinings, 41 percent of the company's new business, from one person. What does she do differently? She lives there and works every day. She advertises herself. She does not wait for the office to send leads. She treats Filabusi as her territory. That is the lesson: local presence, personal marketing, consistency and ownership. One note: management reports about 16 clients in September, while the system shows 12; we are reconciling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Sokusile campaign is our second proof point. 43 people registered and 17 paid during the campaign, almost 40 percent, right on our target. More paid after follow-up. The difference was support from the company: a tent, a PA system, transport and lunch for the team. The honest gap is that we did not record what the campaign cost, so we cannot calculate return on investment. From October every campaign will have a cost sheet, so we can see cost per paid policy and decide where to run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Filabusi and Sokusile together gives us a simple model. In each territory we place a resident local agent who is always there, selling every day and owning the area. Then, from time to time, we bring in a campaign accelerator: tent, PA, transport, lunch, advertising and a Join and Win promotion. The campaign creates a spike of leads, and the resident agent follows up and keeps the customers paying. We propose to start with Lupane, then two more areas, and to measure each territory on joinings, paid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our products. Blue is captured, orange is paid. UMTHUNZI is our strongest: 140 captured, 69 paid, 49 percent, and the highest average premium at about 12 dollars. UMNDENI is almost as popular, 133 captured, but only 28 paid, 21 percent, and 105 UMNDENI policies are inactive today. YEDWANA is small but converts at 52 percent. The legacy products are mostly South African and existing clients, so they are not new business. The question is why UMNDENI customers do not pay,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UMNDENI covers two adults up to age 64 and four children up to age 20. Many of our customers live in extended families: grandparents, adult children over 20, other relatives. If the product does not cover the people they actually care for, they may sign but not pay. Its premium is already lower than UMTHUNZI, so price is probably not the main problem. We have not tested this yet, so this is a hypothesis. I propose a small test: extra adults, extended-family options and upgrades, offered to the 105 inactive UMNDENI customers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policies in force at the start of each month. It looks like strong growth: from 14 in June to 582 today. But be careful. The big jumps in August and September are existing clients being typed into the system, not new sales. Over the same months we typed in 124, 217 and 135 existing clients. So the true sales growth is much smaller. The useful point is that the book is now fully on the system, which means from October onwards growth in this number will be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on retention. Blue bars are genuine new paid policies each month. Orange bars are lapses. The aqua line is the difference, our real net growth. In June and July we had no lapses, so every sale was growth. In August 4 lapsed. In September 28 lapsed against 22 new paid, so net growth was minus 6. Part of this is because the lapse sweep only started catching arrears from August, so this number is now honest. The message is simple: you can sell and still shrink.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customer misses a payment they go into grace. If they do not pay they lapse. The left chart shows each month how many went into grace, how many we recovered, and how many lapsed. The right chart shows the recovery rate: 17 percent in July, 38 percent in August, 75 percent in September. Before September there was no structured follow-up. When we started calling people, recovery jumped. But the lapse rate also rose, from 2.0 to 6.6 percent, partly because the lapse sweep only caught arrears from August. Follow-up works; we must make it daily.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Inactive means a policy was captured but the first payment never came in. It is not the same as lapsed; these customers never started. The number grew from 51 in March to 194 in September for new business, with the biggest jump in June, the mass registration month. Including typed-in policies, there are 213 today, worth 2,001 dollars a month of premium we have never collected. These people already said yes once. In the next 30 days we will call every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Lives covered means every person on a policy: the main member and their dependants. We went from 34 lives to 3,782. Again, most of this is the system catching up. 3,185 lives came from typing in existing clients, and 453 came from new sales. The new-sales figure is the one to grow. The 3,782 number is still important because it is the number of people we have promised to bury, and it is the right base for planning funeral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individual US dollar premium due against what we collected. In June and July we collected almost everything. In August the rate dropped to 55 percent, and in September to 49 percent: 2,284 dollars collected out of 4,675 due. Part of the gap is the typed-in clients who are not yet paying regularly. Our target is 70 percent. Reaching it would add about 980 dollars a month. Rand collections run above 100 percent because of arrears and advance payments; that is not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total money in each month, cash received, in US dollars. June 10,558, July 13,825, up 31 percent, August 16,760, up 21 percent, then September 15,078, down 10 percent. The drop is mainly fewer cash funerals and lower society deposits, which the next slide shows. Before June the system holds almost no money data, so I cannot show a longer trend. October so far is only four days and is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the money comes from. Society lump sums are the biggest, then cash funerals. Individual premiums are growing, from 491 dollars in June to 2,550 in September, and society-member premiums too. Over June to September, societies were 47 percent of money in, cash funerals 36 percent, individual premiums 13 percent and member premiums 5 percent. Societies and cash funerals are lumpy and their profit is not yet visible. Premiums are the steady income we want to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funerals by burial date, split into policy funerals, cash funerals and ones where the type was not recorded. Policy funerals rose from 11 in June to 29 in August, as the book grew. Cash funerals fell from 14 to 4. Only 20 of 44 cash funerals and 45 of 81 policy funerals have been costed. On the 20 costed cash funerals we made 5,336 dollars, about 267 each. One warning: September's count is 22, 21, 18 or 17 depending on which date you use, because 12 cases have no burial date. I use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issued 103 funeral quotations. 52 converted. 51 did not, worth 21,013 dollars plus 86,300 rand. Today nobody follows up on these, and we do not know why people did not go ahead. From October, at every month-end, we will call each open quotation and record a reason: price, competitor, affordability, service, availability, delayed, or other. On the right is where that dashboard will sit once data starts coming in. This tells us whether to fix price, service or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funeral we conduct brings dozens of people who have just seen our service. Today we capture none of them. The proposal is a simple chain. We keep an attendee register at each funeral. Those contacts go to an assigned agent. The agent makes a short presentation, ideally at the funeral or soon after. That leads to a policy and a first payment. We treat the agent's allowance as an acquisition cost and measure cost per acquired policy. We run it as a 60-day trial and keep it only if the numbers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mortuary took in 83 bodies from June to September, peaking at 41 in July. 61 of those 83 were for other funeral parlours. That parlour owns the funeral, but the family still needs things we can sell: wash and dress, chapel, hearse and family cars. Today we do not capture any mortuary services sold. We also charged 1,140 dollars in storage fees and none is recorded as collected. That money should be collected in the next 30 days, and from October every mortuary visit should be treated as a sales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how many funerals each vehicle is recorded against. The two Baby Quantums and the Quantum GL do most of the work. The bus, the red kombi and the Hilux have no recorded usage. That does not mean they are idle; it means nobody recorded them. Cost per funeral ranges from 32 dollars to 102 dollars on the three vehicles we can calculate. We also spent between 725 and 1,865 dollars a month hiring vehicles. The big issue: 62 of 129 funerals have no vehicle recorded, and 9,771 dollars of running costs cannot be traced to a funeral.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80 burial societies on the system, most added in June and July, and all of them are depositing. But only 22 have their members captured, 198 members in total. 58 have none. The key measure for a society is simple: opening balance plus deposits minus services equals closing balance. We cannot calculate it yet, because no funeral has ever been deducted from a society ledger, and June and July deposits were not credited. Until we fix this, our largest money stream has no visible profit. We start with the 20 largest societies.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Falakhe touches many people every month: families at funerals, mortuary clients, funeral attendees, suppliers, our own employees and agents, society members, and existing policyholders who could add cover. Each is a chance to sell something. Today we can measure only some of these, mainly agents, funerals and mortuary intakes. For the rest, data is not yet captured. I propose a monthly Falakhe Ecosystem Sales Campaign that targets one or two of these groups each month, with results tracked from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asks: if we change one thing, what happens? The base case, if nothing changes, is a book of about 484 policies in 12 months. Adding 10 productive agents takes it to about 878. Two more agents gets us to 567. Cutting the lapse rate by two points gives 592. Five policies a month from funeral attendees gives 530. On money, lifting collections to 70 percent adds about 982 dollars a month. And a warning: if conversion fell back to 40 percent, we would lose about 10 paid policies a month. All of these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three scenarios, all projected. Current means nothing changes: 4 productive agents, 19 paid a month and a 5.1 percent lapse rate. The book falls to about 484 in 12 months and money in to about 14,700 dollars a month. Intervention means 10 to 12 productive agents, 60 paid a month and lapses at 3.5 percent: the book grows to about 976 and money in to about 21,400. Accelerated means 12 to 20 agents, 100 paid and 3 percent lapses: about 1,424 policies and 27,800 dollars. I recommend we commit to the intervention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scores ten areas of the business from 1 to 5. Conversion is a 5. Funeral profitability is a 3, because the funerals we have costed are profitable but most are not costed. Productive agents, society health and data quality are 2s. Sales volume, retention, collections, revenue and the mortuary are 1s. The average is 1.9 out of 5. The aim of the 90-day plan is to move at least four of the 1s to a 2 or 3. We will re-score every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has three stages. The first 30 days are about things we can start tomorrow at almost no cost. A daily call list for every customer in grace. Calling all 213 inactive policies. Starting a funeral attendee register. Following up every open quotation at month-end with a loss reason. Collecting the 1,140 dollars in storage fees. And capturing all spending, with every policy marked new, legacy or South African. Owners are not yet assigned; I ask the CEO to confirm an owner for each line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31 to 60 build the sales engine. A clear standard of 6 joinings and 4 paid per agent per month, with weekly one-to-ones. Resident agents in Lupane and two more areas. The 60-day agent-at-funeral trial. SMS reminders, EcoCash and debit orders to lift collections. And capturing members for our 20 largest societies. Days 61 to 90 add a monthly campaign accelerator with return on investment, the ecosystem campaign, the UMNDENI redesign test, and recording a vehicle and fuel requisition on every funeral. Again, owners need to be assigned.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slides today said data not yet captured. This is how we fix that. From October, every policy records whether it is new or legacy, the country, branch, territory, agent, lead source and campaign. Every lead is recorded. Every funeral records its cost, vehicle and attendee register. Every campaign records its cost so we can calculate return on investment. Every quotation records a loss reason. And every society ledger is credited with deposits and debited for funerals. With this, the next report will answer the questions this one could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Falakhe does not need to reinvent the business. Everything on this slide is something we have already seen work, at least once: Gugulethu in Filabusi, the Sokusile campaign, the grace follow-up in September, and the funerals we have costed. What is missing is turning these into a system that runs every week, not once. Productive agents, owning territories, supported campaigns, follow-up, funeral leads, collections, costing and cross-selling together give predictable growth. A realistic goal for one year, if we carry out the plan, is about 1,000 policies and about 21,000 dollars a month. I ask the board to approve the 90-day plan and to assign an owner to each action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reference table for monthly sales. It shows genuine joinings and joined and paid against target, conversion, the South African and legacy policies we excluded, typed-in existing clients, and productive agents. October covers only the first four days and is not comparable to a full month. I will not present this slide; it is here for reference and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agent table: genuine policies sold and paid since March, and conversion. Conversion is shown only for sellers with five or more sales, because for smaller numbers it is not meaningful. It is here for reference and for one-to-one conversations with each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reference table: captured and paid policies, paid conversion, average monthly premium and today's status, where we have it. Legacy products are mostly South African and existing clients and are not counted as genuine new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money reference table. Money in by stream for June to September, the total, and the change from the month before. Below it, individual US dollar premium due and collected, and the collection rate. All figures are cash received in US dollars, with rand converted at 5 US cents.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operations reference table: funerals by type and burial date, mortuary intakes and storage fees, and vehicle hire, June to September. Remember the September funeral count depends on which date is used; this deck uses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known data issues. I want the board to know exactly where the numbers are weak. The September funeral count changes with the date used. Filabusi shows 12 clients in the system but management reports about 16. September requisitions look incomplete. One fuel requisition may be in rand rather than dollars. 58 societies have no members. Branch data is unreliable. And October is only four days. Each has a fix in the data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E5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7680960" cy="173736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ph idx="101" type="body" hasCustomPrompt="1"/>
          </p:nvPr>
        </p:nvSpPr>
        <p:spPr>
          <a:xfrm>
            <a:off x="731520" y="4069080"/>
            <a:ext cx="7680960" cy="109728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7F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6382512"/>
            <a:ext cx="329184" cy="329184"/>
          </a:xfrm>
          <a:prstGeom prst="rect">
            <a:avLst/>
          </a:prstGeom>
        </p:spPr>
      </p:pic>
      <p:sp>
        <p:nvSpPr>
          <p:cNvPr id="3" name="Text 0"/>
          <p:cNvSpPr/>
          <p:nvPr/>
        </p:nvSpPr>
        <p:spPr>
          <a:xfrm>
            <a:off x="868680" y="6400800"/>
            <a:ext cx="8686800" cy="292608"/>
          </a:xfrm>
          <a:prstGeom prst="rect">
            <a:avLst/>
          </a:prstGeom>
          <a:noFill/>
          <a:ln/>
        </p:spPr>
        <p:txBody>
          <a:bodyPr wrap="square" lIns="0" tIns="0" rIns="0" bIns="0" rtlCol="0" anchor="ctr"/>
          <a:lstStyle/>
          <a:p>
            <a:pPr indent="0" marL="0">
              <a:buNone/>
            </a:pPr>
            <a:r>
              <a:rPr lang="en-US" sz="1000" dirty="0">
                <a:solidFill>
                  <a:srgbClr val="8A979C"/>
                </a:solidFill>
              </a:rPr>
              <a:t>Falakhe Funeral Parlour  |  CEO and Senior Management Report  |  March – 4 October 2026  |  Confidential</a:t>
            </a:r>
            <a:endParaRPr lang="en-US" sz="1000" dirty="0"/>
          </a:p>
        </p:txBody>
      </p:sp>
      <p:sp>
        <p:nvSpPr>
          <p:cNvPr id="4" name="Text 1"/>
          <p:cNvSpPr/>
          <p:nvPr>
            <p:ph idx="102" type="body" hasCustomPrompt="1"/>
          </p:nvPr>
        </p:nvSpPr>
        <p:spPr>
          <a:xfrm>
            <a:off x="457200" y="201168"/>
            <a:ext cx="11277295" cy="256032"/>
          </a:xfrm>
          <a:prstGeom prst="rect">
            <a:avLst/>
          </a:prstGeom>
          <a:noFill/>
          <a:ln/>
        </p:spPr>
        <p:txBody>
          <a:bodyPr wrap="square" rtlCol="0"/>
          <a:lstStyle>
            <a:lvl1pPr indent="0" marL="0">
              <a:buNone/>
              <a:defRPr lang="en-US" sz="1100" b="1" spc="150" kern="0" dirty="0">
                <a:solidFill>
                  <a:schemeClr val="tx2"/>
                </a:solidFill>
              </a:defRPr>
            </a:lvl1pPr>
          </a:lstStyle>
          <a:p>
            <a:pPr indent="0" marL="0">
              <a:buNone/>
            </a:pPr>
            <a:endParaRPr lang="en-US" sz="1100" dirty="0"/>
          </a:p>
        </p:txBody>
      </p:sp>
      <p:sp>
        <p:nvSpPr>
          <p:cNvPr id="5" name="Text 1"/>
          <p:cNvSpPr/>
          <p:nvPr>
            <p:ph idx="103" type="title" hasCustomPrompt="1"/>
          </p:nvPr>
        </p:nvSpPr>
        <p:spPr>
          <a:xfrm>
            <a:off x="457200" y="475488"/>
            <a:ext cx="11277295" cy="749808"/>
          </a:xfrm>
          <a:prstGeom prst="rect">
            <a:avLst/>
          </a:prstGeom>
          <a:noFill/>
          <a:ln/>
        </p:spPr>
        <p:txBody>
          <a:bodyPr wrap="square" rtlCol="0"/>
          <a:lstStyle>
            <a:lvl1pPr algn="l" indent="0" marL="0">
              <a:buNone/>
              <a:defRPr lang="en-US" sz="2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image" Target="../media/image-14-1.png"/><Relationship Id="rId4" Type="http://schemas.openxmlformats.org/officeDocument/2006/relationships/image" Target="../media/image-14-2.png"/><Relationship Id="rId5" Type="http://schemas.openxmlformats.org/officeDocument/2006/relationships/image" Target="../media/image-14-3.png"/><Relationship Id="rId6" Type="http://schemas.openxmlformats.org/officeDocument/2006/relationships/image" Target="../media/image-14-4.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slideLayout" Target="../slideLayouts/slideLayout3.xml"/><Relationship Id="rId11"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chart" Target="/ppt/charts/chart15.xml"/><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chart" Target="/ppt/charts/chart18.xml"/><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chart" Target="/ppt/charts/chart20.xml"/><Relationship Id="rId3" Type="http://schemas.openxmlformats.org/officeDocument/2006/relationships/slideLayout" Target="../slideLayouts/slideLayout3.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chart" Target="/ppt/charts/chart23.xml"/><Relationship Id="rId3" Type="http://schemas.openxmlformats.org/officeDocument/2006/relationships/slideLayout" Target="../slideLayouts/slideLayout3.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slideLayout" Target="../slideLayouts/slideLayout3.xml"/><Relationship Id="rId11"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chart" Target="/ppt/charts/chart26.xml"/><Relationship Id="rId3" Type="http://schemas.openxmlformats.org/officeDocument/2006/relationships/slideLayout" Target="../slideLayouts/slideLayout3.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chart" Target="/ppt/charts/chart28.xml"/><Relationship Id="rId3" Type="http://schemas.openxmlformats.org/officeDocument/2006/relationships/slideLayout" Target="../slideLayouts/slideLayout3.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chart" Target="/ppt/charts/chart30.xml"/><Relationship Id="rId3" Type="http://schemas.openxmlformats.org/officeDocument/2006/relationships/slideLayout" Target="../slideLayouts/slideLayout3.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slideLayout" Target="../slideLayouts/slideLayout3.xml"/><Relationship Id="rId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31.xml"/><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chart" Target="/ppt/charts/chart33.xml"/><Relationship Id="rId3" Type="http://schemas.openxmlformats.org/officeDocument/2006/relationships/slideLayout" Target="../slideLayouts/slideLayout3.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34.xml"/><Relationship Id="rId2" Type="http://schemas.openxmlformats.org/officeDocument/2006/relationships/slideLayout" Target="../slideLayouts/slideLayout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slideLayout" Target="../slideLayouts/slideLayout3.xml"/><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7680960" cy="173736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CEO and Senior Management Commercial, Sales and Operations Intelligence Report</a:t>
            </a:r>
            <a:endParaRPr lang="en-US" sz="3400" dirty="0"/>
          </a:p>
        </p:txBody>
      </p:sp>
      <p:sp>
        <p:nvSpPr>
          <p:cNvPr id="3" name="Text 0"/>
          <p:cNvSpPr/>
          <p:nvPr>
            <p:ph idx="101" type="body" hasCustomPrompt="1"/>
          </p:nvPr>
        </p:nvSpPr>
        <p:spPr>
          <a:xfrm>
            <a:off x="731520" y="4069080"/>
            <a:ext cx="7680960" cy="1097280"/>
          </a:xfrm>
          <a:prstGeom prst="rect">
            <a:avLst/>
          </a:prstGeom>
          <a:noFill/>
          <a:ln/>
        </p:spPr>
        <p:txBody>
          <a:bodyPr wrap="square" lIns="0" tIns="0" rIns="0" bIns="0" rtlCol="0" anchor="t"/>
          <a:lstStyle/>
          <a:p>
            <a:pPr algn="l" indent="0" marL="0">
              <a:buNone/>
            </a:pPr>
            <a:r>
              <a:rPr lang="en-US" sz="1800" b="1" dirty="0">
                <a:solidFill>
                  <a:schemeClr val="bg1"/>
                </a:solidFill>
              </a:rPr>
              <a:t>March 2026 to 4 October 2026</a:t>
            </a:r>
            <a:endParaRPr lang="en-US" sz="1800" dirty="0"/>
          </a:p>
          <a:p>
            <a:pPr algn="l" indent="0" marL="0">
              <a:buNone/>
            </a:pPr>
            <a:r>
              <a:rPr lang="en-US" sz="1500" dirty="0">
                <a:solidFill>
                  <a:schemeClr val="bg1"/>
                </a:solidFill>
              </a:rPr>
              <a:t>Presented by the Head of Sales and Marketing to the CEO and Board</a:t>
            </a:r>
            <a:endParaRPr lang="en-US" sz="1800" dirty="0"/>
          </a:p>
        </p:txBody>
      </p:sp>
      <p:sp>
        <p:nvSpPr>
          <p:cNvPr id="4" name="logo disc"/>
          <p:cNvSpPr/>
          <p:nvPr/>
        </p:nvSpPr>
        <p:spPr>
          <a:xfrm>
            <a:off x="8732520" y="1691640"/>
            <a:ext cx="2926080" cy="2926080"/>
          </a:xfrm>
          <a:prstGeom prst="ellipse">
            <a:avLst/>
          </a:prstGeom>
          <a:solidFill>
            <a:srgbClr val="FFFFFF"/>
          </a:solidFill>
          <a:ln w="12700">
            <a:solidFill>
              <a:srgbClr val="FFFFFF"/>
            </a:solidFill>
            <a:prstDash val="solid"/>
          </a:ln>
        </p:spPr>
      </p:sp>
      <p:pic>
        <p:nvPicPr>
          <p:cNvPr id="5" name="Image 0" descr="Falakhe Funeral Parlour logo">    </p:cNvPr>
          <p:cNvPicPr>
            <a:picLocks noChangeAspect="1"/>
          </p:cNvPicPr>
          <p:nvPr/>
        </p:nvPicPr>
        <p:blipFill>
          <a:blip r:embed="rId1"/>
          <a:stretch>
            <a:fillRect/>
          </a:stretch>
        </p:blipFill>
        <p:spPr>
          <a:xfrm>
            <a:off x="8915400" y="1874520"/>
            <a:ext cx="2560320" cy="2532888"/>
          </a:xfrm>
          <a:prstGeom prst="rect">
            <a:avLst/>
          </a:prstGeom>
        </p:spPr>
      </p:pic>
      <p:sp>
        <p:nvSpPr>
          <p:cNvPr id="6" name="Text 3"/>
          <p:cNvSpPr txBox="1"/>
          <p:nvPr/>
        </p:nvSpPr>
        <p:spPr>
          <a:xfrm>
            <a:off x="731520" y="5989320"/>
            <a:ext cx="10698480" cy="320040"/>
          </a:xfrm>
          <a:prstGeom prst="rect">
            <a:avLst/>
          </a:prstGeom>
          <a:noFill/>
          <a:ln/>
        </p:spPr>
        <p:txBody>
          <a:bodyPr wrap="square" lIns="0" tIns="0" rIns="0" bIns="0" rtlCol="0" anchor="ctr"/>
          <a:lstStyle/>
          <a:p>
            <a:pPr indent="0" marL="0">
              <a:buNone/>
            </a:pPr>
            <a:r>
              <a:rPr lang="en-US" sz="1200" dirty="0">
                <a:solidFill>
                  <a:srgbClr val="B9D3D4"/>
                </a:solidFill>
              </a:rPr>
              <a:t>Zimbabwe and South Africa  ·  All money figures are money in (cash received), USD; ZAR converted at 1 ZAR = 0.05 USD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EXECUTIVE SUMMARY</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We convert well, but we do not reach enough people — and lapses now cancel out our sales</a:t>
            </a:r>
            <a:endParaRPr lang="en-US" sz="2600" dirty="0"/>
          </a:p>
        </p:txBody>
      </p:sp>
      <p:sp>
        <p:nvSpPr>
          <p:cNvPr id="5" name="card"/>
          <p:cNvSpPr/>
          <p:nvPr/>
        </p:nvSpPr>
        <p:spPr>
          <a:xfrm>
            <a:off x="457200" y="1417320"/>
            <a:ext cx="11277295" cy="896112"/>
          </a:xfrm>
          <a:prstGeom prst="roundRect">
            <a:avLst>
              <a:gd name="adj" fmla="val 8163"/>
            </a:avLst>
          </a:prstGeom>
          <a:solidFill>
            <a:srgbClr val="FFFFFF"/>
          </a:solidFill>
          <a:ln w="9525">
            <a:solidFill>
              <a:srgbClr val="DCE3E4"/>
            </a:solidFill>
            <a:prstDash val="solid"/>
          </a:ln>
        </p:spPr>
      </p:sp>
      <p:sp>
        <p:nvSpPr>
          <p:cNvPr id="6" name="icon circle"/>
          <p:cNvSpPr/>
          <p:nvPr/>
        </p:nvSpPr>
        <p:spPr>
          <a:xfrm>
            <a:off x="658368" y="1572768"/>
            <a:ext cx="585216" cy="585216"/>
          </a:xfrm>
          <a:prstGeom prst="ellipse">
            <a:avLst/>
          </a:prstGeom>
          <a:solidFill>
            <a:srgbClr val="2E8B57"/>
          </a:solidFill>
          <a:ln w="12700">
            <a:solidFill>
              <a:srgbClr val="2E8B57"/>
            </a:solidFill>
            <a:prstDash val="solid"/>
          </a:ln>
        </p:spPr>
      </p:sp>
      <p:pic>
        <p:nvPicPr>
          <p:cNvPr id="7" name="Image 0" descr="FaCheckCircle">    </p:cNvPr>
          <p:cNvPicPr>
            <a:picLocks noChangeAspect="1"/>
          </p:cNvPicPr>
          <p:nvPr/>
        </p:nvPicPr>
        <p:blipFill>
          <a:blip r:embed="rId1"/>
          <a:stretch>
            <a:fillRect/>
          </a:stretch>
        </p:blipFill>
        <p:spPr>
          <a:xfrm>
            <a:off x="804672" y="1719072"/>
            <a:ext cx="292608" cy="292608"/>
          </a:xfrm>
          <a:prstGeom prst="rect">
            <a:avLst/>
          </a:prstGeom>
        </p:spPr>
      </p:pic>
      <p:sp>
        <p:nvSpPr>
          <p:cNvPr id="8" name="Text 4"/>
          <p:cNvSpPr txBox="1"/>
          <p:nvPr/>
        </p:nvSpPr>
        <p:spPr>
          <a:xfrm>
            <a:off x="1463040" y="1545336"/>
            <a:ext cx="10088575" cy="713232"/>
          </a:xfrm>
          <a:prstGeom prst="rect">
            <a:avLst/>
          </a:prstGeom>
          <a:noFill/>
          <a:ln/>
        </p:spPr>
        <p:txBody>
          <a:bodyPr wrap="square" lIns="0" tIns="0" rIns="0" bIns="0" rtlCol="0" anchor="t"/>
          <a:lstStyle/>
          <a:p>
            <a:pPr indent="0" marL="0">
              <a:buNone/>
            </a:pPr>
            <a:r>
              <a:rPr lang="en-US" sz="1800" b="1" dirty="0">
                <a:solidFill>
                  <a:srgbClr val="1E2A2F"/>
                </a:solidFill>
              </a:rPr>
              <a:t>76% of genuine new customers paid in September</a:t>
            </a:r>
            <a:endParaRPr lang="en-US" sz="1400" dirty="0"/>
          </a:p>
          <a:p>
            <a:pPr indent="0" marL="0">
              <a:buNone/>
            </a:pPr>
            <a:r>
              <a:rPr lang="en-US" sz="1400" dirty="0">
                <a:solidFill>
                  <a:srgbClr val="5B6B71"/>
                </a:solidFill>
              </a:rPr>
              <a:t>Target is 40%. Paid conversion is now a strength.</a:t>
            </a:r>
            <a:endParaRPr lang="en-US" sz="1400" dirty="0"/>
          </a:p>
        </p:txBody>
      </p:sp>
      <p:sp>
        <p:nvSpPr>
          <p:cNvPr id="9" name="card"/>
          <p:cNvSpPr/>
          <p:nvPr/>
        </p:nvSpPr>
        <p:spPr>
          <a:xfrm>
            <a:off x="457200" y="2404872"/>
            <a:ext cx="11277295" cy="896112"/>
          </a:xfrm>
          <a:prstGeom prst="roundRect">
            <a:avLst>
              <a:gd name="adj" fmla="val 8163"/>
            </a:avLst>
          </a:prstGeom>
          <a:solidFill>
            <a:srgbClr val="FFFFFF"/>
          </a:solidFill>
          <a:ln w="9525">
            <a:solidFill>
              <a:srgbClr val="DCE3E4"/>
            </a:solidFill>
            <a:prstDash val="solid"/>
          </a:ln>
        </p:spPr>
      </p:sp>
      <p:sp>
        <p:nvSpPr>
          <p:cNvPr id="10" name="icon circle"/>
          <p:cNvSpPr/>
          <p:nvPr/>
        </p:nvSpPr>
        <p:spPr>
          <a:xfrm>
            <a:off x="658368" y="2560320"/>
            <a:ext cx="585216" cy="585216"/>
          </a:xfrm>
          <a:prstGeom prst="ellipse">
            <a:avLst/>
          </a:prstGeom>
          <a:solidFill>
            <a:srgbClr val="C0392B"/>
          </a:solidFill>
          <a:ln w="12700">
            <a:solidFill>
              <a:srgbClr val="C0392B"/>
            </a:solidFill>
            <a:prstDash val="solid"/>
          </a:ln>
        </p:spPr>
      </p:sp>
      <p:pic>
        <p:nvPicPr>
          <p:cNvPr id="11" name="Image 1" descr="FaExclamationTriangle">    </p:cNvPr>
          <p:cNvPicPr>
            <a:picLocks noChangeAspect="1"/>
          </p:cNvPicPr>
          <p:nvPr/>
        </p:nvPicPr>
        <p:blipFill>
          <a:blip r:embed="rId2"/>
          <a:stretch>
            <a:fillRect/>
          </a:stretch>
        </p:blipFill>
        <p:spPr>
          <a:xfrm>
            <a:off x="804672" y="2706624"/>
            <a:ext cx="292608" cy="292608"/>
          </a:xfrm>
          <a:prstGeom prst="rect">
            <a:avLst/>
          </a:prstGeom>
        </p:spPr>
      </p:pic>
      <p:sp>
        <p:nvSpPr>
          <p:cNvPr id="12" name="Text 7"/>
          <p:cNvSpPr txBox="1"/>
          <p:nvPr/>
        </p:nvSpPr>
        <p:spPr>
          <a:xfrm>
            <a:off x="1463040" y="2532888"/>
            <a:ext cx="10088575" cy="713232"/>
          </a:xfrm>
          <a:prstGeom prst="rect">
            <a:avLst/>
          </a:prstGeom>
          <a:noFill/>
          <a:ln/>
        </p:spPr>
        <p:txBody>
          <a:bodyPr wrap="square" lIns="0" tIns="0" rIns="0" bIns="0" rtlCol="0" anchor="t"/>
          <a:lstStyle/>
          <a:p>
            <a:pPr indent="0" marL="0">
              <a:buNone/>
            </a:pPr>
            <a:r>
              <a:rPr lang="en-US" sz="1800" b="1" dirty="0">
                <a:solidFill>
                  <a:srgbClr val="1E2A2F"/>
                </a:solidFill>
              </a:rPr>
              <a:t>Only 29 new joinings against a target of 250</a:t>
            </a:r>
            <a:endParaRPr lang="en-US" sz="1400" dirty="0"/>
          </a:p>
          <a:p>
            <a:pPr indent="0" marL="0">
              <a:buNone/>
            </a:pPr>
            <a:r>
              <a:rPr lang="en-US" sz="1400" dirty="0">
                <a:solidFill>
                  <a:srgbClr val="5B6B71"/>
                </a:solidFill>
              </a:rPr>
              <a:t>221 short — 12% of target. Reach, not selling skill, is the problem.</a:t>
            </a:r>
            <a:endParaRPr lang="en-US" sz="1400" dirty="0"/>
          </a:p>
        </p:txBody>
      </p:sp>
      <p:sp>
        <p:nvSpPr>
          <p:cNvPr id="13" name="card"/>
          <p:cNvSpPr/>
          <p:nvPr/>
        </p:nvSpPr>
        <p:spPr>
          <a:xfrm>
            <a:off x="457200" y="3392424"/>
            <a:ext cx="11277295" cy="896112"/>
          </a:xfrm>
          <a:prstGeom prst="roundRect">
            <a:avLst>
              <a:gd name="adj" fmla="val 8163"/>
            </a:avLst>
          </a:prstGeom>
          <a:solidFill>
            <a:srgbClr val="FFFFFF"/>
          </a:solidFill>
          <a:ln w="9525">
            <a:solidFill>
              <a:srgbClr val="DCE3E4"/>
            </a:solidFill>
            <a:prstDash val="solid"/>
          </a:ln>
        </p:spPr>
      </p:sp>
      <p:sp>
        <p:nvSpPr>
          <p:cNvPr id="14" name="icon circle"/>
          <p:cNvSpPr/>
          <p:nvPr/>
        </p:nvSpPr>
        <p:spPr>
          <a:xfrm>
            <a:off x="658368" y="3547872"/>
            <a:ext cx="585216" cy="585216"/>
          </a:xfrm>
          <a:prstGeom prst="ellipse">
            <a:avLst/>
          </a:prstGeom>
          <a:solidFill>
            <a:srgbClr val="C0392B"/>
          </a:solidFill>
          <a:ln w="12700">
            <a:solidFill>
              <a:srgbClr val="C0392B"/>
            </a:solidFill>
            <a:prstDash val="solid"/>
          </a:ln>
        </p:spPr>
      </p:sp>
      <p:pic>
        <p:nvPicPr>
          <p:cNvPr id="15" name="Image 2" descr="FaArrowDown">    </p:cNvPr>
          <p:cNvPicPr>
            <a:picLocks noChangeAspect="1"/>
          </p:cNvPicPr>
          <p:nvPr/>
        </p:nvPicPr>
        <p:blipFill>
          <a:blip r:embed="rId3"/>
          <a:stretch>
            <a:fillRect/>
          </a:stretch>
        </p:blipFill>
        <p:spPr>
          <a:xfrm>
            <a:off x="804672" y="3694176"/>
            <a:ext cx="292608" cy="292608"/>
          </a:xfrm>
          <a:prstGeom prst="rect">
            <a:avLst/>
          </a:prstGeom>
        </p:spPr>
      </p:pic>
      <p:sp>
        <p:nvSpPr>
          <p:cNvPr id="16" name="Text 10"/>
          <p:cNvSpPr txBox="1"/>
          <p:nvPr/>
        </p:nvSpPr>
        <p:spPr>
          <a:xfrm>
            <a:off x="1463040" y="3520440"/>
            <a:ext cx="10088575" cy="713232"/>
          </a:xfrm>
          <a:prstGeom prst="rect">
            <a:avLst/>
          </a:prstGeom>
          <a:noFill/>
          <a:ln/>
        </p:spPr>
        <p:txBody>
          <a:bodyPr wrap="square" lIns="0" tIns="0" rIns="0" bIns="0" rtlCol="0" anchor="t"/>
          <a:lstStyle/>
          <a:p>
            <a:pPr indent="0" marL="0">
              <a:buNone/>
            </a:pPr>
            <a:r>
              <a:rPr lang="en-US" sz="1800" b="1" dirty="0">
                <a:solidFill>
                  <a:srgbClr val="1E2A2F"/>
                </a:solidFill>
              </a:rPr>
              <a:t>28 lapses against 22 new paid policies: net −6</a:t>
            </a:r>
            <a:endParaRPr lang="en-US" sz="1400" dirty="0"/>
          </a:p>
          <a:p>
            <a:pPr indent="0" marL="0">
              <a:buNone/>
            </a:pPr>
            <a:r>
              <a:rPr lang="en-US" sz="1400" dirty="0">
                <a:solidFill>
                  <a:srgbClr val="5B6B71"/>
                </a:solidFill>
              </a:rPr>
              <a:t>In September we sold and still shrank.</a:t>
            </a:r>
            <a:endParaRPr lang="en-US" sz="1400" dirty="0"/>
          </a:p>
        </p:txBody>
      </p:sp>
      <p:sp>
        <p:nvSpPr>
          <p:cNvPr id="17" name="card"/>
          <p:cNvSpPr/>
          <p:nvPr/>
        </p:nvSpPr>
        <p:spPr>
          <a:xfrm>
            <a:off x="457200" y="4379976"/>
            <a:ext cx="11277295" cy="896112"/>
          </a:xfrm>
          <a:prstGeom prst="roundRect">
            <a:avLst>
              <a:gd name="adj" fmla="val 8163"/>
            </a:avLst>
          </a:prstGeom>
          <a:solidFill>
            <a:srgbClr val="FFFFFF"/>
          </a:solidFill>
          <a:ln w="9525">
            <a:solidFill>
              <a:srgbClr val="DCE3E4"/>
            </a:solidFill>
            <a:prstDash val="solid"/>
          </a:ln>
        </p:spPr>
      </p:sp>
      <p:sp>
        <p:nvSpPr>
          <p:cNvPr id="18" name="icon circle"/>
          <p:cNvSpPr/>
          <p:nvPr/>
        </p:nvSpPr>
        <p:spPr>
          <a:xfrm>
            <a:off x="658368" y="4535424"/>
            <a:ext cx="585216" cy="585216"/>
          </a:xfrm>
          <a:prstGeom prst="ellipse">
            <a:avLst/>
          </a:prstGeom>
          <a:solidFill>
            <a:srgbClr val="0E5A5F"/>
          </a:solidFill>
          <a:ln w="12700">
            <a:solidFill>
              <a:srgbClr val="0E5A5F"/>
            </a:solidFill>
            <a:prstDash val="solid"/>
          </a:ln>
        </p:spPr>
      </p:sp>
      <p:pic>
        <p:nvPicPr>
          <p:cNvPr id="19" name="Image 3" descr="FaStar">    </p:cNvPr>
          <p:cNvPicPr>
            <a:picLocks noChangeAspect="1"/>
          </p:cNvPicPr>
          <p:nvPr/>
        </p:nvPicPr>
        <p:blipFill>
          <a:blip r:embed="rId4"/>
          <a:stretch>
            <a:fillRect/>
          </a:stretch>
        </p:blipFill>
        <p:spPr>
          <a:xfrm>
            <a:off x="804672" y="4681728"/>
            <a:ext cx="292608" cy="292608"/>
          </a:xfrm>
          <a:prstGeom prst="rect">
            <a:avLst/>
          </a:prstGeom>
        </p:spPr>
      </p:pic>
      <p:sp>
        <p:nvSpPr>
          <p:cNvPr id="20" name="Text 13"/>
          <p:cNvSpPr txBox="1"/>
          <p:nvPr/>
        </p:nvSpPr>
        <p:spPr>
          <a:xfrm>
            <a:off x="1463040" y="4507992"/>
            <a:ext cx="10088575" cy="713232"/>
          </a:xfrm>
          <a:prstGeom prst="rect">
            <a:avLst/>
          </a:prstGeom>
          <a:noFill/>
          <a:ln/>
        </p:spPr>
        <p:txBody>
          <a:bodyPr wrap="square" lIns="0" tIns="0" rIns="0" bIns="0" rtlCol="0" anchor="t"/>
          <a:lstStyle/>
          <a:p>
            <a:pPr indent="0" marL="0">
              <a:buNone/>
            </a:pPr>
            <a:r>
              <a:rPr lang="en-US" sz="1800" b="1" dirty="0">
                <a:solidFill>
                  <a:srgbClr val="1E2A2F"/>
                </a:solidFill>
              </a:rPr>
              <a:t>What works: Sokusile campaign and our Filabusi agent</a:t>
            </a:r>
            <a:endParaRPr lang="en-US" sz="1400" dirty="0"/>
          </a:p>
          <a:p>
            <a:pPr indent="0" marL="0">
              <a:buNone/>
            </a:pPr>
            <a:r>
              <a:rPr lang="en-US" sz="1400" dirty="0">
                <a:solidFill>
                  <a:srgbClr val="5B6B71"/>
                </a:solidFill>
              </a:rPr>
              <a:t>Sokusile: 43 registered → 17 paid. Gugulethu Moyo: 12 of September's 29 joinings, all paid.</a:t>
            </a:r>
            <a:endParaRPr lang="en-US" sz="1400" dirty="0"/>
          </a:p>
        </p:txBody>
      </p:sp>
      <p:sp>
        <p:nvSpPr>
          <p:cNvPr id="21" name="card"/>
          <p:cNvSpPr/>
          <p:nvPr/>
        </p:nvSpPr>
        <p:spPr>
          <a:xfrm>
            <a:off x="457200" y="5367528"/>
            <a:ext cx="11277295" cy="896112"/>
          </a:xfrm>
          <a:prstGeom prst="roundRect">
            <a:avLst>
              <a:gd name="adj" fmla="val 8163"/>
            </a:avLst>
          </a:prstGeom>
          <a:solidFill>
            <a:srgbClr val="FFFFFF"/>
          </a:solidFill>
          <a:ln w="9525">
            <a:solidFill>
              <a:srgbClr val="DCE3E4"/>
            </a:solidFill>
            <a:prstDash val="solid"/>
          </a:ln>
        </p:spPr>
      </p:sp>
      <p:sp>
        <p:nvSpPr>
          <p:cNvPr id="22" name="icon circle"/>
          <p:cNvSpPr/>
          <p:nvPr/>
        </p:nvSpPr>
        <p:spPr>
          <a:xfrm>
            <a:off x="658368" y="5522976"/>
            <a:ext cx="585216" cy="585216"/>
          </a:xfrm>
          <a:prstGeom prst="ellipse">
            <a:avLst/>
          </a:prstGeom>
          <a:solidFill>
            <a:srgbClr val="C98A00"/>
          </a:solidFill>
          <a:ln w="12700">
            <a:solidFill>
              <a:srgbClr val="C98A00"/>
            </a:solidFill>
            <a:prstDash val="solid"/>
          </a:ln>
        </p:spPr>
      </p:sp>
      <p:pic>
        <p:nvPicPr>
          <p:cNvPr id="23" name="Image 4" descr="FaChartLine">    </p:cNvPr>
          <p:cNvPicPr>
            <a:picLocks noChangeAspect="1"/>
          </p:cNvPicPr>
          <p:nvPr/>
        </p:nvPicPr>
        <p:blipFill>
          <a:blip r:embed="rId5"/>
          <a:stretch>
            <a:fillRect/>
          </a:stretch>
        </p:blipFill>
        <p:spPr>
          <a:xfrm>
            <a:off x="804672" y="5669280"/>
            <a:ext cx="292608" cy="292608"/>
          </a:xfrm>
          <a:prstGeom prst="rect">
            <a:avLst/>
          </a:prstGeom>
        </p:spPr>
      </p:pic>
      <p:sp>
        <p:nvSpPr>
          <p:cNvPr id="24" name="Text 16"/>
          <p:cNvSpPr txBox="1"/>
          <p:nvPr/>
        </p:nvSpPr>
        <p:spPr>
          <a:xfrm>
            <a:off x="1463040" y="5495544"/>
            <a:ext cx="10088575" cy="713232"/>
          </a:xfrm>
          <a:prstGeom prst="rect">
            <a:avLst/>
          </a:prstGeom>
          <a:noFill/>
          <a:ln/>
        </p:spPr>
        <p:txBody>
          <a:bodyPr wrap="square" lIns="0" tIns="0" rIns="0" bIns="0" rtlCol="0" anchor="t"/>
          <a:lstStyle/>
          <a:p>
            <a:pPr indent="0" marL="0">
              <a:buNone/>
            </a:pPr>
            <a:r>
              <a:rPr lang="en-US" sz="1800" b="1" dirty="0">
                <a:solidFill>
                  <a:srgbClr val="1E2A2F"/>
                </a:solidFill>
              </a:rPr>
              <a:t>Book: 582 today → about 484 in 12 months if nothing changes</a:t>
            </a:r>
            <a:endParaRPr lang="en-US" sz="1400" dirty="0"/>
          </a:p>
          <a:p>
            <a:pPr indent="0" marL="0">
              <a:buNone/>
            </a:pPr>
            <a:r>
              <a:rPr lang="en-US" sz="1400" dirty="0">
                <a:solidFill>
                  <a:srgbClr val="5B6B71"/>
                </a:solidFill>
              </a:rPr>
              <a:t>About 976 with the intervention plan. Both figures are Projected.</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CEO DASHBOARD — SEPTEMBER 2026</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September: strong conversion, but volume, retention and collections are off track</a:t>
            </a:r>
            <a:endParaRPr lang="en-US" sz="2600" dirty="0"/>
          </a:p>
        </p:txBody>
      </p:sp>
      <p:sp>
        <p:nvSpPr>
          <p:cNvPr id="5" name="card"/>
          <p:cNvSpPr/>
          <p:nvPr/>
        </p:nvSpPr>
        <p:spPr>
          <a:xfrm>
            <a:off x="457200" y="1371600"/>
            <a:ext cx="2682164" cy="1520952"/>
          </a:xfrm>
          <a:prstGeom prst="roundRect">
            <a:avLst>
              <a:gd name="adj" fmla="val 4810"/>
            </a:avLst>
          </a:prstGeom>
          <a:solidFill>
            <a:srgbClr val="FFFFFF"/>
          </a:solidFill>
          <a:ln w="9525">
            <a:solidFill>
              <a:srgbClr val="DCE3E4"/>
            </a:solidFill>
            <a:prstDash val="solid"/>
          </a:ln>
        </p:spPr>
      </p:sp>
      <p:sp>
        <p:nvSpPr>
          <p:cNvPr id="6" name="Text 3"/>
          <p:cNvSpPr txBox="1"/>
          <p:nvPr/>
        </p:nvSpPr>
        <p:spPr>
          <a:xfrm>
            <a:off x="621792" y="1499616"/>
            <a:ext cx="1493444" cy="274320"/>
          </a:xfrm>
          <a:prstGeom prst="rect">
            <a:avLst/>
          </a:prstGeom>
          <a:noFill/>
          <a:ln/>
        </p:spPr>
        <p:txBody>
          <a:bodyPr wrap="square" lIns="0" tIns="0" rIns="0" bIns="0" rtlCol="0" anchor="t"/>
          <a:lstStyle/>
          <a:p>
            <a:pPr indent="0" marL="0">
              <a:buNone/>
            </a:pPr>
            <a:r>
              <a:rPr lang="en-US" sz="1200" b="1" dirty="0">
                <a:solidFill>
                  <a:srgbClr val="5B6B71"/>
                </a:solidFill>
              </a:rPr>
              <a:t>Policies in force</a:t>
            </a:r>
            <a:endParaRPr lang="en-US" sz="1200" dirty="0"/>
          </a:p>
        </p:txBody>
      </p:sp>
      <p:sp>
        <p:nvSpPr>
          <p:cNvPr id="7" name="status pill"/>
          <p:cNvSpPr/>
          <p:nvPr/>
        </p:nvSpPr>
        <p:spPr>
          <a:xfrm>
            <a:off x="2133524" y="1499616"/>
            <a:ext cx="868680" cy="237744"/>
          </a:xfrm>
          <a:prstGeom prst="roundRect">
            <a:avLst>
              <a:gd name="adj" fmla="val 50000"/>
            </a:avLst>
          </a:prstGeom>
          <a:solidFill>
            <a:srgbClr val="C98A00"/>
          </a:solidFill>
          <a:ln w="12700">
            <a:solidFill>
              <a:srgbClr val="C98A00"/>
            </a:solidFill>
            <a:prstDash val="solid"/>
          </a:ln>
        </p:spPr>
      </p:sp>
      <p:sp>
        <p:nvSpPr>
          <p:cNvPr id="8" name="Text 5"/>
          <p:cNvSpPr txBox="1"/>
          <p:nvPr/>
        </p:nvSpPr>
        <p:spPr>
          <a:xfrm>
            <a:off x="2133524" y="1499616"/>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Watch</a:t>
            </a:r>
            <a:endParaRPr lang="en-US" sz="1000" dirty="0"/>
          </a:p>
        </p:txBody>
      </p:sp>
      <p:sp>
        <p:nvSpPr>
          <p:cNvPr id="9" name="Text 6"/>
          <p:cNvSpPr txBox="1"/>
          <p:nvPr/>
        </p:nvSpPr>
        <p:spPr>
          <a:xfrm>
            <a:off x="621792" y="1783080"/>
            <a:ext cx="2352980" cy="548640"/>
          </a:xfrm>
          <a:prstGeom prst="rect">
            <a:avLst/>
          </a:prstGeom>
          <a:noFill/>
          <a:ln/>
        </p:spPr>
        <p:txBody>
          <a:bodyPr wrap="square" lIns="0" tIns="0" rIns="0" bIns="0" rtlCol="0" anchor="ctr"/>
          <a:lstStyle/>
          <a:p>
            <a:pPr indent="0" marL="0">
              <a:buNone/>
            </a:pPr>
            <a:r>
              <a:rPr lang="en-US" sz="3200" b="1" dirty="0">
                <a:solidFill>
                  <a:srgbClr val="1E2A2F"/>
                </a:solidFill>
                <a:latin typeface="Cambria" pitchFamily="34" charset="0"/>
                <a:ea typeface="Cambria" pitchFamily="34" charset="-122"/>
                <a:cs typeface="Cambria" pitchFamily="34" charset="-120"/>
              </a:rPr>
              <a:t>582</a:t>
            </a:r>
            <a:endParaRPr lang="en-US" sz="3200" dirty="0"/>
          </a:p>
        </p:txBody>
      </p:sp>
      <p:sp>
        <p:nvSpPr>
          <p:cNvPr id="10" name="Text 7"/>
          <p:cNvSpPr txBox="1"/>
          <p:nvPr/>
        </p:nvSpPr>
        <p:spPr>
          <a:xfrm>
            <a:off x="621792" y="2350008"/>
            <a:ext cx="2352980" cy="496824"/>
          </a:xfrm>
          <a:prstGeom prst="rect">
            <a:avLst/>
          </a:prstGeom>
          <a:noFill/>
          <a:ln/>
        </p:spPr>
        <p:txBody>
          <a:bodyPr wrap="square" lIns="0" tIns="0" rIns="0" bIns="0" rtlCol="0" anchor="t"/>
          <a:lstStyle/>
          <a:p>
            <a:pPr indent="0" marL="0">
              <a:buNone/>
            </a:pPr>
            <a:r>
              <a:rPr lang="en-US" sz="1100" dirty="0">
                <a:solidFill>
                  <a:srgbClr val="5B6B71"/>
                </a:solidFill>
              </a:rPr>
              <a:t>3,782 lives covered · recent growth is mostly typed-in clients</a:t>
            </a:r>
            <a:endParaRPr lang="en-US" sz="1100" dirty="0"/>
          </a:p>
        </p:txBody>
      </p:sp>
      <p:sp>
        <p:nvSpPr>
          <p:cNvPr id="11" name="card"/>
          <p:cNvSpPr/>
          <p:nvPr/>
        </p:nvSpPr>
        <p:spPr>
          <a:xfrm>
            <a:off x="3322244" y="1371600"/>
            <a:ext cx="2682164" cy="1520952"/>
          </a:xfrm>
          <a:prstGeom prst="roundRect">
            <a:avLst>
              <a:gd name="adj" fmla="val 4810"/>
            </a:avLst>
          </a:prstGeom>
          <a:solidFill>
            <a:srgbClr val="FFFFFF"/>
          </a:solidFill>
          <a:ln w="9525">
            <a:solidFill>
              <a:srgbClr val="DCE3E4"/>
            </a:solidFill>
            <a:prstDash val="solid"/>
          </a:ln>
        </p:spPr>
      </p:sp>
      <p:sp>
        <p:nvSpPr>
          <p:cNvPr id="12" name="Text 9"/>
          <p:cNvSpPr txBox="1"/>
          <p:nvPr/>
        </p:nvSpPr>
        <p:spPr>
          <a:xfrm>
            <a:off x="3486836" y="1499616"/>
            <a:ext cx="1493444" cy="274320"/>
          </a:xfrm>
          <a:prstGeom prst="rect">
            <a:avLst/>
          </a:prstGeom>
          <a:noFill/>
          <a:ln/>
        </p:spPr>
        <p:txBody>
          <a:bodyPr wrap="square" lIns="0" tIns="0" rIns="0" bIns="0" rtlCol="0" anchor="t"/>
          <a:lstStyle/>
          <a:p>
            <a:pPr indent="0" marL="0">
              <a:buNone/>
            </a:pPr>
            <a:r>
              <a:rPr lang="en-US" sz="1200" b="1" dirty="0">
                <a:solidFill>
                  <a:srgbClr val="5B6B71"/>
                </a:solidFill>
              </a:rPr>
              <a:t>Genuine new joinings</a:t>
            </a:r>
            <a:endParaRPr lang="en-US" sz="1200" dirty="0"/>
          </a:p>
        </p:txBody>
      </p:sp>
      <p:sp>
        <p:nvSpPr>
          <p:cNvPr id="13" name="status pill"/>
          <p:cNvSpPr/>
          <p:nvPr/>
        </p:nvSpPr>
        <p:spPr>
          <a:xfrm>
            <a:off x="4998568" y="1499616"/>
            <a:ext cx="868680" cy="237744"/>
          </a:xfrm>
          <a:prstGeom prst="roundRect">
            <a:avLst>
              <a:gd name="adj" fmla="val 50000"/>
            </a:avLst>
          </a:prstGeom>
          <a:solidFill>
            <a:srgbClr val="C0392B"/>
          </a:solidFill>
          <a:ln w="12700">
            <a:solidFill>
              <a:srgbClr val="C0392B"/>
            </a:solidFill>
            <a:prstDash val="solid"/>
          </a:ln>
        </p:spPr>
      </p:sp>
      <p:sp>
        <p:nvSpPr>
          <p:cNvPr id="14" name="Text 11"/>
          <p:cNvSpPr txBox="1"/>
          <p:nvPr/>
        </p:nvSpPr>
        <p:spPr>
          <a:xfrm>
            <a:off x="4998568" y="1499616"/>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Off track</a:t>
            </a:r>
            <a:endParaRPr lang="en-US" sz="1000" dirty="0"/>
          </a:p>
        </p:txBody>
      </p:sp>
      <p:sp>
        <p:nvSpPr>
          <p:cNvPr id="15" name="Text 12"/>
          <p:cNvSpPr txBox="1"/>
          <p:nvPr/>
        </p:nvSpPr>
        <p:spPr>
          <a:xfrm>
            <a:off x="3486836" y="1783080"/>
            <a:ext cx="2352980" cy="548640"/>
          </a:xfrm>
          <a:prstGeom prst="rect">
            <a:avLst/>
          </a:prstGeom>
          <a:noFill/>
          <a:ln/>
        </p:spPr>
        <p:txBody>
          <a:bodyPr wrap="square" lIns="0" tIns="0" rIns="0" bIns="0" rtlCol="0" anchor="ctr"/>
          <a:lstStyle/>
          <a:p>
            <a:pPr indent="0" marL="0">
              <a:buNone/>
            </a:pPr>
            <a:r>
              <a:rPr lang="en-US" sz="3200" b="1" dirty="0">
                <a:solidFill>
                  <a:srgbClr val="C0392B"/>
                </a:solidFill>
                <a:latin typeface="Cambria" pitchFamily="34" charset="0"/>
                <a:ea typeface="Cambria" pitchFamily="34" charset="-122"/>
                <a:cs typeface="Cambria" pitchFamily="34" charset="-120"/>
              </a:rPr>
              <a:t>29</a:t>
            </a:r>
            <a:endParaRPr lang="en-US" sz="3200" dirty="0"/>
          </a:p>
        </p:txBody>
      </p:sp>
      <p:sp>
        <p:nvSpPr>
          <p:cNvPr id="16" name="Text 13"/>
          <p:cNvSpPr txBox="1"/>
          <p:nvPr/>
        </p:nvSpPr>
        <p:spPr>
          <a:xfrm>
            <a:off x="3486836" y="2350008"/>
            <a:ext cx="2352980" cy="496824"/>
          </a:xfrm>
          <a:prstGeom prst="rect">
            <a:avLst/>
          </a:prstGeom>
          <a:noFill/>
          <a:ln/>
        </p:spPr>
        <p:txBody>
          <a:bodyPr wrap="square" lIns="0" tIns="0" rIns="0" bIns="0" rtlCol="0" anchor="t"/>
          <a:lstStyle/>
          <a:p>
            <a:pPr indent="0" marL="0">
              <a:buNone/>
            </a:pPr>
            <a:r>
              <a:rPr lang="en-US" sz="1100" dirty="0">
                <a:solidFill>
                  <a:srgbClr val="5B6B71"/>
                </a:solidFill>
              </a:rPr>
              <a:t>Target 250 · 221 short · 12% achieved · Aug 16</a:t>
            </a:r>
            <a:endParaRPr lang="en-US" sz="1100" dirty="0"/>
          </a:p>
        </p:txBody>
      </p:sp>
      <p:sp>
        <p:nvSpPr>
          <p:cNvPr id="17" name="card"/>
          <p:cNvSpPr/>
          <p:nvPr/>
        </p:nvSpPr>
        <p:spPr>
          <a:xfrm>
            <a:off x="6187288" y="1371600"/>
            <a:ext cx="2682164" cy="1520952"/>
          </a:xfrm>
          <a:prstGeom prst="roundRect">
            <a:avLst>
              <a:gd name="adj" fmla="val 4810"/>
            </a:avLst>
          </a:prstGeom>
          <a:solidFill>
            <a:srgbClr val="FFFFFF"/>
          </a:solidFill>
          <a:ln w="9525">
            <a:solidFill>
              <a:srgbClr val="DCE3E4"/>
            </a:solidFill>
            <a:prstDash val="solid"/>
          </a:ln>
        </p:spPr>
      </p:sp>
      <p:sp>
        <p:nvSpPr>
          <p:cNvPr id="18" name="Text 15"/>
          <p:cNvSpPr txBox="1"/>
          <p:nvPr/>
        </p:nvSpPr>
        <p:spPr>
          <a:xfrm>
            <a:off x="6351880" y="1499616"/>
            <a:ext cx="1493444" cy="274320"/>
          </a:xfrm>
          <a:prstGeom prst="rect">
            <a:avLst/>
          </a:prstGeom>
          <a:noFill/>
          <a:ln/>
        </p:spPr>
        <p:txBody>
          <a:bodyPr wrap="square" lIns="0" tIns="0" rIns="0" bIns="0" rtlCol="0" anchor="t"/>
          <a:lstStyle/>
          <a:p>
            <a:pPr indent="0" marL="0">
              <a:buNone/>
            </a:pPr>
            <a:r>
              <a:rPr lang="en-US" sz="1200" b="1" dirty="0">
                <a:solidFill>
                  <a:srgbClr val="5B6B71"/>
                </a:solidFill>
              </a:rPr>
              <a:t>Joined and paid</a:t>
            </a:r>
            <a:endParaRPr lang="en-US" sz="1200" dirty="0"/>
          </a:p>
        </p:txBody>
      </p:sp>
      <p:sp>
        <p:nvSpPr>
          <p:cNvPr id="19" name="status pill"/>
          <p:cNvSpPr/>
          <p:nvPr/>
        </p:nvSpPr>
        <p:spPr>
          <a:xfrm>
            <a:off x="7863611" y="1499616"/>
            <a:ext cx="868680" cy="237744"/>
          </a:xfrm>
          <a:prstGeom prst="roundRect">
            <a:avLst>
              <a:gd name="adj" fmla="val 50000"/>
            </a:avLst>
          </a:prstGeom>
          <a:solidFill>
            <a:srgbClr val="C0392B"/>
          </a:solidFill>
          <a:ln w="12700">
            <a:solidFill>
              <a:srgbClr val="C0392B"/>
            </a:solidFill>
            <a:prstDash val="solid"/>
          </a:ln>
        </p:spPr>
      </p:sp>
      <p:sp>
        <p:nvSpPr>
          <p:cNvPr id="20" name="Text 17"/>
          <p:cNvSpPr txBox="1"/>
          <p:nvPr/>
        </p:nvSpPr>
        <p:spPr>
          <a:xfrm>
            <a:off x="7863611" y="1499616"/>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Off track</a:t>
            </a:r>
            <a:endParaRPr lang="en-US" sz="1000" dirty="0"/>
          </a:p>
        </p:txBody>
      </p:sp>
      <p:sp>
        <p:nvSpPr>
          <p:cNvPr id="21" name="Text 18"/>
          <p:cNvSpPr txBox="1"/>
          <p:nvPr/>
        </p:nvSpPr>
        <p:spPr>
          <a:xfrm>
            <a:off x="6351880" y="1783080"/>
            <a:ext cx="2352980" cy="548640"/>
          </a:xfrm>
          <a:prstGeom prst="rect">
            <a:avLst/>
          </a:prstGeom>
          <a:noFill/>
          <a:ln/>
        </p:spPr>
        <p:txBody>
          <a:bodyPr wrap="square" lIns="0" tIns="0" rIns="0" bIns="0" rtlCol="0" anchor="ctr"/>
          <a:lstStyle/>
          <a:p>
            <a:pPr indent="0" marL="0">
              <a:buNone/>
            </a:pPr>
            <a:r>
              <a:rPr lang="en-US" sz="3200" b="1" dirty="0">
                <a:solidFill>
                  <a:srgbClr val="C0392B"/>
                </a:solidFill>
                <a:latin typeface="Cambria" pitchFamily="34" charset="0"/>
                <a:ea typeface="Cambria" pitchFamily="34" charset="-122"/>
                <a:cs typeface="Cambria" pitchFamily="34" charset="-120"/>
              </a:rPr>
              <a:t>22</a:t>
            </a:r>
            <a:endParaRPr lang="en-US" sz="3200" dirty="0"/>
          </a:p>
        </p:txBody>
      </p:sp>
      <p:sp>
        <p:nvSpPr>
          <p:cNvPr id="22" name="Text 19"/>
          <p:cNvSpPr txBox="1"/>
          <p:nvPr/>
        </p:nvSpPr>
        <p:spPr>
          <a:xfrm>
            <a:off x="6351880" y="2350008"/>
            <a:ext cx="2352980" cy="496824"/>
          </a:xfrm>
          <a:prstGeom prst="rect">
            <a:avLst/>
          </a:prstGeom>
          <a:noFill/>
          <a:ln/>
        </p:spPr>
        <p:txBody>
          <a:bodyPr wrap="square" lIns="0" tIns="0" rIns="0" bIns="0" rtlCol="0" anchor="t"/>
          <a:lstStyle/>
          <a:p>
            <a:pPr indent="0" marL="0">
              <a:buNone/>
            </a:pPr>
            <a:r>
              <a:rPr lang="en-US" sz="1100" dirty="0">
                <a:solidFill>
                  <a:srgbClr val="5B6B71"/>
                </a:solidFill>
              </a:rPr>
              <a:t>Target 100 · 78 short · 22% achieved · Aug 13</a:t>
            </a:r>
            <a:endParaRPr lang="en-US" sz="1100" dirty="0"/>
          </a:p>
        </p:txBody>
      </p:sp>
      <p:sp>
        <p:nvSpPr>
          <p:cNvPr id="23" name="card"/>
          <p:cNvSpPr/>
          <p:nvPr/>
        </p:nvSpPr>
        <p:spPr>
          <a:xfrm>
            <a:off x="9052331" y="1371600"/>
            <a:ext cx="2682164" cy="1520952"/>
          </a:xfrm>
          <a:prstGeom prst="roundRect">
            <a:avLst>
              <a:gd name="adj" fmla="val 4810"/>
            </a:avLst>
          </a:prstGeom>
          <a:solidFill>
            <a:srgbClr val="FFFFFF"/>
          </a:solidFill>
          <a:ln w="9525">
            <a:solidFill>
              <a:srgbClr val="DCE3E4"/>
            </a:solidFill>
            <a:prstDash val="solid"/>
          </a:ln>
        </p:spPr>
      </p:sp>
      <p:sp>
        <p:nvSpPr>
          <p:cNvPr id="24" name="Text 21"/>
          <p:cNvSpPr txBox="1"/>
          <p:nvPr/>
        </p:nvSpPr>
        <p:spPr>
          <a:xfrm>
            <a:off x="9216923" y="1499616"/>
            <a:ext cx="1493444" cy="274320"/>
          </a:xfrm>
          <a:prstGeom prst="rect">
            <a:avLst/>
          </a:prstGeom>
          <a:noFill/>
          <a:ln/>
        </p:spPr>
        <p:txBody>
          <a:bodyPr wrap="square" lIns="0" tIns="0" rIns="0" bIns="0" rtlCol="0" anchor="t"/>
          <a:lstStyle/>
          <a:p>
            <a:pPr indent="0" marL="0">
              <a:buNone/>
            </a:pPr>
            <a:r>
              <a:rPr lang="en-US" sz="1200" b="1" dirty="0">
                <a:solidFill>
                  <a:srgbClr val="5B6B71"/>
                </a:solidFill>
              </a:rPr>
              <a:t>Paid conversion</a:t>
            </a:r>
            <a:endParaRPr lang="en-US" sz="1200" dirty="0"/>
          </a:p>
        </p:txBody>
      </p:sp>
      <p:sp>
        <p:nvSpPr>
          <p:cNvPr id="25" name="status pill"/>
          <p:cNvSpPr/>
          <p:nvPr/>
        </p:nvSpPr>
        <p:spPr>
          <a:xfrm>
            <a:off x="10728655" y="1499616"/>
            <a:ext cx="868680" cy="237744"/>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728655" y="1499616"/>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On track</a:t>
            </a:r>
            <a:endParaRPr lang="en-US" sz="1000" dirty="0"/>
          </a:p>
        </p:txBody>
      </p:sp>
      <p:sp>
        <p:nvSpPr>
          <p:cNvPr id="27" name="Text 24"/>
          <p:cNvSpPr txBox="1"/>
          <p:nvPr/>
        </p:nvSpPr>
        <p:spPr>
          <a:xfrm>
            <a:off x="9216923" y="1783080"/>
            <a:ext cx="2352980" cy="548640"/>
          </a:xfrm>
          <a:prstGeom prst="rect">
            <a:avLst/>
          </a:prstGeom>
          <a:noFill/>
          <a:ln/>
        </p:spPr>
        <p:txBody>
          <a:bodyPr wrap="square" lIns="0" tIns="0" rIns="0" bIns="0" rtlCol="0" anchor="ctr"/>
          <a:lstStyle/>
          <a:p>
            <a:pPr indent="0" marL="0">
              <a:buNone/>
            </a:pPr>
            <a:r>
              <a:rPr lang="en-US" sz="3200" b="1" dirty="0">
                <a:solidFill>
                  <a:srgbClr val="2E8B57"/>
                </a:solidFill>
                <a:latin typeface="Cambria" pitchFamily="34" charset="0"/>
                <a:ea typeface="Cambria" pitchFamily="34" charset="-122"/>
                <a:cs typeface="Cambria" pitchFamily="34" charset="-120"/>
              </a:rPr>
              <a:t>76%</a:t>
            </a:r>
            <a:endParaRPr lang="en-US" sz="3200" dirty="0"/>
          </a:p>
        </p:txBody>
      </p:sp>
      <p:sp>
        <p:nvSpPr>
          <p:cNvPr id="28" name="Text 25"/>
          <p:cNvSpPr txBox="1"/>
          <p:nvPr/>
        </p:nvSpPr>
        <p:spPr>
          <a:xfrm>
            <a:off x="9216923" y="2350008"/>
            <a:ext cx="2352980" cy="496824"/>
          </a:xfrm>
          <a:prstGeom prst="rect">
            <a:avLst/>
          </a:prstGeom>
          <a:noFill/>
          <a:ln/>
        </p:spPr>
        <p:txBody>
          <a:bodyPr wrap="square" lIns="0" tIns="0" rIns="0" bIns="0" rtlCol="0" anchor="t"/>
          <a:lstStyle/>
          <a:p>
            <a:pPr indent="0" marL="0">
              <a:buNone/>
            </a:pPr>
            <a:r>
              <a:rPr lang="en-US" sz="1100" dirty="0">
                <a:solidFill>
                  <a:srgbClr val="5B6B71"/>
                </a:solidFill>
              </a:rPr>
              <a:t>Target 40% · 36 pts above · Aug 81%</a:t>
            </a:r>
            <a:endParaRPr lang="en-US" sz="1100" dirty="0"/>
          </a:p>
        </p:txBody>
      </p:sp>
      <p:sp>
        <p:nvSpPr>
          <p:cNvPr id="29" name="card"/>
          <p:cNvSpPr/>
          <p:nvPr/>
        </p:nvSpPr>
        <p:spPr>
          <a:xfrm>
            <a:off x="457200" y="3057144"/>
            <a:ext cx="2682164" cy="1520952"/>
          </a:xfrm>
          <a:prstGeom prst="roundRect">
            <a:avLst>
              <a:gd name="adj" fmla="val 4810"/>
            </a:avLst>
          </a:prstGeom>
          <a:solidFill>
            <a:srgbClr val="FFFFFF"/>
          </a:solidFill>
          <a:ln w="9525">
            <a:solidFill>
              <a:srgbClr val="DCE3E4"/>
            </a:solidFill>
            <a:prstDash val="solid"/>
          </a:ln>
        </p:spPr>
      </p:sp>
      <p:sp>
        <p:nvSpPr>
          <p:cNvPr id="30" name="Text 27"/>
          <p:cNvSpPr txBox="1"/>
          <p:nvPr/>
        </p:nvSpPr>
        <p:spPr>
          <a:xfrm>
            <a:off x="621792" y="3185160"/>
            <a:ext cx="1493444" cy="274320"/>
          </a:xfrm>
          <a:prstGeom prst="rect">
            <a:avLst/>
          </a:prstGeom>
          <a:noFill/>
          <a:ln/>
        </p:spPr>
        <p:txBody>
          <a:bodyPr wrap="square" lIns="0" tIns="0" rIns="0" bIns="0" rtlCol="0" anchor="t"/>
          <a:lstStyle/>
          <a:p>
            <a:pPr indent="0" marL="0">
              <a:buNone/>
            </a:pPr>
            <a:r>
              <a:rPr lang="en-US" sz="1200" b="1" dirty="0">
                <a:solidFill>
                  <a:srgbClr val="5B6B71"/>
                </a:solidFill>
              </a:rPr>
              <a:t>Lapses</a:t>
            </a:r>
            <a:endParaRPr lang="en-US" sz="1200" dirty="0"/>
          </a:p>
        </p:txBody>
      </p:sp>
      <p:sp>
        <p:nvSpPr>
          <p:cNvPr id="31" name="status pill"/>
          <p:cNvSpPr/>
          <p:nvPr/>
        </p:nvSpPr>
        <p:spPr>
          <a:xfrm>
            <a:off x="2133524" y="3185160"/>
            <a:ext cx="868680" cy="237744"/>
          </a:xfrm>
          <a:prstGeom prst="roundRect">
            <a:avLst>
              <a:gd name="adj" fmla="val 50000"/>
            </a:avLst>
          </a:prstGeom>
          <a:solidFill>
            <a:srgbClr val="C0392B"/>
          </a:solidFill>
          <a:ln w="12700">
            <a:solidFill>
              <a:srgbClr val="C0392B"/>
            </a:solidFill>
            <a:prstDash val="solid"/>
          </a:ln>
        </p:spPr>
      </p:sp>
      <p:sp>
        <p:nvSpPr>
          <p:cNvPr id="32" name="Text 29"/>
          <p:cNvSpPr txBox="1"/>
          <p:nvPr/>
        </p:nvSpPr>
        <p:spPr>
          <a:xfrm>
            <a:off x="2133524" y="3185160"/>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Off track</a:t>
            </a:r>
            <a:endParaRPr lang="en-US" sz="1000" dirty="0"/>
          </a:p>
        </p:txBody>
      </p:sp>
      <p:sp>
        <p:nvSpPr>
          <p:cNvPr id="33" name="Text 30"/>
          <p:cNvSpPr txBox="1"/>
          <p:nvPr/>
        </p:nvSpPr>
        <p:spPr>
          <a:xfrm>
            <a:off x="621792" y="3468624"/>
            <a:ext cx="2352980" cy="548640"/>
          </a:xfrm>
          <a:prstGeom prst="rect">
            <a:avLst/>
          </a:prstGeom>
          <a:noFill/>
          <a:ln/>
        </p:spPr>
        <p:txBody>
          <a:bodyPr wrap="square" lIns="0" tIns="0" rIns="0" bIns="0" rtlCol="0" anchor="ctr"/>
          <a:lstStyle/>
          <a:p>
            <a:pPr indent="0" marL="0">
              <a:buNone/>
            </a:pPr>
            <a:r>
              <a:rPr lang="en-US" sz="3200" b="1" dirty="0">
                <a:solidFill>
                  <a:srgbClr val="C0392B"/>
                </a:solidFill>
                <a:latin typeface="Cambria" pitchFamily="34" charset="0"/>
                <a:ea typeface="Cambria" pitchFamily="34" charset="-122"/>
                <a:cs typeface="Cambria" pitchFamily="34" charset="-120"/>
              </a:rPr>
              <a:t>28</a:t>
            </a:r>
            <a:endParaRPr lang="en-US" sz="3200" dirty="0"/>
          </a:p>
        </p:txBody>
      </p:sp>
      <p:sp>
        <p:nvSpPr>
          <p:cNvPr id="34" name="Text 31"/>
          <p:cNvSpPr txBox="1"/>
          <p:nvPr/>
        </p:nvSpPr>
        <p:spPr>
          <a:xfrm>
            <a:off x="621792" y="4035552"/>
            <a:ext cx="2352980" cy="496824"/>
          </a:xfrm>
          <a:prstGeom prst="rect">
            <a:avLst/>
          </a:prstGeom>
          <a:noFill/>
          <a:ln/>
        </p:spPr>
        <p:txBody>
          <a:bodyPr wrap="square" lIns="0" tIns="0" rIns="0" bIns="0" rtlCol="0" anchor="t"/>
          <a:lstStyle/>
          <a:p>
            <a:pPr indent="0" marL="0">
              <a:buNone/>
            </a:pPr>
            <a:r>
              <a:rPr lang="en-US" sz="1100" dirty="0">
                <a:solidFill>
                  <a:srgbClr val="5B6B71"/>
                </a:solidFill>
              </a:rPr>
              <a:t>6.6% lapse rate · Aug 4 (2.0%)</a:t>
            </a:r>
            <a:endParaRPr lang="en-US" sz="1100" dirty="0"/>
          </a:p>
        </p:txBody>
      </p:sp>
      <p:sp>
        <p:nvSpPr>
          <p:cNvPr id="35" name="card"/>
          <p:cNvSpPr/>
          <p:nvPr/>
        </p:nvSpPr>
        <p:spPr>
          <a:xfrm>
            <a:off x="3322244" y="3057144"/>
            <a:ext cx="2682164" cy="1520952"/>
          </a:xfrm>
          <a:prstGeom prst="roundRect">
            <a:avLst>
              <a:gd name="adj" fmla="val 4810"/>
            </a:avLst>
          </a:prstGeom>
          <a:solidFill>
            <a:srgbClr val="FFFFFF"/>
          </a:solidFill>
          <a:ln w="9525">
            <a:solidFill>
              <a:srgbClr val="DCE3E4"/>
            </a:solidFill>
            <a:prstDash val="solid"/>
          </a:ln>
        </p:spPr>
      </p:sp>
      <p:sp>
        <p:nvSpPr>
          <p:cNvPr id="36" name="Text 33"/>
          <p:cNvSpPr txBox="1"/>
          <p:nvPr/>
        </p:nvSpPr>
        <p:spPr>
          <a:xfrm>
            <a:off x="3486836" y="3185160"/>
            <a:ext cx="1493444" cy="274320"/>
          </a:xfrm>
          <a:prstGeom prst="rect">
            <a:avLst/>
          </a:prstGeom>
          <a:noFill/>
          <a:ln/>
        </p:spPr>
        <p:txBody>
          <a:bodyPr wrap="square" lIns="0" tIns="0" rIns="0" bIns="0" rtlCol="0" anchor="t"/>
          <a:lstStyle/>
          <a:p>
            <a:pPr indent="0" marL="0">
              <a:buNone/>
            </a:pPr>
            <a:r>
              <a:rPr lang="en-US" sz="1200" b="1" dirty="0">
                <a:solidFill>
                  <a:srgbClr val="5B6B71"/>
                </a:solidFill>
              </a:rPr>
              <a:t>Net growth</a:t>
            </a:r>
            <a:endParaRPr lang="en-US" sz="1200" dirty="0"/>
          </a:p>
        </p:txBody>
      </p:sp>
      <p:sp>
        <p:nvSpPr>
          <p:cNvPr id="37" name="status pill"/>
          <p:cNvSpPr/>
          <p:nvPr/>
        </p:nvSpPr>
        <p:spPr>
          <a:xfrm>
            <a:off x="4998568" y="3185160"/>
            <a:ext cx="868680" cy="237744"/>
          </a:xfrm>
          <a:prstGeom prst="roundRect">
            <a:avLst>
              <a:gd name="adj" fmla="val 50000"/>
            </a:avLst>
          </a:prstGeom>
          <a:solidFill>
            <a:srgbClr val="C0392B"/>
          </a:solidFill>
          <a:ln w="12700">
            <a:solidFill>
              <a:srgbClr val="C0392B"/>
            </a:solidFill>
            <a:prstDash val="solid"/>
          </a:ln>
        </p:spPr>
      </p:sp>
      <p:sp>
        <p:nvSpPr>
          <p:cNvPr id="38" name="Text 35"/>
          <p:cNvSpPr txBox="1"/>
          <p:nvPr/>
        </p:nvSpPr>
        <p:spPr>
          <a:xfrm>
            <a:off x="4998568" y="3185160"/>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Off track</a:t>
            </a:r>
            <a:endParaRPr lang="en-US" sz="1000" dirty="0"/>
          </a:p>
        </p:txBody>
      </p:sp>
      <p:sp>
        <p:nvSpPr>
          <p:cNvPr id="39" name="Text 36"/>
          <p:cNvSpPr txBox="1"/>
          <p:nvPr/>
        </p:nvSpPr>
        <p:spPr>
          <a:xfrm>
            <a:off x="3486836" y="3468624"/>
            <a:ext cx="2352980" cy="548640"/>
          </a:xfrm>
          <a:prstGeom prst="rect">
            <a:avLst/>
          </a:prstGeom>
          <a:noFill/>
          <a:ln/>
        </p:spPr>
        <p:txBody>
          <a:bodyPr wrap="square" lIns="0" tIns="0" rIns="0" bIns="0" rtlCol="0" anchor="ctr"/>
          <a:lstStyle/>
          <a:p>
            <a:pPr indent="0" marL="0">
              <a:buNone/>
            </a:pPr>
            <a:r>
              <a:rPr lang="en-US" sz="3200" b="1" dirty="0">
                <a:solidFill>
                  <a:srgbClr val="C0392B"/>
                </a:solidFill>
                <a:latin typeface="Cambria" pitchFamily="34" charset="0"/>
                <a:ea typeface="Cambria" pitchFamily="34" charset="-122"/>
                <a:cs typeface="Cambria" pitchFamily="34" charset="-120"/>
              </a:rPr>
              <a:t>−6</a:t>
            </a:r>
            <a:endParaRPr lang="en-US" sz="3200" dirty="0"/>
          </a:p>
        </p:txBody>
      </p:sp>
      <p:sp>
        <p:nvSpPr>
          <p:cNvPr id="40" name="Text 37"/>
          <p:cNvSpPr txBox="1"/>
          <p:nvPr/>
        </p:nvSpPr>
        <p:spPr>
          <a:xfrm>
            <a:off x="3486836" y="4035552"/>
            <a:ext cx="2352980" cy="496824"/>
          </a:xfrm>
          <a:prstGeom prst="rect">
            <a:avLst/>
          </a:prstGeom>
          <a:noFill/>
          <a:ln/>
        </p:spPr>
        <p:txBody>
          <a:bodyPr wrap="square" lIns="0" tIns="0" rIns="0" bIns="0" rtlCol="0" anchor="t"/>
          <a:lstStyle/>
          <a:p>
            <a:pPr indent="0" marL="0">
              <a:buNone/>
            </a:pPr>
            <a:r>
              <a:rPr lang="en-US" sz="1100" dirty="0">
                <a:solidFill>
                  <a:srgbClr val="5B6B71"/>
                </a:solidFill>
              </a:rPr>
              <a:t>22 paid in, 28 lapsed · Aug +9</a:t>
            </a:r>
            <a:endParaRPr lang="en-US" sz="1100" dirty="0"/>
          </a:p>
        </p:txBody>
      </p:sp>
      <p:sp>
        <p:nvSpPr>
          <p:cNvPr id="41" name="card"/>
          <p:cNvSpPr/>
          <p:nvPr/>
        </p:nvSpPr>
        <p:spPr>
          <a:xfrm>
            <a:off x="6187288" y="3057144"/>
            <a:ext cx="2682164" cy="1520952"/>
          </a:xfrm>
          <a:prstGeom prst="roundRect">
            <a:avLst>
              <a:gd name="adj" fmla="val 4810"/>
            </a:avLst>
          </a:prstGeom>
          <a:solidFill>
            <a:srgbClr val="FFFFFF"/>
          </a:solidFill>
          <a:ln w="9525">
            <a:solidFill>
              <a:srgbClr val="DCE3E4"/>
            </a:solidFill>
            <a:prstDash val="solid"/>
          </a:ln>
        </p:spPr>
      </p:sp>
      <p:sp>
        <p:nvSpPr>
          <p:cNvPr id="42" name="Text 39"/>
          <p:cNvSpPr txBox="1"/>
          <p:nvPr/>
        </p:nvSpPr>
        <p:spPr>
          <a:xfrm>
            <a:off x="6351880" y="3185160"/>
            <a:ext cx="1493444" cy="274320"/>
          </a:xfrm>
          <a:prstGeom prst="rect">
            <a:avLst/>
          </a:prstGeom>
          <a:noFill/>
          <a:ln/>
        </p:spPr>
        <p:txBody>
          <a:bodyPr wrap="square" lIns="0" tIns="0" rIns="0" bIns="0" rtlCol="0" anchor="t"/>
          <a:lstStyle/>
          <a:p>
            <a:pPr indent="0" marL="0">
              <a:buNone/>
            </a:pPr>
            <a:r>
              <a:rPr lang="en-US" sz="1200" b="1" dirty="0">
                <a:solidFill>
                  <a:srgbClr val="5B6B71"/>
                </a:solidFill>
              </a:rPr>
              <a:t>Grace recovery</a:t>
            </a:r>
            <a:endParaRPr lang="en-US" sz="1200" dirty="0"/>
          </a:p>
        </p:txBody>
      </p:sp>
      <p:sp>
        <p:nvSpPr>
          <p:cNvPr id="43" name="status pill"/>
          <p:cNvSpPr/>
          <p:nvPr/>
        </p:nvSpPr>
        <p:spPr>
          <a:xfrm>
            <a:off x="7863611" y="3185160"/>
            <a:ext cx="868680" cy="237744"/>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7863611" y="3185160"/>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On track</a:t>
            </a:r>
            <a:endParaRPr lang="en-US" sz="1000" dirty="0"/>
          </a:p>
        </p:txBody>
      </p:sp>
      <p:sp>
        <p:nvSpPr>
          <p:cNvPr id="45" name="Text 42"/>
          <p:cNvSpPr txBox="1"/>
          <p:nvPr/>
        </p:nvSpPr>
        <p:spPr>
          <a:xfrm>
            <a:off x="6351880" y="3468624"/>
            <a:ext cx="2352980" cy="548640"/>
          </a:xfrm>
          <a:prstGeom prst="rect">
            <a:avLst/>
          </a:prstGeom>
          <a:noFill/>
          <a:ln/>
        </p:spPr>
        <p:txBody>
          <a:bodyPr wrap="square" lIns="0" tIns="0" rIns="0" bIns="0" rtlCol="0" anchor="ctr"/>
          <a:lstStyle/>
          <a:p>
            <a:pPr indent="0" marL="0">
              <a:buNone/>
            </a:pPr>
            <a:r>
              <a:rPr lang="en-US" sz="3200" b="1" dirty="0">
                <a:solidFill>
                  <a:srgbClr val="2E8B57"/>
                </a:solidFill>
                <a:latin typeface="Cambria" pitchFamily="34" charset="0"/>
                <a:ea typeface="Cambria" pitchFamily="34" charset="-122"/>
                <a:cs typeface="Cambria" pitchFamily="34" charset="-120"/>
              </a:rPr>
              <a:t>75%</a:t>
            </a:r>
            <a:endParaRPr lang="en-US" sz="3200" dirty="0"/>
          </a:p>
        </p:txBody>
      </p:sp>
      <p:sp>
        <p:nvSpPr>
          <p:cNvPr id="46" name="Text 43"/>
          <p:cNvSpPr txBox="1"/>
          <p:nvPr/>
        </p:nvSpPr>
        <p:spPr>
          <a:xfrm>
            <a:off x="6351880" y="4035552"/>
            <a:ext cx="2352980" cy="496824"/>
          </a:xfrm>
          <a:prstGeom prst="rect">
            <a:avLst/>
          </a:prstGeom>
          <a:noFill/>
          <a:ln/>
        </p:spPr>
        <p:txBody>
          <a:bodyPr wrap="square" lIns="0" tIns="0" rIns="0" bIns="0" rtlCol="0" anchor="t"/>
          <a:lstStyle/>
          <a:p>
            <a:pPr indent="0" marL="0">
              <a:buNone/>
            </a:pPr>
            <a:r>
              <a:rPr lang="en-US" sz="1100" dirty="0">
                <a:solidFill>
                  <a:srgbClr val="5B6B71"/>
                </a:solidFill>
              </a:rPr>
              <a:t>Aug 38% · no target set yet</a:t>
            </a:r>
            <a:endParaRPr lang="en-US" sz="1100" dirty="0"/>
          </a:p>
        </p:txBody>
      </p:sp>
      <p:sp>
        <p:nvSpPr>
          <p:cNvPr id="47" name="card"/>
          <p:cNvSpPr/>
          <p:nvPr/>
        </p:nvSpPr>
        <p:spPr>
          <a:xfrm>
            <a:off x="9052331" y="3057144"/>
            <a:ext cx="2682164" cy="1520952"/>
          </a:xfrm>
          <a:prstGeom prst="roundRect">
            <a:avLst>
              <a:gd name="adj" fmla="val 4810"/>
            </a:avLst>
          </a:prstGeom>
          <a:solidFill>
            <a:srgbClr val="FFFFFF"/>
          </a:solidFill>
          <a:ln w="9525">
            <a:solidFill>
              <a:srgbClr val="DCE3E4"/>
            </a:solidFill>
            <a:prstDash val="solid"/>
          </a:ln>
        </p:spPr>
      </p:sp>
      <p:sp>
        <p:nvSpPr>
          <p:cNvPr id="48" name="Text 45"/>
          <p:cNvSpPr txBox="1"/>
          <p:nvPr/>
        </p:nvSpPr>
        <p:spPr>
          <a:xfrm>
            <a:off x="9216923" y="3185160"/>
            <a:ext cx="1493444" cy="274320"/>
          </a:xfrm>
          <a:prstGeom prst="rect">
            <a:avLst/>
          </a:prstGeom>
          <a:noFill/>
          <a:ln/>
        </p:spPr>
        <p:txBody>
          <a:bodyPr wrap="square" lIns="0" tIns="0" rIns="0" bIns="0" rtlCol="0" anchor="t"/>
          <a:lstStyle/>
          <a:p>
            <a:pPr indent="0" marL="0">
              <a:buNone/>
            </a:pPr>
            <a:r>
              <a:rPr lang="en-US" sz="1200" b="1" dirty="0">
                <a:solidFill>
                  <a:srgbClr val="5B6B71"/>
                </a:solidFill>
              </a:rPr>
              <a:t>Money in (USD)</a:t>
            </a:r>
            <a:endParaRPr lang="en-US" sz="1200" dirty="0"/>
          </a:p>
        </p:txBody>
      </p:sp>
      <p:sp>
        <p:nvSpPr>
          <p:cNvPr id="49" name="status pill"/>
          <p:cNvSpPr/>
          <p:nvPr/>
        </p:nvSpPr>
        <p:spPr>
          <a:xfrm>
            <a:off x="10728655" y="3185160"/>
            <a:ext cx="868680" cy="237744"/>
          </a:xfrm>
          <a:prstGeom prst="roundRect">
            <a:avLst>
              <a:gd name="adj" fmla="val 50000"/>
            </a:avLst>
          </a:prstGeom>
          <a:solidFill>
            <a:srgbClr val="C98A00"/>
          </a:solidFill>
          <a:ln w="12700">
            <a:solidFill>
              <a:srgbClr val="C98A00"/>
            </a:solidFill>
            <a:prstDash val="solid"/>
          </a:ln>
        </p:spPr>
      </p:sp>
      <p:sp>
        <p:nvSpPr>
          <p:cNvPr id="50" name="Text 47"/>
          <p:cNvSpPr txBox="1"/>
          <p:nvPr/>
        </p:nvSpPr>
        <p:spPr>
          <a:xfrm>
            <a:off x="10728655" y="3185160"/>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Watch</a:t>
            </a:r>
            <a:endParaRPr lang="en-US" sz="1000" dirty="0"/>
          </a:p>
        </p:txBody>
      </p:sp>
      <p:sp>
        <p:nvSpPr>
          <p:cNvPr id="51" name="Text 48"/>
          <p:cNvSpPr txBox="1"/>
          <p:nvPr/>
        </p:nvSpPr>
        <p:spPr>
          <a:xfrm>
            <a:off x="9216923" y="3468624"/>
            <a:ext cx="2352980" cy="548640"/>
          </a:xfrm>
          <a:prstGeom prst="rect">
            <a:avLst/>
          </a:prstGeom>
          <a:noFill/>
          <a:ln/>
        </p:spPr>
        <p:txBody>
          <a:bodyPr wrap="square" lIns="0" tIns="0" rIns="0" bIns="0" rtlCol="0" anchor="ctr"/>
          <a:lstStyle/>
          <a:p>
            <a:pPr indent="0" marL="0">
              <a:buNone/>
            </a:pPr>
            <a:r>
              <a:rPr lang="en-US" sz="3200" b="1" dirty="0">
                <a:solidFill>
                  <a:srgbClr val="1E2A2F"/>
                </a:solidFill>
                <a:latin typeface="Cambria" pitchFamily="34" charset="0"/>
                <a:ea typeface="Cambria" pitchFamily="34" charset="-122"/>
                <a:cs typeface="Cambria" pitchFamily="34" charset="-120"/>
              </a:rPr>
              <a:t>15,078</a:t>
            </a:r>
            <a:endParaRPr lang="en-US" sz="3200" dirty="0"/>
          </a:p>
        </p:txBody>
      </p:sp>
      <p:sp>
        <p:nvSpPr>
          <p:cNvPr id="52" name="Text 49"/>
          <p:cNvSpPr txBox="1"/>
          <p:nvPr/>
        </p:nvSpPr>
        <p:spPr>
          <a:xfrm>
            <a:off x="9216923" y="4035552"/>
            <a:ext cx="2352980" cy="496824"/>
          </a:xfrm>
          <a:prstGeom prst="rect">
            <a:avLst/>
          </a:prstGeom>
          <a:noFill/>
          <a:ln/>
        </p:spPr>
        <p:txBody>
          <a:bodyPr wrap="square" lIns="0" tIns="0" rIns="0" bIns="0" rtlCol="0" anchor="t"/>
          <a:lstStyle/>
          <a:p>
            <a:pPr indent="0" marL="0">
              <a:buNone/>
            </a:pPr>
            <a:r>
              <a:rPr lang="en-US" sz="1100" dirty="0">
                <a:solidFill>
                  <a:srgbClr val="5B6B71"/>
                </a:solidFill>
              </a:rPr>
              <a:t>Aug 16,760 · down 10%</a:t>
            </a:r>
            <a:endParaRPr lang="en-US" sz="1100" dirty="0"/>
          </a:p>
        </p:txBody>
      </p:sp>
      <p:sp>
        <p:nvSpPr>
          <p:cNvPr id="53" name="card"/>
          <p:cNvSpPr/>
          <p:nvPr/>
        </p:nvSpPr>
        <p:spPr>
          <a:xfrm>
            <a:off x="457200" y="4742688"/>
            <a:ext cx="2682164" cy="1520952"/>
          </a:xfrm>
          <a:prstGeom prst="roundRect">
            <a:avLst>
              <a:gd name="adj" fmla="val 4810"/>
            </a:avLst>
          </a:prstGeom>
          <a:solidFill>
            <a:srgbClr val="FFFFFF"/>
          </a:solidFill>
          <a:ln w="9525">
            <a:solidFill>
              <a:srgbClr val="DCE3E4"/>
            </a:solidFill>
            <a:prstDash val="solid"/>
          </a:ln>
        </p:spPr>
      </p:sp>
      <p:sp>
        <p:nvSpPr>
          <p:cNvPr id="54" name="Text 51"/>
          <p:cNvSpPr txBox="1"/>
          <p:nvPr/>
        </p:nvSpPr>
        <p:spPr>
          <a:xfrm>
            <a:off x="621792" y="4870704"/>
            <a:ext cx="1493444" cy="274320"/>
          </a:xfrm>
          <a:prstGeom prst="rect">
            <a:avLst/>
          </a:prstGeom>
          <a:noFill/>
          <a:ln/>
        </p:spPr>
        <p:txBody>
          <a:bodyPr wrap="square" lIns="0" tIns="0" rIns="0" bIns="0" rtlCol="0" anchor="t"/>
          <a:lstStyle/>
          <a:p>
            <a:pPr indent="0" marL="0">
              <a:buNone/>
            </a:pPr>
            <a:r>
              <a:rPr lang="en-US" sz="1200" b="1" dirty="0">
                <a:solidFill>
                  <a:srgbClr val="5B6B71"/>
                </a:solidFill>
              </a:rPr>
              <a:t>Productive agents</a:t>
            </a:r>
            <a:endParaRPr lang="en-US" sz="1200" dirty="0"/>
          </a:p>
        </p:txBody>
      </p:sp>
      <p:sp>
        <p:nvSpPr>
          <p:cNvPr id="55" name="status pill"/>
          <p:cNvSpPr/>
          <p:nvPr/>
        </p:nvSpPr>
        <p:spPr>
          <a:xfrm>
            <a:off x="2133524" y="4870704"/>
            <a:ext cx="868680" cy="237744"/>
          </a:xfrm>
          <a:prstGeom prst="roundRect">
            <a:avLst>
              <a:gd name="adj" fmla="val 50000"/>
            </a:avLst>
          </a:prstGeom>
          <a:solidFill>
            <a:srgbClr val="C0392B"/>
          </a:solidFill>
          <a:ln w="12700">
            <a:solidFill>
              <a:srgbClr val="C0392B"/>
            </a:solidFill>
            <a:prstDash val="solid"/>
          </a:ln>
        </p:spPr>
      </p:sp>
      <p:sp>
        <p:nvSpPr>
          <p:cNvPr id="56" name="Text 53"/>
          <p:cNvSpPr txBox="1"/>
          <p:nvPr/>
        </p:nvSpPr>
        <p:spPr>
          <a:xfrm>
            <a:off x="2133524" y="4870704"/>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Off track</a:t>
            </a:r>
            <a:endParaRPr lang="en-US" sz="1000" dirty="0"/>
          </a:p>
        </p:txBody>
      </p:sp>
      <p:sp>
        <p:nvSpPr>
          <p:cNvPr id="57" name="Text 54"/>
          <p:cNvSpPr txBox="1"/>
          <p:nvPr/>
        </p:nvSpPr>
        <p:spPr>
          <a:xfrm>
            <a:off x="621792" y="5154168"/>
            <a:ext cx="2352980" cy="548640"/>
          </a:xfrm>
          <a:prstGeom prst="rect">
            <a:avLst/>
          </a:prstGeom>
          <a:noFill/>
          <a:ln/>
        </p:spPr>
        <p:txBody>
          <a:bodyPr wrap="square" lIns="0" tIns="0" rIns="0" bIns="0" rtlCol="0" anchor="ctr"/>
          <a:lstStyle/>
          <a:p>
            <a:pPr indent="0" marL="0">
              <a:buNone/>
            </a:pPr>
            <a:r>
              <a:rPr lang="en-US" sz="3200" b="1" dirty="0">
                <a:solidFill>
                  <a:srgbClr val="C0392B"/>
                </a:solidFill>
                <a:latin typeface="Cambria" pitchFamily="34" charset="0"/>
                <a:ea typeface="Cambria" pitchFamily="34" charset="-122"/>
                <a:cs typeface="Cambria" pitchFamily="34" charset="-120"/>
              </a:rPr>
              <a:t>4 of 17</a:t>
            </a:r>
            <a:endParaRPr lang="en-US" sz="3200" dirty="0"/>
          </a:p>
        </p:txBody>
      </p:sp>
      <p:sp>
        <p:nvSpPr>
          <p:cNvPr id="58" name="Text 55"/>
          <p:cNvSpPr txBox="1"/>
          <p:nvPr/>
        </p:nvSpPr>
        <p:spPr>
          <a:xfrm>
            <a:off x="621792" y="5721096"/>
            <a:ext cx="2352980" cy="496824"/>
          </a:xfrm>
          <a:prstGeom prst="rect">
            <a:avLst/>
          </a:prstGeom>
          <a:noFill/>
          <a:ln/>
        </p:spPr>
        <p:txBody>
          <a:bodyPr wrap="square" lIns="0" tIns="0" rIns="0" bIns="0" rtlCol="0" anchor="t"/>
          <a:lstStyle/>
          <a:p>
            <a:pPr indent="0" marL="0">
              <a:buNone/>
            </a:pPr>
            <a:r>
              <a:rPr lang="en-US" sz="1100" dirty="0">
                <a:solidFill>
                  <a:srgbClr val="5B6B71"/>
                </a:solidFill>
              </a:rPr>
              <a:t>Active agents with a genuine sale · Aug 5 · Jun 9</a:t>
            </a:r>
            <a:endParaRPr lang="en-US" sz="1100" dirty="0"/>
          </a:p>
        </p:txBody>
      </p:sp>
      <p:sp>
        <p:nvSpPr>
          <p:cNvPr id="59" name="card"/>
          <p:cNvSpPr/>
          <p:nvPr/>
        </p:nvSpPr>
        <p:spPr>
          <a:xfrm>
            <a:off x="3322244" y="4742688"/>
            <a:ext cx="2682164" cy="1520952"/>
          </a:xfrm>
          <a:prstGeom prst="roundRect">
            <a:avLst>
              <a:gd name="adj" fmla="val 4810"/>
            </a:avLst>
          </a:prstGeom>
          <a:solidFill>
            <a:srgbClr val="FFFFFF"/>
          </a:solidFill>
          <a:ln w="9525">
            <a:solidFill>
              <a:srgbClr val="DCE3E4"/>
            </a:solidFill>
            <a:prstDash val="solid"/>
          </a:ln>
        </p:spPr>
      </p:sp>
      <p:sp>
        <p:nvSpPr>
          <p:cNvPr id="60" name="Text 57"/>
          <p:cNvSpPr txBox="1"/>
          <p:nvPr/>
        </p:nvSpPr>
        <p:spPr>
          <a:xfrm>
            <a:off x="3486836" y="4870704"/>
            <a:ext cx="1493444" cy="274320"/>
          </a:xfrm>
          <a:prstGeom prst="rect">
            <a:avLst/>
          </a:prstGeom>
          <a:noFill/>
          <a:ln/>
        </p:spPr>
        <p:txBody>
          <a:bodyPr wrap="square" lIns="0" tIns="0" rIns="0" bIns="0" rtlCol="0" anchor="t"/>
          <a:lstStyle/>
          <a:p>
            <a:pPr indent="0" marL="0">
              <a:buNone/>
            </a:pPr>
            <a:r>
              <a:rPr lang="en-US" sz="1200" b="1" dirty="0">
                <a:solidFill>
                  <a:srgbClr val="5B6B71"/>
                </a:solidFill>
              </a:rPr>
              <a:t>USD premium collected</a:t>
            </a:r>
            <a:endParaRPr lang="en-US" sz="1200" dirty="0"/>
          </a:p>
        </p:txBody>
      </p:sp>
      <p:sp>
        <p:nvSpPr>
          <p:cNvPr id="61" name="status pill"/>
          <p:cNvSpPr/>
          <p:nvPr/>
        </p:nvSpPr>
        <p:spPr>
          <a:xfrm>
            <a:off x="4998568" y="4870704"/>
            <a:ext cx="868680" cy="237744"/>
          </a:xfrm>
          <a:prstGeom prst="roundRect">
            <a:avLst>
              <a:gd name="adj" fmla="val 50000"/>
            </a:avLst>
          </a:prstGeom>
          <a:solidFill>
            <a:srgbClr val="C0392B"/>
          </a:solidFill>
          <a:ln w="12700">
            <a:solidFill>
              <a:srgbClr val="C0392B"/>
            </a:solidFill>
            <a:prstDash val="solid"/>
          </a:ln>
        </p:spPr>
      </p:sp>
      <p:sp>
        <p:nvSpPr>
          <p:cNvPr id="62" name="Text 59"/>
          <p:cNvSpPr txBox="1"/>
          <p:nvPr/>
        </p:nvSpPr>
        <p:spPr>
          <a:xfrm>
            <a:off x="4998568" y="4870704"/>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Off track</a:t>
            </a:r>
            <a:endParaRPr lang="en-US" sz="1000" dirty="0"/>
          </a:p>
        </p:txBody>
      </p:sp>
      <p:sp>
        <p:nvSpPr>
          <p:cNvPr id="63" name="Text 60"/>
          <p:cNvSpPr txBox="1"/>
          <p:nvPr/>
        </p:nvSpPr>
        <p:spPr>
          <a:xfrm>
            <a:off x="3486836" y="5154168"/>
            <a:ext cx="2352980" cy="548640"/>
          </a:xfrm>
          <a:prstGeom prst="rect">
            <a:avLst/>
          </a:prstGeom>
          <a:noFill/>
          <a:ln/>
        </p:spPr>
        <p:txBody>
          <a:bodyPr wrap="square" lIns="0" tIns="0" rIns="0" bIns="0" rtlCol="0" anchor="ctr"/>
          <a:lstStyle/>
          <a:p>
            <a:pPr indent="0" marL="0">
              <a:buNone/>
            </a:pPr>
            <a:r>
              <a:rPr lang="en-US" sz="3200" b="1" dirty="0">
                <a:solidFill>
                  <a:srgbClr val="C0392B"/>
                </a:solidFill>
                <a:latin typeface="Cambria" pitchFamily="34" charset="0"/>
                <a:ea typeface="Cambria" pitchFamily="34" charset="-122"/>
                <a:cs typeface="Cambria" pitchFamily="34" charset="-120"/>
              </a:rPr>
              <a:t>49%</a:t>
            </a:r>
            <a:endParaRPr lang="en-US" sz="3200" dirty="0"/>
          </a:p>
        </p:txBody>
      </p:sp>
      <p:sp>
        <p:nvSpPr>
          <p:cNvPr id="64" name="Text 61"/>
          <p:cNvSpPr txBox="1"/>
          <p:nvPr/>
        </p:nvSpPr>
        <p:spPr>
          <a:xfrm>
            <a:off x="3486836" y="5721096"/>
            <a:ext cx="2352980" cy="496824"/>
          </a:xfrm>
          <a:prstGeom prst="rect">
            <a:avLst/>
          </a:prstGeom>
          <a:noFill/>
          <a:ln/>
        </p:spPr>
        <p:txBody>
          <a:bodyPr wrap="square" lIns="0" tIns="0" rIns="0" bIns="0" rtlCol="0" anchor="t"/>
          <a:lstStyle/>
          <a:p>
            <a:pPr indent="0" marL="0">
              <a:buNone/>
            </a:pPr>
            <a:r>
              <a:rPr lang="en-US" sz="1100" dirty="0">
                <a:solidFill>
                  <a:srgbClr val="5B6B71"/>
                </a:solidFill>
              </a:rPr>
              <a:t>USD 2,284 of 4,675 due · target 70%</a:t>
            </a:r>
            <a:endParaRPr lang="en-US" sz="1100" dirty="0"/>
          </a:p>
        </p:txBody>
      </p:sp>
      <p:sp>
        <p:nvSpPr>
          <p:cNvPr id="65" name="card"/>
          <p:cNvSpPr/>
          <p:nvPr/>
        </p:nvSpPr>
        <p:spPr>
          <a:xfrm>
            <a:off x="6187288" y="4742688"/>
            <a:ext cx="2682164" cy="1520952"/>
          </a:xfrm>
          <a:prstGeom prst="roundRect">
            <a:avLst>
              <a:gd name="adj" fmla="val 4810"/>
            </a:avLst>
          </a:prstGeom>
          <a:solidFill>
            <a:srgbClr val="FFFFFF"/>
          </a:solidFill>
          <a:ln w="9525">
            <a:solidFill>
              <a:srgbClr val="DCE3E4"/>
            </a:solidFill>
            <a:prstDash val="solid"/>
          </a:ln>
        </p:spPr>
      </p:sp>
      <p:sp>
        <p:nvSpPr>
          <p:cNvPr id="66" name="Text 63"/>
          <p:cNvSpPr txBox="1"/>
          <p:nvPr/>
        </p:nvSpPr>
        <p:spPr>
          <a:xfrm>
            <a:off x="6351880" y="4870704"/>
            <a:ext cx="1493444" cy="274320"/>
          </a:xfrm>
          <a:prstGeom prst="rect">
            <a:avLst/>
          </a:prstGeom>
          <a:noFill/>
          <a:ln/>
        </p:spPr>
        <p:txBody>
          <a:bodyPr wrap="square" lIns="0" tIns="0" rIns="0" bIns="0" rtlCol="0" anchor="t"/>
          <a:lstStyle/>
          <a:p>
            <a:pPr indent="0" marL="0">
              <a:buNone/>
            </a:pPr>
            <a:r>
              <a:rPr lang="en-US" sz="1200" b="1" dirty="0">
                <a:solidFill>
                  <a:srgbClr val="5B6B71"/>
                </a:solidFill>
              </a:rPr>
              <a:t>Inactive policies</a:t>
            </a:r>
            <a:endParaRPr lang="en-US" sz="1200" dirty="0"/>
          </a:p>
        </p:txBody>
      </p:sp>
      <p:sp>
        <p:nvSpPr>
          <p:cNvPr id="67" name="status pill"/>
          <p:cNvSpPr/>
          <p:nvPr/>
        </p:nvSpPr>
        <p:spPr>
          <a:xfrm>
            <a:off x="7863611" y="4870704"/>
            <a:ext cx="868680" cy="237744"/>
          </a:xfrm>
          <a:prstGeom prst="roundRect">
            <a:avLst>
              <a:gd name="adj" fmla="val 50000"/>
            </a:avLst>
          </a:prstGeom>
          <a:solidFill>
            <a:srgbClr val="C98A00"/>
          </a:solidFill>
          <a:ln w="12700">
            <a:solidFill>
              <a:srgbClr val="C98A00"/>
            </a:solidFill>
            <a:prstDash val="solid"/>
          </a:ln>
        </p:spPr>
      </p:sp>
      <p:sp>
        <p:nvSpPr>
          <p:cNvPr id="68" name="Text 65"/>
          <p:cNvSpPr txBox="1"/>
          <p:nvPr/>
        </p:nvSpPr>
        <p:spPr>
          <a:xfrm>
            <a:off x="7863611" y="4870704"/>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Watch</a:t>
            </a:r>
            <a:endParaRPr lang="en-US" sz="1000" dirty="0"/>
          </a:p>
        </p:txBody>
      </p:sp>
      <p:sp>
        <p:nvSpPr>
          <p:cNvPr id="69" name="Text 66"/>
          <p:cNvSpPr txBox="1"/>
          <p:nvPr/>
        </p:nvSpPr>
        <p:spPr>
          <a:xfrm>
            <a:off x="6351880" y="5154168"/>
            <a:ext cx="2352980" cy="548640"/>
          </a:xfrm>
          <a:prstGeom prst="rect">
            <a:avLst/>
          </a:prstGeom>
          <a:noFill/>
          <a:ln/>
        </p:spPr>
        <p:txBody>
          <a:bodyPr wrap="square" lIns="0" tIns="0" rIns="0" bIns="0" rtlCol="0" anchor="ctr"/>
          <a:lstStyle/>
          <a:p>
            <a:pPr indent="0" marL="0">
              <a:buNone/>
            </a:pPr>
            <a:r>
              <a:rPr lang="en-US" sz="3200" b="1" dirty="0">
                <a:solidFill>
                  <a:srgbClr val="1E2A2F"/>
                </a:solidFill>
                <a:latin typeface="Cambria" pitchFamily="34" charset="0"/>
                <a:ea typeface="Cambria" pitchFamily="34" charset="-122"/>
                <a:cs typeface="Cambria" pitchFamily="34" charset="-120"/>
              </a:rPr>
              <a:t>213</a:t>
            </a:r>
            <a:endParaRPr lang="en-US" sz="3200" dirty="0"/>
          </a:p>
        </p:txBody>
      </p:sp>
      <p:sp>
        <p:nvSpPr>
          <p:cNvPr id="70" name="Text 67"/>
          <p:cNvSpPr txBox="1"/>
          <p:nvPr/>
        </p:nvSpPr>
        <p:spPr>
          <a:xfrm>
            <a:off x="6351880" y="5721096"/>
            <a:ext cx="2352980" cy="496824"/>
          </a:xfrm>
          <a:prstGeom prst="rect">
            <a:avLst/>
          </a:prstGeom>
          <a:noFill/>
          <a:ln/>
        </p:spPr>
        <p:txBody>
          <a:bodyPr wrap="square" lIns="0" tIns="0" rIns="0" bIns="0" rtlCol="0" anchor="t"/>
          <a:lstStyle/>
          <a:p>
            <a:pPr indent="0" marL="0">
              <a:buNone/>
            </a:pPr>
            <a:r>
              <a:rPr lang="en-US" sz="1100" dirty="0">
                <a:solidFill>
                  <a:srgbClr val="5B6B71"/>
                </a:solidFill>
              </a:rPr>
              <a:t>USD 2,001 a month of premium never collected</a:t>
            </a:r>
            <a:endParaRPr lang="en-US" sz="1100" dirty="0"/>
          </a:p>
        </p:txBody>
      </p:sp>
      <p:sp>
        <p:nvSpPr>
          <p:cNvPr id="71" name="card"/>
          <p:cNvSpPr/>
          <p:nvPr/>
        </p:nvSpPr>
        <p:spPr>
          <a:xfrm>
            <a:off x="9052331" y="4742688"/>
            <a:ext cx="2682164" cy="1520952"/>
          </a:xfrm>
          <a:prstGeom prst="roundRect">
            <a:avLst>
              <a:gd name="adj" fmla="val 4810"/>
            </a:avLst>
          </a:prstGeom>
          <a:solidFill>
            <a:srgbClr val="FFFFFF"/>
          </a:solidFill>
          <a:ln w="9525">
            <a:solidFill>
              <a:srgbClr val="DCE3E4"/>
            </a:solidFill>
            <a:prstDash val="solid"/>
          </a:ln>
        </p:spPr>
      </p:sp>
      <p:sp>
        <p:nvSpPr>
          <p:cNvPr id="72" name="Text 69"/>
          <p:cNvSpPr txBox="1"/>
          <p:nvPr/>
        </p:nvSpPr>
        <p:spPr>
          <a:xfrm>
            <a:off x="9216923" y="4870704"/>
            <a:ext cx="1493444" cy="274320"/>
          </a:xfrm>
          <a:prstGeom prst="rect">
            <a:avLst/>
          </a:prstGeom>
          <a:noFill/>
          <a:ln/>
        </p:spPr>
        <p:txBody>
          <a:bodyPr wrap="square" lIns="0" tIns="0" rIns="0" bIns="0" rtlCol="0" anchor="t"/>
          <a:lstStyle/>
          <a:p>
            <a:pPr indent="0" marL="0">
              <a:buNone/>
            </a:pPr>
            <a:r>
              <a:rPr lang="en-US" sz="1200" b="1" dirty="0">
                <a:solidFill>
                  <a:srgbClr val="5B6B71"/>
                </a:solidFill>
              </a:rPr>
              <a:t>Business health</a:t>
            </a:r>
            <a:endParaRPr lang="en-US" sz="1200" dirty="0"/>
          </a:p>
        </p:txBody>
      </p:sp>
      <p:sp>
        <p:nvSpPr>
          <p:cNvPr id="73" name="status pill"/>
          <p:cNvSpPr/>
          <p:nvPr/>
        </p:nvSpPr>
        <p:spPr>
          <a:xfrm>
            <a:off x="10728655" y="4870704"/>
            <a:ext cx="868680" cy="237744"/>
          </a:xfrm>
          <a:prstGeom prst="roundRect">
            <a:avLst>
              <a:gd name="adj" fmla="val 50000"/>
            </a:avLst>
          </a:prstGeom>
          <a:solidFill>
            <a:srgbClr val="C0392B"/>
          </a:solidFill>
          <a:ln w="12700">
            <a:solidFill>
              <a:srgbClr val="C0392B"/>
            </a:solidFill>
            <a:prstDash val="solid"/>
          </a:ln>
        </p:spPr>
      </p:sp>
      <p:sp>
        <p:nvSpPr>
          <p:cNvPr id="74" name="Text 71"/>
          <p:cNvSpPr txBox="1"/>
          <p:nvPr/>
        </p:nvSpPr>
        <p:spPr>
          <a:xfrm>
            <a:off x="10728655" y="4870704"/>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rPr>
              <a:t>Off track</a:t>
            </a:r>
            <a:endParaRPr lang="en-US" sz="1000" dirty="0"/>
          </a:p>
        </p:txBody>
      </p:sp>
      <p:sp>
        <p:nvSpPr>
          <p:cNvPr id="75" name="Text 72"/>
          <p:cNvSpPr txBox="1"/>
          <p:nvPr/>
        </p:nvSpPr>
        <p:spPr>
          <a:xfrm>
            <a:off x="9216923" y="5154168"/>
            <a:ext cx="2352980" cy="548640"/>
          </a:xfrm>
          <a:prstGeom prst="rect">
            <a:avLst/>
          </a:prstGeom>
          <a:noFill/>
          <a:ln/>
        </p:spPr>
        <p:txBody>
          <a:bodyPr wrap="square" lIns="0" tIns="0" rIns="0" bIns="0" rtlCol="0" anchor="ctr"/>
          <a:lstStyle/>
          <a:p>
            <a:pPr indent="0" marL="0">
              <a:buNone/>
            </a:pPr>
            <a:r>
              <a:rPr lang="en-US" sz="3200" b="1" dirty="0">
                <a:solidFill>
                  <a:srgbClr val="C0392B"/>
                </a:solidFill>
                <a:latin typeface="Cambria" pitchFamily="34" charset="0"/>
                <a:ea typeface="Cambria" pitchFamily="34" charset="-122"/>
                <a:cs typeface="Cambria" pitchFamily="34" charset="-120"/>
              </a:rPr>
              <a:t>1.9 / 5</a:t>
            </a:r>
            <a:endParaRPr lang="en-US" sz="3200" dirty="0"/>
          </a:p>
        </p:txBody>
      </p:sp>
      <p:sp>
        <p:nvSpPr>
          <p:cNvPr id="76" name="Text 73"/>
          <p:cNvSpPr txBox="1"/>
          <p:nvPr/>
        </p:nvSpPr>
        <p:spPr>
          <a:xfrm>
            <a:off x="9216923" y="5721096"/>
            <a:ext cx="2352980" cy="496824"/>
          </a:xfrm>
          <a:prstGeom prst="rect">
            <a:avLst/>
          </a:prstGeom>
          <a:noFill/>
          <a:ln/>
        </p:spPr>
        <p:txBody>
          <a:bodyPr wrap="square" lIns="0" tIns="0" rIns="0" bIns="0" rtlCol="0" anchor="t"/>
          <a:lstStyle/>
          <a:p>
            <a:pPr indent="0" marL="0">
              <a:buNone/>
            </a:pPr>
            <a:r>
              <a:rPr lang="en-US" sz="1100" dirty="0">
                <a:solidFill>
                  <a:srgbClr val="5B6B71"/>
                </a:solidFill>
              </a:rPr>
              <a:t>Conversion strong; volume, retention, collections weak</a:t>
            </a:r>
            <a:endParaRPr lang="en-US" sz="11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THE 10 THINGS THE CEO NEEDS TO KNOW (1–5)</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Our selling works; our reach, our agent base and our data do not</a:t>
            </a:r>
            <a:endParaRPr lang="en-US" sz="2600" dirty="0"/>
          </a:p>
        </p:txBody>
      </p:sp>
      <p:sp>
        <p:nvSpPr>
          <p:cNvPr id="5" name="Text 2"/>
          <p:cNvSpPr txBox="1"/>
          <p:nvPr/>
        </p:nvSpPr>
        <p:spPr>
          <a:xfrm>
            <a:off x="1143000" y="1298448"/>
            <a:ext cx="3931920" cy="228600"/>
          </a:xfrm>
          <a:prstGeom prst="rect">
            <a:avLst/>
          </a:prstGeom>
          <a:noFill/>
          <a:ln/>
        </p:spPr>
        <p:txBody>
          <a:bodyPr wrap="square" lIns="0" tIns="0" rIns="0" bIns="0" rtlCol="0" anchor="t"/>
          <a:lstStyle/>
          <a:p>
            <a:pPr indent="0" marL="0">
              <a:buNone/>
            </a:pPr>
            <a:r>
              <a:rPr lang="en-US" sz="1050" b="1" spc="100" kern="0" dirty="0">
                <a:solidFill>
                  <a:srgbClr val="0E5A5F"/>
                </a:solidFill>
              </a:rPr>
              <a:t>FINDING</a:t>
            </a:r>
            <a:endParaRPr lang="en-US" sz="1050" dirty="0"/>
          </a:p>
        </p:txBody>
      </p:sp>
      <p:sp>
        <p:nvSpPr>
          <p:cNvPr id="6" name="Text 3"/>
          <p:cNvSpPr txBox="1"/>
          <p:nvPr/>
        </p:nvSpPr>
        <p:spPr>
          <a:xfrm>
            <a:off x="5212080" y="1298448"/>
            <a:ext cx="3520440" cy="228600"/>
          </a:xfrm>
          <a:prstGeom prst="rect">
            <a:avLst/>
          </a:prstGeom>
          <a:noFill/>
          <a:ln/>
        </p:spPr>
        <p:txBody>
          <a:bodyPr wrap="square" lIns="0" tIns="0" rIns="0" bIns="0" rtlCol="0" anchor="t"/>
          <a:lstStyle/>
          <a:p>
            <a:pPr indent="0" marL="0">
              <a:buNone/>
            </a:pPr>
            <a:r>
              <a:rPr lang="en-US" sz="1050" b="1" spc="100" kern="0" dirty="0">
                <a:solidFill>
                  <a:srgbClr val="0E5A5F"/>
                </a:solidFill>
              </a:rPr>
              <a:t>EVIDENCE</a:t>
            </a:r>
            <a:endParaRPr lang="en-US" sz="1050" dirty="0"/>
          </a:p>
        </p:txBody>
      </p:sp>
      <p:sp>
        <p:nvSpPr>
          <p:cNvPr id="7" name="Text 4"/>
          <p:cNvSpPr txBox="1"/>
          <p:nvPr/>
        </p:nvSpPr>
        <p:spPr>
          <a:xfrm>
            <a:off x="8869680" y="1298448"/>
            <a:ext cx="2862072" cy="228600"/>
          </a:xfrm>
          <a:prstGeom prst="rect">
            <a:avLst/>
          </a:prstGeom>
          <a:noFill/>
          <a:ln/>
        </p:spPr>
        <p:txBody>
          <a:bodyPr wrap="square" lIns="0" tIns="0" rIns="0" bIns="0" rtlCol="0" anchor="t"/>
          <a:lstStyle/>
          <a:p>
            <a:pPr indent="0" marL="0">
              <a:buNone/>
            </a:pPr>
            <a:r>
              <a:rPr lang="en-US" sz="1050" b="1" spc="100" kern="0" dirty="0">
                <a:solidFill>
                  <a:srgbClr val="0E5A5F"/>
                </a:solidFill>
              </a:rPr>
              <a:t>WHAT WE WILL DO</a:t>
            </a:r>
            <a:endParaRPr lang="en-US" sz="1050" dirty="0"/>
          </a:p>
        </p:txBody>
      </p:sp>
      <p:sp>
        <p:nvSpPr>
          <p:cNvPr id="8" name="card"/>
          <p:cNvSpPr/>
          <p:nvPr/>
        </p:nvSpPr>
        <p:spPr>
          <a:xfrm>
            <a:off x="457200" y="1600200"/>
            <a:ext cx="11277295" cy="822960"/>
          </a:xfrm>
          <a:prstGeom prst="roundRect">
            <a:avLst>
              <a:gd name="adj" fmla="val 8889"/>
            </a:avLst>
          </a:prstGeom>
          <a:solidFill>
            <a:srgbClr val="FFFFFF"/>
          </a:solidFill>
          <a:ln w="9525">
            <a:solidFill>
              <a:srgbClr val="DCE3E4"/>
            </a:solidFill>
            <a:prstDash val="solid"/>
          </a:ln>
        </p:spPr>
      </p:sp>
      <p:sp>
        <p:nvSpPr>
          <p:cNvPr id="9" name="action tint"/>
          <p:cNvSpPr/>
          <p:nvPr/>
        </p:nvSpPr>
        <p:spPr>
          <a:xfrm>
            <a:off x="8778240" y="1655064"/>
            <a:ext cx="2898648" cy="713232"/>
          </a:xfrm>
          <a:prstGeom prst="roundRect">
            <a:avLst>
              <a:gd name="adj" fmla="val 7692"/>
            </a:avLst>
          </a:prstGeom>
          <a:solidFill>
            <a:srgbClr val="E3EFEF"/>
          </a:solidFill>
          <a:ln w="12700">
            <a:solidFill>
              <a:srgbClr val="E3EFEF"/>
            </a:solidFill>
            <a:prstDash val="solid"/>
          </a:ln>
        </p:spPr>
      </p:sp>
      <p:sp>
        <p:nvSpPr>
          <p:cNvPr id="10" name="number circle"/>
          <p:cNvSpPr/>
          <p:nvPr/>
        </p:nvSpPr>
        <p:spPr>
          <a:xfrm>
            <a:off x="594360" y="1783080"/>
            <a:ext cx="457200" cy="457200"/>
          </a:xfrm>
          <a:prstGeom prst="ellipse">
            <a:avLst/>
          </a:prstGeom>
          <a:solidFill>
            <a:srgbClr val="0E5A5F"/>
          </a:solidFill>
          <a:ln w="12700">
            <a:solidFill>
              <a:srgbClr val="0E5A5F"/>
            </a:solidFill>
            <a:prstDash val="solid"/>
          </a:ln>
        </p:spPr>
      </p:sp>
      <p:sp>
        <p:nvSpPr>
          <p:cNvPr id="11" name="Text 8"/>
          <p:cNvSpPr txBox="1"/>
          <p:nvPr/>
        </p:nvSpPr>
        <p:spPr>
          <a:xfrm>
            <a:off x="59436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2" name="Text 9"/>
          <p:cNvSpPr txBox="1"/>
          <p:nvPr/>
        </p:nvSpPr>
        <p:spPr>
          <a:xfrm>
            <a:off x="1143000" y="16733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We sell well to people we reach; we don't reach enough</a:t>
            </a:r>
            <a:endParaRPr lang="en-US" sz="1500" dirty="0"/>
          </a:p>
        </p:txBody>
      </p:sp>
      <p:sp>
        <p:nvSpPr>
          <p:cNvPr id="13" name="Text 10"/>
          <p:cNvSpPr txBox="1"/>
          <p:nvPr/>
        </p:nvSpPr>
        <p:spPr>
          <a:xfrm>
            <a:off x="5212080" y="16733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29 genuine joinings vs 250 target (12%); 76% of them paid</a:t>
            </a:r>
            <a:endParaRPr lang="en-US" sz="1300" dirty="0"/>
          </a:p>
        </p:txBody>
      </p:sp>
      <p:sp>
        <p:nvSpPr>
          <p:cNvPr id="14" name="Text 11"/>
          <p:cNvSpPr txBox="1"/>
          <p:nvPr/>
        </p:nvSpPr>
        <p:spPr>
          <a:xfrm>
            <a:off x="8869680" y="16733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Productivity standard (6 joinings, 4 paid); resident agents in Lupane + 2 areas</a:t>
            </a:r>
            <a:endParaRPr lang="en-US" sz="1300" dirty="0"/>
          </a:p>
        </p:txBody>
      </p:sp>
      <p:sp>
        <p:nvSpPr>
          <p:cNvPr id="15" name="card"/>
          <p:cNvSpPr/>
          <p:nvPr/>
        </p:nvSpPr>
        <p:spPr>
          <a:xfrm>
            <a:off x="457200" y="2514600"/>
            <a:ext cx="11277295" cy="822960"/>
          </a:xfrm>
          <a:prstGeom prst="roundRect">
            <a:avLst>
              <a:gd name="adj" fmla="val 8889"/>
            </a:avLst>
          </a:prstGeom>
          <a:solidFill>
            <a:srgbClr val="FFFFFF"/>
          </a:solidFill>
          <a:ln w="9525">
            <a:solidFill>
              <a:srgbClr val="DCE3E4"/>
            </a:solidFill>
            <a:prstDash val="solid"/>
          </a:ln>
        </p:spPr>
      </p:sp>
      <p:sp>
        <p:nvSpPr>
          <p:cNvPr id="16" name="action tint"/>
          <p:cNvSpPr/>
          <p:nvPr/>
        </p:nvSpPr>
        <p:spPr>
          <a:xfrm>
            <a:off x="8778240" y="2569464"/>
            <a:ext cx="2898648" cy="713232"/>
          </a:xfrm>
          <a:prstGeom prst="roundRect">
            <a:avLst>
              <a:gd name="adj" fmla="val 7692"/>
            </a:avLst>
          </a:prstGeom>
          <a:solidFill>
            <a:srgbClr val="E3EFEF"/>
          </a:solidFill>
          <a:ln w="12700">
            <a:solidFill>
              <a:srgbClr val="E3EFEF"/>
            </a:solidFill>
            <a:prstDash val="solid"/>
          </a:ln>
        </p:spPr>
      </p:sp>
      <p:sp>
        <p:nvSpPr>
          <p:cNvPr id="17" name="number circle"/>
          <p:cNvSpPr/>
          <p:nvPr/>
        </p:nvSpPr>
        <p:spPr>
          <a:xfrm>
            <a:off x="594360" y="2697480"/>
            <a:ext cx="457200" cy="457200"/>
          </a:xfrm>
          <a:prstGeom prst="ellipse">
            <a:avLst/>
          </a:prstGeom>
          <a:solidFill>
            <a:srgbClr val="0E5A5F"/>
          </a:solidFill>
          <a:ln w="12700">
            <a:solidFill>
              <a:srgbClr val="0E5A5F"/>
            </a:solidFill>
            <a:prstDash val="solid"/>
          </a:ln>
        </p:spPr>
      </p:sp>
      <p:sp>
        <p:nvSpPr>
          <p:cNvPr id="18" name="Text 15"/>
          <p:cNvSpPr txBox="1"/>
          <p:nvPr/>
        </p:nvSpPr>
        <p:spPr>
          <a:xfrm>
            <a:off x="594360" y="2697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9" name="Text 16"/>
          <p:cNvSpPr txBox="1"/>
          <p:nvPr/>
        </p:nvSpPr>
        <p:spPr>
          <a:xfrm>
            <a:off x="1143000" y="25877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System capture is not new business</a:t>
            </a:r>
            <a:endParaRPr lang="en-US" sz="1500" dirty="0"/>
          </a:p>
        </p:txBody>
      </p:sp>
      <p:sp>
        <p:nvSpPr>
          <p:cNvPr id="20" name="Text 17"/>
          <p:cNvSpPr txBox="1"/>
          <p:nvPr/>
        </p:nvSpPr>
        <p:spPr>
          <a:xfrm>
            <a:off x="5212080" y="25877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August showed 35 captured; only 16 were genuine (12 SA, 7 legacy; plus 217 typed-in clients)</a:t>
            </a:r>
            <a:endParaRPr lang="en-US" sz="1300" dirty="0"/>
          </a:p>
        </p:txBody>
      </p:sp>
      <p:sp>
        <p:nvSpPr>
          <p:cNvPr id="21" name="Text 18"/>
          <p:cNvSpPr txBox="1"/>
          <p:nvPr/>
        </p:nvSpPr>
        <p:spPr>
          <a:xfrm>
            <a:off x="8869680" y="25877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Mark every policy new / legacy / SA from October</a:t>
            </a:r>
            <a:endParaRPr lang="en-US" sz="1300" dirty="0"/>
          </a:p>
        </p:txBody>
      </p:sp>
      <p:sp>
        <p:nvSpPr>
          <p:cNvPr id="22" name="card"/>
          <p:cNvSpPr/>
          <p:nvPr/>
        </p:nvSpPr>
        <p:spPr>
          <a:xfrm>
            <a:off x="457200" y="3429000"/>
            <a:ext cx="11277295" cy="822960"/>
          </a:xfrm>
          <a:prstGeom prst="roundRect">
            <a:avLst>
              <a:gd name="adj" fmla="val 8889"/>
            </a:avLst>
          </a:prstGeom>
          <a:solidFill>
            <a:srgbClr val="FFFFFF"/>
          </a:solidFill>
          <a:ln w="9525">
            <a:solidFill>
              <a:srgbClr val="DCE3E4"/>
            </a:solidFill>
            <a:prstDash val="solid"/>
          </a:ln>
        </p:spPr>
      </p:sp>
      <p:sp>
        <p:nvSpPr>
          <p:cNvPr id="23" name="action tint"/>
          <p:cNvSpPr/>
          <p:nvPr/>
        </p:nvSpPr>
        <p:spPr>
          <a:xfrm>
            <a:off x="8778240" y="3483864"/>
            <a:ext cx="2898648" cy="713232"/>
          </a:xfrm>
          <a:prstGeom prst="roundRect">
            <a:avLst>
              <a:gd name="adj" fmla="val 7692"/>
            </a:avLst>
          </a:prstGeom>
          <a:solidFill>
            <a:srgbClr val="E3EFEF"/>
          </a:solidFill>
          <a:ln w="12700">
            <a:solidFill>
              <a:srgbClr val="E3EFEF"/>
            </a:solidFill>
            <a:prstDash val="solid"/>
          </a:ln>
        </p:spPr>
      </p:sp>
      <p:sp>
        <p:nvSpPr>
          <p:cNvPr id="24" name="number circle"/>
          <p:cNvSpPr/>
          <p:nvPr/>
        </p:nvSpPr>
        <p:spPr>
          <a:xfrm>
            <a:off x="594360" y="3611880"/>
            <a:ext cx="457200" cy="457200"/>
          </a:xfrm>
          <a:prstGeom prst="ellipse">
            <a:avLst/>
          </a:prstGeom>
          <a:solidFill>
            <a:srgbClr val="0E5A5F"/>
          </a:solidFill>
          <a:ln w="12700">
            <a:solidFill>
              <a:srgbClr val="0E5A5F"/>
            </a:solidFill>
            <a:prstDash val="solid"/>
          </a:ln>
        </p:spPr>
      </p:sp>
      <p:sp>
        <p:nvSpPr>
          <p:cNvPr id="25" name="Text 22"/>
          <p:cNvSpPr txBox="1"/>
          <p:nvPr/>
        </p:nvSpPr>
        <p:spPr>
          <a:xfrm>
            <a:off x="594360" y="3611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6" name="Text 23"/>
          <p:cNvSpPr txBox="1"/>
          <p:nvPr/>
        </p:nvSpPr>
        <p:spPr>
          <a:xfrm>
            <a:off x="1143000" y="35021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Productive agents fell 10 → 9 → 6 → 5 → 4</a:t>
            </a:r>
            <a:endParaRPr lang="en-US" sz="1500" dirty="0"/>
          </a:p>
        </p:txBody>
      </p:sp>
      <p:sp>
        <p:nvSpPr>
          <p:cNvPr id="27" name="Text 24"/>
          <p:cNvSpPr txBox="1"/>
          <p:nvPr/>
        </p:nvSpPr>
        <p:spPr>
          <a:xfrm>
            <a:off x="5212080" y="35021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11 accounts never sold; causes on both agent side and company side</a:t>
            </a:r>
            <a:endParaRPr lang="en-US" sz="1300" dirty="0"/>
          </a:p>
        </p:txBody>
      </p:sp>
      <p:sp>
        <p:nvSpPr>
          <p:cNvPr id="28" name="Text 25"/>
          <p:cNvSpPr txBox="1"/>
          <p:nvPr/>
        </p:nvSpPr>
        <p:spPr>
          <a:xfrm>
            <a:off x="8869680" y="35021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Weekly one-to-ones; fix transport, airtime and campaign support</a:t>
            </a:r>
            <a:endParaRPr lang="en-US" sz="1300" dirty="0"/>
          </a:p>
        </p:txBody>
      </p:sp>
      <p:sp>
        <p:nvSpPr>
          <p:cNvPr id="29" name="card"/>
          <p:cNvSpPr/>
          <p:nvPr/>
        </p:nvSpPr>
        <p:spPr>
          <a:xfrm>
            <a:off x="457200" y="4343400"/>
            <a:ext cx="11277295" cy="822960"/>
          </a:xfrm>
          <a:prstGeom prst="roundRect">
            <a:avLst>
              <a:gd name="adj" fmla="val 8889"/>
            </a:avLst>
          </a:prstGeom>
          <a:solidFill>
            <a:srgbClr val="FFFFFF"/>
          </a:solidFill>
          <a:ln w="9525">
            <a:solidFill>
              <a:srgbClr val="DCE3E4"/>
            </a:solidFill>
            <a:prstDash val="solid"/>
          </a:ln>
        </p:spPr>
      </p:sp>
      <p:sp>
        <p:nvSpPr>
          <p:cNvPr id="30" name="action tint"/>
          <p:cNvSpPr/>
          <p:nvPr/>
        </p:nvSpPr>
        <p:spPr>
          <a:xfrm>
            <a:off x="8778240" y="4398264"/>
            <a:ext cx="2898648" cy="713232"/>
          </a:xfrm>
          <a:prstGeom prst="roundRect">
            <a:avLst>
              <a:gd name="adj" fmla="val 7692"/>
            </a:avLst>
          </a:prstGeom>
          <a:solidFill>
            <a:srgbClr val="E3EFEF"/>
          </a:solidFill>
          <a:ln w="12700">
            <a:solidFill>
              <a:srgbClr val="E3EFEF"/>
            </a:solidFill>
            <a:prstDash val="solid"/>
          </a:ln>
        </p:spPr>
      </p:sp>
      <p:sp>
        <p:nvSpPr>
          <p:cNvPr id="31" name="number circle"/>
          <p:cNvSpPr/>
          <p:nvPr/>
        </p:nvSpPr>
        <p:spPr>
          <a:xfrm>
            <a:off x="594360" y="4526280"/>
            <a:ext cx="457200" cy="457200"/>
          </a:xfrm>
          <a:prstGeom prst="ellipse">
            <a:avLst/>
          </a:prstGeom>
          <a:solidFill>
            <a:srgbClr val="0E5A5F"/>
          </a:solidFill>
          <a:ln w="12700">
            <a:solidFill>
              <a:srgbClr val="0E5A5F"/>
            </a:solidFill>
            <a:prstDash val="solid"/>
          </a:ln>
        </p:spPr>
      </p:sp>
      <p:sp>
        <p:nvSpPr>
          <p:cNvPr id="32" name="Text 29"/>
          <p:cNvSpPr txBox="1"/>
          <p:nvPr/>
        </p:nvSpPr>
        <p:spPr>
          <a:xfrm>
            <a:off x="59436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33" name="Text 30"/>
          <p:cNvSpPr txBox="1"/>
          <p:nvPr/>
        </p:nvSpPr>
        <p:spPr>
          <a:xfrm>
            <a:off x="1143000" y="44165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A resident agent who owns her territory outsells everyone</a:t>
            </a:r>
            <a:endParaRPr lang="en-US" sz="1500" dirty="0"/>
          </a:p>
        </p:txBody>
      </p:sp>
      <p:sp>
        <p:nvSpPr>
          <p:cNvPr id="34" name="Text 31"/>
          <p:cNvSpPr txBox="1"/>
          <p:nvPr/>
        </p:nvSpPr>
        <p:spPr>
          <a:xfrm>
            <a:off x="5212080" y="44165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Gugulethu Moyo (Filabusi): 16 sold, 16 paid; 12 of September's 29</a:t>
            </a:r>
            <a:endParaRPr lang="en-US" sz="1300" dirty="0"/>
          </a:p>
        </p:txBody>
      </p:sp>
      <p:sp>
        <p:nvSpPr>
          <p:cNvPr id="35" name="Text 32"/>
          <p:cNvSpPr txBox="1"/>
          <p:nvPr/>
        </p:nvSpPr>
        <p:spPr>
          <a:xfrm>
            <a:off x="8869680" y="44165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Copy the Filabusi model: resident agents per territory, Lupane first</a:t>
            </a:r>
            <a:endParaRPr lang="en-US" sz="1300" dirty="0"/>
          </a:p>
        </p:txBody>
      </p:sp>
      <p:sp>
        <p:nvSpPr>
          <p:cNvPr id="36" name="card"/>
          <p:cNvSpPr/>
          <p:nvPr/>
        </p:nvSpPr>
        <p:spPr>
          <a:xfrm>
            <a:off x="457200" y="5257800"/>
            <a:ext cx="11277295" cy="822960"/>
          </a:xfrm>
          <a:prstGeom prst="roundRect">
            <a:avLst>
              <a:gd name="adj" fmla="val 8889"/>
            </a:avLst>
          </a:prstGeom>
          <a:solidFill>
            <a:srgbClr val="FFFFFF"/>
          </a:solidFill>
          <a:ln w="9525">
            <a:solidFill>
              <a:srgbClr val="DCE3E4"/>
            </a:solidFill>
            <a:prstDash val="solid"/>
          </a:ln>
        </p:spPr>
      </p:sp>
      <p:sp>
        <p:nvSpPr>
          <p:cNvPr id="37" name="action tint"/>
          <p:cNvSpPr/>
          <p:nvPr/>
        </p:nvSpPr>
        <p:spPr>
          <a:xfrm>
            <a:off x="8778240" y="5312664"/>
            <a:ext cx="2898648" cy="713232"/>
          </a:xfrm>
          <a:prstGeom prst="roundRect">
            <a:avLst>
              <a:gd name="adj" fmla="val 7692"/>
            </a:avLst>
          </a:prstGeom>
          <a:solidFill>
            <a:srgbClr val="E3EFEF"/>
          </a:solidFill>
          <a:ln w="12700">
            <a:solidFill>
              <a:srgbClr val="E3EFEF"/>
            </a:solidFill>
            <a:prstDash val="solid"/>
          </a:ln>
        </p:spPr>
      </p:sp>
      <p:sp>
        <p:nvSpPr>
          <p:cNvPr id="38" name="number circle"/>
          <p:cNvSpPr/>
          <p:nvPr/>
        </p:nvSpPr>
        <p:spPr>
          <a:xfrm>
            <a:off x="594360" y="5440680"/>
            <a:ext cx="457200" cy="457200"/>
          </a:xfrm>
          <a:prstGeom prst="ellipse">
            <a:avLst/>
          </a:prstGeom>
          <a:solidFill>
            <a:srgbClr val="0E5A5F"/>
          </a:solidFill>
          <a:ln w="12700">
            <a:solidFill>
              <a:srgbClr val="0E5A5F"/>
            </a:solidFill>
            <a:prstDash val="solid"/>
          </a:ln>
        </p:spPr>
      </p:sp>
      <p:sp>
        <p:nvSpPr>
          <p:cNvPr id="39" name="Text 36"/>
          <p:cNvSpPr txBox="1"/>
          <p:nvPr/>
        </p:nvSpPr>
        <p:spPr>
          <a:xfrm>
            <a:off x="594360" y="5440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40" name="Text 37"/>
          <p:cNvSpPr txBox="1"/>
          <p:nvPr/>
        </p:nvSpPr>
        <p:spPr>
          <a:xfrm>
            <a:off x="1143000" y="53309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Supported campaigns work</a:t>
            </a:r>
            <a:endParaRPr lang="en-US" sz="1500" dirty="0"/>
          </a:p>
        </p:txBody>
      </p:sp>
      <p:sp>
        <p:nvSpPr>
          <p:cNvPr id="41" name="Text 38"/>
          <p:cNvSpPr txBox="1"/>
          <p:nvPr/>
        </p:nvSpPr>
        <p:spPr>
          <a:xfrm>
            <a:off x="5212080" y="53309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Sokusile: 43 registered → 17 paid (40%) with tent, PA, transport, lunch</a:t>
            </a:r>
            <a:endParaRPr lang="en-US" sz="1300" dirty="0"/>
          </a:p>
        </p:txBody>
      </p:sp>
      <p:sp>
        <p:nvSpPr>
          <p:cNvPr id="42" name="Text 39"/>
          <p:cNvSpPr txBox="1"/>
          <p:nvPr/>
        </p:nvSpPr>
        <p:spPr>
          <a:xfrm>
            <a:off x="8869680" y="53309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Monthly campaign accelerator, with cost and ROI recorded</a:t>
            </a:r>
            <a:endParaRPr lang="en-US" sz="13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THE 10 THINGS THE CEO NEEDS TO KNOW (6–10)</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We lose customers and cash we have earned, and ignore free leads</a:t>
            </a:r>
            <a:endParaRPr lang="en-US" sz="2600" dirty="0"/>
          </a:p>
        </p:txBody>
      </p:sp>
      <p:sp>
        <p:nvSpPr>
          <p:cNvPr id="5" name="Text 2"/>
          <p:cNvSpPr txBox="1"/>
          <p:nvPr/>
        </p:nvSpPr>
        <p:spPr>
          <a:xfrm>
            <a:off x="1143000" y="1298448"/>
            <a:ext cx="3931920" cy="228600"/>
          </a:xfrm>
          <a:prstGeom prst="rect">
            <a:avLst/>
          </a:prstGeom>
          <a:noFill/>
          <a:ln/>
        </p:spPr>
        <p:txBody>
          <a:bodyPr wrap="square" lIns="0" tIns="0" rIns="0" bIns="0" rtlCol="0" anchor="t"/>
          <a:lstStyle/>
          <a:p>
            <a:pPr indent="0" marL="0">
              <a:buNone/>
            </a:pPr>
            <a:r>
              <a:rPr lang="en-US" sz="1050" b="1" spc="100" kern="0" dirty="0">
                <a:solidFill>
                  <a:srgbClr val="0E5A5F"/>
                </a:solidFill>
              </a:rPr>
              <a:t>FINDING</a:t>
            </a:r>
            <a:endParaRPr lang="en-US" sz="1050" dirty="0"/>
          </a:p>
        </p:txBody>
      </p:sp>
      <p:sp>
        <p:nvSpPr>
          <p:cNvPr id="6" name="Text 3"/>
          <p:cNvSpPr txBox="1"/>
          <p:nvPr/>
        </p:nvSpPr>
        <p:spPr>
          <a:xfrm>
            <a:off x="5212080" y="1298448"/>
            <a:ext cx="3520440" cy="228600"/>
          </a:xfrm>
          <a:prstGeom prst="rect">
            <a:avLst/>
          </a:prstGeom>
          <a:noFill/>
          <a:ln/>
        </p:spPr>
        <p:txBody>
          <a:bodyPr wrap="square" lIns="0" tIns="0" rIns="0" bIns="0" rtlCol="0" anchor="t"/>
          <a:lstStyle/>
          <a:p>
            <a:pPr indent="0" marL="0">
              <a:buNone/>
            </a:pPr>
            <a:r>
              <a:rPr lang="en-US" sz="1050" b="1" spc="100" kern="0" dirty="0">
                <a:solidFill>
                  <a:srgbClr val="0E5A5F"/>
                </a:solidFill>
              </a:rPr>
              <a:t>EVIDENCE</a:t>
            </a:r>
            <a:endParaRPr lang="en-US" sz="1050" dirty="0"/>
          </a:p>
        </p:txBody>
      </p:sp>
      <p:sp>
        <p:nvSpPr>
          <p:cNvPr id="7" name="Text 4"/>
          <p:cNvSpPr txBox="1"/>
          <p:nvPr/>
        </p:nvSpPr>
        <p:spPr>
          <a:xfrm>
            <a:off x="8869680" y="1298448"/>
            <a:ext cx="2862072" cy="228600"/>
          </a:xfrm>
          <a:prstGeom prst="rect">
            <a:avLst/>
          </a:prstGeom>
          <a:noFill/>
          <a:ln/>
        </p:spPr>
        <p:txBody>
          <a:bodyPr wrap="square" lIns="0" tIns="0" rIns="0" bIns="0" rtlCol="0" anchor="t"/>
          <a:lstStyle/>
          <a:p>
            <a:pPr indent="0" marL="0">
              <a:buNone/>
            </a:pPr>
            <a:r>
              <a:rPr lang="en-US" sz="1050" b="1" spc="100" kern="0" dirty="0">
                <a:solidFill>
                  <a:srgbClr val="0E5A5F"/>
                </a:solidFill>
              </a:rPr>
              <a:t>WHAT WE WILL DO</a:t>
            </a:r>
            <a:endParaRPr lang="en-US" sz="1050" dirty="0"/>
          </a:p>
        </p:txBody>
      </p:sp>
      <p:sp>
        <p:nvSpPr>
          <p:cNvPr id="8" name="card"/>
          <p:cNvSpPr/>
          <p:nvPr/>
        </p:nvSpPr>
        <p:spPr>
          <a:xfrm>
            <a:off x="457200" y="1600200"/>
            <a:ext cx="11277295" cy="822960"/>
          </a:xfrm>
          <a:prstGeom prst="roundRect">
            <a:avLst>
              <a:gd name="adj" fmla="val 8889"/>
            </a:avLst>
          </a:prstGeom>
          <a:solidFill>
            <a:srgbClr val="FFFFFF"/>
          </a:solidFill>
          <a:ln w="9525">
            <a:solidFill>
              <a:srgbClr val="DCE3E4"/>
            </a:solidFill>
            <a:prstDash val="solid"/>
          </a:ln>
        </p:spPr>
      </p:sp>
      <p:sp>
        <p:nvSpPr>
          <p:cNvPr id="9" name="action tint"/>
          <p:cNvSpPr/>
          <p:nvPr/>
        </p:nvSpPr>
        <p:spPr>
          <a:xfrm>
            <a:off x="8778240" y="1655064"/>
            <a:ext cx="2898648" cy="713232"/>
          </a:xfrm>
          <a:prstGeom prst="roundRect">
            <a:avLst>
              <a:gd name="adj" fmla="val 7692"/>
            </a:avLst>
          </a:prstGeom>
          <a:solidFill>
            <a:srgbClr val="E3EFEF"/>
          </a:solidFill>
          <a:ln w="12700">
            <a:solidFill>
              <a:srgbClr val="E3EFEF"/>
            </a:solidFill>
            <a:prstDash val="solid"/>
          </a:ln>
        </p:spPr>
      </p:sp>
      <p:sp>
        <p:nvSpPr>
          <p:cNvPr id="10" name="number circle"/>
          <p:cNvSpPr/>
          <p:nvPr/>
        </p:nvSpPr>
        <p:spPr>
          <a:xfrm>
            <a:off x="594360" y="1783080"/>
            <a:ext cx="457200" cy="457200"/>
          </a:xfrm>
          <a:prstGeom prst="ellipse">
            <a:avLst/>
          </a:prstGeom>
          <a:solidFill>
            <a:srgbClr val="0E5A5F"/>
          </a:solidFill>
          <a:ln w="12700">
            <a:solidFill>
              <a:srgbClr val="0E5A5F"/>
            </a:solidFill>
            <a:prstDash val="solid"/>
          </a:ln>
        </p:spPr>
      </p:sp>
      <p:sp>
        <p:nvSpPr>
          <p:cNvPr id="11" name="Text 8"/>
          <p:cNvSpPr txBox="1"/>
          <p:nvPr/>
        </p:nvSpPr>
        <p:spPr>
          <a:xfrm>
            <a:off x="59436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12" name="Text 9"/>
          <p:cNvSpPr txBox="1"/>
          <p:nvPr/>
        </p:nvSpPr>
        <p:spPr>
          <a:xfrm>
            <a:off x="1143000" y="16733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Lapses now cancel out new business</a:t>
            </a:r>
            <a:endParaRPr lang="en-US" sz="1500" dirty="0"/>
          </a:p>
        </p:txBody>
      </p:sp>
      <p:sp>
        <p:nvSpPr>
          <p:cNvPr id="13" name="Text 10"/>
          <p:cNvSpPr txBox="1"/>
          <p:nvPr/>
        </p:nvSpPr>
        <p:spPr>
          <a:xfrm>
            <a:off x="5212080" y="16733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September: 22 new paid vs 28 lapsed (net −6); lapse rate 2.0% → 6.6%</a:t>
            </a:r>
            <a:endParaRPr lang="en-US" sz="1300" dirty="0"/>
          </a:p>
        </p:txBody>
      </p:sp>
      <p:sp>
        <p:nvSpPr>
          <p:cNvPr id="14" name="Text 11"/>
          <p:cNvSpPr txBox="1"/>
          <p:nvPr/>
        </p:nvSpPr>
        <p:spPr>
          <a:xfrm>
            <a:off x="8869680" y="16733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Daily grace call list; SMS reminders, EcoCash and debit orders</a:t>
            </a:r>
            <a:endParaRPr lang="en-US" sz="1300" dirty="0"/>
          </a:p>
        </p:txBody>
      </p:sp>
      <p:sp>
        <p:nvSpPr>
          <p:cNvPr id="15" name="card"/>
          <p:cNvSpPr/>
          <p:nvPr/>
        </p:nvSpPr>
        <p:spPr>
          <a:xfrm>
            <a:off x="457200" y="2514600"/>
            <a:ext cx="11277295" cy="822960"/>
          </a:xfrm>
          <a:prstGeom prst="roundRect">
            <a:avLst>
              <a:gd name="adj" fmla="val 8889"/>
            </a:avLst>
          </a:prstGeom>
          <a:solidFill>
            <a:srgbClr val="FFFFFF"/>
          </a:solidFill>
          <a:ln w="9525">
            <a:solidFill>
              <a:srgbClr val="DCE3E4"/>
            </a:solidFill>
            <a:prstDash val="solid"/>
          </a:ln>
        </p:spPr>
      </p:sp>
      <p:sp>
        <p:nvSpPr>
          <p:cNvPr id="16" name="action tint"/>
          <p:cNvSpPr/>
          <p:nvPr/>
        </p:nvSpPr>
        <p:spPr>
          <a:xfrm>
            <a:off x="8778240" y="2569464"/>
            <a:ext cx="2898648" cy="713232"/>
          </a:xfrm>
          <a:prstGeom prst="roundRect">
            <a:avLst>
              <a:gd name="adj" fmla="val 7692"/>
            </a:avLst>
          </a:prstGeom>
          <a:solidFill>
            <a:srgbClr val="E3EFEF"/>
          </a:solidFill>
          <a:ln w="12700">
            <a:solidFill>
              <a:srgbClr val="E3EFEF"/>
            </a:solidFill>
            <a:prstDash val="solid"/>
          </a:ln>
        </p:spPr>
      </p:sp>
      <p:sp>
        <p:nvSpPr>
          <p:cNvPr id="17" name="number circle"/>
          <p:cNvSpPr/>
          <p:nvPr/>
        </p:nvSpPr>
        <p:spPr>
          <a:xfrm>
            <a:off x="594360" y="2697480"/>
            <a:ext cx="457200" cy="457200"/>
          </a:xfrm>
          <a:prstGeom prst="ellipse">
            <a:avLst/>
          </a:prstGeom>
          <a:solidFill>
            <a:srgbClr val="0E5A5F"/>
          </a:solidFill>
          <a:ln w="12700">
            <a:solidFill>
              <a:srgbClr val="0E5A5F"/>
            </a:solidFill>
            <a:prstDash val="solid"/>
          </a:ln>
        </p:spPr>
      </p:sp>
      <p:sp>
        <p:nvSpPr>
          <p:cNvPr id="18" name="Text 15"/>
          <p:cNvSpPr txBox="1"/>
          <p:nvPr/>
        </p:nvSpPr>
        <p:spPr>
          <a:xfrm>
            <a:off x="594360" y="2697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7</a:t>
            </a:r>
            <a:endParaRPr lang="en-US" sz="1600" dirty="0"/>
          </a:p>
        </p:txBody>
      </p:sp>
      <p:sp>
        <p:nvSpPr>
          <p:cNvPr id="19" name="Text 16"/>
          <p:cNvSpPr txBox="1"/>
          <p:nvPr/>
        </p:nvSpPr>
        <p:spPr>
          <a:xfrm>
            <a:off x="1143000" y="25877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Half of premium due is not collected</a:t>
            </a:r>
            <a:endParaRPr lang="en-US" sz="1500" dirty="0"/>
          </a:p>
        </p:txBody>
      </p:sp>
      <p:sp>
        <p:nvSpPr>
          <p:cNvPr id="20" name="Text 17"/>
          <p:cNvSpPr txBox="1"/>
          <p:nvPr/>
        </p:nvSpPr>
        <p:spPr>
          <a:xfrm>
            <a:off x="5212080" y="25877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USD 2,284 of 4,675 collected (49%); 70% would add about USD 980 a month</a:t>
            </a:r>
            <a:endParaRPr lang="en-US" sz="1300" dirty="0"/>
          </a:p>
        </p:txBody>
      </p:sp>
      <p:sp>
        <p:nvSpPr>
          <p:cNvPr id="21" name="Text 18"/>
          <p:cNvSpPr txBox="1"/>
          <p:nvPr/>
        </p:nvSpPr>
        <p:spPr>
          <a:xfrm>
            <a:off x="8869680" y="25877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Collection target 70%; reminders and debit orders</a:t>
            </a:r>
            <a:endParaRPr lang="en-US" sz="1300" dirty="0"/>
          </a:p>
        </p:txBody>
      </p:sp>
      <p:sp>
        <p:nvSpPr>
          <p:cNvPr id="22" name="card"/>
          <p:cNvSpPr/>
          <p:nvPr/>
        </p:nvSpPr>
        <p:spPr>
          <a:xfrm>
            <a:off x="457200" y="3429000"/>
            <a:ext cx="11277295" cy="822960"/>
          </a:xfrm>
          <a:prstGeom prst="roundRect">
            <a:avLst>
              <a:gd name="adj" fmla="val 8889"/>
            </a:avLst>
          </a:prstGeom>
          <a:solidFill>
            <a:srgbClr val="FFFFFF"/>
          </a:solidFill>
          <a:ln w="9525">
            <a:solidFill>
              <a:srgbClr val="DCE3E4"/>
            </a:solidFill>
            <a:prstDash val="solid"/>
          </a:ln>
        </p:spPr>
      </p:sp>
      <p:sp>
        <p:nvSpPr>
          <p:cNvPr id="23" name="action tint"/>
          <p:cNvSpPr/>
          <p:nvPr/>
        </p:nvSpPr>
        <p:spPr>
          <a:xfrm>
            <a:off x="8778240" y="3483864"/>
            <a:ext cx="2898648" cy="713232"/>
          </a:xfrm>
          <a:prstGeom prst="roundRect">
            <a:avLst>
              <a:gd name="adj" fmla="val 7692"/>
            </a:avLst>
          </a:prstGeom>
          <a:solidFill>
            <a:srgbClr val="E3EFEF"/>
          </a:solidFill>
          <a:ln w="12700">
            <a:solidFill>
              <a:srgbClr val="E3EFEF"/>
            </a:solidFill>
            <a:prstDash val="solid"/>
          </a:ln>
        </p:spPr>
      </p:sp>
      <p:sp>
        <p:nvSpPr>
          <p:cNvPr id="24" name="number circle"/>
          <p:cNvSpPr/>
          <p:nvPr/>
        </p:nvSpPr>
        <p:spPr>
          <a:xfrm>
            <a:off x="594360" y="3611880"/>
            <a:ext cx="457200" cy="457200"/>
          </a:xfrm>
          <a:prstGeom prst="ellipse">
            <a:avLst/>
          </a:prstGeom>
          <a:solidFill>
            <a:srgbClr val="0E5A5F"/>
          </a:solidFill>
          <a:ln w="12700">
            <a:solidFill>
              <a:srgbClr val="0E5A5F"/>
            </a:solidFill>
            <a:prstDash val="solid"/>
          </a:ln>
        </p:spPr>
      </p:sp>
      <p:sp>
        <p:nvSpPr>
          <p:cNvPr id="25" name="Text 22"/>
          <p:cNvSpPr txBox="1"/>
          <p:nvPr/>
        </p:nvSpPr>
        <p:spPr>
          <a:xfrm>
            <a:off x="594360" y="3611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8</a:t>
            </a:r>
            <a:endParaRPr lang="en-US" sz="1600" dirty="0"/>
          </a:p>
        </p:txBody>
      </p:sp>
      <p:sp>
        <p:nvSpPr>
          <p:cNvPr id="26" name="Text 23"/>
          <p:cNvSpPr txBox="1"/>
          <p:nvPr/>
        </p:nvSpPr>
        <p:spPr>
          <a:xfrm>
            <a:off x="1143000" y="35021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213 inactive policies are a warm-lead pool, not lost customers</a:t>
            </a:r>
            <a:endParaRPr lang="en-US" sz="1500" dirty="0"/>
          </a:p>
        </p:txBody>
      </p:sp>
      <p:sp>
        <p:nvSpPr>
          <p:cNvPr id="27" name="Text 24"/>
          <p:cNvSpPr txBox="1"/>
          <p:nvPr/>
        </p:nvSpPr>
        <p:spPr>
          <a:xfrm>
            <a:off x="5212080" y="35021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Captured but never activated; USD 2,001 a month of premium</a:t>
            </a:r>
            <a:endParaRPr lang="en-US" sz="1300" dirty="0"/>
          </a:p>
        </p:txBody>
      </p:sp>
      <p:sp>
        <p:nvSpPr>
          <p:cNvPr id="28" name="Text 25"/>
          <p:cNvSpPr txBox="1"/>
          <p:nvPr/>
        </p:nvSpPr>
        <p:spPr>
          <a:xfrm>
            <a:off x="8869680" y="35021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Call all 213 within 30 days</a:t>
            </a:r>
            <a:endParaRPr lang="en-US" sz="1300" dirty="0"/>
          </a:p>
        </p:txBody>
      </p:sp>
      <p:sp>
        <p:nvSpPr>
          <p:cNvPr id="29" name="card"/>
          <p:cNvSpPr/>
          <p:nvPr/>
        </p:nvSpPr>
        <p:spPr>
          <a:xfrm>
            <a:off x="457200" y="4343400"/>
            <a:ext cx="11277295" cy="822960"/>
          </a:xfrm>
          <a:prstGeom prst="roundRect">
            <a:avLst>
              <a:gd name="adj" fmla="val 8889"/>
            </a:avLst>
          </a:prstGeom>
          <a:solidFill>
            <a:srgbClr val="FFFFFF"/>
          </a:solidFill>
          <a:ln w="9525">
            <a:solidFill>
              <a:srgbClr val="DCE3E4"/>
            </a:solidFill>
            <a:prstDash val="solid"/>
          </a:ln>
        </p:spPr>
      </p:sp>
      <p:sp>
        <p:nvSpPr>
          <p:cNvPr id="30" name="action tint"/>
          <p:cNvSpPr/>
          <p:nvPr/>
        </p:nvSpPr>
        <p:spPr>
          <a:xfrm>
            <a:off x="8778240" y="4398264"/>
            <a:ext cx="2898648" cy="713232"/>
          </a:xfrm>
          <a:prstGeom prst="roundRect">
            <a:avLst>
              <a:gd name="adj" fmla="val 7692"/>
            </a:avLst>
          </a:prstGeom>
          <a:solidFill>
            <a:srgbClr val="E3EFEF"/>
          </a:solidFill>
          <a:ln w="12700">
            <a:solidFill>
              <a:srgbClr val="E3EFEF"/>
            </a:solidFill>
            <a:prstDash val="solid"/>
          </a:ln>
        </p:spPr>
      </p:sp>
      <p:sp>
        <p:nvSpPr>
          <p:cNvPr id="31" name="number circle"/>
          <p:cNvSpPr/>
          <p:nvPr/>
        </p:nvSpPr>
        <p:spPr>
          <a:xfrm>
            <a:off x="594360" y="4526280"/>
            <a:ext cx="457200" cy="457200"/>
          </a:xfrm>
          <a:prstGeom prst="ellipse">
            <a:avLst/>
          </a:prstGeom>
          <a:solidFill>
            <a:srgbClr val="0E5A5F"/>
          </a:solidFill>
          <a:ln w="12700">
            <a:solidFill>
              <a:srgbClr val="0E5A5F"/>
            </a:solidFill>
            <a:prstDash val="solid"/>
          </a:ln>
        </p:spPr>
      </p:sp>
      <p:sp>
        <p:nvSpPr>
          <p:cNvPr id="32" name="Text 29"/>
          <p:cNvSpPr txBox="1"/>
          <p:nvPr/>
        </p:nvSpPr>
        <p:spPr>
          <a:xfrm>
            <a:off x="59436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9</a:t>
            </a:r>
            <a:endParaRPr lang="en-US" sz="1600" dirty="0"/>
          </a:p>
        </p:txBody>
      </p:sp>
      <p:sp>
        <p:nvSpPr>
          <p:cNvPr id="33" name="Text 30"/>
          <p:cNvSpPr txBox="1"/>
          <p:nvPr/>
        </p:nvSpPr>
        <p:spPr>
          <a:xfrm>
            <a:off x="1143000" y="44165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Societies and cash funerals carry the money in; their profit can't be seen yet</a:t>
            </a:r>
            <a:endParaRPr lang="en-US" sz="1500" dirty="0"/>
          </a:p>
        </p:txBody>
      </p:sp>
      <p:sp>
        <p:nvSpPr>
          <p:cNvPr id="34" name="Text 31"/>
          <p:cNvSpPr txBox="1"/>
          <p:nvPr/>
        </p:nvSpPr>
        <p:spPr>
          <a:xfrm>
            <a:off x="5212080" y="44165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Jun–Sep: societies 47%, cash funerals 36% of money in; 20 of 44 cash funerals costed</a:t>
            </a:r>
            <a:endParaRPr lang="en-US" sz="1300" dirty="0"/>
          </a:p>
        </p:txBody>
      </p:sp>
      <p:sp>
        <p:nvSpPr>
          <p:cNvPr id="35" name="Text 32"/>
          <p:cNvSpPr txBox="1"/>
          <p:nvPr/>
        </p:nvSpPr>
        <p:spPr>
          <a:xfrm>
            <a:off x="8869680" y="44165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Cost every funeral; credit deposits and deduct services in society ledgers</a:t>
            </a:r>
            <a:endParaRPr lang="en-US" sz="1300" dirty="0"/>
          </a:p>
        </p:txBody>
      </p:sp>
      <p:sp>
        <p:nvSpPr>
          <p:cNvPr id="36" name="card"/>
          <p:cNvSpPr/>
          <p:nvPr/>
        </p:nvSpPr>
        <p:spPr>
          <a:xfrm>
            <a:off x="457200" y="5257800"/>
            <a:ext cx="11277295" cy="822960"/>
          </a:xfrm>
          <a:prstGeom prst="roundRect">
            <a:avLst>
              <a:gd name="adj" fmla="val 8889"/>
            </a:avLst>
          </a:prstGeom>
          <a:solidFill>
            <a:srgbClr val="FFFFFF"/>
          </a:solidFill>
          <a:ln w="9525">
            <a:solidFill>
              <a:srgbClr val="DCE3E4"/>
            </a:solidFill>
            <a:prstDash val="solid"/>
          </a:ln>
        </p:spPr>
      </p:sp>
      <p:sp>
        <p:nvSpPr>
          <p:cNvPr id="37" name="action tint"/>
          <p:cNvSpPr/>
          <p:nvPr/>
        </p:nvSpPr>
        <p:spPr>
          <a:xfrm>
            <a:off x="8778240" y="5312664"/>
            <a:ext cx="2898648" cy="713232"/>
          </a:xfrm>
          <a:prstGeom prst="roundRect">
            <a:avLst>
              <a:gd name="adj" fmla="val 7692"/>
            </a:avLst>
          </a:prstGeom>
          <a:solidFill>
            <a:srgbClr val="E3EFEF"/>
          </a:solidFill>
          <a:ln w="12700">
            <a:solidFill>
              <a:srgbClr val="E3EFEF"/>
            </a:solidFill>
            <a:prstDash val="solid"/>
          </a:ln>
        </p:spPr>
      </p:sp>
      <p:sp>
        <p:nvSpPr>
          <p:cNvPr id="38" name="number circle"/>
          <p:cNvSpPr/>
          <p:nvPr/>
        </p:nvSpPr>
        <p:spPr>
          <a:xfrm>
            <a:off x="594360" y="5440680"/>
            <a:ext cx="457200" cy="457200"/>
          </a:xfrm>
          <a:prstGeom prst="ellipse">
            <a:avLst/>
          </a:prstGeom>
          <a:solidFill>
            <a:srgbClr val="0E5A5F"/>
          </a:solidFill>
          <a:ln w="12700">
            <a:solidFill>
              <a:srgbClr val="0E5A5F"/>
            </a:solidFill>
            <a:prstDash val="solid"/>
          </a:ln>
        </p:spPr>
      </p:sp>
      <p:sp>
        <p:nvSpPr>
          <p:cNvPr id="39" name="Text 36"/>
          <p:cNvSpPr txBox="1"/>
          <p:nvPr/>
        </p:nvSpPr>
        <p:spPr>
          <a:xfrm>
            <a:off x="594360" y="5440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10</a:t>
            </a:r>
            <a:endParaRPr lang="en-US" sz="1600" dirty="0"/>
          </a:p>
        </p:txBody>
      </p:sp>
      <p:sp>
        <p:nvSpPr>
          <p:cNvPr id="40" name="Text 37"/>
          <p:cNvSpPr txBox="1"/>
          <p:nvPr/>
        </p:nvSpPr>
        <p:spPr>
          <a:xfrm>
            <a:off x="1143000" y="5330952"/>
            <a:ext cx="3931920" cy="676656"/>
          </a:xfrm>
          <a:prstGeom prst="rect">
            <a:avLst/>
          </a:prstGeom>
          <a:noFill/>
          <a:ln/>
        </p:spPr>
        <p:txBody>
          <a:bodyPr wrap="square" lIns="0" tIns="0" rIns="0" bIns="0" rtlCol="0" anchor="ctr"/>
          <a:lstStyle/>
          <a:p>
            <a:pPr indent="0" marL="0">
              <a:buNone/>
            </a:pPr>
            <a:r>
              <a:rPr lang="en-US" sz="1500" b="1" dirty="0">
                <a:solidFill>
                  <a:srgbClr val="1E2A2F"/>
                </a:solidFill>
              </a:rPr>
              <a:t>Every funeral and mortuary visit is an unused lead source</a:t>
            </a:r>
            <a:endParaRPr lang="en-US" sz="1500" dirty="0"/>
          </a:p>
        </p:txBody>
      </p:sp>
      <p:sp>
        <p:nvSpPr>
          <p:cNvPr id="41" name="Text 38"/>
          <p:cNvSpPr txBox="1"/>
          <p:nvPr/>
        </p:nvSpPr>
        <p:spPr>
          <a:xfrm>
            <a:off x="5212080" y="5330952"/>
            <a:ext cx="3520440" cy="676656"/>
          </a:xfrm>
          <a:prstGeom prst="rect">
            <a:avLst/>
          </a:prstGeom>
          <a:noFill/>
          <a:ln/>
        </p:spPr>
        <p:txBody>
          <a:bodyPr wrap="square" lIns="0" tIns="0" rIns="0" bIns="0" rtlCol="0" anchor="ctr"/>
          <a:lstStyle/>
          <a:p>
            <a:pPr indent="0" marL="0">
              <a:buNone/>
            </a:pPr>
            <a:r>
              <a:rPr lang="en-US" sz="1300" dirty="0">
                <a:solidFill>
                  <a:srgbClr val="5B6B71"/>
                </a:solidFill>
              </a:rPr>
              <a:t>51 quotations never closed: USD 21,013 + ZAR 86,300</a:t>
            </a:r>
            <a:endParaRPr lang="en-US" sz="1300" dirty="0"/>
          </a:p>
        </p:txBody>
      </p:sp>
      <p:sp>
        <p:nvSpPr>
          <p:cNvPr id="42" name="Text 39"/>
          <p:cNvSpPr txBox="1"/>
          <p:nvPr/>
        </p:nvSpPr>
        <p:spPr>
          <a:xfrm>
            <a:off x="8869680" y="5330952"/>
            <a:ext cx="2724912" cy="676656"/>
          </a:xfrm>
          <a:prstGeom prst="rect">
            <a:avLst/>
          </a:prstGeom>
          <a:noFill/>
          <a:ln/>
        </p:spPr>
        <p:txBody>
          <a:bodyPr wrap="square" lIns="0" tIns="0" rIns="0" bIns="0" rtlCol="0" anchor="ctr"/>
          <a:lstStyle/>
          <a:p>
            <a:pPr indent="0" marL="0">
              <a:buNone/>
            </a:pPr>
            <a:r>
              <a:rPr lang="en-US" sz="1300" dirty="0">
                <a:solidFill>
                  <a:srgbClr val="1E2A2F"/>
                </a:solidFill>
              </a:rPr>
              <a:t>Funeral register; agent at funerals (60-day trial); quotation follow-up</a:t>
            </a:r>
            <a:endParaRPr lang="en-US" sz="13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NEW BUSINESS — DEFINITIONS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Much of what the system calls “new” is not new business</a:t>
            </a:r>
            <a:endParaRPr lang="en-US" sz="2600" dirty="0"/>
          </a:p>
        </p:txBody>
      </p:sp>
      <p:graphicFrame>
        <p:nvGraphicFramePr>
          <p:cNvPr id="5" name="Chart 0" descr=""/>
          <p:cNvGraphicFramePr/>
          <p:nvPr/>
        </p:nvGraphicFramePr>
        <p:xfrm>
          <a:off x="457200" y="1280160"/>
          <a:ext cx="7589520" cy="35204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8275320" y="1325880"/>
            <a:ext cx="3456432" cy="3429000"/>
          </a:xfrm>
          <a:prstGeom prst="roundRect">
            <a:avLst>
              <a:gd name="adj" fmla="val 2133"/>
            </a:avLst>
          </a:prstGeom>
          <a:solidFill>
            <a:srgbClr val="FFFFFF"/>
          </a:solidFill>
          <a:ln w="9525">
            <a:solidFill>
              <a:srgbClr val="DCE3E4"/>
            </a:solidFill>
            <a:prstDash val="solid"/>
          </a:ln>
        </p:spPr>
      </p:sp>
      <p:sp>
        <p:nvSpPr>
          <p:cNvPr id="7" name="Text 3"/>
          <p:cNvSpPr txBox="1"/>
          <p:nvPr/>
        </p:nvSpPr>
        <p:spPr>
          <a:xfrm>
            <a:off x="8458200" y="1417320"/>
            <a:ext cx="3108960" cy="548640"/>
          </a:xfrm>
          <a:prstGeom prst="rect">
            <a:avLst/>
          </a:prstGeom>
          <a:noFill/>
          <a:ln/>
        </p:spPr>
        <p:txBody>
          <a:bodyPr wrap="square" lIns="0" tIns="0" rIns="0" bIns="0" rtlCol="0" anchor="t"/>
          <a:lstStyle/>
          <a:p>
            <a:pPr indent="0" marL="0">
              <a:buNone/>
            </a:pPr>
            <a:r>
              <a:rPr lang="en-US" sz="1400" b="1" dirty="0">
                <a:solidFill>
                  <a:srgbClr val="1E2A2F"/>
                </a:solidFill>
              </a:rPr>
              <a:t>Also typed in — existing clients</a:t>
            </a:r>
            <a:endParaRPr lang="en-US" sz="1400" dirty="0"/>
          </a:p>
          <a:p>
            <a:pPr indent="0" marL="0">
              <a:buNone/>
            </a:pPr>
            <a:r>
              <a:rPr lang="en-US" sz="1100" dirty="0">
                <a:solidFill>
                  <a:srgbClr val="5B6B71"/>
                </a:solidFill>
              </a:rPr>
              <a:t>Not sales and not shown in the chart</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458200" y="2029968"/>
          <a:ext cx="3108960" cy="914400"/>
        </p:xfrm>
        <a:graphic>
          <a:graphicData uri="http://schemas.openxmlformats.org/drawingml/2006/table">
            <a:tbl>
              <a:tblPr/>
              <a:tblGrid>
                <a:gridCol w="2011680"/>
                <a:gridCol w="1097280"/>
              </a:tblGrid>
              <a:tr h="25603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Month</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Typed in</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r>
              <a:tr h="256032">
                <a:tc>
                  <a:txBody>
                    <a:bodyPr/>
                    <a:lstStyle/>
                    <a:p>
                      <a:pPr indent="0" marL="0">
                        <a:buNone/>
                      </a:pPr>
                      <a:r>
                        <a:rPr lang="en-US" sz="1100" dirty="0">
                          <a:solidFill>
                            <a:srgbClr val="1E2A2F"/>
                          </a:solidFill>
                          <a:latin typeface="Calibri" pitchFamily="34" charset="0"/>
                          <a:ea typeface="Calibri" pitchFamily="34" charset="-122"/>
                          <a:cs typeface="Calibri" pitchFamily="34" charset="-120"/>
                        </a:rPr>
                        <a:t>Mar</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c>
                  <a:txBody>
                    <a:bodyPr/>
                    <a:lstStyle/>
                    <a:p>
                      <a:pPr algn="r" indent="0" marL="0">
                        <a:buNone/>
                      </a:pPr>
                      <a:r>
                        <a:rPr lang="en-US" sz="1100" dirty="0">
                          <a:solidFill>
                            <a:srgbClr val="1E2A2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r>
              <a:tr h="256032">
                <a:tc>
                  <a:txBody>
                    <a:bodyPr/>
                    <a:lstStyle/>
                    <a:p>
                      <a:pPr indent="0" marL="0">
                        <a:buNone/>
                      </a:pPr>
                      <a:r>
                        <a:rPr lang="en-US" sz="1100" dirty="0">
                          <a:solidFill>
                            <a:srgbClr val="1E2A2F"/>
                          </a:solidFill>
                          <a:latin typeface="Calibri" pitchFamily="34" charset="0"/>
                          <a:ea typeface="Calibri" pitchFamily="34" charset="-122"/>
                          <a:cs typeface="Calibri" pitchFamily="34" charset="-120"/>
                        </a:rPr>
                        <a:t>Apr</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c>
                  <a:txBody>
                    <a:bodyPr/>
                    <a:lstStyle/>
                    <a:p>
                      <a:pPr algn="r" indent="0" marL="0">
                        <a:buNone/>
                      </a:pPr>
                      <a:r>
                        <a:rPr lang="en-US" sz="1100" dirty="0">
                          <a:solidFill>
                            <a:srgbClr val="1E2A2F"/>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r>
              <a:tr h="256032">
                <a:tc>
                  <a:txBody>
                    <a:bodyPr/>
                    <a:lstStyle/>
                    <a:p>
                      <a:pPr indent="0" marL="0">
                        <a:buNone/>
                      </a:pPr>
                      <a:r>
                        <a:rPr lang="en-US" sz="1100" dirty="0">
                          <a:solidFill>
                            <a:srgbClr val="1E2A2F"/>
                          </a:solidFill>
                          <a:latin typeface="Calibri" pitchFamily="34" charset="0"/>
                          <a:ea typeface="Calibri" pitchFamily="34" charset="-122"/>
                          <a:cs typeface="Calibri" pitchFamily="34" charset="-120"/>
                        </a:rPr>
                        <a:t>May</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c>
                  <a:txBody>
                    <a:bodyPr/>
                    <a:lstStyle/>
                    <a:p>
                      <a:pPr algn="r" indent="0" marL="0">
                        <a:buNone/>
                      </a:pPr>
                      <a:r>
                        <a:rPr lang="en-US" sz="1100" dirty="0">
                          <a:solidFill>
                            <a:srgbClr val="1E2A2F"/>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r>
              <a:tr h="256032">
                <a:tc>
                  <a:txBody>
                    <a:bodyPr/>
                    <a:lstStyle/>
                    <a:p>
                      <a:pPr indent="0" marL="0">
                        <a:buNone/>
                      </a:pPr>
                      <a:r>
                        <a:rPr lang="en-US" sz="1100" dirty="0">
                          <a:solidFill>
                            <a:srgbClr val="1E2A2F"/>
                          </a:solidFill>
                          <a:latin typeface="Calibri" pitchFamily="34" charset="0"/>
                          <a:ea typeface="Calibri" pitchFamily="34" charset="-122"/>
                          <a:cs typeface="Calibri" pitchFamily="34" charset="-120"/>
                        </a:rPr>
                        <a:t>Jun</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c>
                  <a:txBody>
                    <a:bodyPr/>
                    <a:lstStyle/>
                    <a:p>
                      <a:pPr algn="r" indent="0" marL="0">
                        <a:buNone/>
                      </a:pPr>
                      <a:r>
                        <a:rPr lang="en-US" sz="1100" dirty="0">
                          <a:solidFill>
                            <a:srgbClr val="1E2A2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r>
              <a:tr h="256032">
                <a:tc>
                  <a:txBody>
                    <a:bodyPr/>
                    <a:lstStyle/>
                    <a:p>
                      <a:pPr indent="0" marL="0">
                        <a:buNone/>
                      </a:pPr>
                      <a:r>
                        <a:rPr lang="en-US" sz="1100" dirty="0">
                          <a:solidFill>
                            <a:srgbClr val="1E2A2F"/>
                          </a:solidFill>
                          <a:latin typeface="Calibri" pitchFamily="34" charset="0"/>
                          <a:ea typeface="Calibri" pitchFamily="34" charset="-122"/>
                          <a:cs typeface="Calibri" pitchFamily="34" charset="-120"/>
                        </a:rPr>
                        <a:t>Jul</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c>
                  <a:txBody>
                    <a:bodyPr/>
                    <a:lstStyle/>
                    <a:p>
                      <a:pPr algn="r" indent="0" marL="0">
                        <a:buNone/>
                      </a:pPr>
                      <a:r>
                        <a:rPr lang="en-US" sz="1100" b="1" dirty="0">
                          <a:solidFill>
                            <a:srgbClr val="1E2A2F"/>
                          </a:solidFill>
                          <a:latin typeface="Calibri" pitchFamily="34" charset="0"/>
                          <a:ea typeface="Calibri" pitchFamily="34" charset="-122"/>
                          <a:cs typeface="Calibri" pitchFamily="34" charset="-120"/>
                        </a:rPr>
                        <a:t>124</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r>
              <a:tr h="256032">
                <a:tc>
                  <a:txBody>
                    <a:bodyPr/>
                    <a:lstStyle/>
                    <a:p>
                      <a:pPr indent="0" marL="0">
                        <a:buNone/>
                      </a:pPr>
                      <a:r>
                        <a:rPr lang="en-US" sz="1100" dirty="0">
                          <a:solidFill>
                            <a:srgbClr val="1E2A2F"/>
                          </a:solidFill>
                          <a:latin typeface="Calibri" pitchFamily="34" charset="0"/>
                          <a:ea typeface="Calibri" pitchFamily="34" charset="-122"/>
                          <a:cs typeface="Calibri" pitchFamily="34" charset="-120"/>
                        </a:rPr>
                        <a:t>Aug</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c>
                  <a:txBody>
                    <a:bodyPr/>
                    <a:lstStyle/>
                    <a:p>
                      <a:pPr algn="r" indent="0" marL="0">
                        <a:buNone/>
                      </a:pPr>
                      <a:r>
                        <a:rPr lang="en-US" sz="1100" b="1" dirty="0">
                          <a:solidFill>
                            <a:srgbClr val="1E2A2F"/>
                          </a:solidFill>
                          <a:latin typeface="Calibri" pitchFamily="34" charset="0"/>
                          <a:ea typeface="Calibri" pitchFamily="34" charset="-122"/>
                          <a:cs typeface="Calibri" pitchFamily="34" charset="-120"/>
                        </a:rPr>
                        <a:t>217</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r>
              <a:tr h="256032">
                <a:tc>
                  <a:txBody>
                    <a:bodyPr/>
                    <a:lstStyle/>
                    <a:p>
                      <a:pPr indent="0" marL="0">
                        <a:buNone/>
                      </a:pPr>
                      <a:r>
                        <a:rPr lang="en-US" sz="1100" dirty="0">
                          <a:solidFill>
                            <a:srgbClr val="1E2A2F"/>
                          </a:solidFill>
                          <a:latin typeface="Calibri" pitchFamily="34" charset="0"/>
                          <a:ea typeface="Calibri" pitchFamily="34" charset="-122"/>
                          <a:cs typeface="Calibri" pitchFamily="34" charset="-120"/>
                        </a:rPr>
                        <a:t>Sep</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c>
                  <a:txBody>
                    <a:bodyPr/>
                    <a:lstStyle/>
                    <a:p>
                      <a:pPr algn="r" indent="0" marL="0">
                        <a:buNone/>
                      </a:pPr>
                      <a:r>
                        <a:rPr lang="en-US" sz="1100" b="1" dirty="0">
                          <a:solidFill>
                            <a:srgbClr val="1E2A2F"/>
                          </a:solidFill>
                          <a:latin typeface="Calibri" pitchFamily="34" charset="0"/>
                          <a:ea typeface="Calibri" pitchFamily="34" charset="-122"/>
                          <a:cs typeface="Calibri" pitchFamily="34" charset="-120"/>
                        </a:rPr>
                        <a:t>135</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r>
              <a:tr h="256032">
                <a:tc>
                  <a:txBody>
                    <a:bodyPr/>
                    <a:lstStyle/>
                    <a:p>
                      <a:pPr indent="0" marL="0">
                        <a:buNone/>
                      </a:pPr>
                      <a:r>
                        <a:rPr lang="en-US" sz="1100" dirty="0">
                          <a:solidFill>
                            <a:srgbClr val="1E2A2F"/>
                          </a:solidFill>
                          <a:latin typeface="Calibri" pitchFamily="34" charset="0"/>
                          <a:ea typeface="Calibri" pitchFamily="34" charset="-122"/>
                          <a:cs typeface="Calibri" pitchFamily="34" charset="-120"/>
                        </a:rPr>
                        <a:t>Oct 1–4 (partial)</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c>
                  <a:txBody>
                    <a:bodyPr/>
                    <a:lstStyle/>
                    <a:p>
                      <a:pPr algn="r" indent="0" marL="0">
                        <a:buNone/>
                      </a:pPr>
                      <a:r>
                        <a:rPr lang="en-US" sz="1100" dirty="0">
                          <a:solidFill>
                            <a:srgbClr val="1E2A2F"/>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r>
              <a:tr h="256032">
                <a:tc>
                  <a:txBody>
                    <a:bodyPr/>
                    <a:lstStyle/>
                    <a:p>
                      <a:pPr indent="0" marL="0">
                        <a:buNone/>
                      </a:pPr>
                      <a:r>
                        <a:rPr lang="en-US" sz="1100" b="1" dirty="0">
                          <a:solidFill>
                            <a:srgbClr val="1E2A2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c>
                  <a:txBody>
                    <a:bodyPr/>
                    <a:lstStyle/>
                    <a:p>
                      <a:pPr algn="r" indent="0" marL="0">
                        <a:buNone/>
                      </a:pPr>
                      <a:r>
                        <a:rPr lang="en-US" sz="1100" b="1" dirty="0">
                          <a:solidFill>
                            <a:srgbClr val="1E2A2F"/>
                          </a:solidFill>
                          <a:latin typeface="Calibri" pitchFamily="34" charset="0"/>
                          <a:ea typeface="Calibri" pitchFamily="34" charset="-122"/>
                          <a:cs typeface="Calibri" pitchFamily="34" charset="-120"/>
                        </a:rPr>
                        <a:t>486</a:t>
                      </a:r>
                      <a:endParaRPr lang="en-US" sz="1100" dirty="0">
                        <a:latin typeface="Calibri" charset="0"/>
                        <a:ea typeface="Calibri" charset="0"/>
                        <a:cs typeface="Calibri" charset="0"/>
                      </a:endParaRPr>
                    </a:p>
                  </a:txBody>
                  <a:tcPr marL="73152" marR="73152" marT="18288" marB="18288">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tcPr>
                </a:tc>
              </a:tr>
            </a:tbl>
          </a:graphicData>
        </a:graphic>
      </p:graphicFrame>
      <p:sp>
        <p:nvSpPr>
          <p:cNvPr id="9" name="Text 4"/>
          <p:cNvSpPr txBox="1"/>
          <p:nvPr/>
        </p:nvSpPr>
        <p:spPr>
          <a:xfrm>
            <a:off x="457200" y="4791456"/>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Genuine = new Zimbabwe policies only; excludes typed-in clients (480), SA clients (24), legacy products (14). March may include unflagged SA returnees (cannot be separated).</a:t>
            </a:r>
            <a:endParaRPr lang="en-US" sz="1000" dirty="0"/>
          </a:p>
        </p:txBody>
      </p:sp>
      <p:sp>
        <p:nvSpPr>
          <p:cNvPr id="10"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11" name="Text 6"/>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August's 35 “new” joinings were really 16 genuine. Typed-in clients peaked at 217 in August.</a:t>
            </a:r>
            <a:endParaRPr lang="en-US" sz="1050" dirty="0"/>
          </a:p>
        </p:txBody>
      </p:sp>
      <p:sp>
        <p:nvSpPr>
          <p:cNvPr id="12"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3" name="Text 8"/>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Counting typed-in or SA policies as sales hides how far we are from target.</a:t>
            </a:r>
            <a:endParaRPr lang="en-US" sz="1050" dirty="0"/>
          </a:p>
        </p:txBody>
      </p:sp>
      <p:sp>
        <p:nvSpPr>
          <p:cNvPr id="14"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5" name="Text 10"/>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From October every policy is marked new / legacy / SA, with country, branch and agent.</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NEW BUSINESS — VOLUME</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We joined 296 genuine customers in seven months — 17% of target</a:t>
            </a:r>
            <a:endParaRPr lang="en-US" sz="2600" dirty="0"/>
          </a:p>
        </p:txBody>
      </p:sp>
      <p:graphicFrame>
        <p:nvGraphicFramePr>
          <p:cNvPr id="5" name="Chart 0" descr=""/>
          <p:cNvGraphicFramePr/>
          <p:nvPr/>
        </p:nvGraphicFramePr>
        <p:xfrm>
          <a:off x="457200" y="1280160"/>
          <a:ext cx="722376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909560" y="1463040"/>
          <a:ext cx="3822192" cy="914400"/>
        </p:xfrm>
        <a:graphic>
          <a:graphicData uri="http://schemas.openxmlformats.org/drawingml/2006/table">
            <a:tbl>
              <a:tblPr/>
              <a:tblGrid>
                <a:gridCol w="1051560"/>
                <a:gridCol w="692658"/>
                <a:gridCol w="692658"/>
                <a:gridCol w="692658"/>
                <a:gridCol w="692658"/>
              </a:tblGrid>
              <a:tr h="329184">
                <a:tc>
                  <a:txBody>
                    <a:bodyPr/>
                    <a:lstStyle/>
                    <a:p>
                      <a:pPr algn="l" indent="0" marL="0">
                        <a:buNone/>
                      </a:pP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Actual</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achieved</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329184">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Sep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C0392B"/>
                          </a:solidFill>
                          <a:latin typeface="Calibri" pitchFamily="34" charset="0"/>
                          <a:ea typeface="Calibri" pitchFamily="34" charset="-122"/>
                          <a:cs typeface="Calibri" pitchFamily="34" charset="-120"/>
                        </a:rPr>
                        <a:t>−221</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Mar–Sep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1,750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296</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C0392B"/>
                          </a:solidFill>
                          <a:latin typeface="Calibri" pitchFamily="34" charset="0"/>
                          <a:ea typeface="Calibri" pitchFamily="34" charset="-122"/>
                          <a:cs typeface="Calibri" pitchFamily="34" charset="-120"/>
                        </a:rPr>
                        <a:t>−1,454</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7909560" y="2926080"/>
            <a:ext cx="3822192" cy="548640"/>
          </a:xfrm>
          <a:prstGeom prst="rect">
            <a:avLst/>
          </a:prstGeom>
          <a:noFill/>
          <a:ln/>
        </p:spPr>
        <p:txBody>
          <a:bodyPr wrap="square" lIns="0" tIns="0" rIns="0" bIns="0" rtlCol="0" anchor="t"/>
          <a:lstStyle/>
          <a:p>
            <a:pPr indent="0" marL="0">
              <a:buNone/>
            </a:pPr>
            <a:r>
              <a:rPr lang="en-US" sz="1300" b="1" dirty="0">
                <a:solidFill>
                  <a:srgbClr val="5B6B71"/>
                </a:solidFill>
              </a:rPr>
              <a:t>Best month: </a:t>
            </a:r>
            <a:pPr indent="0" marL="0">
              <a:buNone/>
            </a:pPr>
            <a:r>
              <a:rPr lang="en-US" sz="1300" dirty="0">
                <a:solidFill>
                  <a:srgbClr val="5B6B71"/>
                </a:solidFill>
              </a:rPr>
              <a:t>June, 117 (mass registration, mostly unpaid)</a:t>
            </a:r>
            <a:endParaRPr lang="en-US" sz="1300" dirty="0"/>
          </a:p>
        </p:txBody>
      </p:sp>
      <p:sp>
        <p:nvSpPr>
          <p:cNvPr id="8" name="Text 3"/>
          <p:cNvSpPr txBox="1"/>
          <p:nvPr/>
        </p:nvSpPr>
        <p:spPr>
          <a:xfrm>
            <a:off x="7909560" y="3520440"/>
            <a:ext cx="3822192" cy="548640"/>
          </a:xfrm>
          <a:prstGeom prst="rect">
            <a:avLst/>
          </a:prstGeom>
          <a:noFill/>
          <a:ln/>
        </p:spPr>
        <p:txBody>
          <a:bodyPr wrap="square" lIns="0" tIns="0" rIns="0" bIns="0" rtlCol="0" anchor="t"/>
          <a:lstStyle/>
          <a:p>
            <a:pPr indent="0" marL="0">
              <a:buNone/>
            </a:pPr>
            <a:r>
              <a:rPr lang="en-US" sz="1300" b="1" dirty="0">
                <a:solidFill>
                  <a:srgbClr val="5B6B71"/>
                </a:solidFill>
              </a:rPr>
              <a:t>Oct 1–4 (partial): </a:t>
            </a:r>
            <a:pPr indent="0" marL="0">
              <a:buNone/>
            </a:pPr>
            <a:r>
              <a:rPr lang="en-US" sz="1300" dirty="0">
                <a:solidFill>
                  <a:srgbClr val="5B6B71"/>
                </a:solidFill>
              </a:rPr>
              <a:t>2 — not comparable to a full month</a:t>
            </a:r>
            <a:endParaRPr lang="en-US" sz="1300" dirty="0"/>
          </a:p>
        </p:txBody>
      </p:sp>
      <p:sp>
        <p:nvSpPr>
          <p:cNvPr id="9"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10" name="Text 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Joinings never reached the 250 target; September was 29 (12%).</a:t>
            </a:r>
            <a:endParaRPr lang="en-US" sz="1050" dirty="0"/>
          </a:p>
        </p:txBody>
      </p:sp>
      <p:sp>
        <p:nvSpPr>
          <p:cNvPr id="11"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2" name="Text 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Without volume, even 76% conversion cannot grow the book.</a:t>
            </a:r>
            <a:endParaRPr lang="en-US" sz="1050" dirty="0"/>
          </a:p>
        </p:txBody>
      </p:sp>
      <p:sp>
        <p:nvSpPr>
          <p:cNvPr id="13"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4" name="Text 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Set a 6-joinings-a-month standard per agent and open resident-agent territories.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NEW BUSINESS — PAID</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Only 108 new customers joined and paid in seven months — 15% of target</a:t>
            </a:r>
            <a:endParaRPr lang="en-US" sz="2600" dirty="0"/>
          </a:p>
        </p:txBody>
      </p:sp>
      <p:graphicFrame>
        <p:nvGraphicFramePr>
          <p:cNvPr id="5" name="Chart 0" descr=""/>
          <p:cNvGraphicFramePr/>
          <p:nvPr/>
        </p:nvGraphicFramePr>
        <p:xfrm>
          <a:off x="457200" y="1280160"/>
          <a:ext cx="722376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909560" y="1463040"/>
          <a:ext cx="3822192" cy="914400"/>
        </p:xfrm>
        <a:graphic>
          <a:graphicData uri="http://schemas.openxmlformats.org/drawingml/2006/table">
            <a:tbl>
              <a:tblPr/>
              <a:tblGrid>
                <a:gridCol w="1051560"/>
                <a:gridCol w="692658"/>
                <a:gridCol w="692658"/>
                <a:gridCol w="692658"/>
                <a:gridCol w="692658"/>
              </a:tblGrid>
              <a:tr h="329184">
                <a:tc>
                  <a:txBody>
                    <a:bodyPr/>
                    <a:lstStyle/>
                    <a:p>
                      <a:pPr algn="l" indent="0" marL="0">
                        <a:buNone/>
                      </a:pP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Actual</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achieved</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329184">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Sep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C0392B"/>
                          </a:solidFill>
                          <a:latin typeface="Calibri" pitchFamily="34" charset="0"/>
                          <a:ea typeface="Calibri" pitchFamily="34" charset="-122"/>
                          <a:cs typeface="Calibri" pitchFamily="34" charset="-120"/>
                        </a:rPr>
                        <a:t>−78</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Mar–Sep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700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108</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C0392B"/>
                          </a:solidFill>
                          <a:latin typeface="Calibri" pitchFamily="34" charset="0"/>
                          <a:ea typeface="Calibri" pitchFamily="34" charset="-122"/>
                          <a:cs typeface="Calibri" pitchFamily="34" charset="-120"/>
                        </a:rPr>
                        <a:t>−592</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7909560" y="2926080"/>
            <a:ext cx="3822192" cy="914400"/>
          </a:xfrm>
          <a:prstGeom prst="rect">
            <a:avLst/>
          </a:prstGeom>
          <a:noFill/>
          <a:ln/>
        </p:spPr>
        <p:txBody>
          <a:bodyPr wrap="square" lIns="0" tIns="0" rIns="0" bIns="0" rtlCol="0" anchor="t"/>
          <a:lstStyle/>
          <a:p>
            <a:pPr indent="0" marL="0">
              <a:buNone/>
            </a:pPr>
            <a:r>
              <a:rPr lang="en-US" sz="1300" dirty="0">
                <a:solidFill>
                  <a:srgbClr val="5B6B71"/>
                </a:solidFill>
              </a:rPr>
              <a:t>Paid policies are the ones that bring money in. A registration without payment adds risk, not revenue.</a:t>
            </a:r>
            <a:endParaRPr lang="en-US" sz="13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4"/>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Paid new business peaked at 31 (June); September was 22 against 100.</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6"/>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Paid policies drive money in and protect against lapses.</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8"/>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Hold every agent to 4 paid a month; track paid weekly, not monthly.</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NEW BUSINESS — QUALITY</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Since July, most people who join also pay — quality is fixed, volume is not</a:t>
            </a:r>
            <a:endParaRPr lang="en-US" sz="2600" dirty="0"/>
          </a:p>
        </p:txBody>
      </p:sp>
      <p:graphicFrame>
        <p:nvGraphicFramePr>
          <p:cNvPr id="5" name="Chart 0" descr=""/>
          <p:cNvGraphicFramePr/>
          <p:nvPr/>
        </p:nvGraphicFramePr>
        <p:xfrm>
          <a:off x="457200" y="1280160"/>
          <a:ext cx="722376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909560" y="1463040"/>
          <a:ext cx="3822192" cy="914400"/>
        </p:xfrm>
        <a:graphic>
          <a:graphicData uri="http://schemas.openxmlformats.org/drawingml/2006/table">
            <a:tbl>
              <a:tblPr/>
              <a:tblGrid>
                <a:gridCol w="1051560"/>
                <a:gridCol w="692658"/>
                <a:gridCol w="692658"/>
                <a:gridCol w="692658"/>
                <a:gridCol w="692658"/>
              </a:tblGrid>
              <a:tr h="329184">
                <a:tc>
                  <a:txBody>
                    <a:bodyPr/>
                    <a:lstStyle/>
                    <a:p>
                      <a:pPr algn="l" indent="0" marL="0">
                        <a:buNone/>
                      </a:pP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Actual</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achieved</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329184">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Sep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76%</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+36 pts</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190%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Mar–Sep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C0392B"/>
                          </a:solidFill>
                          <a:latin typeface="Calibri" pitchFamily="34" charset="0"/>
                          <a:ea typeface="Calibri" pitchFamily="34" charset="-122"/>
                          <a:cs typeface="Calibri" pitchFamily="34" charset="-120"/>
                        </a:rPr>
                        <a:t>−4 pts</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91%</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7909560" y="2926080"/>
            <a:ext cx="3822192" cy="1005840"/>
          </a:xfrm>
          <a:prstGeom prst="rect">
            <a:avLst/>
          </a:prstGeom>
          <a:noFill/>
          <a:ln/>
        </p:spPr>
        <p:txBody>
          <a:bodyPr wrap="square" lIns="0" tIns="0" rIns="0" bIns="0" rtlCol="0" anchor="t"/>
          <a:lstStyle/>
          <a:p>
            <a:pPr indent="0" marL="0">
              <a:buNone/>
            </a:pPr>
            <a:r>
              <a:rPr lang="en-US" sz="1300" dirty="0">
                <a:solidFill>
                  <a:srgbClr val="5B6B71"/>
                </a:solidFill>
              </a:rPr>
              <a:t>Mar–Sep total = 108 paid ÷ 296 joinings. The low months (Mar, Jun) were mass registration without payment.</a:t>
            </a:r>
            <a:endParaRPr lang="en-US" sz="13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4"/>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After June we stopped mass registration without payment; conversion rose to 76–81%.</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6"/>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Quality is fixed; volume fell at the same time.</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8"/>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Keep “join and pay” as the rule; grow volume through agents and campaigns.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AGENTS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We have 26 agent accounts, but only 4 made a genuine sale in September</a:t>
            </a:r>
            <a:endParaRPr lang="en-US" sz="2600" dirty="0"/>
          </a:p>
        </p:txBody>
      </p:sp>
      <p:graphicFrame>
        <p:nvGraphicFramePr>
          <p:cNvPr id="5" name="Chart 0" descr=""/>
          <p:cNvGraphicFramePr/>
          <p:nvPr/>
        </p:nvGraphicFramePr>
        <p:xfrm>
          <a:off x="457200" y="1280160"/>
          <a:ext cx="6858000" cy="35204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7543800" y="1325880"/>
            <a:ext cx="4187952" cy="3429000"/>
          </a:xfrm>
          <a:prstGeom prst="roundRect">
            <a:avLst>
              <a:gd name="adj" fmla="val 2133"/>
            </a:avLst>
          </a:prstGeom>
          <a:solidFill>
            <a:srgbClr val="FFFFFF"/>
          </a:solidFill>
          <a:ln w="9525">
            <a:solidFill>
              <a:srgbClr val="DCE3E4"/>
            </a:solidFill>
            <a:prstDash val="solid"/>
          </a:ln>
        </p:spPr>
      </p:sp>
      <p:sp>
        <p:nvSpPr>
          <p:cNvPr id="7" name="Text 3"/>
          <p:cNvSpPr txBox="1"/>
          <p:nvPr/>
        </p:nvSpPr>
        <p:spPr>
          <a:xfrm>
            <a:off x="7726680" y="1463040"/>
            <a:ext cx="3840480" cy="3200400"/>
          </a:xfrm>
          <a:prstGeom prst="rect">
            <a:avLst/>
          </a:prstGeom>
          <a:noFill/>
          <a:ln/>
        </p:spPr>
        <p:txBody>
          <a:bodyPr wrap="square" lIns="0" tIns="0" rIns="0" bIns="0" rtlCol="0" anchor="t"/>
          <a:lstStyle/>
          <a:p>
            <a:pPr indent="0" marL="0">
              <a:buNone/>
            </a:pPr>
            <a:r>
              <a:rPr lang="en-US" sz="1400" b="1" dirty="0">
                <a:solidFill>
                  <a:srgbClr val="0E5A5F"/>
                </a:solidFill>
              </a:rPr>
              <a:t>Context</a:t>
            </a:r>
            <a:endParaRPr lang="en-US" sz="1400" dirty="0"/>
          </a:p>
          <a:p>
            <a:pPr indent="0" marL="0">
              <a:buNone/>
            </a:pPr>
            <a:r>
              <a:rPr lang="en-US" sz="1200" dirty="0">
                <a:solidFill>
                  <a:srgbClr val="1E2A2F"/>
                </a:solidFill>
              </a:rPr>
              <a:t>About 15 agents recruited on USD 100 a month for 6 months; changed to USD 25 a week; about 10 left.</a:t>
            </a:r>
            <a:endParaRPr lang="en-US" sz="1400" dirty="0"/>
          </a:p>
          <a:p>
            <a:pPr indent="0" marL="0">
              <a:buNone/>
            </a:pPr>
            <a:r>
              <a:rPr lang="en-US" sz="500" dirty="0">
                <a:solidFill>
                  <a:srgbClr val="1E2A2F"/>
                </a:solidFill>
              </a:rPr>
              <a:t> </a:t>
            </a:r>
            <a:endParaRPr lang="en-US" sz="1400" dirty="0"/>
          </a:p>
          <a:p>
            <a:pPr indent="0" marL="0">
              <a:buNone/>
            </a:pPr>
            <a:r>
              <a:rPr lang="en-US" sz="1200" b="1" dirty="0">
                <a:solidFill>
                  <a:srgbClr val="1E2A2F"/>
                </a:solidFill>
              </a:rPr>
              <a:t>Agent side: </a:t>
            </a:r>
            <a:pPr indent="0" marL="0">
              <a:buNone/>
            </a:pPr>
            <a:r>
              <a:rPr lang="en-US" sz="1200" dirty="0">
                <a:solidFill>
                  <a:srgbClr val="1E2A2F"/>
                </a:solidFill>
              </a:rPr>
              <a:t>inconsistency, waiting for leads, little self-marketing.</a:t>
            </a:r>
            <a:endParaRPr lang="en-US" sz="1400" dirty="0"/>
          </a:p>
          <a:p>
            <a:pPr indent="0" marL="0">
              <a:buNone/>
            </a:pPr>
            <a:r>
              <a:rPr lang="en-US" sz="500" dirty="0">
                <a:solidFill>
                  <a:srgbClr val="1E2A2F"/>
                </a:solidFill>
              </a:rPr>
              <a:t> </a:t>
            </a:r>
            <a:endParaRPr lang="en-US" sz="1400" dirty="0"/>
          </a:p>
          <a:p>
            <a:pPr indent="0" marL="0">
              <a:buNone/>
            </a:pPr>
            <a:r>
              <a:rPr lang="en-US" sz="1200" b="1" dirty="0">
                <a:solidFill>
                  <a:srgbClr val="1E2A2F"/>
                </a:solidFill>
              </a:rPr>
              <a:t>Company side: </a:t>
            </a:r>
            <a:pPr indent="0" marL="0">
              <a:buNone/>
            </a:pPr>
            <a:r>
              <a:rPr lang="en-US" sz="1200" dirty="0">
                <a:solidFill>
                  <a:srgbClr val="1E2A2F"/>
                </a:solidFill>
              </a:rPr>
              <a:t>transport, lunch, airtime, campaign support, a pay model still developing.</a:t>
            </a:r>
            <a:endParaRPr lang="en-US" sz="1400" dirty="0"/>
          </a:p>
          <a:p>
            <a:pPr indent="0" marL="0">
              <a:buNone/>
            </a:pPr>
            <a:r>
              <a:rPr lang="en-US" sz="500" dirty="0">
                <a:solidFill>
                  <a:srgbClr val="1E2A2F"/>
                </a:solidFill>
              </a:rPr>
              <a:t> </a:t>
            </a:r>
            <a:endParaRPr lang="en-US" sz="1400" dirty="0"/>
          </a:p>
          <a:p>
            <a:pPr indent="0" marL="0">
              <a:buNone/>
            </a:pPr>
            <a:r>
              <a:rPr lang="en-US" sz="1200" b="1" dirty="0">
                <a:solidFill>
                  <a:srgbClr val="1E2A2F"/>
                </a:solidFill>
              </a:rPr>
              <a:t>11 accounts never sold. A productive agent in September made 6 joinings and 4.3 paid.</a:t>
            </a:r>
            <a:endParaRPr lang="en-US" sz="14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Accounts grew to 26, but productive agents fell to 4.</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Each productive agent adds about 6 joinings and 4 paid a month.</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Productivity standard, weekly one-to-ones, and a clear support package.</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AGENTS — PERFORMANCE</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Five sellers produce most of our paid policies; five have none</a:t>
            </a:r>
            <a:endParaRPr lang="en-US" sz="2600" dirty="0"/>
          </a:p>
        </p:txBody>
      </p:sp>
      <p:graphicFrame>
        <p:nvGraphicFramePr>
          <p:cNvPr id="5" name="Chart 0" descr=""/>
          <p:cNvGraphicFramePr/>
          <p:nvPr/>
        </p:nvGraphicFramePr>
        <p:xfrm>
          <a:off x="457200" y="1234440"/>
          <a:ext cx="11277295" cy="3794760"/>
        </p:xfrm>
        <a:graphic xmlns:a="http://schemas.openxmlformats.org/drawingml/2006/main">
          <a:graphicData uri="http://schemas.openxmlformats.org/drawingml/2006/chart">
            <c:chart xmlns:c="http://schemas.openxmlformats.org/drawingml/2006/chart" r:id="rId1"/>
          </a:graphicData>
        </a:graphic>
      </p:graphicFrame>
      <p:sp>
        <p:nvSpPr>
          <p:cNvPr id="6"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7" name="Text 3"/>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Office counter (22), Pesuate (18), Gugulethu (16) and Nqobile (15) lead on paid.</a:t>
            </a:r>
            <a:endParaRPr lang="en-US" sz="1050" dirty="0"/>
          </a:p>
        </p:txBody>
      </p:sp>
      <p:sp>
        <p:nvSpPr>
          <p:cNvPr id="8"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9" name="Text 5"/>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Big “sold” numbers without payment do not bring money in.</a:t>
            </a:r>
            <a:endParaRPr lang="en-US" sz="1050" dirty="0"/>
          </a:p>
        </p:txBody>
      </p:sp>
      <p:sp>
        <p:nvSpPr>
          <p:cNvPr id="10"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1" name="Text 7"/>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Rank and pay agents on paid policies, not registrations.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AGENTS — CONVERSION</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Gugulethu converts every sale; seven sellers are below our 40% standard</a:t>
            </a:r>
            <a:endParaRPr lang="en-US" sz="2600" dirty="0"/>
          </a:p>
        </p:txBody>
      </p:sp>
      <p:graphicFrame>
        <p:nvGraphicFramePr>
          <p:cNvPr id="5" name="Chart 0" descr=""/>
          <p:cNvGraphicFramePr/>
          <p:nvPr/>
        </p:nvGraphicFramePr>
        <p:xfrm>
          <a:off x="457200" y="1280160"/>
          <a:ext cx="11277295" cy="3520440"/>
        </p:xfrm>
        <a:graphic xmlns:a="http://schemas.openxmlformats.org/drawingml/2006/main">
          <a:graphicData uri="http://schemas.openxmlformats.org/drawingml/2006/chart">
            <c:chart xmlns:c="http://schemas.openxmlformats.org/drawingml/2006/chart" r:id="rId1"/>
          </a:graphicData>
        </a:graphic>
      </p:graphicFrame>
      <p:sp>
        <p:nvSpPr>
          <p:cNvPr id="6"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7" name="Text 3"/>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Conversion ranges from 100% (Gugulethu) to 0% (Peacemaker).</a:t>
            </a:r>
            <a:endParaRPr lang="en-US" sz="1050" dirty="0"/>
          </a:p>
        </p:txBody>
      </p:sp>
      <p:sp>
        <p:nvSpPr>
          <p:cNvPr id="8"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9" name="Text 5"/>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Low converters create registrations that never pay and become inactive.</a:t>
            </a:r>
            <a:endParaRPr lang="en-US" sz="1050" dirty="0"/>
          </a:p>
        </p:txBody>
      </p:sp>
      <p:sp>
        <p:nvSpPr>
          <p:cNvPr id="10"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1" name="Text 7"/>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One-to-one coaching for the seven below 40%; collect first premium on the day.</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AGENTS — CONSISTENCY</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Sales come in bursts; in September only five sellers recorded a genuine sale</a:t>
            </a:r>
            <a:endParaRPr lang="en-US" sz="2600" dirty="0"/>
          </a:p>
        </p:txBody>
      </p:sp>
      <p:graphicFrame>
        <p:nvGraphicFramePr>
          <p:cNvPr id="5" name="Chart 0" descr=""/>
          <p:cNvGraphicFramePr/>
          <p:nvPr/>
        </p:nvGraphicFramePr>
        <p:xfrm>
          <a:off x="457200" y="1280160"/>
          <a:ext cx="11277295" cy="35204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457200" y="4791456"/>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Sellers with the most joinings shown; Oct 1–4 excluded. Exact figures in the appendix agent table.</a:t>
            </a:r>
            <a:endParaRPr lang="en-US" sz="1000" dirty="0"/>
          </a:p>
        </p:txBody>
      </p:sp>
      <p:sp>
        <p:nvSpPr>
          <p:cNvPr id="7"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8" name="Text 4"/>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Most sellers peaked once (often June) and faded; September relied on Gugulethu and Pesuate.</a:t>
            </a:r>
            <a:endParaRPr lang="en-US" sz="1050" dirty="0"/>
          </a:p>
        </p:txBody>
      </p:sp>
      <p:sp>
        <p:nvSpPr>
          <p:cNvPr id="9"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0" name="Text 6"/>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Bursts make sales unpredictable and hide quiet agents for months.</a:t>
            </a:r>
            <a:endParaRPr lang="en-US" sz="1050" dirty="0"/>
          </a:p>
        </p:txBody>
      </p:sp>
      <p:sp>
        <p:nvSpPr>
          <p:cNvPr id="11"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2" name="Text 8"/>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Weekly targets and one-to-ones; flag any agent with no sale for two weeks.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CASE STUDY — FILABUSI</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A resident agent who owns her territory outsells the whole team</a:t>
            </a:r>
            <a:endParaRPr lang="en-US" sz="2600" dirty="0"/>
          </a:p>
        </p:txBody>
      </p:sp>
      <p:graphicFrame>
        <p:nvGraphicFramePr>
          <p:cNvPr id="5" name="Chart 0" descr=""/>
          <p:cNvGraphicFramePr/>
          <p:nvPr/>
        </p:nvGraphicFramePr>
        <p:xfrm>
          <a:off x="457200" y="1280160"/>
          <a:ext cx="3840480"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434840" y="1280160"/>
          <a:ext cx="3200400" cy="3429000"/>
        </p:xfrm>
        <a:graphic xmlns:a="http://schemas.openxmlformats.org/drawingml/2006/main">
          <a:graphicData uri="http://schemas.openxmlformats.org/drawingml/2006/chart">
            <c:chart xmlns:c="http://schemas.openxmlformats.org/drawingml/2006/chart" r:id="rId2"/>
          </a:graphicData>
        </a:graphic>
      </p:graphicFrame>
      <p:sp>
        <p:nvSpPr>
          <p:cNvPr id="7" name="card"/>
          <p:cNvSpPr/>
          <p:nvPr/>
        </p:nvSpPr>
        <p:spPr>
          <a:xfrm>
            <a:off x="7909560" y="1325880"/>
            <a:ext cx="3822192" cy="749808"/>
          </a:xfrm>
          <a:prstGeom prst="roundRect">
            <a:avLst>
              <a:gd name="adj" fmla="val 9756"/>
            </a:avLst>
          </a:prstGeom>
          <a:solidFill>
            <a:srgbClr val="FFFFFF"/>
          </a:solidFill>
          <a:ln w="9525">
            <a:solidFill>
              <a:srgbClr val="DCE3E4"/>
            </a:solidFill>
            <a:prstDash val="solid"/>
          </a:ln>
        </p:spPr>
      </p:sp>
      <p:sp>
        <p:nvSpPr>
          <p:cNvPr id="8" name="icon circle"/>
          <p:cNvSpPr/>
          <p:nvPr/>
        </p:nvSpPr>
        <p:spPr>
          <a:xfrm>
            <a:off x="8046720" y="1453896"/>
            <a:ext cx="493776" cy="493776"/>
          </a:xfrm>
          <a:prstGeom prst="ellipse">
            <a:avLst/>
          </a:prstGeom>
          <a:solidFill>
            <a:srgbClr val="0E5A5F"/>
          </a:solidFill>
          <a:ln w="12700">
            <a:solidFill>
              <a:srgbClr val="0E5A5F"/>
            </a:solidFill>
            <a:prstDash val="solid"/>
          </a:ln>
        </p:spPr>
      </p:sp>
      <p:pic>
        <p:nvPicPr>
          <p:cNvPr id="9" name="Image 0" descr="FaCalendarCheck">    </p:cNvPr>
          <p:cNvPicPr>
            <a:picLocks noChangeAspect="1"/>
          </p:cNvPicPr>
          <p:nvPr/>
        </p:nvPicPr>
        <p:blipFill>
          <a:blip r:embed="rId3"/>
          <a:stretch>
            <a:fillRect/>
          </a:stretch>
        </p:blipFill>
        <p:spPr>
          <a:xfrm>
            <a:off x="8170164" y="1577340"/>
            <a:ext cx="246888" cy="246888"/>
          </a:xfrm>
          <a:prstGeom prst="rect">
            <a:avLst/>
          </a:prstGeom>
        </p:spPr>
      </p:pic>
      <p:sp>
        <p:nvSpPr>
          <p:cNvPr id="10" name="Text 4"/>
          <p:cNvSpPr txBox="1"/>
          <p:nvPr/>
        </p:nvSpPr>
        <p:spPr>
          <a:xfrm>
            <a:off x="8686800" y="1417320"/>
            <a:ext cx="2926080" cy="566928"/>
          </a:xfrm>
          <a:prstGeom prst="rect">
            <a:avLst/>
          </a:prstGeom>
          <a:noFill/>
          <a:ln/>
        </p:spPr>
        <p:txBody>
          <a:bodyPr wrap="square" lIns="0" tIns="0" rIns="0" bIns="0" rtlCol="0" anchor="ctr"/>
          <a:lstStyle/>
          <a:p>
            <a:pPr indent="0" marL="0">
              <a:buNone/>
            </a:pPr>
            <a:r>
              <a:rPr lang="en-US" sz="1500" b="1" dirty="0">
                <a:solidFill>
                  <a:srgbClr val="1E2A2F"/>
                </a:solidFill>
              </a:rPr>
              <a:t>Works daily</a:t>
            </a:r>
            <a:endParaRPr lang="en-US" sz="1500" dirty="0"/>
          </a:p>
        </p:txBody>
      </p:sp>
      <p:sp>
        <p:nvSpPr>
          <p:cNvPr id="11" name="card"/>
          <p:cNvSpPr/>
          <p:nvPr/>
        </p:nvSpPr>
        <p:spPr>
          <a:xfrm>
            <a:off x="7909560" y="2194560"/>
            <a:ext cx="3822192" cy="749808"/>
          </a:xfrm>
          <a:prstGeom prst="roundRect">
            <a:avLst>
              <a:gd name="adj" fmla="val 9756"/>
            </a:avLst>
          </a:prstGeom>
          <a:solidFill>
            <a:srgbClr val="FFFFFF"/>
          </a:solidFill>
          <a:ln w="9525">
            <a:solidFill>
              <a:srgbClr val="DCE3E4"/>
            </a:solidFill>
            <a:prstDash val="solid"/>
          </a:ln>
        </p:spPr>
      </p:sp>
      <p:sp>
        <p:nvSpPr>
          <p:cNvPr id="12" name="icon circle"/>
          <p:cNvSpPr/>
          <p:nvPr/>
        </p:nvSpPr>
        <p:spPr>
          <a:xfrm>
            <a:off x="8046720" y="2322576"/>
            <a:ext cx="493776" cy="493776"/>
          </a:xfrm>
          <a:prstGeom prst="ellipse">
            <a:avLst/>
          </a:prstGeom>
          <a:solidFill>
            <a:srgbClr val="0E5A5F"/>
          </a:solidFill>
          <a:ln w="12700">
            <a:solidFill>
              <a:srgbClr val="0E5A5F"/>
            </a:solidFill>
            <a:prstDash val="solid"/>
          </a:ln>
        </p:spPr>
      </p:sp>
      <p:pic>
        <p:nvPicPr>
          <p:cNvPr id="13" name="Image 1" descr="FaBullhorn">    </p:cNvPr>
          <p:cNvPicPr>
            <a:picLocks noChangeAspect="1"/>
          </p:cNvPicPr>
          <p:nvPr/>
        </p:nvPicPr>
        <p:blipFill>
          <a:blip r:embed="rId4"/>
          <a:stretch>
            <a:fillRect/>
          </a:stretch>
        </p:blipFill>
        <p:spPr>
          <a:xfrm>
            <a:off x="8170164" y="2446020"/>
            <a:ext cx="246888" cy="246888"/>
          </a:xfrm>
          <a:prstGeom prst="rect">
            <a:avLst/>
          </a:prstGeom>
        </p:spPr>
      </p:pic>
      <p:sp>
        <p:nvSpPr>
          <p:cNvPr id="14" name="Text 7"/>
          <p:cNvSpPr txBox="1"/>
          <p:nvPr/>
        </p:nvSpPr>
        <p:spPr>
          <a:xfrm>
            <a:off x="8686800" y="2286000"/>
            <a:ext cx="2926080" cy="566928"/>
          </a:xfrm>
          <a:prstGeom prst="rect">
            <a:avLst/>
          </a:prstGeom>
          <a:noFill/>
          <a:ln/>
        </p:spPr>
        <p:txBody>
          <a:bodyPr wrap="square" lIns="0" tIns="0" rIns="0" bIns="0" rtlCol="0" anchor="ctr"/>
          <a:lstStyle/>
          <a:p>
            <a:pPr indent="0" marL="0">
              <a:buNone/>
            </a:pPr>
            <a:r>
              <a:rPr lang="en-US" sz="1500" b="1" dirty="0">
                <a:solidFill>
                  <a:srgbClr val="1E2A2F"/>
                </a:solidFill>
              </a:rPr>
              <a:t>Advertises herself</a:t>
            </a:r>
            <a:endParaRPr lang="en-US" sz="1500" dirty="0"/>
          </a:p>
        </p:txBody>
      </p:sp>
      <p:sp>
        <p:nvSpPr>
          <p:cNvPr id="15" name="card"/>
          <p:cNvSpPr/>
          <p:nvPr/>
        </p:nvSpPr>
        <p:spPr>
          <a:xfrm>
            <a:off x="7909560" y="3063240"/>
            <a:ext cx="3822192" cy="749808"/>
          </a:xfrm>
          <a:prstGeom prst="roundRect">
            <a:avLst>
              <a:gd name="adj" fmla="val 9756"/>
            </a:avLst>
          </a:prstGeom>
          <a:solidFill>
            <a:srgbClr val="FFFFFF"/>
          </a:solidFill>
          <a:ln w="9525">
            <a:solidFill>
              <a:srgbClr val="DCE3E4"/>
            </a:solidFill>
            <a:prstDash val="solid"/>
          </a:ln>
        </p:spPr>
      </p:sp>
      <p:sp>
        <p:nvSpPr>
          <p:cNvPr id="16" name="icon circle"/>
          <p:cNvSpPr/>
          <p:nvPr/>
        </p:nvSpPr>
        <p:spPr>
          <a:xfrm>
            <a:off x="8046720" y="3191256"/>
            <a:ext cx="493776" cy="493776"/>
          </a:xfrm>
          <a:prstGeom prst="ellipse">
            <a:avLst/>
          </a:prstGeom>
          <a:solidFill>
            <a:srgbClr val="0E5A5F"/>
          </a:solidFill>
          <a:ln w="12700">
            <a:solidFill>
              <a:srgbClr val="0E5A5F"/>
            </a:solidFill>
            <a:prstDash val="solid"/>
          </a:ln>
        </p:spPr>
      </p:sp>
      <p:pic>
        <p:nvPicPr>
          <p:cNvPr id="17" name="Image 2" descr="FaWalking">    </p:cNvPr>
          <p:cNvPicPr>
            <a:picLocks noChangeAspect="1"/>
          </p:cNvPicPr>
          <p:nvPr/>
        </p:nvPicPr>
        <p:blipFill>
          <a:blip r:embed="rId5"/>
          <a:stretch>
            <a:fillRect/>
          </a:stretch>
        </p:blipFill>
        <p:spPr>
          <a:xfrm>
            <a:off x="8170164" y="3314700"/>
            <a:ext cx="246888" cy="246888"/>
          </a:xfrm>
          <a:prstGeom prst="rect">
            <a:avLst/>
          </a:prstGeom>
        </p:spPr>
      </p:pic>
      <p:sp>
        <p:nvSpPr>
          <p:cNvPr id="18" name="Text 10"/>
          <p:cNvSpPr txBox="1"/>
          <p:nvPr/>
        </p:nvSpPr>
        <p:spPr>
          <a:xfrm>
            <a:off x="8686800" y="3154680"/>
            <a:ext cx="2926080" cy="566928"/>
          </a:xfrm>
          <a:prstGeom prst="rect">
            <a:avLst/>
          </a:prstGeom>
          <a:noFill/>
          <a:ln/>
        </p:spPr>
        <p:txBody>
          <a:bodyPr wrap="square" lIns="0" tIns="0" rIns="0" bIns="0" rtlCol="0" anchor="ctr"/>
          <a:lstStyle/>
          <a:p>
            <a:pPr indent="0" marL="0">
              <a:buNone/>
            </a:pPr>
            <a:r>
              <a:rPr lang="en-US" sz="1500" b="1" dirty="0">
                <a:solidFill>
                  <a:srgbClr val="1E2A2F"/>
                </a:solidFill>
              </a:rPr>
              <a:t>Doesn't wait for leads</a:t>
            </a:r>
            <a:endParaRPr lang="en-US" sz="1500" dirty="0"/>
          </a:p>
        </p:txBody>
      </p:sp>
      <p:sp>
        <p:nvSpPr>
          <p:cNvPr id="19" name="card"/>
          <p:cNvSpPr/>
          <p:nvPr/>
        </p:nvSpPr>
        <p:spPr>
          <a:xfrm>
            <a:off x="7909560" y="3931920"/>
            <a:ext cx="3822192" cy="749808"/>
          </a:xfrm>
          <a:prstGeom prst="roundRect">
            <a:avLst>
              <a:gd name="adj" fmla="val 9756"/>
            </a:avLst>
          </a:prstGeom>
          <a:solidFill>
            <a:srgbClr val="FFFFFF"/>
          </a:solidFill>
          <a:ln w="9525">
            <a:solidFill>
              <a:srgbClr val="DCE3E4"/>
            </a:solidFill>
            <a:prstDash val="solid"/>
          </a:ln>
        </p:spPr>
      </p:sp>
      <p:sp>
        <p:nvSpPr>
          <p:cNvPr id="20" name="icon circle"/>
          <p:cNvSpPr/>
          <p:nvPr/>
        </p:nvSpPr>
        <p:spPr>
          <a:xfrm>
            <a:off x="8046720" y="4059936"/>
            <a:ext cx="493776" cy="493776"/>
          </a:xfrm>
          <a:prstGeom prst="ellipse">
            <a:avLst/>
          </a:prstGeom>
          <a:solidFill>
            <a:srgbClr val="0E5A5F"/>
          </a:solidFill>
          <a:ln w="12700">
            <a:solidFill>
              <a:srgbClr val="0E5A5F"/>
            </a:solidFill>
            <a:prstDash val="solid"/>
          </a:ln>
        </p:spPr>
      </p:sp>
      <p:pic>
        <p:nvPicPr>
          <p:cNvPr id="21" name="Image 3" descr="FaMapMarkerAlt">    </p:cNvPr>
          <p:cNvPicPr>
            <a:picLocks noChangeAspect="1"/>
          </p:cNvPicPr>
          <p:nvPr/>
        </p:nvPicPr>
        <p:blipFill>
          <a:blip r:embed="rId6"/>
          <a:stretch>
            <a:fillRect/>
          </a:stretch>
        </p:blipFill>
        <p:spPr>
          <a:xfrm>
            <a:off x="8170164" y="4183380"/>
            <a:ext cx="246888" cy="246888"/>
          </a:xfrm>
          <a:prstGeom prst="rect">
            <a:avLst/>
          </a:prstGeom>
        </p:spPr>
      </p:pic>
      <p:sp>
        <p:nvSpPr>
          <p:cNvPr id="22" name="Text 13"/>
          <p:cNvSpPr txBox="1"/>
          <p:nvPr/>
        </p:nvSpPr>
        <p:spPr>
          <a:xfrm>
            <a:off x="8686800" y="4023360"/>
            <a:ext cx="2926080" cy="566928"/>
          </a:xfrm>
          <a:prstGeom prst="rect">
            <a:avLst/>
          </a:prstGeom>
          <a:noFill/>
          <a:ln/>
        </p:spPr>
        <p:txBody>
          <a:bodyPr wrap="square" lIns="0" tIns="0" rIns="0" bIns="0" rtlCol="0" anchor="ctr"/>
          <a:lstStyle/>
          <a:p>
            <a:pPr indent="0" marL="0">
              <a:buNone/>
            </a:pPr>
            <a:r>
              <a:rPr lang="en-US" sz="1500" b="1" dirty="0">
                <a:solidFill>
                  <a:srgbClr val="1E2A2F"/>
                </a:solidFill>
              </a:rPr>
              <a:t>Owns her territory</a:t>
            </a:r>
            <a:endParaRPr lang="en-US" sz="1500" dirty="0"/>
          </a:p>
        </p:txBody>
      </p:sp>
      <p:sp>
        <p:nvSpPr>
          <p:cNvPr id="23" name="Text 14"/>
          <p:cNvSpPr txBox="1"/>
          <p:nvPr/>
        </p:nvSpPr>
        <p:spPr>
          <a:xfrm>
            <a:off x="457200" y="4791456"/>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16 sold and 16 paid since July. Management reports about 16 clients in September vs 12 in the system — to be reconciled.</a:t>
            </a:r>
            <a:endParaRPr lang="en-US" sz="1000" dirty="0"/>
          </a:p>
        </p:txBody>
      </p:sp>
      <p:sp>
        <p:nvSpPr>
          <p:cNvPr id="24"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25" name="Text 16"/>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One resident agent produced 41% of September's genuine new business, with 100% paid.</a:t>
            </a:r>
            <a:endParaRPr lang="en-US" sz="1050" dirty="0"/>
          </a:p>
        </p:txBody>
      </p:sp>
      <p:sp>
        <p:nvSpPr>
          <p:cNvPr id="26"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27" name="Text 18"/>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Local presence + personal marketing + consistency + ownership works.</a:t>
            </a:r>
            <a:endParaRPr lang="en-US" sz="1050" dirty="0"/>
          </a:p>
        </p:txBody>
      </p:sp>
      <p:sp>
        <p:nvSpPr>
          <p:cNvPr id="28"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29" name="Text 20"/>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Recruit resident agents per territory, starting with Lupane.</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CASE STUDY — SOKUSILE CAMPAIGN</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When the company supports a campaign, 4 in 10 registrations pay</a:t>
            </a:r>
            <a:endParaRPr lang="en-US" sz="2600" dirty="0"/>
          </a:p>
        </p:txBody>
      </p:sp>
      <p:sp>
        <p:nvSpPr>
          <p:cNvPr id="5" name="funnel stage"/>
          <p:cNvSpPr/>
          <p:nvPr/>
        </p:nvSpPr>
        <p:spPr>
          <a:xfrm>
            <a:off x="457200" y="1417320"/>
            <a:ext cx="4754880" cy="914400"/>
          </a:xfrm>
          <a:prstGeom prst="roundRect">
            <a:avLst>
              <a:gd name="adj" fmla="val 10000"/>
            </a:avLst>
          </a:prstGeom>
          <a:solidFill>
            <a:srgbClr val="2E6DB4"/>
          </a:solidFill>
          <a:ln w="12700">
            <a:solidFill>
              <a:srgbClr val="2E6DB4"/>
            </a:solidFill>
            <a:prstDash val="solid"/>
          </a:ln>
        </p:spPr>
      </p:sp>
      <p:sp>
        <p:nvSpPr>
          <p:cNvPr id="6" name="Text 3"/>
          <p:cNvSpPr txBox="1"/>
          <p:nvPr/>
        </p:nvSpPr>
        <p:spPr>
          <a:xfrm>
            <a:off x="457200" y="1417320"/>
            <a:ext cx="475488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43  </a:t>
            </a:r>
            <a:pPr algn="ctr" indent="0" marL="0">
              <a:buNone/>
            </a:pPr>
            <a:r>
              <a:rPr lang="en-US" sz="1500" dirty="0">
                <a:solidFill>
                  <a:srgbClr val="FFFFFF"/>
                </a:solidFill>
              </a:rPr>
              <a:t>Registered</a:t>
            </a:r>
            <a:endParaRPr lang="en-US" sz="1400" dirty="0"/>
          </a:p>
        </p:txBody>
      </p:sp>
      <p:sp>
        <p:nvSpPr>
          <p:cNvPr id="7" name="funnel stage"/>
          <p:cNvSpPr/>
          <p:nvPr/>
        </p:nvSpPr>
        <p:spPr>
          <a:xfrm>
            <a:off x="1188720" y="2560320"/>
            <a:ext cx="3291840" cy="914400"/>
          </a:xfrm>
          <a:prstGeom prst="roundRect">
            <a:avLst>
              <a:gd name="adj" fmla="val 10000"/>
            </a:avLst>
          </a:prstGeom>
          <a:solidFill>
            <a:srgbClr val="34ADB3"/>
          </a:solidFill>
          <a:ln w="12700">
            <a:solidFill>
              <a:srgbClr val="34ADB3"/>
            </a:solidFill>
            <a:prstDash val="solid"/>
          </a:ln>
        </p:spPr>
      </p:sp>
      <p:sp>
        <p:nvSpPr>
          <p:cNvPr id="8" name="Text 5"/>
          <p:cNvSpPr txBox="1"/>
          <p:nvPr/>
        </p:nvSpPr>
        <p:spPr>
          <a:xfrm>
            <a:off x="1188720" y="2560320"/>
            <a:ext cx="329184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17  </a:t>
            </a:r>
            <a:pPr algn="ctr" indent="0" marL="0">
              <a:buNone/>
            </a:pPr>
            <a:r>
              <a:rPr lang="en-US" sz="1500" dirty="0">
                <a:solidFill>
                  <a:srgbClr val="FFFFFF"/>
                </a:solidFill>
              </a:rPr>
              <a:t>Paid during campaign</a:t>
            </a:r>
            <a:endParaRPr lang="en-US" sz="1400" dirty="0"/>
          </a:p>
        </p:txBody>
      </p:sp>
      <p:sp>
        <p:nvSpPr>
          <p:cNvPr id="9" name="Text 6"/>
          <p:cNvSpPr txBox="1"/>
          <p:nvPr/>
        </p:nvSpPr>
        <p:spPr>
          <a:xfrm>
            <a:off x="457200" y="3794760"/>
            <a:ext cx="4754880" cy="548640"/>
          </a:xfrm>
          <a:prstGeom prst="rect">
            <a:avLst/>
          </a:prstGeom>
          <a:noFill/>
          <a:ln/>
        </p:spPr>
        <p:txBody>
          <a:bodyPr wrap="square" lIns="0" tIns="0" rIns="0" bIns="0" rtlCol="0" anchor="t"/>
          <a:lstStyle/>
          <a:p>
            <a:pPr algn="ctr" indent="0" marL="0">
              <a:buNone/>
            </a:pPr>
            <a:r>
              <a:rPr lang="en-US" sz="1400" b="1" dirty="0">
                <a:solidFill>
                  <a:srgbClr val="2E8B57"/>
                </a:solidFill>
              </a:rPr>
              <a:t>39.5% paid </a:t>
            </a:r>
            <a:pPr algn="ctr" indent="0" marL="0">
              <a:buNone/>
            </a:pPr>
            <a:r>
              <a:rPr lang="en-US" sz="1400" dirty="0">
                <a:solidFill>
                  <a:srgbClr val="5B6B71"/>
                </a:solidFill>
              </a:rPr>
              <a:t>during the campaign (target 40%); more paid after follow-up</a:t>
            </a:r>
            <a:endParaRPr lang="en-US" sz="1400" dirty="0"/>
          </a:p>
        </p:txBody>
      </p:sp>
      <p:sp>
        <p:nvSpPr>
          <p:cNvPr id="10" name="Text 7"/>
          <p:cNvSpPr txBox="1"/>
          <p:nvPr/>
        </p:nvSpPr>
        <p:spPr>
          <a:xfrm>
            <a:off x="5669280" y="1371600"/>
            <a:ext cx="6035040" cy="274320"/>
          </a:xfrm>
          <a:prstGeom prst="rect">
            <a:avLst/>
          </a:prstGeom>
          <a:noFill/>
          <a:ln/>
        </p:spPr>
        <p:txBody>
          <a:bodyPr wrap="square" lIns="0" tIns="0" rIns="0" bIns="0" rtlCol="0" anchor="t"/>
          <a:lstStyle/>
          <a:p>
            <a:pPr indent="0" marL="0">
              <a:buNone/>
            </a:pPr>
            <a:r>
              <a:rPr lang="en-US" sz="1050" b="1" spc="100" kern="0" dirty="0">
                <a:solidFill>
                  <a:srgbClr val="0E5A5F"/>
                </a:solidFill>
              </a:rPr>
              <a:t>WHAT THE COMPANY PROVIDED</a:t>
            </a:r>
            <a:endParaRPr lang="en-US" sz="1050" dirty="0"/>
          </a:p>
        </p:txBody>
      </p:sp>
      <p:sp>
        <p:nvSpPr>
          <p:cNvPr id="11" name="card"/>
          <p:cNvSpPr/>
          <p:nvPr/>
        </p:nvSpPr>
        <p:spPr>
          <a:xfrm>
            <a:off x="5669280" y="1691640"/>
            <a:ext cx="1389888" cy="1234440"/>
          </a:xfrm>
          <a:prstGeom prst="roundRect">
            <a:avLst>
              <a:gd name="adj" fmla="val 5926"/>
            </a:avLst>
          </a:prstGeom>
          <a:solidFill>
            <a:srgbClr val="FFFFFF"/>
          </a:solidFill>
          <a:ln w="9525">
            <a:solidFill>
              <a:srgbClr val="DCE3E4"/>
            </a:solidFill>
            <a:prstDash val="solid"/>
          </a:ln>
        </p:spPr>
      </p:sp>
      <p:sp>
        <p:nvSpPr>
          <p:cNvPr id="12" name="icon circle"/>
          <p:cNvSpPr/>
          <p:nvPr/>
        </p:nvSpPr>
        <p:spPr>
          <a:xfrm>
            <a:off x="6089904" y="1810512"/>
            <a:ext cx="548640" cy="548640"/>
          </a:xfrm>
          <a:prstGeom prst="ellipse">
            <a:avLst/>
          </a:prstGeom>
          <a:solidFill>
            <a:srgbClr val="0E5A5F"/>
          </a:solidFill>
          <a:ln w="12700">
            <a:solidFill>
              <a:srgbClr val="0E5A5F"/>
            </a:solidFill>
            <a:prstDash val="solid"/>
          </a:ln>
        </p:spPr>
      </p:sp>
      <p:pic>
        <p:nvPicPr>
          <p:cNvPr id="13" name="Image 0" descr="FaCampground">    </p:cNvPr>
          <p:cNvPicPr>
            <a:picLocks noChangeAspect="1"/>
          </p:cNvPicPr>
          <p:nvPr/>
        </p:nvPicPr>
        <p:blipFill>
          <a:blip r:embed="rId1"/>
          <a:stretch>
            <a:fillRect/>
          </a:stretch>
        </p:blipFill>
        <p:spPr>
          <a:xfrm>
            <a:off x="6227064" y="1947672"/>
            <a:ext cx="274320" cy="274320"/>
          </a:xfrm>
          <a:prstGeom prst="rect">
            <a:avLst/>
          </a:prstGeom>
        </p:spPr>
      </p:pic>
      <p:sp>
        <p:nvSpPr>
          <p:cNvPr id="14" name="Text 10"/>
          <p:cNvSpPr txBox="1"/>
          <p:nvPr/>
        </p:nvSpPr>
        <p:spPr>
          <a:xfrm>
            <a:off x="5669280" y="2450592"/>
            <a:ext cx="1389888" cy="365760"/>
          </a:xfrm>
          <a:prstGeom prst="rect">
            <a:avLst/>
          </a:prstGeom>
          <a:noFill/>
          <a:ln/>
        </p:spPr>
        <p:txBody>
          <a:bodyPr wrap="square" lIns="0" tIns="0" rIns="0" bIns="0" rtlCol="0" anchor="t"/>
          <a:lstStyle/>
          <a:p>
            <a:pPr algn="ctr" indent="0" marL="0">
              <a:buNone/>
            </a:pPr>
            <a:r>
              <a:rPr lang="en-US" sz="1400" b="1" dirty="0">
                <a:solidFill>
                  <a:srgbClr val="1E2A2F"/>
                </a:solidFill>
              </a:rPr>
              <a:t>Tent</a:t>
            </a:r>
            <a:endParaRPr lang="en-US" sz="1400" dirty="0"/>
          </a:p>
        </p:txBody>
      </p:sp>
      <p:sp>
        <p:nvSpPr>
          <p:cNvPr id="15" name="card"/>
          <p:cNvSpPr/>
          <p:nvPr/>
        </p:nvSpPr>
        <p:spPr>
          <a:xfrm>
            <a:off x="7205472" y="1691640"/>
            <a:ext cx="1389888" cy="1234440"/>
          </a:xfrm>
          <a:prstGeom prst="roundRect">
            <a:avLst>
              <a:gd name="adj" fmla="val 5926"/>
            </a:avLst>
          </a:prstGeom>
          <a:solidFill>
            <a:srgbClr val="FFFFFF"/>
          </a:solidFill>
          <a:ln w="9525">
            <a:solidFill>
              <a:srgbClr val="DCE3E4"/>
            </a:solidFill>
            <a:prstDash val="solid"/>
          </a:ln>
        </p:spPr>
      </p:sp>
      <p:sp>
        <p:nvSpPr>
          <p:cNvPr id="16" name="icon circle"/>
          <p:cNvSpPr/>
          <p:nvPr/>
        </p:nvSpPr>
        <p:spPr>
          <a:xfrm>
            <a:off x="7626096" y="1810512"/>
            <a:ext cx="548640" cy="548640"/>
          </a:xfrm>
          <a:prstGeom prst="ellipse">
            <a:avLst/>
          </a:prstGeom>
          <a:solidFill>
            <a:srgbClr val="0E5A5F"/>
          </a:solidFill>
          <a:ln w="12700">
            <a:solidFill>
              <a:srgbClr val="0E5A5F"/>
            </a:solidFill>
            <a:prstDash val="solid"/>
          </a:ln>
        </p:spPr>
      </p:sp>
      <p:pic>
        <p:nvPicPr>
          <p:cNvPr id="17" name="Image 1" descr="FaMicrophone">    </p:cNvPr>
          <p:cNvPicPr>
            <a:picLocks noChangeAspect="1"/>
          </p:cNvPicPr>
          <p:nvPr/>
        </p:nvPicPr>
        <p:blipFill>
          <a:blip r:embed="rId2"/>
          <a:stretch>
            <a:fillRect/>
          </a:stretch>
        </p:blipFill>
        <p:spPr>
          <a:xfrm>
            <a:off x="7763256" y="1947672"/>
            <a:ext cx="274320" cy="274320"/>
          </a:xfrm>
          <a:prstGeom prst="rect">
            <a:avLst/>
          </a:prstGeom>
        </p:spPr>
      </p:pic>
      <p:sp>
        <p:nvSpPr>
          <p:cNvPr id="18" name="Text 13"/>
          <p:cNvSpPr txBox="1"/>
          <p:nvPr/>
        </p:nvSpPr>
        <p:spPr>
          <a:xfrm>
            <a:off x="7205472" y="2450592"/>
            <a:ext cx="1389888" cy="365760"/>
          </a:xfrm>
          <a:prstGeom prst="rect">
            <a:avLst/>
          </a:prstGeom>
          <a:noFill/>
          <a:ln/>
        </p:spPr>
        <p:txBody>
          <a:bodyPr wrap="square" lIns="0" tIns="0" rIns="0" bIns="0" rtlCol="0" anchor="t"/>
          <a:lstStyle/>
          <a:p>
            <a:pPr algn="ctr" indent="0" marL="0">
              <a:buNone/>
            </a:pPr>
            <a:r>
              <a:rPr lang="en-US" sz="1400" b="1" dirty="0">
                <a:solidFill>
                  <a:srgbClr val="1E2A2F"/>
                </a:solidFill>
              </a:rPr>
              <a:t>PA system</a:t>
            </a:r>
            <a:endParaRPr lang="en-US" sz="1400" dirty="0"/>
          </a:p>
        </p:txBody>
      </p:sp>
      <p:sp>
        <p:nvSpPr>
          <p:cNvPr id="19" name="card"/>
          <p:cNvSpPr/>
          <p:nvPr/>
        </p:nvSpPr>
        <p:spPr>
          <a:xfrm>
            <a:off x="8741664" y="1691640"/>
            <a:ext cx="1389888" cy="1234440"/>
          </a:xfrm>
          <a:prstGeom prst="roundRect">
            <a:avLst>
              <a:gd name="adj" fmla="val 5926"/>
            </a:avLst>
          </a:prstGeom>
          <a:solidFill>
            <a:srgbClr val="FFFFFF"/>
          </a:solidFill>
          <a:ln w="9525">
            <a:solidFill>
              <a:srgbClr val="DCE3E4"/>
            </a:solidFill>
            <a:prstDash val="solid"/>
          </a:ln>
        </p:spPr>
      </p:sp>
      <p:sp>
        <p:nvSpPr>
          <p:cNvPr id="20" name="icon circle"/>
          <p:cNvSpPr/>
          <p:nvPr/>
        </p:nvSpPr>
        <p:spPr>
          <a:xfrm>
            <a:off x="9162288" y="1810512"/>
            <a:ext cx="548640" cy="548640"/>
          </a:xfrm>
          <a:prstGeom prst="ellipse">
            <a:avLst/>
          </a:prstGeom>
          <a:solidFill>
            <a:srgbClr val="0E5A5F"/>
          </a:solidFill>
          <a:ln w="12700">
            <a:solidFill>
              <a:srgbClr val="0E5A5F"/>
            </a:solidFill>
            <a:prstDash val="solid"/>
          </a:ln>
        </p:spPr>
      </p:sp>
      <p:pic>
        <p:nvPicPr>
          <p:cNvPr id="21" name="Image 2" descr="FaBus">    </p:cNvPr>
          <p:cNvPicPr>
            <a:picLocks noChangeAspect="1"/>
          </p:cNvPicPr>
          <p:nvPr/>
        </p:nvPicPr>
        <p:blipFill>
          <a:blip r:embed="rId3"/>
          <a:stretch>
            <a:fillRect/>
          </a:stretch>
        </p:blipFill>
        <p:spPr>
          <a:xfrm>
            <a:off x="9299448" y="1947672"/>
            <a:ext cx="274320" cy="274320"/>
          </a:xfrm>
          <a:prstGeom prst="rect">
            <a:avLst/>
          </a:prstGeom>
        </p:spPr>
      </p:pic>
      <p:sp>
        <p:nvSpPr>
          <p:cNvPr id="22" name="Text 16"/>
          <p:cNvSpPr txBox="1"/>
          <p:nvPr/>
        </p:nvSpPr>
        <p:spPr>
          <a:xfrm>
            <a:off x="8741664" y="2450592"/>
            <a:ext cx="1389888" cy="365760"/>
          </a:xfrm>
          <a:prstGeom prst="rect">
            <a:avLst/>
          </a:prstGeom>
          <a:noFill/>
          <a:ln/>
        </p:spPr>
        <p:txBody>
          <a:bodyPr wrap="square" lIns="0" tIns="0" rIns="0" bIns="0" rtlCol="0" anchor="t"/>
          <a:lstStyle/>
          <a:p>
            <a:pPr algn="ctr" indent="0" marL="0">
              <a:buNone/>
            </a:pPr>
            <a:r>
              <a:rPr lang="en-US" sz="1400" b="1" dirty="0">
                <a:solidFill>
                  <a:srgbClr val="1E2A2F"/>
                </a:solidFill>
              </a:rPr>
              <a:t>Transport</a:t>
            </a:r>
            <a:endParaRPr lang="en-US" sz="1400" dirty="0"/>
          </a:p>
        </p:txBody>
      </p:sp>
      <p:sp>
        <p:nvSpPr>
          <p:cNvPr id="23" name="card"/>
          <p:cNvSpPr/>
          <p:nvPr/>
        </p:nvSpPr>
        <p:spPr>
          <a:xfrm>
            <a:off x="10277856" y="1691640"/>
            <a:ext cx="1389888" cy="1234440"/>
          </a:xfrm>
          <a:prstGeom prst="roundRect">
            <a:avLst>
              <a:gd name="adj" fmla="val 5926"/>
            </a:avLst>
          </a:prstGeom>
          <a:solidFill>
            <a:srgbClr val="FFFFFF"/>
          </a:solidFill>
          <a:ln w="9525">
            <a:solidFill>
              <a:srgbClr val="DCE3E4"/>
            </a:solidFill>
            <a:prstDash val="solid"/>
          </a:ln>
        </p:spPr>
      </p:sp>
      <p:sp>
        <p:nvSpPr>
          <p:cNvPr id="24" name="icon circle"/>
          <p:cNvSpPr/>
          <p:nvPr/>
        </p:nvSpPr>
        <p:spPr>
          <a:xfrm>
            <a:off x="10698480" y="1810512"/>
            <a:ext cx="548640" cy="548640"/>
          </a:xfrm>
          <a:prstGeom prst="ellipse">
            <a:avLst/>
          </a:prstGeom>
          <a:solidFill>
            <a:srgbClr val="0E5A5F"/>
          </a:solidFill>
          <a:ln w="12700">
            <a:solidFill>
              <a:srgbClr val="0E5A5F"/>
            </a:solidFill>
            <a:prstDash val="solid"/>
          </a:ln>
        </p:spPr>
      </p:sp>
      <p:pic>
        <p:nvPicPr>
          <p:cNvPr id="25" name="Image 3" descr="FaUtensils">    </p:cNvPr>
          <p:cNvPicPr>
            <a:picLocks noChangeAspect="1"/>
          </p:cNvPicPr>
          <p:nvPr/>
        </p:nvPicPr>
        <p:blipFill>
          <a:blip r:embed="rId4"/>
          <a:stretch>
            <a:fillRect/>
          </a:stretch>
        </p:blipFill>
        <p:spPr>
          <a:xfrm>
            <a:off x="10835640" y="1947672"/>
            <a:ext cx="274320" cy="274320"/>
          </a:xfrm>
          <a:prstGeom prst="rect">
            <a:avLst/>
          </a:prstGeom>
        </p:spPr>
      </p:pic>
      <p:sp>
        <p:nvSpPr>
          <p:cNvPr id="26" name="Text 19"/>
          <p:cNvSpPr txBox="1"/>
          <p:nvPr/>
        </p:nvSpPr>
        <p:spPr>
          <a:xfrm>
            <a:off x="10277856" y="2450592"/>
            <a:ext cx="1389888" cy="365760"/>
          </a:xfrm>
          <a:prstGeom prst="rect">
            <a:avLst/>
          </a:prstGeom>
          <a:noFill/>
          <a:ln/>
        </p:spPr>
        <p:txBody>
          <a:bodyPr wrap="square" lIns="0" tIns="0" rIns="0" bIns="0" rtlCol="0" anchor="t"/>
          <a:lstStyle/>
          <a:p>
            <a:pPr algn="ctr" indent="0" marL="0">
              <a:buNone/>
            </a:pPr>
            <a:r>
              <a:rPr lang="en-US" sz="1400" b="1" dirty="0">
                <a:solidFill>
                  <a:srgbClr val="1E2A2F"/>
                </a:solidFill>
              </a:rPr>
              <a:t>Lunch</a:t>
            </a:r>
            <a:endParaRPr lang="en-US" sz="1400" dirty="0"/>
          </a:p>
        </p:txBody>
      </p:sp>
      <p:sp>
        <p:nvSpPr>
          <p:cNvPr id="27" name="card"/>
          <p:cNvSpPr/>
          <p:nvPr/>
        </p:nvSpPr>
        <p:spPr>
          <a:xfrm>
            <a:off x="5669280" y="3127248"/>
            <a:ext cx="6062472" cy="1234440"/>
          </a:xfrm>
          <a:prstGeom prst="roundRect">
            <a:avLst>
              <a:gd name="adj" fmla="val 5926"/>
            </a:avLst>
          </a:prstGeom>
          <a:solidFill>
            <a:srgbClr val="FBF3E0"/>
          </a:solidFill>
          <a:ln w="9525">
            <a:solidFill>
              <a:srgbClr val="DCE3E4"/>
            </a:solidFill>
            <a:prstDash val="solid"/>
          </a:ln>
        </p:spPr>
      </p:sp>
      <p:sp>
        <p:nvSpPr>
          <p:cNvPr id="28" name="Text 21"/>
          <p:cNvSpPr txBox="1"/>
          <p:nvPr/>
        </p:nvSpPr>
        <p:spPr>
          <a:xfrm>
            <a:off x="5852160" y="3246120"/>
            <a:ext cx="5760720" cy="1005840"/>
          </a:xfrm>
          <a:prstGeom prst="rect">
            <a:avLst/>
          </a:prstGeom>
          <a:noFill/>
          <a:ln/>
        </p:spPr>
        <p:txBody>
          <a:bodyPr wrap="square" lIns="0" tIns="0" rIns="0" bIns="0" rtlCol="0" anchor="t"/>
          <a:lstStyle/>
          <a:p>
            <a:pPr indent="0" marL="0">
              <a:buNone/>
            </a:pPr>
            <a:r>
              <a:rPr lang="en-US" sz="1400" b="1" dirty="0">
                <a:solidFill>
                  <a:srgbClr val="1E2A2F"/>
                </a:solidFill>
              </a:rPr>
              <a:t>Cost and return on investment</a:t>
            </a:r>
            <a:endParaRPr lang="en-US" sz="1400" dirty="0"/>
          </a:p>
          <a:p>
            <a:pPr indent="0" marL="0">
              <a:buNone/>
            </a:pPr>
            <a:r>
              <a:rPr lang="en-US" sz="1400" b="1" dirty="0">
                <a:solidFill>
                  <a:srgbClr val="C98A00"/>
                </a:solidFill>
              </a:rPr>
              <a:t>Data not yet captured — process starts October 2026</a:t>
            </a:r>
            <a:endParaRPr lang="en-US" sz="1400" dirty="0"/>
          </a:p>
        </p:txBody>
      </p:sp>
      <p:sp>
        <p:nvSpPr>
          <p:cNvPr id="29"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30" name="Text 23"/>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43 registrations → 17 paid during the campaign (39.5%), more after follow-up.</a:t>
            </a:r>
            <a:endParaRPr lang="en-US" sz="1050" dirty="0"/>
          </a:p>
        </p:txBody>
      </p:sp>
      <p:sp>
        <p:nvSpPr>
          <p:cNvPr id="31"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32" name="Text 25"/>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Supported campaigns hit our conversion target in weeks.</a:t>
            </a:r>
            <a:endParaRPr lang="en-US" sz="1050" dirty="0"/>
          </a:p>
        </p:txBody>
      </p:sp>
      <p:sp>
        <p:nvSpPr>
          <p:cNvPr id="33"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34" name="Text 27"/>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Run a monthly campaign accelerator with a cost sheet and ROI.</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THE GROWTH MODEL</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Our growth model: a resident agent per territory, boosted by campaigns</a:t>
            </a:r>
            <a:endParaRPr lang="en-US" sz="2600" dirty="0"/>
          </a:p>
        </p:txBody>
      </p:sp>
      <p:sp>
        <p:nvSpPr>
          <p:cNvPr id="5" name="card"/>
          <p:cNvSpPr/>
          <p:nvPr/>
        </p:nvSpPr>
        <p:spPr>
          <a:xfrm>
            <a:off x="457200" y="1371600"/>
            <a:ext cx="11277295" cy="2514600"/>
          </a:xfrm>
          <a:prstGeom prst="roundRect">
            <a:avLst>
              <a:gd name="adj" fmla="val 2909"/>
            </a:avLst>
          </a:prstGeom>
          <a:solidFill>
            <a:srgbClr val="FFFFFF"/>
          </a:solidFill>
          <a:ln w="9525">
            <a:solidFill>
              <a:srgbClr val="DCE3E4"/>
            </a:solidFill>
            <a:prstDash val="solid"/>
          </a:ln>
        </p:spPr>
      </p:sp>
      <p:sp>
        <p:nvSpPr>
          <p:cNvPr id="6" name="Text 3"/>
          <p:cNvSpPr txBox="1"/>
          <p:nvPr/>
        </p:nvSpPr>
        <p:spPr>
          <a:xfrm>
            <a:off x="685800" y="1481328"/>
            <a:ext cx="5486400" cy="256032"/>
          </a:xfrm>
          <a:prstGeom prst="rect">
            <a:avLst/>
          </a:prstGeom>
          <a:noFill/>
          <a:ln/>
        </p:spPr>
        <p:txBody>
          <a:bodyPr wrap="square" lIns="0" tIns="0" rIns="0" bIns="0" rtlCol="0" anchor="t"/>
          <a:lstStyle/>
          <a:p>
            <a:pPr indent="0" marL="0">
              <a:buNone/>
            </a:pPr>
            <a:r>
              <a:rPr lang="en-US" sz="1050" b="1" spc="100" kern="0" dirty="0">
                <a:solidFill>
                  <a:srgbClr val="0E5A5F"/>
                </a:solidFill>
              </a:rPr>
              <a:t>ILLUSTRATIVE — ONE TERRITORY OVER TIME</a:t>
            </a:r>
            <a:endParaRPr lang="en-US" sz="1050" dirty="0"/>
          </a:p>
        </p:txBody>
      </p:sp>
      <p:sp>
        <p:nvSpPr>
          <p:cNvPr id="7" name="resident agent band"/>
          <p:cNvSpPr/>
          <p:nvPr/>
        </p:nvSpPr>
        <p:spPr>
          <a:xfrm>
            <a:off x="731520" y="3063240"/>
            <a:ext cx="10728655" cy="502920"/>
          </a:xfrm>
          <a:prstGeom prst="roundRect">
            <a:avLst>
              <a:gd name="adj" fmla="val 18182"/>
            </a:avLst>
          </a:prstGeom>
          <a:solidFill>
            <a:srgbClr val="2E6DB4"/>
          </a:solidFill>
          <a:ln w="12700">
            <a:solidFill>
              <a:srgbClr val="2E6DB4"/>
            </a:solidFill>
            <a:prstDash val="solid"/>
          </a:ln>
        </p:spPr>
      </p:sp>
      <p:sp>
        <p:nvSpPr>
          <p:cNvPr id="8" name="Text 5"/>
          <p:cNvSpPr txBox="1"/>
          <p:nvPr/>
        </p:nvSpPr>
        <p:spPr>
          <a:xfrm>
            <a:off x="914400" y="3063240"/>
            <a:ext cx="10362895" cy="502920"/>
          </a:xfrm>
          <a:prstGeom prst="rect">
            <a:avLst/>
          </a:prstGeom>
          <a:noFill/>
          <a:ln/>
        </p:spPr>
        <p:txBody>
          <a:bodyPr wrap="square" lIns="0" tIns="0" rIns="0" bIns="0" rtlCol="0" anchor="ctr"/>
          <a:lstStyle/>
          <a:p>
            <a:pPr indent="0" marL="0">
              <a:buNone/>
            </a:pPr>
            <a:r>
              <a:rPr lang="en-US" sz="1400" b="1" dirty="0">
                <a:solidFill>
                  <a:srgbClr val="FFFFFF"/>
                </a:solidFill>
              </a:rPr>
              <a:t>Resident local agent — daily presence, self-marketing, follow-up, collections</a:t>
            </a:r>
            <a:endParaRPr lang="en-US" sz="1400" dirty="0"/>
          </a:p>
        </p:txBody>
      </p:sp>
      <p:sp>
        <p:nvSpPr>
          <p:cNvPr id="9" name="campaign block"/>
          <p:cNvSpPr/>
          <p:nvPr/>
        </p:nvSpPr>
        <p:spPr>
          <a:xfrm>
            <a:off x="1554480" y="1874520"/>
            <a:ext cx="2377440" cy="1051560"/>
          </a:xfrm>
          <a:prstGeom prst="roundRect">
            <a:avLst>
              <a:gd name="adj" fmla="val 8696"/>
            </a:avLst>
          </a:prstGeom>
          <a:solidFill>
            <a:srgbClr val="E07B39"/>
          </a:solidFill>
          <a:ln w="12700">
            <a:solidFill>
              <a:srgbClr val="E07B39"/>
            </a:solidFill>
            <a:prstDash val="solid"/>
          </a:ln>
        </p:spPr>
      </p:sp>
      <p:sp>
        <p:nvSpPr>
          <p:cNvPr id="10" name="Text 7"/>
          <p:cNvSpPr txBox="1"/>
          <p:nvPr/>
        </p:nvSpPr>
        <p:spPr>
          <a:xfrm>
            <a:off x="1554480" y="1874520"/>
            <a:ext cx="2377440" cy="1051560"/>
          </a:xfrm>
          <a:prstGeom prst="rect">
            <a:avLst/>
          </a:prstGeom>
          <a:noFill/>
          <a:ln/>
        </p:spPr>
        <p:txBody>
          <a:bodyPr wrap="square" lIns="0" tIns="0" rIns="0" bIns="0" rtlCol="0" anchor="ctr"/>
          <a:lstStyle/>
          <a:p>
            <a:pPr algn="ctr" indent="0" marL="0">
              <a:buNone/>
            </a:pPr>
            <a:r>
              <a:rPr lang="en-US" sz="1400" b="1" dirty="0">
                <a:solidFill>
                  <a:srgbClr val="FFFFFF"/>
                </a:solidFill>
              </a:rPr>
              <a:t>Campaign accelerator</a:t>
            </a:r>
            <a:endParaRPr lang="en-US" sz="1400" dirty="0"/>
          </a:p>
          <a:p>
            <a:pPr algn="ctr" indent="0" marL="0">
              <a:buNone/>
            </a:pPr>
            <a:r>
              <a:rPr lang="en-US" sz="1200" dirty="0">
                <a:solidFill>
                  <a:srgbClr val="FFFFFF"/>
                </a:solidFill>
              </a:rPr>
              <a:t>Spike of leads</a:t>
            </a:r>
            <a:endParaRPr lang="en-US" sz="1400" dirty="0"/>
          </a:p>
        </p:txBody>
      </p:sp>
      <p:sp>
        <p:nvSpPr>
          <p:cNvPr id="11" name="campaign block"/>
          <p:cNvSpPr/>
          <p:nvPr/>
        </p:nvSpPr>
        <p:spPr>
          <a:xfrm>
            <a:off x="5029200" y="1874520"/>
            <a:ext cx="2377440" cy="1051560"/>
          </a:xfrm>
          <a:prstGeom prst="roundRect">
            <a:avLst>
              <a:gd name="adj" fmla="val 8696"/>
            </a:avLst>
          </a:prstGeom>
          <a:solidFill>
            <a:srgbClr val="E07B39"/>
          </a:solidFill>
          <a:ln w="12700">
            <a:solidFill>
              <a:srgbClr val="E07B39"/>
            </a:solidFill>
            <a:prstDash val="solid"/>
          </a:ln>
        </p:spPr>
      </p:sp>
      <p:sp>
        <p:nvSpPr>
          <p:cNvPr id="12" name="Text 9"/>
          <p:cNvSpPr txBox="1"/>
          <p:nvPr/>
        </p:nvSpPr>
        <p:spPr>
          <a:xfrm>
            <a:off x="5029200" y="1874520"/>
            <a:ext cx="2377440" cy="1051560"/>
          </a:xfrm>
          <a:prstGeom prst="rect">
            <a:avLst/>
          </a:prstGeom>
          <a:noFill/>
          <a:ln/>
        </p:spPr>
        <p:txBody>
          <a:bodyPr wrap="square" lIns="0" tIns="0" rIns="0" bIns="0" rtlCol="0" anchor="ctr"/>
          <a:lstStyle/>
          <a:p>
            <a:pPr algn="ctr" indent="0" marL="0">
              <a:buNone/>
            </a:pPr>
            <a:r>
              <a:rPr lang="en-US" sz="1400" b="1" dirty="0">
                <a:solidFill>
                  <a:srgbClr val="FFFFFF"/>
                </a:solidFill>
              </a:rPr>
              <a:t>Campaign accelerator</a:t>
            </a:r>
            <a:endParaRPr lang="en-US" sz="1400" dirty="0"/>
          </a:p>
          <a:p>
            <a:pPr algn="ctr" indent="0" marL="0">
              <a:buNone/>
            </a:pPr>
            <a:r>
              <a:rPr lang="en-US" sz="1200" dirty="0">
                <a:solidFill>
                  <a:srgbClr val="FFFFFF"/>
                </a:solidFill>
              </a:rPr>
              <a:t>Spike of leads</a:t>
            </a:r>
            <a:endParaRPr lang="en-US" sz="1400" dirty="0"/>
          </a:p>
        </p:txBody>
      </p:sp>
      <p:sp>
        <p:nvSpPr>
          <p:cNvPr id="13" name="campaign block"/>
          <p:cNvSpPr/>
          <p:nvPr/>
        </p:nvSpPr>
        <p:spPr>
          <a:xfrm>
            <a:off x="8503920" y="1874520"/>
            <a:ext cx="2377440" cy="1051560"/>
          </a:xfrm>
          <a:prstGeom prst="roundRect">
            <a:avLst>
              <a:gd name="adj" fmla="val 8696"/>
            </a:avLst>
          </a:prstGeom>
          <a:solidFill>
            <a:srgbClr val="E07B39"/>
          </a:solidFill>
          <a:ln w="12700">
            <a:solidFill>
              <a:srgbClr val="E07B39"/>
            </a:solidFill>
            <a:prstDash val="solid"/>
          </a:ln>
        </p:spPr>
      </p:sp>
      <p:sp>
        <p:nvSpPr>
          <p:cNvPr id="14" name="Text 11"/>
          <p:cNvSpPr txBox="1"/>
          <p:nvPr/>
        </p:nvSpPr>
        <p:spPr>
          <a:xfrm>
            <a:off x="8503920" y="1874520"/>
            <a:ext cx="2377440" cy="1051560"/>
          </a:xfrm>
          <a:prstGeom prst="rect">
            <a:avLst/>
          </a:prstGeom>
          <a:noFill/>
          <a:ln/>
        </p:spPr>
        <p:txBody>
          <a:bodyPr wrap="square" lIns="0" tIns="0" rIns="0" bIns="0" rtlCol="0" anchor="ctr"/>
          <a:lstStyle/>
          <a:p>
            <a:pPr algn="ctr" indent="0" marL="0">
              <a:buNone/>
            </a:pPr>
            <a:r>
              <a:rPr lang="en-US" sz="1400" b="1" dirty="0">
                <a:solidFill>
                  <a:srgbClr val="FFFFFF"/>
                </a:solidFill>
              </a:rPr>
              <a:t>Campaign accelerator</a:t>
            </a:r>
            <a:endParaRPr lang="en-US" sz="1400" dirty="0"/>
          </a:p>
          <a:p>
            <a:pPr algn="ctr" indent="0" marL="0">
              <a:buNone/>
            </a:pPr>
            <a:r>
              <a:rPr lang="en-US" sz="1200" dirty="0">
                <a:solidFill>
                  <a:srgbClr val="FFFFFF"/>
                </a:solidFill>
              </a:rPr>
              <a:t>Spike of leads</a:t>
            </a:r>
            <a:endParaRPr lang="en-US" sz="1400" dirty="0"/>
          </a:p>
        </p:txBody>
      </p:sp>
      <p:sp>
        <p:nvSpPr>
          <p:cNvPr id="15" name="card"/>
          <p:cNvSpPr/>
          <p:nvPr/>
        </p:nvSpPr>
        <p:spPr>
          <a:xfrm>
            <a:off x="457200" y="4114800"/>
            <a:ext cx="3637178" cy="1234440"/>
          </a:xfrm>
          <a:prstGeom prst="roundRect">
            <a:avLst>
              <a:gd name="adj" fmla="val 5926"/>
            </a:avLst>
          </a:prstGeom>
          <a:solidFill>
            <a:srgbClr val="FFFFFF"/>
          </a:solidFill>
          <a:ln w="9525">
            <a:solidFill>
              <a:srgbClr val="DCE3E4"/>
            </a:solidFill>
            <a:prstDash val="solid"/>
          </a:ln>
        </p:spPr>
      </p:sp>
      <p:sp>
        <p:nvSpPr>
          <p:cNvPr id="16" name="icon circle"/>
          <p:cNvSpPr/>
          <p:nvPr/>
        </p:nvSpPr>
        <p:spPr>
          <a:xfrm>
            <a:off x="640080" y="4315968"/>
            <a:ext cx="548640" cy="548640"/>
          </a:xfrm>
          <a:prstGeom prst="ellipse">
            <a:avLst/>
          </a:prstGeom>
          <a:solidFill>
            <a:srgbClr val="0E5A5F"/>
          </a:solidFill>
          <a:ln w="12700">
            <a:solidFill>
              <a:srgbClr val="0E5A5F"/>
            </a:solidFill>
            <a:prstDash val="solid"/>
          </a:ln>
        </p:spPr>
      </p:sp>
      <p:pic>
        <p:nvPicPr>
          <p:cNvPr id="17" name="Image 0" descr="FaUserCheck">    </p:cNvPr>
          <p:cNvPicPr>
            <a:picLocks noChangeAspect="1"/>
          </p:cNvPicPr>
          <p:nvPr/>
        </p:nvPicPr>
        <p:blipFill>
          <a:blip r:embed="rId1"/>
          <a:stretch>
            <a:fillRect/>
          </a:stretch>
        </p:blipFill>
        <p:spPr>
          <a:xfrm>
            <a:off x="777240" y="4453128"/>
            <a:ext cx="274320" cy="274320"/>
          </a:xfrm>
          <a:prstGeom prst="rect">
            <a:avLst/>
          </a:prstGeom>
        </p:spPr>
      </p:pic>
      <p:sp>
        <p:nvSpPr>
          <p:cNvPr id="18" name="Text 14"/>
          <p:cNvSpPr txBox="1"/>
          <p:nvPr/>
        </p:nvSpPr>
        <p:spPr>
          <a:xfrm>
            <a:off x="1371600" y="4224528"/>
            <a:ext cx="2585618" cy="1051560"/>
          </a:xfrm>
          <a:prstGeom prst="rect">
            <a:avLst/>
          </a:prstGeom>
          <a:noFill/>
          <a:ln/>
        </p:spPr>
        <p:txBody>
          <a:bodyPr wrap="square" lIns="0" tIns="0" rIns="0" bIns="0" rtlCol="0" anchor="t"/>
          <a:lstStyle/>
          <a:p>
            <a:pPr indent="0" marL="0">
              <a:buNone/>
            </a:pPr>
            <a:r>
              <a:rPr lang="en-US" sz="1600" b="1" dirty="0">
                <a:solidFill>
                  <a:srgbClr val="1E2A2F"/>
                </a:solidFill>
              </a:rPr>
              <a:t>Resident agent</a:t>
            </a:r>
            <a:endParaRPr lang="en-US" sz="1400" dirty="0"/>
          </a:p>
          <a:p>
            <a:pPr indent="0" marL="0">
              <a:buNone/>
            </a:pPr>
            <a:r>
              <a:rPr lang="en-US" sz="1300" dirty="0">
                <a:solidFill>
                  <a:srgbClr val="5B6B71"/>
                </a:solidFill>
              </a:rPr>
              <a:t>Lives in the area, sells daily, owns the territory</a:t>
            </a:r>
            <a:endParaRPr lang="en-US" sz="1400" dirty="0"/>
          </a:p>
        </p:txBody>
      </p:sp>
      <p:sp>
        <p:nvSpPr>
          <p:cNvPr id="19" name="card"/>
          <p:cNvSpPr/>
          <p:nvPr/>
        </p:nvSpPr>
        <p:spPr>
          <a:xfrm>
            <a:off x="4277258" y="4114800"/>
            <a:ext cx="3637178" cy="1234440"/>
          </a:xfrm>
          <a:prstGeom prst="roundRect">
            <a:avLst>
              <a:gd name="adj" fmla="val 5926"/>
            </a:avLst>
          </a:prstGeom>
          <a:solidFill>
            <a:srgbClr val="FFFFFF"/>
          </a:solidFill>
          <a:ln w="9525">
            <a:solidFill>
              <a:srgbClr val="DCE3E4"/>
            </a:solidFill>
            <a:prstDash val="solid"/>
          </a:ln>
        </p:spPr>
      </p:sp>
      <p:sp>
        <p:nvSpPr>
          <p:cNvPr id="20" name="icon circle"/>
          <p:cNvSpPr/>
          <p:nvPr/>
        </p:nvSpPr>
        <p:spPr>
          <a:xfrm>
            <a:off x="4460138" y="4315968"/>
            <a:ext cx="548640" cy="548640"/>
          </a:xfrm>
          <a:prstGeom prst="ellipse">
            <a:avLst/>
          </a:prstGeom>
          <a:solidFill>
            <a:srgbClr val="0E5A5F"/>
          </a:solidFill>
          <a:ln w="12700">
            <a:solidFill>
              <a:srgbClr val="0E5A5F"/>
            </a:solidFill>
            <a:prstDash val="solid"/>
          </a:ln>
        </p:spPr>
      </p:sp>
      <p:pic>
        <p:nvPicPr>
          <p:cNvPr id="21" name="Image 1" descr="FaBullhorn">    </p:cNvPr>
          <p:cNvPicPr>
            <a:picLocks noChangeAspect="1"/>
          </p:cNvPicPr>
          <p:nvPr/>
        </p:nvPicPr>
        <p:blipFill>
          <a:blip r:embed="rId2"/>
          <a:stretch>
            <a:fillRect/>
          </a:stretch>
        </p:blipFill>
        <p:spPr>
          <a:xfrm>
            <a:off x="4597298" y="4453128"/>
            <a:ext cx="274320" cy="274320"/>
          </a:xfrm>
          <a:prstGeom prst="rect">
            <a:avLst/>
          </a:prstGeom>
        </p:spPr>
      </p:pic>
      <p:sp>
        <p:nvSpPr>
          <p:cNvPr id="22" name="Text 17"/>
          <p:cNvSpPr txBox="1"/>
          <p:nvPr/>
        </p:nvSpPr>
        <p:spPr>
          <a:xfrm>
            <a:off x="5191658" y="4224528"/>
            <a:ext cx="2585618" cy="1051560"/>
          </a:xfrm>
          <a:prstGeom prst="rect">
            <a:avLst/>
          </a:prstGeom>
          <a:noFill/>
          <a:ln/>
        </p:spPr>
        <p:txBody>
          <a:bodyPr wrap="square" lIns="0" tIns="0" rIns="0" bIns="0" rtlCol="0" anchor="t"/>
          <a:lstStyle/>
          <a:p>
            <a:pPr indent="0" marL="0">
              <a:buNone/>
            </a:pPr>
            <a:r>
              <a:rPr lang="en-US" sz="1600" b="1" dirty="0">
                <a:solidFill>
                  <a:srgbClr val="1E2A2F"/>
                </a:solidFill>
              </a:rPr>
              <a:t>Campaign kit</a:t>
            </a:r>
            <a:endParaRPr lang="en-US" sz="1400" dirty="0"/>
          </a:p>
          <a:p>
            <a:pPr indent="0" marL="0">
              <a:buNone/>
            </a:pPr>
            <a:r>
              <a:rPr lang="en-US" sz="1300" dirty="0">
                <a:solidFill>
                  <a:srgbClr val="5B6B71"/>
                </a:solidFill>
              </a:rPr>
              <a:t>Tent, PA, transport, lunch, advertising, Join &amp; Win</a:t>
            </a:r>
            <a:endParaRPr lang="en-US" sz="1400" dirty="0"/>
          </a:p>
        </p:txBody>
      </p:sp>
      <p:sp>
        <p:nvSpPr>
          <p:cNvPr id="23" name="card"/>
          <p:cNvSpPr/>
          <p:nvPr/>
        </p:nvSpPr>
        <p:spPr>
          <a:xfrm>
            <a:off x="8097317" y="4114800"/>
            <a:ext cx="3637178" cy="1234440"/>
          </a:xfrm>
          <a:prstGeom prst="roundRect">
            <a:avLst>
              <a:gd name="adj" fmla="val 5926"/>
            </a:avLst>
          </a:prstGeom>
          <a:solidFill>
            <a:srgbClr val="E3EFEF"/>
          </a:solidFill>
          <a:ln w="9525">
            <a:solidFill>
              <a:srgbClr val="DCE3E4"/>
            </a:solidFill>
            <a:prstDash val="solid"/>
          </a:ln>
        </p:spPr>
      </p:sp>
      <p:sp>
        <p:nvSpPr>
          <p:cNvPr id="24" name="icon circle"/>
          <p:cNvSpPr/>
          <p:nvPr/>
        </p:nvSpPr>
        <p:spPr>
          <a:xfrm>
            <a:off x="8280197" y="4315968"/>
            <a:ext cx="548640" cy="548640"/>
          </a:xfrm>
          <a:prstGeom prst="ellipse">
            <a:avLst/>
          </a:prstGeom>
          <a:solidFill>
            <a:srgbClr val="0E5A5F"/>
          </a:solidFill>
          <a:ln w="12700">
            <a:solidFill>
              <a:srgbClr val="0E5A5F"/>
            </a:solidFill>
            <a:prstDash val="solid"/>
          </a:ln>
        </p:spPr>
      </p:sp>
      <p:pic>
        <p:nvPicPr>
          <p:cNvPr id="25" name="Image 2" descr="FaMapMarkerAlt">    </p:cNvPr>
          <p:cNvPicPr>
            <a:picLocks noChangeAspect="1"/>
          </p:cNvPicPr>
          <p:nvPr/>
        </p:nvPicPr>
        <p:blipFill>
          <a:blip r:embed="rId3"/>
          <a:stretch>
            <a:fillRect/>
          </a:stretch>
        </p:blipFill>
        <p:spPr>
          <a:xfrm>
            <a:off x="8417357" y="4453128"/>
            <a:ext cx="274320" cy="274320"/>
          </a:xfrm>
          <a:prstGeom prst="rect">
            <a:avLst/>
          </a:prstGeom>
        </p:spPr>
      </p:pic>
      <p:sp>
        <p:nvSpPr>
          <p:cNvPr id="26" name="Text 20"/>
          <p:cNvSpPr txBox="1"/>
          <p:nvPr/>
        </p:nvSpPr>
        <p:spPr>
          <a:xfrm>
            <a:off x="9011717" y="4224528"/>
            <a:ext cx="2585618" cy="1051560"/>
          </a:xfrm>
          <a:prstGeom prst="rect">
            <a:avLst/>
          </a:prstGeom>
          <a:noFill/>
          <a:ln/>
        </p:spPr>
        <p:txBody>
          <a:bodyPr wrap="square" lIns="0" tIns="0" rIns="0" bIns="0" rtlCol="0" anchor="t"/>
          <a:lstStyle/>
          <a:p>
            <a:pPr indent="0" marL="0">
              <a:buNone/>
            </a:pPr>
            <a:r>
              <a:rPr lang="en-US" sz="1600" b="1" dirty="0">
                <a:solidFill>
                  <a:srgbClr val="1E2A2F"/>
                </a:solidFill>
              </a:rPr>
              <a:t>Lupane first</a:t>
            </a:r>
            <a:endParaRPr lang="en-US" sz="1400" dirty="0"/>
          </a:p>
          <a:p>
            <a:pPr indent="0" marL="0">
              <a:buNone/>
            </a:pPr>
            <a:r>
              <a:rPr lang="en-US" sz="1300" dirty="0">
                <a:solidFill>
                  <a:srgbClr val="5B6B71"/>
                </a:solidFill>
              </a:rPr>
              <a:t>Then two more areas; each measured on joinings, paid and cost</a:t>
            </a:r>
            <a:endParaRPr lang="en-US" sz="1400" dirty="0"/>
          </a:p>
        </p:txBody>
      </p:sp>
      <p:sp>
        <p:nvSpPr>
          <p:cNvPr id="27" name="Text 21"/>
          <p:cNvSpPr txBox="1"/>
          <p:nvPr/>
        </p:nvSpPr>
        <p:spPr>
          <a:xfrm>
            <a:off x="457200" y="5623560"/>
            <a:ext cx="11277295" cy="365760"/>
          </a:xfrm>
          <a:prstGeom prst="rect">
            <a:avLst/>
          </a:prstGeom>
          <a:noFill/>
          <a:ln/>
        </p:spPr>
        <p:txBody>
          <a:bodyPr wrap="square" lIns="0" tIns="0" rIns="0" bIns="0" rtlCol="0" anchor="t"/>
          <a:lstStyle/>
          <a:p>
            <a:pPr indent="0" marL="0">
              <a:buNone/>
            </a:pPr>
            <a:r>
              <a:rPr lang="en-US" sz="1400" i="1" dirty="0">
                <a:solidFill>
                  <a:srgbClr val="0E5A5F"/>
                </a:solidFill>
              </a:rPr>
              <a:t>Combines the two things that worked: Filabusi (resident agent) and Sokusile (supported campaign).</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PRODUCTS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UMTHUNZI sells and pays; UMNDENI sells but mostly does not pay</a:t>
            </a:r>
            <a:endParaRPr lang="en-US" sz="2600" dirty="0"/>
          </a:p>
        </p:txBody>
      </p:sp>
      <p:graphicFrame>
        <p:nvGraphicFramePr>
          <p:cNvPr id="5" name="Chart 0" descr=""/>
          <p:cNvGraphicFramePr/>
          <p:nvPr/>
        </p:nvGraphicFramePr>
        <p:xfrm>
          <a:off x="457200" y="1280160"/>
          <a:ext cx="722376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909560" y="1417320"/>
          <a:ext cx="3822192" cy="914400"/>
        </p:xfrm>
        <a:graphic>
          <a:graphicData uri="http://schemas.openxmlformats.org/drawingml/2006/table">
            <a:tbl>
              <a:tblPr/>
              <a:tblGrid>
                <a:gridCol w="1234440"/>
                <a:gridCol w="1143000"/>
                <a:gridCol w="1444752"/>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Avg premium</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 today</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384048">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UMTHUNZI</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USD 12.21</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63 active / in grace</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UMNDENI</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USD 7.22</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105 inactive</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YEDWANA</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USD 4.08</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7909560" y="3154680"/>
            <a:ext cx="3822192" cy="822960"/>
          </a:xfrm>
          <a:prstGeom prst="rect">
            <a:avLst/>
          </a:prstGeom>
          <a:noFill/>
          <a:ln/>
        </p:spPr>
        <p:txBody>
          <a:bodyPr wrap="square" lIns="0" tIns="0" rIns="0" bIns="0" rtlCol="0" anchor="t"/>
          <a:lstStyle/>
          <a:p>
            <a:pPr indent="0" marL="0">
              <a:buNone/>
            </a:pPr>
            <a:r>
              <a:rPr lang="en-US" sz="1200" dirty="0">
                <a:solidFill>
                  <a:srgbClr val="5B6B71"/>
                </a:solidFill>
              </a:rPr>
              <a:t>* 24 of the 29 Legacy Individual policies are South African clients. Legacy products are not counted as genuine new business.</a:t>
            </a:r>
            <a:endParaRPr lang="en-US" sz="12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4"/>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UMTHUNZI: 69 paid at USD 12.21; UMNDENI: 28 paid of 133, with 105 inactive.</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6"/>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UMNDENI's low payment turns sales into inactive policies.</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8"/>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Test an UMNDENI redesign (next slide); promote UMTHUNZI in campaigns.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PRODUCTS — UMNDENI</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UMNDENI may not fit our families — design, not price, is the likely issue</a:t>
            </a:r>
            <a:endParaRPr lang="en-US" sz="2600" dirty="0"/>
          </a:p>
        </p:txBody>
      </p:sp>
      <p:sp>
        <p:nvSpPr>
          <p:cNvPr id="5" name="card"/>
          <p:cNvSpPr/>
          <p:nvPr/>
        </p:nvSpPr>
        <p:spPr>
          <a:xfrm>
            <a:off x="457200" y="1371600"/>
            <a:ext cx="5394960" cy="3566160"/>
          </a:xfrm>
          <a:prstGeom prst="roundRect">
            <a:avLst>
              <a:gd name="adj" fmla="val 2051"/>
            </a:avLst>
          </a:prstGeom>
          <a:solidFill>
            <a:srgbClr val="FFFFFF"/>
          </a:solidFill>
          <a:ln w="9525">
            <a:solidFill>
              <a:srgbClr val="DCE3E4"/>
            </a:solidFill>
            <a:prstDash val="solid"/>
          </a:ln>
        </p:spPr>
      </p:sp>
      <p:sp>
        <p:nvSpPr>
          <p:cNvPr id="6" name="Text 3"/>
          <p:cNvSpPr txBox="1"/>
          <p:nvPr/>
        </p:nvSpPr>
        <p:spPr>
          <a:xfrm>
            <a:off x="685800" y="1481328"/>
            <a:ext cx="4572000" cy="256032"/>
          </a:xfrm>
          <a:prstGeom prst="rect">
            <a:avLst/>
          </a:prstGeom>
          <a:noFill/>
          <a:ln/>
        </p:spPr>
        <p:txBody>
          <a:bodyPr wrap="square" lIns="0" tIns="0" rIns="0" bIns="0" rtlCol="0" anchor="t"/>
          <a:lstStyle/>
          <a:p>
            <a:pPr indent="0" marL="0">
              <a:buNone/>
            </a:pPr>
            <a:r>
              <a:rPr lang="en-US" sz="1050" b="1" spc="100" kern="0" dirty="0">
                <a:solidFill>
                  <a:srgbClr val="0E5A5F"/>
                </a:solidFill>
              </a:rPr>
              <a:t>UMNDENI TODAY</a:t>
            </a:r>
            <a:endParaRPr lang="en-US" sz="1050" dirty="0"/>
          </a:p>
        </p:txBody>
      </p:sp>
      <p:sp>
        <p:nvSpPr>
          <p:cNvPr id="7" name="icon circle"/>
          <p:cNvSpPr/>
          <p:nvPr/>
        </p:nvSpPr>
        <p:spPr>
          <a:xfrm>
            <a:off x="731520" y="1874520"/>
            <a:ext cx="548640" cy="548640"/>
          </a:xfrm>
          <a:prstGeom prst="ellipse">
            <a:avLst/>
          </a:prstGeom>
          <a:solidFill>
            <a:srgbClr val="2E6DB4"/>
          </a:solidFill>
          <a:ln w="12700">
            <a:solidFill>
              <a:srgbClr val="2E6DB4"/>
            </a:solidFill>
            <a:prstDash val="solid"/>
          </a:ln>
        </p:spPr>
      </p:sp>
      <p:pic>
        <p:nvPicPr>
          <p:cNvPr id="8" name="Image 0" descr="FaUser">    </p:cNvPr>
          <p:cNvPicPr>
            <a:picLocks noChangeAspect="1"/>
          </p:cNvPicPr>
          <p:nvPr/>
        </p:nvPicPr>
        <p:blipFill>
          <a:blip r:embed="rId1"/>
          <a:stretch>
            <a:fillRect/>
          </a:stretch>
        </p:blipFill>
        <p:spPr>
          <a:xfrm>
            <a:off x="868680" y="2011680"/>
            <a:ext cx="274320" cy="274320"/>
          </a:xfrm>
          <a:prstGeom prst="rect">
            <a:avLst/>
          </a:prstGeom>
        </p:spPr>
      </p:pic>
      <p:sp>
        <p:nvSpPr>
          <p:cNvPr id="9" name="icon circle"/>
          <p:cNvSpPr/>
          <p:nvPr/>
        </p:nvSpPr>
        <p:spPr>
          <a:xfrm>
            <a:off x="1389888" y="1874520"/>
            <a:ext cx="548640" cy="548640"/>
          </a:xfrm>
          <a:prstGeom prst="ellipse">
            <a:avLst/>
          </a:prstGeom>
          <a:solidFill>
            <a:srgbClr val="2E6DB4"/>
          </a:solidFill>
          <a:ln w="12700">
            <a:solidFill>
              <a:srgbClr val="2E6DB4"/>
            </a:solidFill>
            <a:prstDash val="solid"/>
          </a:ln>
        </p:spPr>
      </p:sp>
      <p:pic>
        <p:nvPicPr>
          <p:cNvPr id="10" name="Image 1" descr="FaUser">    </p:cNvPr>
          <p:cNvPicPr>
            <a:picLocks noChangeAspect="1"/>
          </p:cNvPicPr>
          <p:nvPr/>
        </p:nvPicPr>
        <p:blipFill>
          <a:blip r:embed="rId2"/>
          <a:stretch>
            <a:fillRect/>
          </a:stretch>
        </p:blipFill>
        <p:spPr>
          <a:xfrm>
            <a:off x="1527048" y="2011680"/>
            <a:ext cx="274320" cy="274320"/>
          </a:xfrm>
          <a:prstGeom prst="rect">
            <a:avLst/>
          </a:prstGeom>
        </p:spPr>
      </p:pic>
      <p:sp>
        <p:nvSpPr>
          <p:cNvPr id="11" name="Text 6"/>
          <p:cNvSpPr txBox="1"/>
          <p:nvPr/>
        </p:nvSpPr>
        <p:spPr>
          <a:xfrm>
            <a:off x="731520" y="2478024"/>
            <a:ext cx="4846320" cy="292608"/>
          </a:xfrm>
          <a:prstGeom prst="rect">
            <a:avLst/>
          </a:prstGeom>
          <a:noFill/>
          <a:ln/>
        </p:spPr>
        <p:txBody>
          <a:bodyPr wrap="square" lIns="0" tIns="0" rIns="0" bIns="0" rtlCol="0" anchor="t"/>
          <a:lstStyle/>
          <a:p>
            <a:pPr indent="0" marL="0">
              <a:buNone/>
            </a:pPr>
            <a:r>
              <a:rPr lang="en-US" sz="1300" dirty="0">
                <a:solidFill>
                  <a:srgbClr val="5B6B71"/>
                </a:solidFill>
              </a:rPr>
              <a:t>2 adults (up to age 64)</a:t>
            </a:r>
            <a:endParaRPr lang="en-US" sz="1300" dirty="0"/>
          </a:p>
        </p:txBody>
      </p:sp>
      <p:sp>
        <p:nvSpPr>
          <p:cNvPr id="12" name="icon circle"/>
          <p:cNvSpPr/>
          <p:nvPr/>
        </p:nvSpPr>
        <p:spPr>
          <a:xfrm>
            <a:off x="731520" y="2880360"/>
            <a:ext cx="548640" cy="548640"/>
          </a:xfrm>
          <a:prstGeom prst="ellipse">
            <a:avLst/>
          </a:prstGeom>
          <a:solidFill>
            <a:srgbClr val="34ADB3"/>
          </a:solidFill>
          <a:ln w="12700">
            <a:solidFill>
              <a:srgbClr val="34ADB3"/>
            </a:solidFill>
            <a:prstDash val="solid"/>
          </a:ln>
        </p:spPr>
      </p:sp>
      <p:pic>
        <p:nvPicPr>
          <p:cNvPr id="13" name="Image 2" descr="FaChild">    </p:cNvPr>
          <p:cNvPicPr>
            <a:picLocks noChangeAspect="1"/>
          </p:cNvPicPr>
          <p:nvPr/>
        </p:nvPicPr>
        <p:blipFill>
          <a:blip r:embed="rId3"/>
          <a:stretch>
            <a:fillRect/>
          </a:stretch>
        </p:blipFill>
        <p:spPr>
          <a:xfrm>
            <a:off x="868680" y="3017520"/>
            <a:ext cx="274320" cy="274320"/>
          </a:xfrm>
          <a:prstGeom prst="rect">
            <a:avLst/>
          </a:prstGeom>
        </p:spPr>
      </p:pic>
      <p:sp>
        <p:nvSpPr>
          <p:cNvPr id="14" name="icon circle"/>
          <p:cNvSpPr/>
          <p:nvPr/>
        </p:nvSpPr>
        <p:spPr>
          <a:xfrm>
            <a:off x="1389888" y="2880360"/>
            <a:ext cx="548640" cy="548640"/>
          </a:xfrm>
          <a:prstGeom prst="ellipse">
            <a:avLst/>
          </a:prstGeom>
          <a:solidFill>
            <a:srgbClr val="34ADB3"/>
          </a:solidFill>
          <a:ln w="12700">
            <a:solidFill>
              <a:srgbClr val="34ADB3"/>
            </a:solidFill>
            <a:prstDash val="solid"/>
          </a:ln>
        </p:spPr>
      </p:sp>
      <p:pic>
        <p:nvPicPr>
          <p:cNvPr id="15" name="Image 3" descr="FaChild">    </p:cNvPr>
          <p:cNvPicPr>
            <a:picLocks noChangeAspect="1"/>
          </p:cNvPicPr>
          <p:nvPr/>
        </p:nvPicPr>
        <p:blipFill>
          <a:blip r:embed="rId4"/>
          <a:stretch>
            <a:fillRect/>
          </a:stretch>
        </p:blipFill>
        <p:spPr>
          <a:xfrm>
            <a:off x="1527048" y="3017520"/>
            <a:ext cx="274320" cy="274320"/>
          </a:xfrm>
          <a:prstGeom prst="rect">
            <a:avLst/>
          </a:prstGeom>
        </p:spPr>
      </p:pic>
      <p:sp>
        <p:nvSpPr>
          <p:cNvPr id="16" name="icon circle"/>
          <p:cNvSpPr/>
          <p:nvPr/>
        </p:nvSpPr>
        <p:spPr>
          <a:xfrm>
            <a:off x="2048256" y="2880360"/>
            <a:ext cx="548640" cy="548640"/>
          </a:xfrm>
          <a:prstGeom prst="ellipse">
            <a:avLst/>
          </a:prstGeom>
          <a:solidFill>
            <a:srgbClr val="34ADB3"/>
          </a:solidFill>
          <a:ln w="12700">
            <a:solidFill>
              <a:srgbClr val="34ADB3"/>
            </a:solidFill>
            <a:prstDash val="solid"/>
          </a:ln>
        </p:spPr>
      </p:sp>
      <p:pic>
        <p:nvPicPr>
          <p:cNvPr id="17" name="Image 4" descr="FaChild">    </p:cNvPr>
          <p:cNvPicPr>
            <a:picLocks noChangeAspect="1"/>
          </p:cNvPicPr>
          <p:nvPr/>
        </p:nvPicPr>
        <p:blipFill>
          <a:blip r:embed="rId5"/>
          <a:stretch>
            <a:fillRect/>
          </a:stretch>
        </p:blipFill>
        <p:spPr>
          <a:xfrm>
            <a:off x="2185416" y="3017520"/>
            <a:ext cx="274320" cy="274320"/>
          </a:xfrm>
          <a:prstGeom prst="rect">
            <a:avLst/>
          </a:prstGeom>
        </p:spPr>
      </p:pic>
      <p:sp>
        <p:nvSpPr>
          <p:cNvPr id="18" name="icon circle"/>
          <p:cNvSpPr/>
          <p:nvPr/>
        </p:nvSpPr>
        <p:spPr>
          <a:xfrm>
            <a:off x="2706624" y="2880360"/>
            <a:ext cx="548640" cy="548640"/>
          </a:xfrm>
          <a:prstGeom prst="ellipse">
            <a:avLst/>
          </a:prstGeom>
          <a:solidFill>
            <a:srgbClr val="34ADB3"/>
          </a:solidFill>
          <a:ln w="12700">
            <a:solidFill>
              <a:srgbClr val="34ADB3"/>
            </a:solidFill>
            <a:prstDash val="solid"/>
          </a:ln>
        </p:spPr>
      </p:sp>
      <p:pic>
        <p:nvPicPr>
          <p:cNvPr id="19" name="Image 5" descr="FaChild">    </p:cNvPr>
          <p:cNvPicPr>
            <a:picLocks noChangeAspect="1"/>
          </p:cNvPicPr>
          <p:nvPr/>
        </p:nvPicPr>
        <p:blipFill>
          <a:blip r:embed="rId6"/>
          <a:stretch>
            <a:fillRect/>
          </a:stretch>
        </p:blipFill>
        <p:spPr>
          <a:xfrm>
            <a:off x="2843784" y="3017520"/>
            <a:ext cx="274320" cy="274320"/>
          </a:xfrm>
          <a:prstGeom prst="rect">
            <a:avLst/>
          </a:prstGeom>
        </p:spPr>
      </p:pic>
      <p:sp>
        <p:nvSpPr>
          <p:cNvPr id="20" name="Text 11"/>
          <p:cNvSpPr txBox="1"/>
          <p:nvPr/>
        </p:nvSpPr>
        <p:spPr>
          <a:xfrm>
            <a:off x="731520" y="3483864"/>
            <a:ext cx="4846320" cy="292608"/>
          </a:xfrm>
          <a:prstGeom prst="rect">
            <a:avLst/>
          </a:prstGeom>
          <a:noFill/>
          <a:ln/>
        </p:spPr>
        <p:txBody>
          <a:bodyPr wrap="square" lIns="0" tIns="0" rIns="0" bIns="0" rtlCol="0" anchor="t"/>
          <a:lstStyle/>
          <a:p>
            <a:pPr indent="0" marL="0">
              <a:buNone/>
            </a:pPr>
            <a:r>
              <a:rPr lang="en-US" sz="1300" dirty="0">
                <a:solidFill>
                  <a:srgbClr val="5B6B71"/>
                </a:solidFill>
              </a:rPr>
              <a:t>4 children (age 0–20)</a:t>
            </a:r>
            <a:endParaRPr lang="en-US" sz="1300" dirty="0"/>
          </a:p>
        </p:txBody>
      </p:sp>
      <p:sp>
        <p:nvSpPr>
          <p:cNvPr id="21" name="Text 12"/>
          <p:cNvSpPr txBox="1"/>
          <p:nvPr/>
        </p:nvSpPr>
        <p:spPr>
          <a:xfrm>
            <a:off x="731520" y="4069080"/>
            <a:ext cx="4846320" cy="640080"/>
          </a:xfrm>
          <a:prstGeom prst="rect">
            <a:avLst/>
          </a:prstGeom>
          <a:noFill/>
          <a:ln/>
        </p:spPr>
        <p:txBody>
          <a:bodyPr wrap="square" lIns="0" tIns="0" rIns="0" bIns="0" rtlCol="0" anchor="t"/>
          <a:lstStyle/>
          <a:p>
            <a:pPr indent="0" marL="0">
              <a:buNone/>
            </a:pPr>
            <a:r>
              <a:rPr lang="en-US" sz="1300" dirty="0">
                <a:solidFill>
                  <a:srgbClr val="1E2A2F"/>
                </a:solidFill>
              </a:rPr>
              <a:t>Premium USD 7.22 a month on average — already below UMTHUNZI.</a:t>
            </a:r>
            <a:endParaRPr lang="en-US" sz="1300" dirty="0"/>
          </a:p>
        </p:txBody>
      </p:sp>
      <p:sp>
        <p:nvSpPr>
          <p:cNvPr id="22" name="card"/>
          <p:cNvSpPr/>
          <p:nvPr/>
        </p:nvSpPr>
        <p:spPr>
          <a:xfrm>
            <a:off x="6172200" y="1371600"/>
            <a:ext cx="5559552" cy="3566160"/>
          </a:xfrm>
          <a:prstGeom prst="roundRect">
            <a:avLst>
              <a:gd name="adj" fmla="val 2051"/>
            </a:avLst>
          </a:prstGeom>
          <a:solidFill>
            <a:srgbClr val="FFFFFF"/>
          </a:solidFill>
          <a:ln w="9525">
            <a:solidFill>
              <a:srgbClr val="DCE3E4"/>
            </a:solidFill>
            <a:prstDash val="solid"/>
          </a:ln>
        </p:spPr>
      </p:sp>
      <p:sp>
        <p:nvSpPr>
          <p:cNvPr id="23" name="Text 14"/>
          <p:cNvSpPr txBox="1"/>
          <p:nvPr/>
        </p:nvSpPr>
        <p:spPr>
          <a:xfrm>
            <a:off x="6400800" y="1481328"/>
            <a:ext cx="4572000" cy="256032"/>
          </a:xfrm>
          <a:prstGeom prst="rect">
            <a:avLst/>
          </a:prstGeom>
          <a:noFill/>
          <a:ln/>
        </p:spPr>
        <p:txBody>
          <a:bodyPr wrap="square" lIns="0" tIns="0" rIns="0" bIns="0" rtlCol="0" anchor="t"/>
          <a:lstStyle/>
          <a:p>
            <a:pPr indent="0" marL="0">
              <a:buNone/>
            </a:pPr>
            <a:r>
              <a:rPr lang="en-US" sz="1050" b="1" spc="100" kern="0" dirty="0">
                <a:solidFill>
                  <a:srgbClr val="0E5A5F"/>
                </a:solidFill>
              </a:rPr>
              <a:t>MANY FALAKHE FAMILIES</a:t>
            </a:r>
            <a:endParaRPr lang="en-US" sz="1050" dirty="0"/>
          </a:p>
        </p:txBody>
      </p:sp>
      <p:sp>
        <p:nvSpPr>
          <p:cNvPr id="24" name="icon circle"/>
          <p:cNvSpPr/>
          <p:nvPr/>
        </p:nvSpPr>
        <p:spPr>
          <a:xfrm>
            <a:off x="6446520" y="1874520"/>
            <a:ext cx="548640" cy="548640"/>
          </a:xfrm>
          <a:prstGeom prst="ellipse">
            <a:avLst/>
          </a:prstGeom>
          <a:solidFill>
            <a:srgbClr val="E07B39"/>
          </a:solidFill>
          <a:ln w="12700">
            <a:solidFill>
              <a:srgbClr val="E07B39"/>
            </a:solidFill>
            <a:prstDash val="solid"/>
          </a:ln>
        </p:spPr>
      </p:sp>
      <p:pic>
        <p:nvPicPr>
          <p:cNvPr id="25" name="Image 6" descr="FaUserFriends">    </p:cNvPr>
          <p:cNvPicPr>
            <a:picLocks noChangeAspect="1"/>
          </p:cNvPicPr>
          <p:nvPr/>
        </p:nvPicPr>
        <p:blipFill>
          <a:blip r:embed="rId7"/>
          <a:stretch>
            <a:fillRect/>
          </a:stretch>
        </p:blipFill>
        <p:spPr>
          <a:xfrm>
            <a:off x="6583680" y="2011680"/>
            <a:ext cx="274320" cy="274320"/>
          </a:xfrm>
          <a:prstGeom prst="rect">
            <a:avLst/>
          </a:prstGeom>
        </p:spPr>
      </p:pic>
      <p:sp>
        <p:nvSpPr>
          <p:cNvPr id="26" name="Text 16"/>
          <p:cNvSpPr txBox="1"/>
          <p:nvPr/>
        </p:nvSpPr>
        <p:spPr>
          <a:xfrm>
            <a:off x="7178040" y="1874520"/>
            <a:ext cx="4389120" cy="548640"/>
          </a:xfrm>
          <a:prstGeom prst="rect">
            <a:avLst/>
          </a:prstGeom>
          <a:noFill/>
          <a:ln/>
        </p:spPr>
        <p:txBody>
          <a:bodyPr wrap="square" lIns="0" tIns="0" rIns="0" bIns="0" rtlCol="0" anchor="ctr"/>
          <a:lstStyle/>
          <a:p>
            <a:pPr indent="0" marL="0">
              <a:buNone/>
            </a:pPr>
            <a:r>
              <a:rPr lang="en-US" sz="1400" dirty="0">
                <a:solidFill>
                  <a:srgbClr val="1E2A2F"/>
                </a:solidFill>
              </a:rPr>
              <a:t>Grandparents and older relatives over 64</a:t>
            </a:r>
            <a:endParaRPr lang="en-US" sz="1400" dirty="0"/>
          </a:p>
        </p:txBody>
      </p:sp>
      <p:sp>
        <p:nvSpPr>
          <p:cNvPr id="27" name="icon circle"/>
          <p:cNvSpPr/>
          <p:nvPr/>
        </p:nvSpPr>
        <p:spPr>
          <a:xfrm>
            <a:off x="6446520" y="2743200"/>
            <a:ext cx="548640" cy="548640"/>
          </a:xfrm>
          <a:prstGeom prst="ellipse">
            <a:avLst/>
          </a:prstGeom>
          <a:solidFill>
            <a:srgbClr val="E07B39"/>
          </a:solidFill>
          <a:ln w="12700">
            <a:solidFill>
              <a:srgbClr val="E07B39"/>
            </a:solidFill>
            <a:prstDash val="solid"/>
          </a:ln>
        </p:spPr>
      </p:sp>
      <p:pic>
        <p:nvPicPr>
          <p:cNvPr id="28" name="Image 7" descr="FaUserGraduate">    </p:cNvPr>
          <p:cNvPicPr>
            <a:picLocks noChangeAspect="1"/>
          </p:cNvPicPr>
          <p:nvPr/>
        </p:nvPicPr>
        <p:blipFill>
          <a:blip r:embed="rId8"/>
          <a:stretch>
            <a:fillRect/>
          </a:stretch>
        </p:blipFill>
        <p:spPr>
          <a:xfrm>
            <a:off x="6583680" y="2880360"/>
            <a:ext cx="274320" cy="274320"/>
          </a:xfrm>
          <a:prstGeom prst="rect">
            <a:avLst/>
          </a:prstGeom>
        </p:spPr>
      </p:pic>
      <p:sp>
        <p:nvSpPr>
          <p:cNvPr id="29" name="Text 18"/>
          <p:cNvSpPr txBox="1"/>
          <p:nvPr/>
        </p:nvSpPr>
        <p:spPr>
          <a:xfrm>
            <a:off x="7178040" y="2743200"/>
            <a:ext cx="4389120" cy="548640"/>
          </a:xfrm>
          <a:prstGeom prst="rect">
            <a:avLst/>
          </a:prstGeom>
          <a:noFill/>
          <a:ln/>
        </p:spPr>
        <p:txBody>
          <a:bodyPr wrap="square" lIns="0" tIns="0" rIns="0" bIns="0" rtlCol="0" anchor="ctr"/>
          <a:lstStyle/>
          <a:p>
            <a:pPr indent="0" marL="0">
              <a:buNone/>
            </a:pPr>
            <a:r>
              <a:rPr lang="en-US" sz="1400" dirty="0">
                <a:solidFill>
                  <a:srgbClr val="1E2A2F"/>
                </a:solidFill>
              </a:rPr>
              <a:t>Adult children over 20 still at home</a:t>
            </a:r>
            <a:endParaRPr lang="en-US" sz="1400" dirty="0"/>
          </a:p>
        </p:txBody>
      </p:sp>
      <p:sp>
        <p:nvSpPr>
          <p:cNvPr id="30" name="icon circle"/>
          <p:cNvSpPr/>
          <p:nvPr/>
        </p:nvSpPr>
        <p:spPr>
          <a:xfrm>
            <a:off x="6446520" y="3611880"/>
            <a:ext cx="548640" cy="548640"/>
          </a:xfrm>
          <a:prstGeom prst="ellipse">
            <a:avLst/>
          </a:prstGeom>
          <a:solidFill>
            <a:srgbClr val="E07B39"/>
          </a:solidFill>
          <a:ln w="12700">
            <a:solidFill>
              <a:srgbClr val="E07B39"/>
            </a:solidFill>
            <a:prstDash val="solid"/>
          </a:ln>
        </p:spPr>
      </p:sp>
      <p:pic>
        <p:nvPicPr>
          <p:cNvPr id="31" name="Image 8" descr="FaUsers">    </p:cNvPr>
          <p:cNvPicPr>
            <a:picLocks noChangeAspect="1"/>
          </p:cNvPicPr>
          <p:nvPr/>
        </p:nvPicPr>
        <p:blipFill>
          <a:blip r:embed="rId9"/>
          <a:stretch>
            <a:fillRect/>
          </a:stretch>
        </p:blipFill>
        <p:spPr>
          <a:xfrm>
            <a:off x="6583680" y="3749040"/>
            <a:ext cx="274320" cy="274320"/>
          </a:xfrm>
          <a:prstGeom prst="rect">
            <a:avLst/>
          </a:prstGeom>
        </p:spPr>
      </p:pic>
      <p:sp>
        <p:nvSpPr>
          <p:cNvPr id="32" name="Text 20"/>
          <p:cNvSpPr txBox="1"/>
          <p:nvPr/>
        </p:nvSpPr>
        <p:spPr>
          <a:xfrm>
            <a:off x="7178040" y="3611880"/>
            <a:ext cx="4389120" cy="548640"/>
          </a:xfrm>
          <a:prstGeom prst="rect">
            <a:avLst/>
          </a:prstGeom>
          <a:noFill/>
          <a:ln/>
        </p:spPr>
        <p:txBody>
          <a:bodyPr wrap="square" lIns="0" tIns="0" rIns="0" bIns="0" rtlCol="0" anchor="ctr"/>
          <a:lstStyle/>
          <a:p>
            <a:pPr indent="0" marL="0">
              <a:buNone/>
            </a:pPr>
            <a:r>
              <a:rPr lang="en-US" sz="1400" dirty="0">
                <a:solidFill>
                  <a:srgbClr val="1E2A2F"/>
                </a:solidFill>
              </a:rPr>
              <a:t>Extended family members cared for</a:t>
            </a:r>
            <a:endParaRPr lang="en-US" sz="1400" dirty="0"/>
          </a:p>
        </p:txBody>
      </p:sp>
      <p:sp>
        <p:nvSpPr>
          <p:cNvPr id="33" name="Text 21"/>
          <p:cNvSpPr txBox="1"/>
          <p:nvPr/>
        </p:nvSpPr>
        <p:spPr>
          <a:xfrm>
            <a:off x="6446520" y="4480560"/>
            <a:ext cx="5120640" cy="320040"/>
          </a:xfrm>
          <a:prstGeom prst="rect">
            <a:avLst/>
          </a:prstGeom>
          <a:noFill/>
          <a:ln/>
        </p:spPr>
        <p:txBody>
          <a:bodyPr wrap="square" lIns="0" tIns="0" rIns="0" bIns="0" rtlCol="0" anchor="t"/>
          <a:lstStyle/>
          <a:p>
            <a:pPr indent="0" marL="0">
              <a:buNone/>
            </a:pPr>
            <a:r>
              <a:rPr lang="en-US" sz="1300" i="1" dirty="0">
                <a:solidFill>
                  <a:srgbClr val="5B6B71"/>
                </a:solidFill>
              </a:rPr>
              <a:t>Not covered by the current design?</a:t>
            </a:r>
            <a:endParaRPr lang="en-US" sz="1300" dirty="0"/>
          </a:p>
        </p:txBody>
      </p:sp>
      <p:sp>
        <p:nvSpPr>
          <p:cNvPr id="34" name="card"/>
          <p:cNvSpPr/>
          <p:nvPr/>
        </p:nvSpPr>
        <p:spPr>
          <a:xfrm>
            <a:off x="457200" y="5120640"/>
            <a:ext cx="11277295" cy="1097280"/>
          </a:xfrm>
          <a:prstGeom prst="roundRect">
            <a:avLst>
              <a:gd name="adj" fmla="val 6667"/>
            </a:avLst>
          </a:prstGeom>
          <a:solidFill>
            <a:srgbClr val="E3EFEF"/>
          </a:solidFill>
          <a:ln w="9525">
            <a:solidFill>
              <a:srgbClr val="DCE3E4"/>
            </a:solidFill>
            <a:prstDash val="solid"/>
          </a:ln>
        </p:spPr>
      </p:sp>
      <p:sp>
        <p:nvSpPr>
          <p:cNvPr id="35" name="Text 23"/>
          <p:cNvSpPr txBox="1"/>
          <p:nvPr/>
        </p:nvSpPr>
        <p:spPr>
          <a:xfrm>
            <a:off x="685800" y="5230368"/>
            <a:ext cx="10820095" cy="868680"/>
          </a:xfrm>
          <a:prstGeom prst="rect">
            <a:avLst/>
          </a:prstGeom>
          <a:noFill/>
          <a:ln/>
        </p:spPr>
        <p:txBody>
          <a:bodyPr wrap="square" lIns="0" tIns="0" rIns="0" bIns="0" rtlCol="0" anchor="ctr"/>
          <a:lstStyle/>
          <a:p>
            <a:pPr indent="0" marL="0">
              <a:buNone/>
            </a:pPr>
            <a:r>
              <a:rPr lang="en-US" sz="1500" b="1" dirty="0">
                <a:solidFill>
                  <a:srgbClr val="1E2A2F"/>
                </a:solidFill>
              </a:rPr>
              <a:t>Test (61–90 days): </a:t>
            </a:r>
            <a:pPr indent="0" marL="0">
              <a:buNone/>
            </a:pPr>
            <a:r>
              <a:rPr lang="en-US" sz="1500" dirty="0">
                <a:solidFill>
                  <a:srgbClr val="1E2A2F"/>
                </a:solidFill>
              </a:rPr>
              <a:t>offer extra adults, extended-family options and upgrades — first to the 105 inactive UMNDENI customers. Measure paid conversion (today 21%).</a:t>
            </a:r>
            <a:endParaRPr lang="en-US" sz="15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THE BOOK</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The book grew to 582 — mostly by typing in existing clients, not selling</a:t>
            </a:r>
            <a:endParaRPr lang="en-US" sz="2600" dirty="0"/>
          </a:p>
        </p:txBody>
      </p:sp>
      <p:graphicFrame>
        <p:nvGraphicFramePr>
          <p:cNvPr id="5" name="Chart 0" descr=""/>
          <p:cNvGraphicFramePr/>
          <p:nvPr/>
        </p:nvGraphicFramePr>
        <p:xfrm>
          <a:off x="457200" y="1280160"/>
          <a:ext cx="7863840" cy="35204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8549640" y="1463040"/>
            <a:ext cx="3182112" cy="2286000"/>
          </a:xfrm>
          <a:prstGeom prst="roundRect">
            <a:avLst>
              <a:gd name="adj" fmla="val 3200"/>
            </a:avLst>
          </a:prstGeom>
          <a:solidFill>
            <a:srgbClr val="FBF3E0"/>
          </a:solidFill>
          <a:ln w="9525">
            <a:solidFill>
              <a:srgbClr val="DCE3E4"/>
            </a:solidFill>
            <a:prstDash val="solid"/>
          </a:ln>
        </p:spPr>
      </p:sp>
      <p:sp>
        <p:nvSpPr>
          <p:cNvPr id="7" name="Text 3"/>
          <p:cNvSpPr txBox="1"/>
          <p:nvPr/>
        </p:nvSpPr>
        <p:spPr>
          <a:xfrm>
            <a:off x="8732520" y="1600200"/>
            <a:ext cx="2834640" cy="2057400"/>
          </a:xfrm>
          <a:prstGeom prst="rect">
            <a:avLst/>
          </a:prstGeom>
          <a:noFill/>
          <a:ln/>
        </p:spPr>
        <p:txBody>
          <a:bodyPr wrap="square" lIns="0" tIns="0" rIns="0" bIns="0" rtlCol="0" anchor="t"/>
          <a:lstStyle/>
          <a:p>
            <a:pPr indent="0" marL="0">
              <a:buNone/>
            </a:pPr>
            <a:r>
              <a:rPr lang="en-US" sz="1400" b="1" dirty="0">
                <a:solidFill>
                  <a:srgbClr val="C98A00"/>
                </a:solidFill>
              </a:rPr>
              <a:t>Read with care</a:t>
            </a:r>
            <a:endParaRPr lang="en-US" sz="1400" dirty="0"/>
          </a:p>
          <a:p>
            <a:pPr indent="0" marL="0">
              <a:buNone/>
            </a:pPr>
            <a:r>
              <a:rPr lang="en-US" sz="1400" dirty="0">
                <a:solidFill>
                  <a:srgbClr val="1E2A2F"/>
                </a:solidFill>
              </a:rPr>
              <a:t>The August–September jumps are existing clients typed in, not sales. Typed in: Jul 124, Aug 217, Sep 135.</a:t>
            </a:r>
            <a:endParaRPr lang="en-US" sz="14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Policies in force rose from 14 (1 June) to 582 (4 October).</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Most of the rise is data capture; real sales growth is far smaller.</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Report growth from genuine sales and lapses only, from October.</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RETENTION</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You can sell and still shrink: in September lapses overtook new sales</a:t>
            </a:r>
            <a:endParaRPr lang="en-US" sz="2600" dirty="0"/>
          </a:p>
        </p:txBody>
      </p:sp>
      <p:graphicFrame>
        <p:nvGraphicFramePr>
          <p:cNvPr id="5" name="Chart 0" descr=""/>
          <p:cNvGraphicFramePr/>
          <p:nvPr/>
        </p:nvGraphicFramePr>
        <p:xfrm>
          <a:off x="457200" y="1280160"/>
          <a:ext cx="7863840" cy="35204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8549640" y="1463040"/>
            <a:ext cx="3182112" cy="2286000"/>
          </a:xfrm>
          <a:prstGeom prst="roundRect">
            <a:avLst>
              <a:gd name="adj" fmla="val 3200"/>
            </a:avLst>
          </a:prstGeom>
          <a:solidFill>
            <a:srgbClr val="FFFFFF"/>
          </a:solidFill>
          <a:ln w="9525">
            <a:solidFill>
              <a:srgbClr val="DCE3E4"/>
            </a:solidFill>
            <a:prstDash val="solid"/>
          </a:ln>
        </p:spPr>
      </p:sp>
      <p:sp>
        <p:nvSpPr>
          <p:cNvPr id="7" name="Text 3"/>
          <p:cNvSpPr txBox="1"/>
          <p:nvPr/>
        </p:nvSpPr>
        <p:spPr>
          <a:xfrm>
            <a:off x="8732520" y="1600200"/>
            <a:ext cx="2834640" cy="2057400"/>
          </a:xfrm>
          <a:prstGeom prst="rect">
            <a:avLst/>
          </a:prstGeom>
          <a:noFill/>
          <a:ln/>
        </p:spPr>
        <p:txBody>
          <a:bodyPr wrap="square" lIns="0" tIns="0" rIns="0" bIns="0" rtlCol="0" anchor="t"/>
          <a:lstStyle/>
          <a:p>
            <a:pPr indent="0" marL="0">
              <a:buNone/>
            </a:pPr>
            <a:r>
              <a:rPr lang="en-US" sz="1800" b="1" dirty="0">
                <a:solidFill>
                  <a:srgbClr val="0E5A5F"/>
                </a:solidFill>
                <a:latin typeface="Cambria" pitchFamily="34" charset="0"/>
                <a:ea typeface="Cambria" pitchFamily="34" charset="-122"/>
                <a:cs typeface="Cambria" pitchFamily="34" charset="-120"/>
              </a:rPr>
              <a:t>September</a:t>
            </a:r>
            <a:endParaRPr lang="en-US" sz="1800" dirty="0"/>
          </a:p>
          <a:p>
            <a:pPr indent="0" marL="0">
              <a:buNone/>
            </a:pPr>
            <a:r>
              <a:rPr lang="en-US" sz="1800" dirty="0">
                <a:solidFill>
                  <a:srgbClr val="1E2A2F"/>
                </a:solidFill>
                <a:latin typeface="Cambria" pitchFamily="34" charset="0"/>
                <a:ea typeface="Cambria" pitchFamily="34" charset="-122"/>
                <a:cs typeface="Cambria" pitchFamily="34" charset="-120"/>
              </a:rPr>
              <a:t>22 new paid</a:t>
            </a:r>
            <a:endParaRPr lang="en-US" sz="1800" dirty="0"/>
          </a:p>
          <a:p>
            <a:pPr indent="0" marL="0">
              <a:buNone/>
            </a:pPr>
            <a:r>
              <a:rPr lang="en-US" sz="1800" dirty="0">
                <a:solidFill>
                  <a:srgbClr val="1E2A2F"/>
                </a:solidFill>
                <a:latin typeface="Cambria" pitchFamily="34" charset="0"/>
                <a:ea typeface="Cambria" pitchFamily="34" charset="-122"/>
                <a:cs typeface="Cambria" pitchFamily="34" charset="-120"/>
              </a:rPr>
              <a:t>− 28 lapsed</a:t>
            </a:r>
            <a:endParaRPr lang="en-US" sz="1800" dirty="0"/>
          </a:p>
          <a:p>
            <a:pPr indent="0" marL="0">
              <a:buNone/>
            </a:pPr>
            <a:r>
              <a:rPr lang="en-US" sz="2200" b="1" dirty="0">
                <a:solidFill>
                  <a:srgbClr val="C0392B"/>
                </a:solidFill>
                <a:latin typeface="Cambria" pitchFamily="34" charset="0"/>
                <a:ea typeface="Cambria" pitchFamily="34" charset="-122"/>
                <a:cs typeface="Cambria" pitchFamily="34" charset="-120"/>
              </a:rPr>
              <a:t>= −6 net</a:t>
            </a:r>
            <a:endParaRPr lang="en-US" sz="18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Net growth fell from +31 (June) to −6 (September).</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Retention now matters as much as selling.</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Daily grace call list and payment reminders from this month.</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RETENTION — GRACE</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Calling customers in grace works: recovery rose from 17% to 75%</a:t>
            </a:r>
            <a:endParaRPr lang="en-US" sz="2600" dirty="0"/>
          </a:p>
        </p:txBody>
      </p:sp>
      <p:graphicFrame>
        <p:nvGraphicFramePr>
          <p:cNvPr id="5" name="Chart 0" descr=""/>
          <p:cNvGraphicFramePr/>
          <p:nvPr/>
        </p:nvGraphicFramePr>
        <p:xfrm>
          <a:off x="457200" y="1280160"/>
          <a:ext cx="6035040"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720840" y="1280160"/>
          <a:ext cx="5010912" cy="2651760"/>
        </p:xfrm>
        <a:graphic xmlns:a="http://schemas.openxmlformats.org/drawingml/2006/main">
          <a:graphicData uri="http://schemas.openxmlformats.org/drawingml/2006/chart">
            <c:chart xmlns:c="http://schemas.openxmlformats.org/drawingml/2006/chart" r:id="rId2"/>
          </a:graphicData>
        </a:graphic>
      </p:graphicFrame>
      <p:sp>
        <p:nvSpPr>
          <p:cNvPr id="7" name="Text 2"/>
          <p:cNvSpPr txBox="1"/>
          <p:nvPr/>
        </p:nvSpPr>
        <p:spPr>
          <a:xfrm>
            <a:off x="6812280" y="4041648"/>
            <a:ext cx="4846320" cy="320040"/>
          </a:xfrm>
          <a:prstGeom prst="rect">
            <a:avLst/>
          </a:prstGeom>
          <a:noFill/>
          <a:ln/>
        </p:spPr>
        <p:txBody>
          <a:bodyPr wrap="square" lIns="0" tIns="0" rIns="0" bIns="0" rtlCol="0" anchor="t"/>
          <a:lstStyle/>
          <a:p>
            <a:pPr indent="0" marL="0">
              <a:buNone/>
            </a:pPr>
            <a:r>
              <a:rPr lang="en-US" sz="1400" b="1" dirty="0">
                <a:solidFill>
                  <a:srgbClr val="1E2A2F"/>
                </a:solidFill>
              </a:rPr>
              <a:t>Lapse rate: </a:t>
            </a:r>
            <a:pPr indent="0" marL="0">
              <a:buNone/>
            </a:pPr>
            <a:r>
              <a:rPr lang="en-US" sz="1400" b="1" dirty="0">
                <a:solidFill>
                  <a:srgbClr val="C0392B"/>
                </a:solidFill>
              </a:rPr>
              <a:t>Aug 2.0% → Sep 6.6%</a:t>
            </a:r>
            <a:endParaRPr lang="en-US" sz="1400" dirty="0"/>
          </a:p>
        </p:txBody>
      </p:sp>
      <p:sp>
        <p:nvSpPr>
          <p:cNvPr id="8" name="Text 3"/>
          <p:cNvSpPr txBox="1"/>
          <p:nvPr/>
        </p:nvSpPr>
        <p:spPr>
          <a:xfrm>
            <a:off x="457200" y="4791456"/>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No structured follow-up before September. The lapse sweep only caught arrears from August, so earlier months understate lapses.</a:t>
            </a:r>
            <a:endParaRPr lang="en-US" sz="1000" dirty="0"/>
          </a:p>
        </p:txBody>
      </p:sp>
      <p:sp>
        <p:nvSpPr>
          <p:cNvPr id="9"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10" name="Text 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Recovery rose 17% → 38% → 75%; lapse rate rose 2.0% → 6.6%.</a:t>
            </a:r>
            <a:endParaRPr lang="en-US" sz="1050" dirty="0"/>
          </a:p>
        </p:txBody>
      </p:sp>
      <p:sp>
        <p:nvSpPr>
          <p:cNvPr id="11"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2" name="Text 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Each recovered policy keeps premium we already earned.</a:t>
            </a:r>
            <a:endParaRPr lang="en-US" sz="1050" dirty="0"/>
          </a:p>
        </p:txBody>
      </p:sp>
      <p:sp>
        <p:nvSpPr>
          <p:cNvPr id="13"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4" name="Text 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Daily grace call list, owned by a named person, with SMS reminders.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RETENTION — INACTIVE POLICIES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213 policies were captured but never paid — USD 2,001 a month in warm leads</a:t>
            </a:r>
            <a:endParaRPr lang="en-US" sz="2600" dirty="0"/>
          </a:p>
        </p:txBody>
      </p:sp>
      <p:graphicFrame>
        <p:nvGraphicFramePr>
          <p:cNvPr id="5" name="Chart 0" descr=""/>
          <p:cNvGraphicFramePr/>
          <p:nvPr/>
        </p:nvGraphicFramePr>
        <p:xfrm>
          <a:off x="457200" y="1280160"/>
          <a:ext cx="7863840" cy="35204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8549640" y="1463040"/>
            <a:ext cx="3182112" cy="2286000"/>
          </a:xfrm>
          <a:prstGeom prst="roundRect">
            <a:avLst>
              <a:gd name="adj" fmla="val 3200"/>
            </a:avLst>
          </a:prstGeom>
          <a:solidFill>
            <a:srgbClr val="E3EFEF"/>
          </a:solidFill>
          <a:ln w="9525">
            <a:solidFill>
              <a:srgbClr val="DCE3E4"/>
            </a:solidFill>
            <a:prstDash val="solid"/>
          </a:ln>
        </p:spPr>
      </p:sp>
      <p:sp>
        <p:nvSpPr>
          <p:cNvPr id="7" name="Text 3"/>
          <p:cNvSpPr txBox="1"/>
          <p:nvPr/>
        </p:nvSpPr>
        <p:spPr>
          <a:xfrm>
            <a:off x="8732520" y="1600200"/>
            <a:ext cx="2834640" cy="2057400"/>
          </a:xfrm>
          <a:prstGeom prst="rect">
            <a:avLst/>
          </a:prstGeom>
          <a:noFill/>
          <a:ln/>
        </p:spPr>
        <p:txBody>
          <a:bodyPr wrap="square" lIns="0" tIns="0" rIns="0" bIns="0" rtlCol="0" anchor="t"/>
          <a:lstStyle/>
          <a:p>
            <a:pPr indent="0" marL="0">
              <a:buNone/>
            </a:pPr>
            <a:r>
              <a:rPr lang="en-US" sz="1400" b="1" dirty="0">
                <a:solidFill>
                  <a:srgbClr val="0E5A5F"/>
                </a:solidFill>
              </a:rPr>
              <a:t>Today</a:t>
            </a:r>
            <a:endParaRPr lang="en-US" sz="1400" dirty="0"/>
          </a:p>
          <a:p>
            <a:pPr indent="0" marL="0">
              <a:buNone/>
            </a:pPr>
            <a:r>
              <a:rPr lang="en-US" sz="1400" b="1" dirty="0">
                <a:solidFill>
                  <a:srgbClr val="1E2A2F"/>
                </a:solidFill>
              </a:rPr>
              <a:t>213 inactive (including typed-in)</a:t>
            </a:r>
            <a:endParaRPr lang="en-US" sz="1400" dirty="0"/>
          </a:p>
          <a:p>
            <a:pPr indent="0" marL="0">
              <a:buNone/>
            </a:pPr>
            <a:r>
              <a:rPr lang="en-US" sz="1400" dirty="0">
                <a:solidFill>
                  <a:srgbClr val="1E2A2F"/>
                </a:solidFill>
              </a:rPr>
              <a:t>USD 2,001 a month of premium never collected</a:t>
            </a:r>
            <a:endParaRPr lang="en-US" sz="1400" dirty="0"/>
          </a:p>
          <a:p>
            <a:pPr indent="0" marL="0">
              <a:buNone/>
            </a:pPr>
            <a:r>
              <a:rPr lang="en-US" sz="600" dirty="0">
                <a:solidFill>
                  <a:srgbClr val="1E2A2F"/>
                </a:solidFill>
              </a:rPr>
              <a:t> </a:t>
            </a:r>
            <a:endParaRPr lang="en-US" sz="1400" dirty="0"/>
          </a:p>
          <a:p>
            <a:pPr indent="0" marL="0">
              <a:buNone/>
            </a:pPr>
            <a:r>
              <a:rPr lang="en-US" sz="1200" dirty="0">
                <a:solidFill>
                  <a:srgbClr val="5B6B71"/>
                </a:solidFill>
              </a:rPr>
              <a:t>Inactive = captured, never activated by a first payment. Not lapsed.</a:t>
            </a:r>
            <a:endParaRPr lang="en-US" sz="14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Inactive new business grew from 51 to 194; 213 in total today.</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These people said yes once — they are our cheapest leads.</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Call all 213 within 30 days; record the reason for any refusal.</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LIVES COVERED</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We now cover 3,782 lives — mostly from typing in existing clients</a:t>
            </a:r>
            <a:endParaRPr lang="en-US" sz="2600" dirty="0"/>
          </a:p>
        </p:txBody>
      </p:sp>
      <p:graphicFrame>
        <p:nvGraphicFramePr>
          <p:cNvPr id="5" name="Chart 0" descr=""/>
          <p:cNvGraphicFramePr/>
          <p:nvPr/>
        </p:nvGraphicFramePr>
        <p:xfrm>
          <a:off x="457200" y="1280160"/>
          <a:ext cx="731520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8001000" y="1280160"/>
          <a:ext cx="3730752" cy="3520440"/>
        </p:xfrm>
        <a:graphic xmlns:a="http://schemas.openxmlformats.org/drawingml/2006/main">
          <a:graphicData uri="http://schemas.openxmlformats.org/drawingml/2006/chart">
            <c:chart xmlns:c="http://schemas.openxmlformats.org/drawingml/2006/chart" r:id="rId2"/>
          </a:graphicData>
        </a:graphic>
      </p:graphicFrame>
      <p:sp>
        <p:nvSpPr>
          <p:cNvPr id="7"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8" name="Text 3"/>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Lives covered rose from 34 to 3,782; 3,185 from typed-in clients, 453 from new sales.</a:t>
            </a:r>
            <a:endParaRPr lang="en-US" sz="1050" dirty="0"/>
          </a:p>
        </p:txBody>
      </p:sp>
      <p:sp>
        <p:nvSpPr>
          <p:cNvPr id="9"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0" name="Text 5"/>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Lives are our future funeral obligations — and only 453 came from selling.</a:t>
            </a:r>
            <a:endParaRPr lang="en-US" sz="1050" dirty="0"/>
          </a:p>
        </p:txBody>
      </p:sp>
      <p:sp>
        <p:nvSpPr>
          <p:cNvPr id="11"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2" name="Text 7"/>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Track lives from new sales separately each month.</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COLLECTIONS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We collect only half of the US dollar premium that is due</a:t>
            </a:r>
            <a:endParaRPr lang="en-US" sz="2600" dirty="0"/>
          </a:p>
        </p:txBody>
      </p:sp>
      <p:graphicFrame>
        <p:nvGraphicFramePr>
          <p:cNvPr id="5" name="Chart 0" descr=""/>
          <p:cNvGraphicFramePr/>
          <p:nvPr/>
        </p:nvGraphicFramePr>
        <p:xfrm>
          <a:off x="457200" y="1280160"/>
          <a:ext cx="640080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7040880" y="1280160"/>
          <a:ext cx="4690872" cy="2514600"/>
        </p:xfrm>
        <a:graphic xmlns:a="http://schemas.openxmlformats.org/drawingml/2006/main">
          <a:graphicData uri="http://schemas.openxmlformats.org/drawingml/2006/chart">
            <c:chart xmlns:c="http://schemas.openxmlformats.org/drawingml/2006/chart" r:id="rId2"/>
          </a:graphicData>
        </a:graphic>
      </p:graphicFrame>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040880" y="3858768"/>
          <a:ext cx="4690872" cy="914400"/>
        </p:xfrm>
        <a:graphic>
          <a:graphicData uri="http://schemas.openxmlformats.org/drawingml/2006/table">
            <a:tbl>
              <a:tblPr/>
              <a:tblGrid>
                <a:gridCol w="1051560"/>
                <a:gridCol w="909828"/>
                <a:gridCol w="909828"/>
                <a:gridCol w="909828"/>
                <a:gridCol w="909828"/>
              </a:tblGrid>
              <a:tr h="329184">
                <a:tc>
                  <a:txBody>
                    <a:bodyPr/>
                    <a:lstStyle/>
                    <a:p>
                      <a:pPr algn="l" indent="0" marL="0">
                        <a:buNone/>
                      </a:pP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Actual</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achieved</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329184">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Sep</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49%</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C0392B"/>
                          </a:solidFill>
                          <a:latin typeface="Calibri" pitchFamily="34" charset="0"/>
                          <a:ea typeface="Calibri" pitchFamily="34" charset="-122"/>
                          <a:cs typeface="Calibri" pitchFamily="34" charset="-120"/>
                        </a:rPr>
                        <a:t>−21 pts</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marL="54864" marR="54864"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8" name="Text 2"/>
          <p:cNvSpPr txBox="1"/>
          <p:nvPr/>
        </p:nvSpPr>
        <p:spPr>
          <a:xfrm>
            <a:off x="457200" y="4791456"/>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ZAR collection runs above 100% because of arrears and advance payments — not an error. USD figures shown.</a:t>
            </a:r>
            <a:endParaRPr lang="en-US" sz="1000" dirty="0"/>
          </a:p>
        </p:txBody>
      </p:sp>
      <p:sp>
        <p:nvSpPr>
          <p:cNvPr id="9"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10" name="Text 4"/>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USD collection fell from 98–100% to 49% (USD 2,284 of 4,675).</a:t>
            </a:r>
            <a:endParaRPr lang="en-US" sz="1050" dirty="0"/>
          </a:p>
        </p:txBody>
      </p:sp>
      <p:sp>
        <p:nvSpPr>
          <p:cNvPr id="11"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2" name="Text 6"/>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At 70% we would collect about USD 980 more each month.</a:t>
            </a:r>
            <a:endParaRPr lang="en-US" sz="1050" dirty="0"/>
          </a:p>
        </p:txBody>
      </p:sp>
      <p:sp>
        <p:nvSpPr>
          <p:cNvPr id="13"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4" name="Text 8"/>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SMS reminders, EcoCash and debit orders; daily follow-up of arrears.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MONEY IN</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Money in grew to USD 16,760 in August, then fell 10% in September</a:t>
            </a:r>
            <a:endParaRPr lang="en-US" sz="2600" dirty="0"/>
          </a:p>
        </p:txBody>
      </p:sp>
      <p:graphicFrame>
        <p:nvGraphicFramePr>
          <p:cNvPr id="5" name="Chart 0" descr=""/>
          <p:cNvGraphicFramePr/>
          <p:nvPr/>
        </p:nvGraphicFramePr>
        <p:xfrm>
          <a:off x="457200" y="1280160"/>
          <a:ext cx="7863840" cy="35204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8549640" y="1463040"/>
            <a:ext cx="3182112" cy="2286000"/>
          </a:xfrm>
          <a:prstGeom prst="roundRect">
            <a:avLst>
              <a:gd name="adj" fmla="val 3200"/>
            </a:avLst>
          </a:prstGeom>
          <a:solidFill>
            <a:srgbClr val="FFFFFF"/>
          </a:solidFill>
          <a:ln w="9525">
            <a:solidFill>
              <a:srgbClr val="DCE3E4"/>
            </a:solidFill>
            <a:prstDash val="solid"/>
          </a:ln>
        </p:spPr>
      </p:sp>
      <p:sp>
        <p:nvSpPr>
          <p:cNvPr id="7" name="Text 3"/>
          <p:cNvSpPr txBox="1"/>
          <p:nvPr/>
        </p:nvSpPr>
        <p:spPr>
          <a:xfrm>
            <a:off x="8732520" y="1600200"/>
            <a:ext cx="2834640" cy="2057400"/>
          </a:xfrm>
          <a:prstGeom prst="rect">
            <a:avLst/>
          </a:prstGeom>
          <a:noFill/>
          <a:ln/>
        </p:spPr>
        <p:txBody>
          <a:bodyPr wrap="square" lIns="0" tIns="0" rIns="0" bIns="0" rtlCol="0" anchor="t"/>
          <a:lstStyle/>
          <a:p>
            <a:pPr indent="0" marL="0">
              <a:buNone/>
            </a:pPr>
            <a:r>
              <a:rPr lang="en-US" sz="1400" b="1" dirty="0">
                <a:solidFill>
                  <a:srgbClr val="0E5A5F"/>
                </a:solidFill>
              </a:rPr>
              <a:t>Jun–Sep total</a:t>
            </a:r>
            <a:endParaRPr lang="en-US" sz="1400" dirty="0"/>
          </a:p>
          <a:p>
            <a:pPr indent="0" marL="0">
              <a:buNone/>
            </a:pPr>
            <a:r>
              <a:rPr lang="en-US" sz="2200" b="1" dirty="0">
                <a:solidFill>
                  <a:srgbClr val="1E2A2F"/>
                </a:solidFill>
                <a:latin typeface="Cambria" pitchFamily="34" charset="0"/>
                <a:ea typeface="Cambria" pitchFamily="34" charset="-122"/>
                <a:cs typeface="Cambria" pitchFamily="34" charset="-120"/>
              </a:rPr>
              <a:t>USD 56,221</a:t>
            </a:r>
            <a:endParaRPr lang="en-US" sz="1400" dirty="0"/>
          </a:p>
          <a:p>
            <a:pPr indent="0" marL="0">
              <a:buNone/>
            </a:pPr>
            <a:r>
              <a:rPr lang="en-US" sz="1200" dirty="0">
                <a:solidFill>
                  <a:srgbClr val="5B6B71"/>
                </a:solidFill>
              </a:rPr>
              <a:t>Before June the system holds almost nothing, so earlier months are not shown.</a:t>
            </a:r>
            <a:endParaRPr lang="en-US" sz="14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Money in rose to USD 16,760 (Aug), then fell to USD 15,078 (Sep).</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Most money in is lumpy (societies, cash funerals), not monthly premium.</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Grow predictable premium income: collections and paid new business.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MONEY IN — MIX</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Societies and cash funerals bring in 83% of our money; premiums only 18%</a:t>
            </a:r>
            <a:endParaRPr lang="en-US" sz="2600" dirty="0"/>
          </a:p>
        </p:txBody>
      </p:sp>
      <p:graphicFrame>
        <p:nvGraphicFramePr>
          <p:cNvPr id="5" name="Chart 0" descr=""/>
          <p:cNvGraphicFramePr/>
          <p:nvPr/>
        </p:nvGraphicFramePr>
        <p:xfrm>
          <a:off x="457200" y="1280160"/>
          <a:ext cx="694944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7635240" y="1280160"/>
          <a:ext cx="4096512" cy="3520440"/>
        </p:xfrm>
        <a:graphic xmlns:a="http://schemas.openxmlformats.org/drawingml/2006/main">
          <a:graphicData uri="http://schemas.openxmlformats.org/drawingml/2006/chart">
            <c:chart xmlns:c="http://schemas.openxmlformats.org/drawingml/2006/chart" r:id="rId2"/>
          </a:graphicData>
        </a:graphic>
      </p:graphicFrame>
      <p:sp>
        <p:nvSpPr>
          <p:cNvPr id="7"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8" name="Text 3"/>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Jun–Sep: societies 47%, cash funerals 36%, individual 13%, member premiums 5%.</a:t>
            </a:r>
            <a:endParaRPr lang="en-US" sz="1050" dirty="0"/>
          </a:p>
        </p:txBody>
      </p:sp>
      <p:sp>
        <p:nvSpPr>
          <p:cNvPr id="9"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0" name="Text 5"/>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Our biggest streams are lumpy and their profit is not yet measured.</a:t>
            </a:r>
            <a:endParaRPr lang="en-US" sz="1050" dirty="0"/>
          </a:p>
        </p:txBody>
      </p:sp>
      <p:sp>
        <p:nvSpPr>
          <p:cNvPr id="11"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2" name="Text 7"/>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Cost every funeral; run society ledgers; grow premium income.</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FUNERALS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We conducted 22 funerals in September; most cash funerals are not costed</a:t>
            </a:r>
            <a:endParaRPr lang="en-US" sz="2600" dirty="0"/>
          </a:p>
        </p:txBody>
      </p:sp>
      <p:graphicFrame>
        <p:nvGraphicFramePr>
          <p:cNvPr id="5" name="Chart 0" descr=""/>
          <p:cNvGraphicFramePr/>
          <p:nvPr/>
        </p:nvGraphicFramePr>
        <p:xfrm>
          <a:off x="457200" y="1280160"/>
          <a:ext cx="6766560" cy="35204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7452360" y="1325880"/>
            <a:ext cx="4279392" cy="1691640"/>
          </a:xfrm>
          <a:prstGeom prst="roundRect">
            <a:avLst>
              <a:gd name="adj" fmla="val 4324"/>
            </a:avLst>
          </a:prstGeom>
          <a:solidFill>
            <a:srgbClr val="FFFFFF"/>
          </a:solidFill>
          <a:ln w="9525">
            <a:solidFill>
              <a:srgbClr val="DCE3E4"/>
            </a:solidFill>
            <a:prstDash val="solid"/>
          </a:ln>
        </p:spPr>
      </p:sp>
      <p:sp>
        <p:nvSpPr>
          <p:cNvPr id="7" name="Text 3"/>
          <p:cNvSpPr txBox="1"/>
          <p:nvPr/>
        </p:nvSpPr>
        <p:spPr>
          <a:xfrm>
            <a:off x="7635240" y="1444752"/>
            <a:ext cx="3931920" cy="1508760"/>
          </a:xfrm>
          <a:prstGeom prst="rect">
            <a:avLst/>
          </a:prstGeom>
          <a:noFill/>
          <a:ln/>
        </p:spPr>
        <p:txBody>
          <a:bodyPr wrap="square" lIns="0" tIns="0" rIns="0" bIns="0" rtlCol="0" anchor="t"/>
          <a:lstStyle/>
          <a:p>
            <a:pPr indent="0" marL="0">
              <a:buNone/>
            </a:pPr>
            <a:r>
              <a:rPr lang="en-US" sz="1300" b="1" dirty="0">
                <a:solidFill>
                  <a:srgbClr val="0E5A5F"/>
                </a:solidFill>
              </a:rPr>
              <a:t>Costing</a:t>
            </a:r>
            <a:endParaRPr lang="en-US" sz="1300" dirty="0"/>
          </a:p>
          <a:p>
            <a:pPr indent="0" marL="0">
              <a:buNone/>
            </a:pPr>
            <a:r>
              <a:rPr lang="en-US" sz="1300" dirty="0">
                <a:solidFill>
                  <a:srgbClr val="1E2A2F"/>
                </a:solidFill>
              </a:rPr>
              <a:t>Costed: 20 of 44 cash, 45 of 81 policy funerals.</a:t>
            </a:r>
            <a:endParaRPr lang="en-US" sz="1300" dirty="0"/>
          </a:p>
          <a:p>
            <a:pPr indent="0" marL="0">
              <a:buNone/>
            </a:pPr>
            <a:r>
              <a:rPr lang="en-US" sz="1300" b="1" dirty="0">
                <a:solidFill>
                  <a:srgbClr val="1E2A2F"/>
                </a:solidFill>
              </a:rPr>
              <a:t>20 costed cash funerals left USD 5,336 (USD 267 each).</a:t>
            </a:r>
            <a:endParaRPr lang="en-US" sz="1300" dirty="0"/>
          </a:p>
        </p:txBody>
      </p:sp>
      <p:sp>
        <p:nvSpPr>
          <p:cNvPr id="8" name="card"/>
          <p:cNvSpPr/>
          <p:nvPr/>
        </p:nvSpPr>
        <p:spPr>
          <a:xfrm>
            <a:off x="7452360" y="3154680"/>
            <a:ext cx="4279392" cy="1645920"/>
          </a:xfrm>
          <a:prstGeom prst="roundRect">
            <a:avLst>
              <a:gd name="adj" fmla="val 4444"/>
            </a:avLst>
          </a:prstGeom>
          <a:solidFill>
            <a:srgbClr val="FBF3E0"/>
          </a:solidFill>
          <a:ln w="9525">
            <a:solidFill>
              <a:srgbClr val="DCE3E4"/>
            </a:solidFill>
            <a:prstDash val="solid"/>
          </a:ln>
        </p:spPr>
      </p:sp>
      <p:sp>
        <p:nvSpPr>
          <p:cNvPr id="9" name="Text 5"/>
          <p:cNvSpPr txBox="1"/>
          <p:nvPr/>
        </p:nvSpPr>
        <p:spPr>
          <a:xfrm>
            <a:off x="7635240" y="3273552"/>
            <a:ext cx="3931920" cy="1463040"/>
          </a:xfrm>
          <a:prstGeom prst="rect">
            <a:avLst/>
          </a:prstGeom>
          <a:noFill/>
          <a:ln/>
        </p:spPr>
        <p:txBody>
          <a:bodyPr wrap="square" lIns="0" tIns="0" rIns="0" bIns="0" rtlCol="0" anchor="t"/>
          <a:lstStyle/>
          <a:p>
            <a:pPr indent="0" marL="0">
              <a:buNone/>
            </a:pPr>
            <a:r>
              <a:rPr lang="en-US" sz="1300" b="1" dirty="0">
                <a:solidFill>
                  <a:srgbClr val="C98A00"/>
                </a:solidFill>
              </a:rPr>
              <a:t>Count discrepancy</a:t>
            </a:r>
            <a:endParaRPr lang="en-US" sz="1300" dirty="0"/>
          </a:p>
          <a:p>
            <a:pPr indent="0" marL="0">
              <a:buNone/>
            </a:pPr>
            <a:r>
              <a:rPr lang="en-US" sz="1300" dirty="0">
                <a:solidFill>
                  <a:srgbClr val="1E2A2F"/>
                </a:solidFill>
              </a:rPr>
              <a:t>September is 22 / 21 / 18 / 17 depending on the date used; 12 cases have no burial date. This deck uses 22.</a:t>
            </a:r>
            <a:endParaRPr lang="en-US" sz="1300" dirty="0"/>
          </a:p>
        </p:txBody>
      </p:sp>
      <p:sp>
        <p:nvSpPr>
          <p:cNvPr id="10"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11" name="Text 7"/>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Policy funerals rose to 29 (Aug); cash funerals fell to 4 (Sep).</a:t>
            </a:r>
            <a:endParaRPr lang="en-US" sz="1050" dirty="0"/>
          </a:p>
        </p:txBody>
      </p:sp>
      <p:sp>
        <p:nvSpPr>
          <p:cNvPr id="12"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3" name="Text 9"/>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Cash funerals made ~USD 267 each where costed — but most are not costed.</a:t>
            </a:r>
            <a:endParaRPr lang="en-US" sz="1050" dirty="0"/>
          </a:p>
        </p:txBody>
      </p:sp>
      <p:sp>
        <p:nvSpPr>
          <p:cNvPr id="14"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5" name="Text 11"/>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Record cost, vehicle and burial date on every funeral from October.</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QUOTATIONS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Half our funeral quotations never close — USD 21,013 + ZAR 86,300 left open</a:t>
            </a:r>
            <a:endParaRPr lang="en-US" sz="2600" dirty="0"/>
          </a:p>
        </p:txBody>
      </p:sp>
      <p:sp>
        <p:nvSpPr>
          <p:cNvPr id="5" name="funnel stage"/>
          <p:cNvSpPr/>
          <p:nvPr/>
        </p:nvSpPr>
        <p:spPr>
          <a:xfrm>
            <a:off x="457200" y="1417320"/>
            <a:ext cx="5120640" cy="914400"/>
          </a:xfrm>
          <a:prstGeom prst="roundRect">
            <a:avLst>
              <a:gd name="adj" fmla="val 10000"/>
            </a:avLst>
          </a:prstGeom>
          <a:solidFill>
            <a:srgbClr val="2E6DB4"/>
          </a:solidFill>
          <a:ln w="12700">
            <a:solidFill>
              <a:srgbClr val="2E6DB4"/>
            </a:solidFill>
            <a:prstDash val="solid"/>
          </a:ln>
        </p:spPr>
      </p:sp>
      <p:sp>
        <p:nvSpPr>
          <p:cNvPr id="6" name="Text 3"/>
          <p:cNvSpPr txBox="1"/>
          <p:nvPr/>
        </p:nvSpPr>
        <p:spPr>
          <a:xfrm>
            <a:off x="548640" y="1417320"/>
            <a:ext cx="493776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103  </a:t>
            </a:r>
            <a:pPr algn="ctr" indent="0" marL="0">
              <a:buNone/>
            </a:pPr>
            <a:r>
              <a:rPr lang="en-US" sz="1400" dirty="0">
                <a:solidFill>
                  <a:srgbClr val="FFFFFF"/>
                </a:solidFill>
              </a:rPr>
              <a:t>Quotations issued</a:t>
            </a:r>
            <a:endParaRPr lang="en-US" sz="1400" dirty="0"/>
          </a:p>
        </p:txBody>
      </p:sp>
      <p:sp>
        <p:nvSpPr>
          <p:cNvPr id="7" name="funnel stage"/>
          <p:cNvSpPr/>
          <p:nvPr/>
        </p:nvSpPr>
        <p:spPr>
          <a:xfrm>
            <a:off x="1097280" y="2514600"/>
            <a:ext cx="3840480" cy="914400"/>
          </a:xfrm>
          <a:prstGeom prst="roundRect">
            <a:avLst>
              <a:gd name="adj" fmla="val 10000"/>
            </a:avLst>
          </a:prstGeom>
          <a:solidFill>
            <a:srgbClr val="34ADB3"/>
          </a:solidFill>
          <a:ln w="12700">
            <a:solidFill>
              <a:srgbClr val="34ADB3"/>
            </a:solidFill>
            <a:prstDash val="solid"/>
          </a:ln>
        </p:spPr>
      </p:sp>
      <p:sp>
        <p:nvSpPr>
          <p:cNvPr id="8" name="Text 5"/>
          <p:cNvSpPr txBox="1"/>
          <p:nvPr/>
        </p:nvSpPr>
        <p:spPr>
          <a:xfrm>
            <a:off x="1188720" y="2514600"/>
            <a:ext cx="365760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52  </a:t>
            </a:r>
            <a:pPr algn="ctr" indent="0" marL="0">
              <a:buNone/>
            </a:pPr>
            <a:r>
              <a:rPr lang="en-US" sz="1400" dirty="0">
                <a:solidFill>
                  <a:srgbClr val="FFFFFF"/>
                </a:solidFill>
              </a:rPr>
              <a:t>Converted</a:t>
            </a:r>
            <a:endParaRPr lang="en-US" sz="1400" dirty="0"/>
          </a:p>
        </p:txBody>
      </p:sp>
      <p:sp>
        <p:nvSpPr>
          <p:cNvPr id="9" name="funnel stage"/>
          <p:cNvSpPr/>
          <p:nvPr/>
        </p:nvSpPr>
        <p:spPr>
          <a:xfrm>
            <a:off x="457200" y="3611880"/>
            <a:ext cx="5120640" cy="914400"/>
          </a:xfrm>
          <a:prstGeom prst="roundRect">
            <a:avLst>
              <a:gd name="adj" fmla="val 10000"/>
            </a:avLst>
          </a:prstGeom>
          <a:solidFill>
            <a:srgbClr val="E07B39"/>
          </a:solidFill>
          <a:ln w="12700">
            <a:solidFill>
              <a:srgbClr val="E07B39"/>
            </a:solidFill>
            <a:prstDash val="solid"/>
          </a:ln>
        </p:spPr>
      </p:sp>
      <p:sp>
        <p:nvSpPr>
          <p:cNvPr id="10" name="Text 7"/>
          <p:cNvSpPr txBox="1"/>
          <p:nvPr/>
        </p:nvSpPr>
        <p:spPr>
          <a:xfrm>
            <a:off x="548640" y="3611880"/>
            <a:ext cx="493776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51  </a:t>
            </a:r>
            <a:pPr algn="ctr" indent="0" marL="0">
              <a:buNone/>
            </a:pPr>
            <a:r>
              <a:rPr lang="en-US" sz="1400" dirty="0">
                <a:solidFill>
                  <a:srgbClr val="FFFFFF"/>
                </a:solidFill>
              </a:rPr>
              <a:t>Not converted — USD 21,013 + ZAR 86,300</a:t>
            </a:r>
            <a:endParaRPr lang="en-US" sz="1400" dirty="0"/>
          </a:p>
        </p:txBody>
      </p:sp>
      <p:sp>
        <p:nvSpPr>
          <p:cNvPr id="11" name="placeholder frame"/>
          <p:cNvSpPr/>
          <p:nvPr/>
        </p:nvSpPr>
        <p:spPr>
          <a:xfrm>
            <a:off x="5989320" y="1417320"/>
            <a:ext cx="5742432" cy="3291840"/>
          </a:xfrm>
          <a:prstGeom prst="roundRect">
            <a:avLst>
              <a:gd name="adj" fmla="val 2222"/>
            </a:avLst>
          </a:prstGeom>
          <a:solidFill>
            <a:srgbClr val="FFFFFF"/>
          </a:solidFill>
          <a:ln w="15875">
            <a:solidFill>
              <a:srgbClr val="8A979C"/>
            </a:solidFill>
            <a:prstDash val="dash"/>
          </a:ln>
        </p:spPr>
      </p:sp>
      <p:sp>
        <p:nvSpPr>
          <p:cNvPr id="12" name="Text 9"/>
          <p:cNvSpPr txBox="1"/>
          <p:nvPr/>
        </p:nvSpPr>
        <p:spPr>
          <a:xfrm>
            <a:off x="6217920" y="1554480"/>
            <a:ext cx="5303520" cy="594360"/>
          </a:xfrm>
          <a:prstGeom prst="rect">
            <a:avLst/>
          </a:prstGeom>
          <a:noFill/>
          <a:ln/>
        </p:spPr>
        <p:txBody>
          <a:bodyPr wrap="square" lIns="0" tIns="0" rIns="0" bIns="0" rtlCol="0" anchor="t"/>
          <a:lstStyle/>
          <a:p>
            <a:pPr indent="0" marL="0">
              <a:buNone/>
            </a:pPr>
            <a:r>
              <a:rPr lang="en-US" sz="1500" b="1" dirty="0">
                <a:solidFill>
                  <a:srgbClr val="1E2A2F"/>
                </a:solidFill>
              </a:rPr>
              <a:t>Future dashboard — data from October 2026</a:t>
            </a:r>
            <a:endParaRPr lang="en-US" sz="1500" dirty="0"/>
          </a:p>
          <a:p>
            <a:pPr indent="0" marL="0">
              <a:buNone/>
            </a:pPr>
            <a:r>
              <a:rPr lang="en-US" sz="1200" dirty="0">
                <a:solidFill>
                  <a:srgbClr val="5B6B71"/>
                </a:solidFill>
              </a:rPr>
              <a:t>Quotations not converted, by loss reason</a:t>
            </a:r>
            <a:endParaRPr lang="en-US" sz="1500" dirty="0"/>
          </a:p>
        </p:txBody>
      </p:sp>
      <p:sp>
        <p:nvSpPr>
          <p:cNvPr id="13" name="Text 10"/>
          <p:cNvSpPr txBox="1"/>
          <p:nvPr/>
        </p:nvSpPr>
        <p:spPr>
          <a:xfrm>
            <a:off x="6217920" y="2267712"/>
            <a:ext cx="1371600" cy="274320"/>
          </a:xfrm>
          <a:prstGeom prst="rect">
            <a:avLst/>
          </a:prstGeom>
          <a:noFill/>
          <a:ln/>
        </p:spPr>
        <p:txBody>
          <a:bodyPr wrap="square" lIns="0" tIns="0" rIns="0" bIns="0" rtlCol="0" anchor="ctr"/>
          <a:lstStyle/>
          <a:p>
            <a:pPr indent="0" marL="0">
              <a:buNone/>
            </a:pPr>
            <a:r>
              <a:rPr lang="en-US" sz="1200" dirty="0">
                <a:solidFill>
                  <a:srgbClr val="5B6B71"/>
                </a:solidFill>
              </a:rPr>
              <a:t>Price</a:t>
            </a:r>
            <a:endParaRPr lang="en-US" sz="1200" dirty="0"/>
          </a:p>
        </p:txBody>
      </p:sp>
      <p:sp>
        <p:nvSpPr>
          <p:cNvPr id="14" name="empty bar"/>
          <p:cNvSpPr/>
          <p:nvPr/>
        </p:nvSpPr>
        <p:spPr>
          <a:xfrm>
            <a:off x="7635240" y="2331720"/>
            <a:ext cx="3840480" cy="155448"/>
          </a:xfrm>
          <a:prstGeom prst="rect">
            <a:avLst/>
          </a:prstGeom>
          <a:solidFill>
            <a:srgbClr val="EEF1F2"/>
          </a:solidFill>
          <a:ln w="12700">
            <a:solidFill>
              <a:srgbClr val="EEF1F2"/>
            </a:solidFill>
            <a:prstDash val="solid"/>
          </a:ln>
        </p:spPr>
      </p:sp>
      <p:sp>
        <p:nvSpPr>
          <p:cNvPr id="15" name="Text 12"/>
          <p:cNvSpPr txBox="1"/>
          <p:nvPr/>
        </p:nvSpPr>
        <p:spPr>
          <a:xfrm>
            <a:off x="6217920" y="2606040"/>
            <a:ext cx="1371600" cy="274320"/>
          </a:xfrm>
          <a:prstGeom prst="rect">
            <a:avLst/>
          </a:prstGeom>
          <a:noFill/>
          <a:ln/>
        </p:spPr>
        <p:txBody>
          <a:bodyPr wrap="square" lIns="0" tIns="0" rIns="0" bIns="0" rtlCol="0" anchor="ctr"/>
          <a:lstStyle/>
          <a:p>
            <a:pPr indent="0" marL="0">
              <a:buNone/>
            </a:pPr>
            <a:r>
              <a:rPr lang="en-US" sz="1200" dirty="0">
                <a:solidFill>
                  <a:srgbClr val="5B6B71"/>
                </a:solidFill>
              </a:rPr>
              <a:t>Competitor</a:t>
            </a:r>
            <a:endParaRPr lang="en-US" sz="1200" dirty="0"/>
          </a:p>
        </p:txBody>
      </p:sp>
      <p:sp>
        <p:nvSpPr>
          <p:cNvPr id="16" name="empty bar"/>
          <p:cNvSpPr/>
          <p:nvPr/>
        </p:nvSpPr>
        <p:spPr>
          <a:xfrm>
            <a:off x="7635240" y="2670048"/>
            <a:ext cx="3840480" cy="155448"/>
          </a:xfrm>
          <a:prstGeom prst="rect">
            <a:avLst/>
          </a:prstGeom>
          <a:solidFill>
            <a:srgbClr val="EEF1F2"/>
          </a:solidFill>
          <a:ln w="12700">
            <a:solidFill>
              <a:srgbClr val="EEF1F2"/>
            </a:solidFill>
            <a:prstDash val="solid"/>
          </a:ln>
        </p:spPr>
      </p:sp>
      <p:sp>
        <p:nvSpPr>
          <p:cNvPr id="17" name="Text 14"/>
          <p:cNvSpPr txBox="1"/>
          <p:nvPr/>
        </p:nvSpPr>
        <p:spPr>
          <a:xfrm>
            <a:off x="6217920" y="2944368"/>
            <a:ext cx="1371600" cy="274320"/>
          </a:xfrm>
          <a:prstGeom prst="rect">
            <a:avLst/>
          </a:prstGeom>
          <a:noFill/>
          <a:ln/>
        </p:spPr>
        <p:txBody>
          <a:bodyPr wrap="square" lIns="0" tIns="0" rIns="0" bIns="0" rtlCol="0" anchor="ctr"/>
          <a:lstStyle/>
          <a:p>
            <a:pPr indent="0" marL="0">
              <a:buNone/>
            </a:pPr>
            <a:r>
              <a:rPr lang="en-US" sz="1200" dirty="0">
                <a:solidFill>
                  <a:srgbClr val="5B6B71"/>
                </a:solidFill>
              </a:rPr>
              <a:t>Affordability</a:t>
            </a:r>
            <a:endParaRPr lang="en-US" sz="1200" dirty="0"/>
          </a:p>
        </p:txBody>
      </p:sp>
      <p:sp>
        <p:nvSpPr>
          <p:cNvPr id="18" name="empty bar"/>
          <p:cNvSpPr/>
          <p:nvPr/>
        </p:nvSpPr>
        <p:spPr>
          <a:xfrm>
            <a:off x="7635240" y="3008376"/>
            <a:ext cx="3840480" cy="155448"/>
          </a:xfrm>
          <a:prstGeom prst="rect">
            <a:avLst/>
          </a:prstGeom>
          <a:solidFill>
            <a:srgbClr val="EEF1F2"/>
          </a:solidFill>
          <a:ln w="12700">
            <a:solidFill>
              <a:srgbClr val="EEF1F2"/>
            </a:solidFill>
            <a:prstDash val="solid"/>
          </a:ln>
        </p:spPr>
      </p:sp>
      <p:sp>
        <p:nvSpPr>
          <p:cNvPr id="19" name="Text 16"/>
          <p:cNvSpPr txBox="1"/>
          <p:nvPr/>
        </p:nvSpPr>
        <p:spPr>
          <a:xfrm>
            <a:off x="6217920" y="3282696"/>
            <a:ext cx="1371600" cy="274320"/>
          </a:xfrm>
          <a:prstGeom prst="rect">
            <a:avLst/>
          </a:prstGeom>
          <a:noFill/>
          <a:ln/>
        </p:spPr>
        <p:txBody>
          <a:bodyPr wrap="square" lIns="0" tIns="0" rIns="0" bIns="0" rtlCol="0" anchor="ctr"/>
          <a:lstStyle/>
          <a:p>
            <a:pPr indent="0" marL="0">
              <a:buNone/>
            </a:pPr>
            <a:r>
              <a:rPr lang="en-US" sz="1200" dirty="0">
                <a:solidFill>
                  <a:srgbClr val="5B6B71"/>
                </a:solidFill>
              </a:rPr>
              <a:t>Service</a:t>
            </a:r>
            <a:endParaRPr lang="en-US" sz="1200" dirty="0"/>
          </a:p>
        </p:txBody>
      </p:sp>
      <p:sp>
        <p:nvSpPr>
          <p:cNvPr id="20" name="empty bar"/>
          <p:cNvSpPr/>
          <p:nvPr/>
        </p:nvSpPr>
        <p:spPr>
          <a:xfrm>
            <a:off x="7635240" y="3346704"/>
            <a:ext cx="3840480" cy="155448"/>
          </a:xfrm>
          <a:prstGeom prst="rect">
            <a:avLst/>
          </a:prstGeom>
          <a:solidFill>
            <a:srgbClr val="EEF1F2"/>
          </a:solidFill>
          <a:ln w="12700">
            <a:solidFill>
              <a:srgbClr val="EEF1F2"/>
            </a:solidFill>
            <a:prstDash val="solid"/>
          </a:ln>
        </p:spPr>
      </p:sp>
      <p:sp>
        <p:nvSpPr>
          <p:cNvPr id="21" name="Text 18"/>
          <p:cNvSpPr txBox="1"/>
          <p:nvPr/>
        </p:nvSpPr>
        <p:spPr>
          <a:xfrm>
            <a:off x="6217920" y="3621024"/>
            <a:ext cx="1371600" cy="274320"/>
          </a:xfrm>
          <a:prstGeom prst="rect">
            <a:avLst/>
          </a:prstGeom>
          <a:noFill/>
          <a:ln/>
        </p:spPr>
        <p:txBody>
          <a:bodyPr wrap="square" lIns="0" tIns="0" rIns="0" bIns="0" rtlCol="0" anchor="ctr"/>
          <a:lstStyle/>
          <a:p>
            <a:pPr indent="0" marL="0">
              <a:buNone/>
            </a:pPr>
            <a:r>
              <a:rPr lang="en-US" sz="1200" dirty="0">
                <a:solidFill>
                  <a:srgbClr val="5B6B71"/>
                </a:solidFill>
              </a:rPr>
              <a:t>Availability</a:t>
            </a:r>
            <a:endParaRPr lang="en-US" sz="1200" dirty="0"/>
          </a:p>
        </p:txBody>
      </p:sp>
      <p:sp>
        <p:nvSpPr>
          <p:cNvPr id="22" name="empty bar"/>
          <p:cNvSpPr/>
          <p:nvPr/>
        </p:nvSpPr>
        <p:spPr>
          <a:xfrm>
            <a:off x="7635240" y="3685032"/>
            <a:ext cx="3840480" cy="155448"/>
          </a:xfrm>
          <a:prstGeom prst="rect">
            <a:avLst/>
          </a:prstGeom>
          <a:solidFill>
            <a:srgbClr val="EEF1F2"/>
          </a:solidFill>
          <a:ln w="12700">
            <a:solidFill>
              <a:srgbClr val="EEF1F2"/>
            </a:solidFill>
            <a:prstDash val="solid"/>
          </a:ln>
        </p:spPr>
      </p:sp>
      <p:sp>
        <p:nvSpPr>
          <p:cNvPr id="23" name="Text 20"/>
          <p:cNvSpPr txBox="1"/>
          <p:nvPr/>
        </p:nvSpPr>
        <p:spPr>
          <a:xfrm>
            <a:off x="6217920" y="3959352"/>
            <a:ext cx="1371600" cy="274320"/>
          </a:xfrm>
          <a:prstGeom prst="rect">
            <a:avLst/>
          </a:prstGeom>
          <a:noFill/>
          <a:ln/>
        </p:spPr>
        <p:txBody>
          <a:bodyPr wrap="square" lIns="0" tIns="0" rIns="0" bIns="0" rtlCol="0" anchor="ctr"/>
          <a:lstStyle/>
          <a:p>
            <a:pPr indent="0" marL="0">
              <a:buNone/>
            </a:pPr>
            <a:r>
              <a:rPr lang="en-US" sz="1200" dirty="0">
                <a:solidFill>
                  <a:srgbClr val="5B6B71"/>
                </a:solidFill>
              </a:rPr>
              <a:t>Delayed</a:t>
            </a:r>
            <a:endParaRPr lang="en-US" sz="1200" dirty="0"/>
          </a:p>
        </p:txBody>
      </p:sp>
      <p:sp>
        <p:nvSpPr>
          <p:cNvPr id="24" name="empty bar"/>
          <p:cNvSpPr/>
          <p:nvPr/>
        </p:nvSpPr>
        <p:spPr>
          <a:xfrm>
            <a:off x="7635240" y="4023360"/>
            <a:ext cx="3840480" cy="155448"/>
          </a:xfrm>
          <a:prstGeom prst="rect">
            <a:avLst/>
          </a:prstGeom>
          <a:solidFill>
            <a:srgbClr val="EEF1F2"/>
          </a:solidFill>
          <a:ln w="12700">
            <a:solidFill>
              <a:srgbClr val="EEF1F2"/>
            </a:solidFill>
            <a:prstDash val="solid"/>
          </a:ln>
        </p:spPr>
      </p:sp>
      <p:sp>
        <p:nvSpPr>
          <p:cNvPr id="25" name="Text 22"/>
          <p:cNvSpPr txBox="1"/>
          <p:nvPr/>
        </p:nvSpPr>
        <p:spPr>
          <a:xfrm>
            <a:off x="6217920" y="4297680"/>
            <a:ext cx="1371600" cy="274320"/>
          </a:xfrm>
          <a:prstGeom prst="rect">
            <a:avLst/>
          </a:prstGeom>
          <a:noFill/>
          <a:ln/>
        </p:spPr>
        <p:txBody>
          <a:bodyPr wrap="square" lIns="0" tIns="0" rIns="0" bIns="0" rtlCol="0" anchor="ctr"/>
          <a:lstStyle/>
          <a:p>
            <a:pPr indent="0" marL="0">
              <a:buNone/>
            </a:pPr>
            <a:r>
              <a:rPr lang="en-US" sz="1200" dirty="0">
                <a:solidFill>
                  <a:srgbClr val="5B6B71"/>
                </a:solidFill>
              </a:rPr>
              <a:t>Other</a:t>
            </a:r>
            <a:endParaRPr lang="en-US" sz="1200" dirty="0"/>
          </a:p>
        </p:txBody>
      </p:sp>
      <p:sp>
        <p:nvSpPr>
          <p:cNvPr id="26" name="empty bar"/>
          <p:cNvSpPr/>
          <p:nvPr/>
        </p:nvSpPr>
        <p:spPr>
          <a:xfrm>
            <a:off x="7635240" y="4361688"/>
            <a:ext cx="3840480" cy="155448"/>
          </a:xfrm>
          <a:prstGeom prst="rect">
            <a:avLst/>
          </a:prstGeom>
          <a:solidFill>
            <a:srgbClr val="EEF1F2"/>
          </a:solidFill>
          <a:ln w="12700">
            <a:solidFill>
              <a:srgbClr val="EEF1F2"/>
            </a:solidFill>
            <a:prstDash val="solid"/>
          </a:ln>
        </p:spPr>
      </p:sp>
      <p:sp>
        <p:nvSpPr>
          <p:cNvPr id="27"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28" name="Text 2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103 quotations: 52 converted, 51 lost (USD 21,013 + ZAR 86,300).</a:t>
            </a:r>
            <a:endParaRPr lang="en-US" sz="1050" dirty="0"/>
          </a:p>
        </p:txBody>
      </p:sp>
      <p:sp>
        <p:nvSpPr>
          <p:cNvPr id="29"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30" name="Text 2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We don't know why we lose — so we can't fix it.</a:t>
            </a:r>
            <a:endParaRPr lang="en-US" sz="1050" dirty="0"/>
          </a:p>
        </p:txBody>
      </p:sp>
      <p:sp>
        <p:nvSpPr>
          <p:cNvPr id="31"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32" name="Text 2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Month-end follow-up of every open quotation, with a loss reason.</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FUNERAL LEAD GENERATION</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Every funeral we conduct is a room full of potential customers</a:t>
            </a:r>
            <a:endParaRPr lang="en-US" sz="2600" dirty="0"/>
          </a:p>
        </p:txBody>
      </p:sp>
      <p:sp>
        <p:nvSpPr>
          <p:cNvPr id="5" name="card"/>
          <p:cNvSpPr/>
          <p:nvPr/>
        </p:nvSpPr>
        <p:spPr>
          <a:xfrm>
            <a:off x="457200" y="1508760"/>
            <a:ext cx="1627632" cy="1828800"/>
          </a:xfrm>
          <a:prstGeom prst="roundRect">
            <a:avLst>
              <a:gd name="adj" fmla="val 4494"/>
            </a:avLst>
          </a:prstGeom>
          <a:solidFill>
            <a:srgbClr val="FFFFFF"/>
          </a:solidFill>
          <a:ln w="9525">
            <a:solidFill>
              <a:srgbClr val="DCE3E4"/>
            </a:solidFill>
            <a:prstDash val="solid"/>
          </a:ln>
        </p:spPr>
      </p:sp>
      <p:sp>
        <p:nvSpPr>
          <p:cNvPr id="6" name="icon circle"/>
          <p:cNvSpPr/>
          <p:nvPr/>
        </p:nvSpPr>
        <p:spPr>
          <a:xfrm>
            <a:off x="905256" y="1691640"/>
            <a:ext cx="731520" cy="731520"/>
          </a:xfrm>
          <a:prstGeom prst="ellipse">
            <a:avLst/>
          </a:prstGeom>
          <a:solidFill>
            <a:srgbClr val="0E5A5F"/>
          </a:solidFill>
          <a:ln w="12700">
            <a:solidFill>
              <a:srgbClr val="0E5A5F"/>
            </a:solidFill>
            <a:prstDash val="solid"/>
          </a:ln>
        </p:spPr>
      </p:sp>
      <p:pic>
        <p:nvPicPr>
          <p:cNvPr id="7" name="Image 0" descr="FaClipboardList">    </p:cNvPr>
          <p:cNvPicPr>
            <a:picLocks noChangeAspect="1"/>
          </p:cNvPicPr>
          <p:nvPr/>
        </p:nvPicPr>
        <p:blipFill>
          <a:blip r:embed="rId1"/>
          <a:stretch>
            <a:fillRect/>
          </a:stretch>
        </p:blipFill>
        <p:spPr>
          <a:xfrm>
            <a:off x="1088136" y="1874520"/>
            <a:ext cx="365760" cy="365760"/>
          </a:xfrm>
          <a:prstGeom prst="rect">
            <a:avLst/>
          </a:prstGeom>
        </p:spPr>
      </p:pic>
      <p:sp>
        <p:nvSpPr>
          <p:cNvPr id="8" name="Text 4"/>
          <p:cNvSpPr txBox="1"/>
          <p:nvPr/>
        </p:nvSpPr>
        <p:spPr>
          <a:xfrm>
            <a:off x="502920" y="2560320"/>
            <a:ext cx="1536192" cy="640080"/>
          </a:xfrm>
          <a:prstGeom prst="rect">
            <a:avLst/>
          </a:prstGeom>
          <a:noFill/>
          <a:ln/>
        </p:spPr>
        <p:txBody>
          <a:bodyPr wrap="square" lIns="0" tIns="0" rIns="0" bIns="0" rtlCol="0" anchor="ctr"/>
          <a:lstStyle/>
          <a:p>
            <a:pPr algn="ctr" indent="0" marL="0">
              <a:buNone/>
            </a:pPr>
            <a:r>
              <a:rPr lang="en-US" sz="1500" b="1" dirty="0">
                <a:solidFill>
                  <a:srgbClr val="1E2A2F"/>
                </a:solidFill>
              </a:rPr>
              <a:t>Attendee register</a:t>
            </a:r>
            <a:endParaRPr lang="en-US" sz="1500" dirty="0"/>
          </a:p>
        </p:txBody>
      </p:sp>
      <p:sp>
        <p:nvSpPr>
          <p:cNvPr id="9" name="arrow"/>
          <p:cNvSpPr/>
          <p:nvPr/>
        </p:nvSpPr>
        <p:spPr>
          <a:xfrm>
            <a:off x="2103120" y="2286000"/>
            <a:ext cx="265725" cy="274320"/>
          </a:xfrm>
          <a:prstGeom prst="rightArrow">
            <a:avLst/>
          </a:prstGeom>
          <a:solidFill>
            <a:srgbClr val="0E5A5F"/>
          </a:solidFill>
          <a:ln w="12700">
            <a:solidFill>
              <a:srgbClr val="0E5A5F"/>
            </a:solidFill>
            <a:prstDash val="solid"/>
          </a:ln>
        </p:spPr>
      </p:sp>
      <p:sp>
        <p:nvSpPr>
          <p:cNvPr id="10" name="card"/>
          <p:cNvSpPr/>
          <p:nvPr/>
        </p:nvSpPr>
        <p:spPr>
          <a:xfrm>
            <a:off x="2387133" y="1508760"/>
            <a:ext cx="1627632" cy="1828800"/>
          </a:xfrm>
          <a:prstGeom prst="roundRect">
            <a:avLst>
              <a:gd name="adj" fmla="val 4494"/>
            </a:avLst>
          </a:prstGeom>
          <a:solidFill>
            <a:srgbClr val="FFFFFF"/>
          </a:solidFill>
          <a:ln w="9525">
            <a:solidFill>
              <a:srgbClr val="DCE3E4"/>
            </a:solidFill>
            <a:prstDash val="solid"/>
          </a:ln>
        </p:spPr>
      </p:sp>
      <p:sp>
        <p:nvSpPr>
          <p:cNvPr id="11" name="icon circle"/>
          <p:cNvSpPr/>
          <p:nvPr/>
        </p:nvSpPr>
        <p:spPr>
          <a:xfrm>
            <a:off x="2835189" y="1691640"/>
            <a:ext cx="731520" cy="731520"/>
          </a:xfrm>
          <a:prstGeom prst="ellipse">
            <a:avLst/>
          </a:prstGeom>
          <a:solidFill>
            <a:srgbClr val="0E5A5F"/>
          </a:solidFill>
          <a:ln w="12700">
            <a:solidFill>
              <a:srgbClr val="0E5A5F"/>
            </a:solidFill>
            <a:prstDash val="solid"/>
          </a:ln>
        </p:spPr>
      </p:sp>
      <p:pic>
        <p:nvPicPr>
          <p:cNvPr id="12" name="Image 1" descr="FaAddressBook">    </p:cNvPr>
          <p:cNvPicPr>
            <a:picLocks noChangeAspect="1"/>
          </p:cNvPicPr>
          <p:nvPr/>
        </p:nvPicPr>
        <p:blipFill>
          <a:blip r:embed="rId2"/>
          <a:stretch>
            <a:fillRect/>
          </a:stretch>
        </p:blipFill>
        <p:spPr>
          <a:xfrm>
            <a:off x="3018069" y="1874520"/>
            <a:ext cx="365760" cy="365760"/>
          </a:xfrm>
          <a:prstGeom prst="rect">
            <a:avLst/>
          </a:prstGeom>
        </p:spPr>
      </p:pic>
      <p:sp>
        <p:nvSpPr>
          <p:cNvPr id="13" name="Text 8"/>
          <p:cNvSpPr txBox="1"/>
          <p:nvPr/>
        </p:nvSpPr>
        <p:spPr>
          <a:xfrm>
            <a:off x="2432853" y="2560320"/>
            <a:ext cx="1536192" cy="640080"/>
          </a:xfrm>
          <a:prstGeom prst="rect">
            <a:avLst/>
          </a:prstGeom>
          <a:noFill/>
          <a:ln/>
        </p:spPr>
        <p:txBody>
          <a:bodyPr wrap="square" lIns="0" tIns="0" rIns="0" bIns="0" rtlCol="0" anchor="ctr"/>
          <a:lstStyle/>
          <a:p>
            <a:pPr algn="ctr" indent="0" marL="0">
              <a:buNone/>
            </a:pPr>
            <a:r>
              <a:rPr lang="en-US" sz="1500" b="1" dirty="0">
                <a:solidFill>
                  <a:srgbClr val="1E2A2F"/>
                </a:solidFill>
              </a:rPr>
              <a:t>Contacts</a:t>
            </a:r>
            <a:endParaRPr lang="en-US" sz="1500" dirty="0"/>
          </a:p>
        </p:txBody>
      </p:sp>
      <p:sp>
        <p:nvSpPr>
          <p:cNvPr id="14" name="arrow"/>
          <p:cNvSpPr/>
          <p:nvPr/>
        </p:nvSpPr>
        <p:spPr>
          <a:xfrm>
            <a:off x="4033053" y="2286000"/>
            <a:ext cx="265725" cy="274320"/>
          </a:xfrm>
          <a:prstGeom prst="rightArrow">
            <a:avLst/>
          </a:prstGeom>
          <a:solidFill>
            <a:srgbClr val="0E5A5F"/>
          </a:solidFill>
          <a:ln w="12700">
            <a:solidFill>
              <a:srgbClr val="0E5A5F"/>
            </a:solidFill>
            <a:prstDash val="solid"/>
          </a:ln>
        </p:spPr>
      </p:sp>
      <p:sp>
        <p:nvSpPr>
          <p:cNvPr id="15" name="card"/>
          <p:cNvSpPr/>
          <p:nvPr/>
        </p:nvSpPr>
        <p:spPr>
          <a:xfrm>
            <a:off x="4317065" y="1508760"/>
            <a:ext cx="1627632" cy="1828800"/>
          </a:xfrm>
          <a:prstGeom prst="roundRect">
            <a:avLst>
              <a:gd name="adj" fmla="val 4494"/>
            </a:avLst>
          </a:prstGeom>
          <a:solidFill>
            <a:srgbClr val="FFFFFF"/>
          </a:solidFill>
          <a:ln w="9525">
            <a:solidFill>
              <a:srgbClr val="DCE3E4"/>
            </a:solidFill>
            <a:prstDash val="solid"/>
          </a:ln>
        </p:spPr>
      </p:sp>
      <p:sp>
        <p:nvSpPr>
          <p:cNvPr id="16" name="icon circle"/>
          <p:cNvSpPr/>
          <p:nvPr/>
        </p:nvSpPr>
        <p:spPr>
          <a:xfrm>
            <a:off x="4765121" y="1691640"/>
            <a:ext cx="731520" cy="731520"/>
          </a:xfrm>
          <a:prstGeom prst="ellipse">
            <a:avLst/>
          </a:prstGeom>
          <a:solidFill>
            <a:srgbClr val="0E5A5F"/>
          </a:solidFill>
          <a:ln w="12700">
            <a:solidFill>
              <a:srgbClr val="0E5A5F"/>
            </a:solidFill>
            <a:prstDash val="solid"/>
          </a:ln>
        </p:spPr>
      </p:sp>
      <p:pic>
        <p:nvPicPr>
          <p:cNvPr id="17" name="Image 2" descr="FaUserTie">    </p:cNvPr>
          <p:cNvPicPr>
            <a:picLocks noChangeAspect="1"/>
          </p:cNvPicPr>
          <p:nvPr/>
        </p:nvPicPr>
        <p:blipFill>
          <a:blip r:embed="rId3"/>
          <a:stretch>
            <a:fillRect/>
          </a:stretch>
        </p:blipFill>
        <p:spPr>
          <a:xfrm>
            <a:off x="4948001" y="1874520"/>
            <a:ext cx="365760" cy="365760"/>
          </a:xfrm>
          <a:prstGeom prst="rect">
            <a:avLst/>
          </a:prstGeom>
        </p:spPr>
      </p:pic>
      <p:sp>
        <p:nvSpPr>
          <p:cNvPr id="18" name="Text 12"/>
          <p:cNvSpPr txBox="1"/>
          <p:nvPr/>
        </p:nvSpPr>
        <p:spPr>
          <a:xfrm>
            <a:off x="4362785" y="2560320"/>
            <a:ext cx="1536192" cy="640080"/>
          </a:xfrm>
          <a:prstGeom prst="rect">
            <a:avLst/>
          </a:prstGeom>
          <a:noFill/>
          <a:ln/>
        </p:spPr>
        <p:txBody>
          <a:bodyPr wrap="square" lIns="0" tIns="0" rIns="0" bIns="0" rtlCol="0" anchor="ctr"/>
          <a:lstStyle/>
          <a:p>
            <a:pPr algn="ctr" indent="0" marL="0">
              <a:buNone/>
            </a:pPr>
            <a:r>
              <a:rPr lang="en-US" sz="1500" b="1" dirty="0">
                <a:solidFill>
                  <a:srgbClr val="1E2A2F"/>
                </a:solidFill>
              </a:rPr>
              <a:t>Assigned agent</a:t>
            </a:r>
            <a:endParaRPr lang="en-US" sz="1500" dirty="0"/>
          </a:p>
        </p:txBody>
      </p:sp>
      <p:sp>
        <p:nvSpPr>
          <p:cNvPr id="19" name="arrow"/>
          <p:cNvSpPr/>
          <p:nvPr/>
        </p:nvSpPr>
        <p:spPr>
          <a:xfrm>
            <a:off x="5962985" y="2286000"/>
            <a:ext cx="265725" cy="274320"/>
          </a:xfrm>
          <a:prstGeom prst="rightArrow">
            <a:avLst/>
          </a:prstGeom>
          <a:solidFill>
            <a:srgbClr val="0E5A5F"/>
          </a:solidFill>
          <a:ln w="12700">
            <a:solidFill>
              <a:srgbClr val="0E5A5F"/>
            </a:solidFill>
            <a:prstDash val="solid"/>
          </a:ln>
        </p:spPr>
      </p:sp>
      <p:sp>
        <p:nvSpPr>
          <p:cNvPr id="20" name="card"/>
          <p:cNvSpPr/>
          <p:nvPr/>
        </p:nvSpPr>
        <p:spPr>
          <a:xfrm>
            <a:off x="6246998" y="1508760"/>
            <a:ext cx="1627632" cy="1828800"/>
          </a:xfrm>
          <a:prstGeom prst="roundRect">
            <a:avLst>
              <a:gd name="adj" fmla="val 4494"/>
            </a:avLst>
          </a:prstGeom>
          <a:solidFill>
            <a:srgbClr val="FFFFFF"/>
          </a:solidFill>
          <a:ln w="9525">
            <a:solidFill>
              <a:srgbClr val="DCE3E4"/>
            </a:solidFill>
            <a:prstDash val="solid"/>
          </a:ln>
        </p:spPr>
      </p:sp>
      <p:sp>
        <p:nvSpPr>
          <p:cNvPr id="21" name="icon circle"/>
          <p:cNvSpPr/>
          <p:nvPr/>
        </p:nvSpPr>
        <p:spPr>
          <a:xfrm>
            <a:off x="6695054" y="1691640"/>
            <a:ext cx="731520" cy="731520"/>
          </a:xfrm>
          <a:prstGeom prst="ellipse">
            <a:avLst/>
          </a:prstGeom>
          <a:solidFill>
            <a:srgbClr val="0E5A5F"/>
          </a:solidFill>
          <a:ln w="12700">
            <a:solidFill>
              <a:srgbClr val="0E5A5F"/>
            </a:solidFill>
            <a:prstDash val="solid"/>
          </a:ln>
        </p:spPr>
      </p:sp>
      <p:pic>
        <p:nvPicPr>
          <p:cNvPr id="22" name="Image 3" descr="FaComments">    </p:cNvPr>
          <p:cNvPicPr>
            <a:picLocks noChangeAspect="1"/>
          </p:cNvPicPr>
          <p:nvPr/>
        </p:nvPicPr>
        <p:blipFill>
          <a:blip r:embed="rId4"/>
          <a:stretch>
            <a:fillRect/>
          </a:stretch>
        </p:blipFill>
        <p:spPr>
          <a:xfrm>
            <a:off x="6877934" y="1874520"/>
            <a:ext cx="365760" cy="365760"/>
          </a:xfrm>
          <a:prstGeom prst="rect">
            <a:avLst/>
          </a:prstGeom>
        </p:spPr>
      </p:pic>
      <p:sp>
        <p:nvSpPr>
          <p:cNvPr id="23" name="Text 16"/>
          <p:cNvSpPr txBox="1"/>
          <p:nvPr/>
        </p:nvSpPr>
        <p:spPr>
          <a:xfrm>
            <a:off x="6292718" y="2560320"/>
            <a:ext cx="1536192" cy="640080"/>
          </a:xfrm>
          <a:prstGeom prst="rect">
            <a:avLst/>
          </a:prstGeom>
          <a:noFill/>
          <a:ln/>
        </p:spPr>
        <p:txBody>
          <a:bodyPr wrap="square" lIns="0" tIns="0" rIns="0" bIns="0" rtlCol="0" anchor="ctr"/>
          <a:lstStyle/>
          <a:p>
            <a:pPr algn="ctr" indent="0" marL="0">
              <a:buNone/>
            </a:pPr>
            <a:r>
              <a:rPr lang="en-US" sz="1500" b="1" dirty="0">
                <a:solidFill>
                  <a:srgbClr val="1E2A2F"/>
                </a:solidFill>
              </a:rPr>
              <a:t>Presentation</a:t>
            </a:r>
            <a:endParaRPr lang="en-US" sz="1500" dirty="0"/>
          </a:p>
        </p:txBody>
      </p:sp>
      <p:sp>
        <p:nvSpPr>
          <p:cNvPr id="24" name="arrow"/>
          <p:cNvSpPr/>
          <p:nvPr/>
        </p:nvSpPr>
        <p:spPr>
          <a:xfrm>
            <a:off x="7892918" y="2286000"/>
            <a:ext cx="265725" cy="274320"/>
          </a:xfrm>
          <a:prstGeom prst="rightArrow">
            <a:avLst/>
          </a:prstGeom>
          <a:solidFill>
            <a:srgbClr val="0E5A5F"/>
          </a:solidFill>
          <a:ln w="12700">
            <a:solidFill>
              <a:srgbClr val="0E5A5F"/>
            </a:solidFill>
            <a:prstDash val="solid"/>
          </a:ln>
        </p:spPr>
      </p:sp>
      <p:sp>
        <p:nvSpPr>
          <p:cNvPr id="25" name="card"/>
          <p:cNvSpPr/>
          <p:nvPr/>
        </p:nvSpPr>
        <p:spPr>
          <a:xfrm>
            <a:off x="8176931" y="1508760"/>
            <a:ext cx="1627632" cy="1828800"/>
          </a:xfrm>
          <a:prstGeom prst="roundRect">
            <a:avLst>
              <a:gd name="adj" fmla="val 4494"/>
            </a:avLst>
          </a:prstGeom>
          <a:solidFill>
            <a:srgbClr val="FFFFFF"/>
          </a:solidFill>
          <a:ln w="9525">
            <a:solidFill>
              <a:srgbClr val="DCE3E4"/>
            </a:solidFill>
            <a:prstDash val="solid"/>
          </a:ln>
        </p:spPr>
      </p:sp>
      <p:sp>
        <p:nvSpPr>
          <p:cNvPr id="26" name="icon circle"/>
          <p:cNvSpPr/>
          <p:nvPr/>
        </p:nvSpPr>
        <p:spPr>
          <a:xfrm>
            <a:off x="8624987" y="1691640"/>
            <a:ext cx="731520" cy="731520"/>
          </a:xfrm>
          <a:prstGeom prst="ellipse">
            <a:avLst/>
          </a:prstGeom>
          <a:solidFill>
            <a:srgbClr val="0E5A5F"/>
          </a:solidFill>
          <a:ln w="12700">
            <a:solidFill>
              <a:srgbClr val="0E5A5F"/>
            </a:solidFill>
            <a:prstDash val="solid"/>
          </a:ln>
        </p:spPr>
      </p:sp>
      <p:pic>
        <p:nvPicPr>
          <p:cNvPr id="27" name="Image 4" descr="FaFileSignature">    </p:cNvPr>
          <p:cNvPicPr>
            <a:picLocks noChangeAspect="1"/>
          </p:cNvPicPr>
          <p:nvPr/>
        </p:nvPicPr>
        <p:blipFill>
          <a:blip r:embed="rId5"/>
          <a:stretch>
            <a:fillRect/>
          </a:stretch>
        </p:blipFill>
        <p:spPr>
          <a:xfrm>
            <a:off x="8807867" y="1874520"/>
            <a:ext cx="365760" cy="365760"/>
          </a:xfrm>
          <a:prstGeom prst="rect">
            <a:avLst/>
          </a:prstGeom>
        </p:spPr>
      </p:pic>
      <p:sp>
        <p:nvSpPr>
          <p:cNvPr id="28" name="Text 20"/>
          <p:cNvSpPr txBox="1"/>
          <p:nvPr/>
        </p:nvSpPr>
        <p:spPr>
          <a:xfrm>
            <a:off x="8222651" y="2560320"/>
            <a:ext cx="1536192" cy="640080"/>
          </a:xfrm>
          <a:prstGeom prst="rect">
            <a:avLst/>
          </a:prstGeom>
          <a:noFill/>
          <a:ln/>
        </p:spPr>
        <p:txBody>
          <a:bodyPr wrap="square" lIns="0" tIns="0" rIns="0" bIns="0" rtlCol="0" anchor="ctr"/>
          <a:lstStyle/>
          <a:p>
            <a:pPr algn="ctr" indent="0" marL="0">
              <a:buNone/>
            </a:pPr>
            <a:r>
              <a:rPr lang="en-US" sz="1500" b="1" dirty="0">
                <a:solidFill>
                  <a:srgbClr val="1E2A2F"/>
                </a:solidFill>
              </a:rPr>
              <a:t>Policy</a:t>
            </a:r>
            <a:endParaRPr lang="en-US" sz="1500" dirty="0"/>
          </a:p>
        </p:txBody>
      </p:sp>
      <p:sp>
        <p:nvSpPr>
          <p:cNvPr id="29" name="arrow"/>
          <p:cNvSpPr/>
          <p:nvPr/>
        </p:nvSpPr>
        <p:spPr>
          <a:xfrm>
            <a:off x="9822851" y="2286000"/>
            <a:ext cx="265725" cy="274320"/>
          </a:xfrm>
          <a:prstGeom prst="rightArrow">
            <a:avLst/>
          </a:prstGeom>
          <a:solidFill>
            <a:srgbClr val="0E5A5F"/>
          </a:solidFill>
          <a:ln w="12700">
            <a:solidFill>
              <a:srgbClr val="0E5A5F"/>
            </a:solidFill>
            <a:prstDash val="solid"/>
          </a:ln>
        </p:spPr>
      </p:sp>
      <p:sp>
        <p:nvSpPr>
          <p:cNvPr id="30" name="card"/>
          <p:cNvSpPr/>
          <p:nvPr/>
        </p:nvSpPr>
        <p:spPr>
          <a:xfrm>
            <a:off x="10106863" y="1508760"/>
            <a:ext cx="1627632" cy="1828800"/>
          </a:xfrm>
          <a:prstGeom prst="roundRect">
            <a:avLst>
              <a:gd name="adj" fmla="val 4494"/>
            </a:avLst>
          </a:prstGeom>
          <a:solidFill>
            <a:srgbClr val="E3EFEF"/>
          </a:solidFill>
          <a:ln w="9525">
            <a:solidFill>
              <a:srgbClr val="DCE3E4"/>
            </a:solidFill>
            <a:prstDash val="solid"/>
          </a:ln>
        </p:spPr>
      </p:sp>
      <p:sp>
        <p:nvSpPr>
          <p:cNvPr id="31" name="icon circle"/>
          <p:cNvSpPr/>
          <p:nvPr/>
        </p:nvSpPr>
        <p:spPr>
          <a:xfrm>
            <a:off x="10554919" y="1691640"/>
            <a:ext cx="731520" cy="731520"/>
          </a:xfrm>
          <a:prstGeom prst="ellipse">
            <a:avLst/>
          </a:prstGeom>
          <a:solidFill>
            <a:srgbClr val="0E5A5F"/>
          </a:solidFill>
          <a:ln w="12700">
            <a:solidFill>
              <a:srgbClr val="0E5A5F"/>
            </a:solidFill>
            <a:prstDash val="solid"/>
          </a:ln>
        </p:spPr>
      </p:sp>
      <p:pic>
        <p:nvPicPr>
          <p:cNvPr id="32" name="Image 5" descr="FaMoneyBillWave">    </p:cNvPr>
          <p:cNvPicPr>
            <a:picLocks noChangeAspect="1"/>
          </p:cNvPicPr>
          <p:nvPr/>
        </p:nvPicPr>
        <p:blipFill>
          <a:blip r:embed="rId6"/>
          <a:stretch>
            <a:fillRect/>
          </a:stretch>
        </p:blipFill>
        <p:spPr>
          <a:xfrm>
            <a:off x="10737799" y="1874520"/>
            <a:ext cx="365760" cy="365760"/>
          </a:xfrm>
          <a:prstGeom prst="rect">
            <a:avLst/>
          </a:prstGeom>
        </p:spPr>
      </p:pic>
      <p:sp>
        <p:nvSpPr>
          <p:cNvPr id="33" name="Text 24"/>
          <p:cNvSpPr txBox="1"/>
          <p:nvPr/>
        </p:nvSpPr>
        <p:spPr>
          <a:xfrm>
            <a:off x="10152583" y="2560320"/>
            <a:ext cx="1536192" cy="640080"/>
          </a:xfrm>
          <a:prstGeom prst="rect">
            <a:avLst/>
          </a:prstGeom>
          <a:noFill/>
          <a:ln/>
        </p:spPr>
        <p:txBody>
          <a:bodyPr wrap="square" lIns="0" tIns="0" rIns="0" bIns="0" rtlCol="0" anchor="ctr"/>
          <a:lstStyle/>
          <a:p>
            <a:pPr algn="ctr" indent="0" marL="0">
              <a:buNone/>
            </a:pPr>
            <a:r>
              <a:rPr lang="en-US" sz="1500" b="1" dirty="0">
                <a:solidFill>
                  <a:srgbClr val="1E2A2F"/>
                </a:solidFill>
              </a:rPr>
              <a:t>First payment</a:t>
            </a:r>
            <a:endParaRPr lang="en-US" sz="1500" dirty="0"/>
          </a:p>
        </p:txBody>
      </p:sp>
      <p:sp>
        <p:nvSpPr>
          <p:cNvPr id="34" name="card"/>
          <p:cNvSpPr/>
          <p:nvPr/>
        </p:nvSpPr>
        <p:spPr>
          <a:xfrm>
            <a:off x="457200" y="3657600"/>
            <a:ext cx="3637178" cy="1463040"/>
          </a:xfrm>
          <a:prstGeom prst="roundRect">
            <a:avLst>
              <a:gd name="adj" fmla="val 5000"/>
            </a:avLst>
          </a:prstGeom>
          <a:solidFill>
            <a:srgbClr val="FFFFFF"/>
          </a:solidFill>
          <a:ln w="9525">
            <a:solidFill>
              <a:srgbClr val="DCE3E4"/>
            </a:solidFill>
            <a:prstDash val="solid"/>
          </a:ln>
        </p:spPr>
      </p:sp>
      <p:sp>
        <p:nvSpPr>
          <p:cNvPr id="35" name="icon circle"/>
          <p:cNvSpPr/>
          <p:nvPr/>
        </p:nvSpPr>
        <p:spPr>
          <a:xfrm>
            <a:off x="640080" y="3840480"/>
            <a:ext cx="548640" cy="548640"/>
          </a:xfrm>
          <a:prstGeom prst="ellipse">
            <a:avLst/>
          </a:prstGeom>
          <a:solidFill>
            <a:srgbClr val="2E6DB4"/>
          </a:solidFill>
          <a:ln w="12700">
            <a:solidFill>
              <a:srgbClr val="2E6DB4"/>
            </a:solidFill>
            <a:prstDash val="solid"/>
          </a:ln>
        </p:spPr>
      </p:sp>
      <p:pic>
        <p:nvPicPr>
          <p:cNvPr id="36" name="Image 6" descr="FaCoins">    </p:cNvPr>
          <p:cNvPicPr>
            <a:picLocks noChangeAspect="1"/>
          </p:cNvPicPr>
          <p:nvPr/>
        </p:nvPicPr>
        <p:blipFill>
          <a:blip r:embed="rId7"/>
          <a:stretch>
            <a:fillRect/>
          </a:stretch>
        </p:blipFill>
        <p:spPr>
          <a:xfrm>
            <a:off x="777240" y="3977640"/>
            <a:ext cx="274320" cy="274320"/>
          </a:xfrm>
          <a:prstGeom prst="rect">
            <a:avLst/>
          </a:prstGeom>
        </p:spPr>
      </p:pic>
      <p:sp>
        <p:nvSpPr>
          <p:cNvPr id="37" name="Text 27"/>
          <p:cNvSpPr txBox="1"/>
          <p:nvPr/>
        </p:nvSpPr>
        <p:spPr>
          <a:xfrm>
            <a:off x="1371600" y="3794760"/>
            <a:ext cx="2585618" cy="1234440"/>
          </a:xfrm>
          <a:prstGeom prst="rect">
            <a:avLst/>
          </a:prstGeom>
          <a:noFill/>
          <a:ln/>
        </p:spPr>
        <p:txBody>
          <a:bodyPr wrap="square" lIns="0" tIns="0" rIns="0" bIns="0" rtlCol="0" anchor="t"/>
          <a:lstStyle/>
          <a:p>
            <a:pPr indent="0" marL="0">
              <a:buNone/>
            </a:pPr>
            <a:r>
              <a:rPr lang="en-US" sz="1500" b="1" dirty="0">
                <a:solidFill>
                  <a:srgbClr val="1E2A2F"/>
                </a:solidFill>
              </a:rPr>
              <a:t>Agent allowance = acquisition cost</a:t>
            </a:r>
            <a:endParaRPr lang="en-US" sz="1500" dirty="0"/>
          </a:p>
          <a:p>
            <a:pPr indent="0" marL="0">
              <a:buNone/>
            </a:pPr>
            <a:r>
              <a:rPr lang="en-US" sz="1300" dirty="0">
                <a:solidFill>
                  <a:srgbClr val="5B6B71"/>
                </a:solidFill>
              </a:rPr>
              <a:t>Paid per funeral attended, treated as a sales cost.</a:t>
            </a:r>
            <a:endParaRPr lang="en-US" sz="1500" dirty="0"/>
          </a:p>
        </p:txBody>
      </p:sp>
      <p:sp>
        <p:nvSpPr>
          <p:cNvPr id="38" name="card"/>
          <p:cNvSpPr/>
          <p:nvPr/>
        </p:nvSpPr>
        <p:spPr>
          <a:xfrm>
            <a:off x="4277258" y="3657600"/>
            <a:ext cx="3637178" cy="1463040"/>
          </a:xfrm>
          <a:prstGeom prst="roundRect">
            <a:avLst>
              <a:gd name="adj" fmla="val 5000"/>
            </a:avLst>
          </a:prstGeom>
          <a:solidFill>
            <a:srgbClr val="FFFFFF"/>
          </a:solidFill>
          <a:ln w="9525">
            <a:solidFill>
              <a:srgbClr val="DCE3E4"/>
            </a:solidFill>
            <a:prstDash val="solid"/>
          </a:ln>
        </p:spPr>
      </p:sp>
      <p:sp>
        <p:nvSpPr>
          <p:cNvPr id="39" name="icon circle"/>
          <p:cNvSpPr/>
          <p:nvPr/>
        </p:nvSpPr>
        <p:spPr>
          <a:xfrm>
            <a:off x="4460138" y="3840480"/>
            <a:ext cx="548640" cy="548640"/>
          </a:xfrm>
          <a:prstGeom prst="ellipse">
            <a:avLst/>
          </a:prstGeom>
          <a:solidFill>
            <a:srgbClr val="2E6DB4"/>
          </a:solidFill>
          <a:ln w="12700">
            <a:solidFill>
              <a:srgbClr val="2E6DB4"/>
            </a:solidFill>
            <a:prstDash val="solid"/>
          </a:ln>
        </p:spPr>
      </p:sp>
      <p:pic>
        <p:nvPicPr>
          <p:cNvPr id="40" name="Image 7" descr="FaCalculator">    </p:cNvPr>
          <p:cNvPicPr>
            <a:picLocks noChangeAspect="1"/>
          </p:cNvPicPr>
          <p:nvPr/>
        </p:nvPicPr>
        <p:blipFill>
          <a:blip r:embed="rId8"/>
          <a:stretch>
            <a:fillRect/>
          </a:stretch>
        </p:blipFill>
        <p:spPr>
          <a:xfrm>
            <a:off x="4597298" y="3977640"/>
            <a:ext cx="274320" cy="274320"/>
          </a:xfrm>
          <a:prstGeom prst="rect">
            <a:avLst/>
          </a:prstGeom>
        </p:spPr>
      </p:pic>
      <p:sp>
        <p:nvSpPr>
          <p:cNvPr id="41" name="Text 30"/>
          <p:cNvSpPr txBox="1"/>
          <p:nvPr/>
        </p:nvSpPr>
        <p:spPr>
          <a:xfrm>
            <a:off x="5191658" y="3794760"/>
            <a:ext cx="2585618" cy="1234440"/>
          </a:xfrm>
          <a:prstGeom prst="rect">
            <a:avLst/>
          </a:prstGeom>
          <a:noFill/>
          <a:ln/>
        </p:spPr>
        <p:txBody>
          <a:bodyPr wrap="square" lIns="0" tIns="0" rIns="0" bIns="0" rtlCol="0" anchor="t"/>
          <a:lstStyle/>
          <a:p>
            <a:pPr indent="0" marL="0">
              <a:buNone/>
            </a:pPr>
            <a:r>
              <a:rPr lang="en-US" sz="1500" b="1" dirty="0">
                <a:solidFill>
                  <a:srgbClr val="1E2A2F"/>
                </a:solidFill>
              </a:rPr>
              <a:t>Measure cost per acquired policy</a:t>
            </a:r>
            <a:endParaRPr lang="en-US" sz="1500" dirty="0"/>
          </a:p>
          <a:p>
            <a:pPr indent="0" marL="0">
              <a:buNone/>
            </a:pPr>
            <a:r>
              <a:rPr lang="en-US" sz="1300" dirty="0">
                <a:solidFill>
                  <a:srgbClr val="5B6B71"/>
                </a:solidFill>
              </a:rPr>
              <a:t>Allowance paid ÷ policies that make a first payment.</a:t>
            </a:r>
            <a:endParaRPr lang="en-US" sz="1500" dirty="0"/>
          </a:p>
        </p:txBody>
      </p:sp>
      <p:sp>
        <p:nvSpPr>
          <p:cNvPr id="42" name="card"/>
          <p:cNvSpPr/>
          <p:nvPr/>
        </p:nvSpPr>
        <p:spPr>
          <a:xfrm>
            <a:off x="8097317" y="3657600"/>
            <a:ext cx="3637178" cy="1463040"/>
          </a:xfrm>
          <a:prstGeom prst="roundRect">
            <a:avLst>
              <a:gd name="adj" fmla="val 5000"/>
            </a:avLst>
          </a:prstGeom>
          <a:solidFill>
            <a:srgbClr val="FFFFFF"/>
          </a:solidFill>
          <a:ln w="9525">
            <a:solidFill>
              <a:srgbClr val="DCE3E4"/>
            </a:solidFill>
            <a:prstDash val="solid"/>
          </a:ln>
        </p:spPr>
      </p:sp>
      <p:sp>
        <p:nvSpPr>
          <p:cNvPr id="43" name="icon circle"/>
          <p:cNvSpPr/>
          <p:nvPr/>
        </p:nvSpPr>
        <p:spPr>
          <a:xfrm>
            <a:off x="8280197" y="3840480"/>
            <a:ext cx="548640" cy="548640"/>
          </a:xfrm>
          <a:prstGeom prst="ellipse">
            <a:avLst/>
          </a:prstGeom>
          <a:solidFill>
            <a:srgbClr val="2E6DB4"/>
          </a:solidFill>
          <a:ln w="12700">
            <a:solidFill>
              <a:srgbClr val="2E6DB4"/>
            </a:solidFill>
            <a:prstDash val="solid"/>
          </a:ln>
        </p:spPr>
      </p:sp>
      <p:pic>
        <p:nvPicPr>
          <p:cNvPr id="44" name="Image 8" descr="FaFlask">    </p:cNvPr>
          <p:cNvPicPr>
            <a:picLocks noChangeAspect="1"/>
          </p:cNvPicPr>
          <p:nvPr/>
        </p:nvPicPr>
        <p:blipFill>
          <a:blip r:embed="rId9"/>
          <a:stretch>
            <a:fillRect/>
          </a:stretch>
        </p:blipFill>
        <p:spPr>
          <a:xfrm>
            <a:off x="8417357" y="3977640"/>
            <a:ext cx="274320" cy="274320"/>
          </a:xfrm>
          <a:prstGeom prst="rect">
            <a:avLst/>
          </a:prstGeom>
        </p:spPr>
      </p:pic>
      <p:sp>
        <p:nvSpPr>
          <p:cNvPr id="45" name="Text 33"/>
          <p:cNvSpPr txBox="1"/>
          <p:nvPr/>
        </p:nvSpPr>
        <p:spPr>
          <a:xfrm>
            <a:off x="9011717" y="3794760"/>
            <a:ext cx="2585618" cy="1234440"/>
          </a:xfrm>
          <a:prstGeom prst="rect">
            <a:avLst/>
          </a:prstGeom>
          <a:noFill/>
          <a:ln/>
        </p:spPr>
        <p:txBody>
          <a:bodyPr wrap="square" lIns="0" tIns="0" rIns="0" bIns="0" rtlCol="0" anchor="t"/>
          <a:lstStyle/>
          <a:p>
            <a:pPr indent="0" marL="0">
              <a:buNone/>
            </a:pPr>
            <a:r>
              <a:rPr lang="en-US" sz="1500" b="1" dirty="0">
                <a:solidFill>
                  <a:srgbClr val="1E2A2F"/>
                </a:solidFill>
              </a:rPr>
              <a:t>60-day trial</a:t>
            </a:r>
            <a:endParaRPr lang="en-US" sz="1500" dirty="0"/>
          </a:p>
          <a:p>
            <a:pPr indent="0" marL="0">
              <a:buNone/>
            </a:pPr>
            <a:r>
              <a:rPr lang="en-US" sz="1300" dirty="0">
                <a:solidFill>
                  <a:srgbClr val="5B6B71"/>
                </a:solidFill>
              </a:rPr>
              <a:t>Keep, change or stop based on cost per policy.</a:t>
            </a:r>
            <a:endParaRPr lang="en-US" sz="1500" dirty="0"/>
          </a:p>
        </p:txBody>
      </p:sp>
      <p:sp>
        <p:nvSpPr>
          <p:cNvPr id="46" name="Text 34"/>
          <p:cNvSpPr txBox="1"/>
          <p:nvPr/>
        </p:nvSpPr>
        <p:spPr>
          <a:xfrm>
            <a:off x="457200" y="5349240"/>
            <a:ext cx="11277295" cy="365760"/>
          </a:xfrm>
          <a:prstGeom prst="rect">
            <a:avLst/>
          </a:prstGeom>
          <a:noFill/>
          <a:ln/>
        </p:spPr>
        <p:txBody>
          <a:bodyPr wrap="square" lIns="0" tIns="0" rIns="0" bIns="0" rtlCol="0" anchor="t"/>
          <a:lstStyle/>
          <a:p>
            <a:pPr indent="0" marL="0">
              <a:buNone/>
            </a:pPr>
            <a:r>
              <a:rPr lang="en-US" sz="1400" b="1" dirty="0">
                <a:solidFill>
                  <a:srgbClr val="C98A00"/>
                </a:solidFill>
              </a:rPr>
              <a:t>Today: </a:t>
            </a:r>
            <a:pPr indent="0" marL="0">
              <a:buNone/>
            </a:pPr>
            <a:r>
              <a:rPr lang="en-US" sz="1400" dirty="0">
                <a:solidFill>
                  <a:srgbClr val="C98A00"/>
                </a:solidFill>
              </a:rPr>
              <a:t>attendees are not captured. Data not yet captured — process starts October 2026.</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MORTUARY</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Most mortuary intakes are for other parlours — and we sell them nothing more</a:t>
            </a:r>
            <a:endParaRPr lang="en-US" sz="2600" dirty="0"/>
          </a:p>
        </p:txBody>
      </p:sp>
      <p:graphicFrame>
        <p:nvGraphicFramePr>
          <p:cNvPr id="5" name="Chart 0" descr=""/>
          <p:cNvGraphicFramePr/>
          <p:nvPr/>
        </p:nvGraphicFramePr>
        <p:xfrm>
          <a:off x="457200" y="1280160"/>
          <a:ext cx="548640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26480" y="1280160"/>
          <a:ext cx="3291840" cy="3520440"/>
        </p:xfrm>
        <a:graphic xmlns:a="http://schemas.openxmlformats.org/drawingml/2006/main">
          <a:graphicData uri="http://schemas.openxmlformats.org/drawingml/2006/chart">
            <c:chart xmlns:c="http://schemas.openxmlformats.org/drawingml/2006/chart" r:id="rId2"/>
          </a:graphicData>
        </a:graphic>
      </p:graphicFrame>
      <p:sp>
        <p:nvSpPr>
          <p:cNvPr id="7" name="card"/>
          <p:cNvSpPr/>
          <p:nvPr/>
        </p:nvSpPr>
        <p:spPr>
          <a:xfrm>
            <a:off x="9601200" y="1325880"/>
            <a:ext cx="2130552" cy="3429000"/>
          </a:xfrm>
          <a:prstGeom prst="roundRect">
            <a:avLst>
              <a:gd name="adj" fmla="val 3433"/>
            </a:avLst>
          </a:prstGeom>
          <a:solidFill>
            <a:srgbClr val="FFFFFF"/>
          </a:solidFill>
          <a:ln w="9525">
            <a:solidFill>
              <a:srgbClr val="DCE3E4"/>
            </a:solidFill>
            <a:prstDash val="solid"/>
          </a:ln>
        </p:spPr>
      </p:sp>
      <p:sp>
        <p:nvSpPr>
          <p:cNvPr id="8" name="Text 3"/>
          <p:cNvSpPr txBox="1"/>
          <p:nvPr/>
        </p:nvSpPr>
        <p:spPr>
          <a:xfrm>
            <a:off x="9738360" y="1463040"/>
            <a:ext cx="1874520" cy="3200400"/>
          </a:xfrm>
          <a:prstGeom prst="rect">
            <a:avLst/>
          </a:prstGeom>
          <a:noFill/>
          <a:ln/>
        </p:spPr>
        <p:txBody>
          <a:bodyPr wrap="square" lIns="0" tIns="0" rIns="0" bIns="0" rtlCol="0" anchor="t"/>
          <a:lstStyle/>
          <a:p>
            <a:pPr indent="0" marL="0">
              <a:buNone/>
            </a:pPr>
            <a:r>
              <a:rPr lang="en-US" sz="2000" b="1" dirty="0">
                <a:solidFill>
                  <a:srgbClr val="1E2A2F"/>
                </a:solidFill>
                <a:latin typeface="Cambria" pitchFamily="34" charset="0"/>
                <a:ea typeface="Cambria" pitchFamily="34" charset="-122"/>
                <a:cs typeface="Cambria" pitchFamily="34" charset="-120"/>
              </a:rPr>
              <a:t>61 of 83</a:t>
            </a:r>
            <a:endParaRPr lang="en-US" sz="1400" dirty="0"/>
          </a:p>
          <a:p>
            <a:pPr indent="0" marL="0">
              <a:buNone/>
            </a:pPr>
            <a:r>
              <a:rPr lang="en-US" sz="1200" dirty="0">
                <a:solidFill>
                  <a:srgbClr val="5B6B71"/>
                </a:solidFill>
              </a:rPr>
              <a:t>intakes for other parlours</a:t>
            </a:r>
            <a:endParaRPr lang="en-US" sz="1400" dirty="0"/>
          </a:p>
          <a:p>
            <a:pPr indent="0" marL="0">
              <a:buNone/>
            </a:pPr>
            <a:r>
              <a:rPr lang="en-US" sz="800" dirty="0">
                <a:solidFill>
                  <a:srgbClr val="1E2A2F"/>
                </a:solidFill>
              </a:rPr>
              <a:t> </a:t>
            </a:r>
            <a:endParaRPr lang="en-US" sz="1400" dirty="0"/>
          </a:p>
          <a:p>
            <a:pPr indent="0" marL="0">
              <a:buNone/>
            </a:pPr>
            <a:r>
              <a:rPr lang="en-US" sz="2000" b="1" dirty="0">
                <a:solidFill>
                  <a:srgbClr val="C0392B"/>
                </a:solidFill>
                <a:latin typeface="Cambria" pitchFamily="34" charset="0"/>
                <a:ea typeface="Cambria" pitchFamily="34" charset="-122"/>
                <a:cs typeface="Cambria" pitchFamily="34" charset="-120"/>
              </a:rPr>
              <a:t>USD 1,140</a:t>
            </a:r>
            <a:endParaRPr lang="en-US" sz="1400" dirty="0"/>
          </a:p>
          <a:p>
            <a:pPr indent="0" marL="0">
              <a:buNone/>
            </a:pPr>
            <a:r>
              <a:rPr lang="en-US" sz="1200" dirty="0">
                <a:solidFill>
                  <a:srgbClr val="5B6B71"/>
                </a:solidFill>
              </a:rPr>
              <a:t>charged; none recorded collected</a:t>
            </a:r>
            <a:endParaRPr lang="en-US" sz="1400" dirty="0"/>
          </a:p>
          <a:p>
            <a:pPr indent="0" marL="0">
              <a:buNone/>
            </a:pPr>
            <a:r>
              <a:rPr lang="en-US" sz="800" dirty="0">
                <a:solidFill>
                  <a:srgbClr val="1E2A2F"/>
                </a:solidFill>
              </a:rPr>
              <a:t> </a:t>
            </a:r>
            <a:endParaRPr lang="en-US" sz="1400" dirty="0"/>
          </a:p>
          <a:p>
            <a:pPr indent="0" marL="0">
              <a:buNone/>
            </a:pPr>
            <a:r>
              <a:rPr lang="en-US" sz="1200" b="1" dirty="0">
                <a:solidFill>
                  <a:srgbClr val="1E2A2F"/>
                </a:solidFill>
              </a:rPr>
              <a:t>Services sold: </a:t>
            </a:r>
            <a:pPr indent="0" marL="0">
              <a:buNone/>
            </a:pPr>
            <a:r>
              <a:rPr lang="en-US" sz="1200" dirty="0">
                <a:solidFill>
                  <a:srgbClr val="C98A00"/>
                </a:solidFill>
              </a:rPr>
              <a:t>Data not yet captured — process starts October 2026</a:t>
            </a:r>
            <a:endParaRPr lang="en-US" sz="1400" dirty="0"/>
          </a:p>
        </p:txBody>
      </p:sp>
      <p:sp>
        <p:nvSpPr>
          <p:cNvPr id="9"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10" name="Text 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83 intakes (61 for other parlours); USD 1,140 storage charged, none recorded collected.</a:t>
            </a:r>
            <a:endParaRPr lang="en-US" sz="1050" dirty="0"/>
          </a:p>
        </p:txBody>
      </p:sp>
      <p:sp>
        <p:nvSpPr>
          <p:cNvPr id="11"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2" name="Text 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Families using other parlours still need wash and dress, chapel, hearse and cars.</a:t>
            </a:r>
            <a:endParaRPr lang="en-US" sz="1050" dirty="0"/>
          </a:p>
        </p:txBody>
      </p:sp>
      <p:sp>
        <p:nvSpPr>
          <p:cNvPr id="13"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4" name="Text 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Collect the USD 1,140; offer and record services on every intake.</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FLEET</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62 of 129 funerals have no vehicle recorded — transport cost is unseen</a:t>
            </a:r>
            <a:endParaRPr lang="en-US" sz="2600" dirty="0"/>
          </a:p>
        </p:txBody>
      </p:sp>
      <p:graphicFrame>
        <p:nvGraphicFramePr>
          <p:cNvPr id="5" name="Chart 0" descr=""/>
          <p:cNvGraphicFramePr/>
          <p:nvPr/>
        </p:nvGraphicFramePr>
        <p:xfrm>
          <a:off x="457200" y="1280160"/>
          <a:ext cx="512064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715000" y="1280160"/>
          <a:ext cx="3017520" cy="3520440"/>
        </p:xfrm>
        <a:graphic xmlns:a="http://schemas.openxmlformats.org/drawingml/2006/main">
          <a:graphicData uri="http://schemas.openxmlformats.org/drawingml/2006/chart">
            <c:chart xmlns:c="http://schemas.openxmlformats.org/drawingml/2006/chart" r:id="rId2"/>
          </a:graphicData>
        </a:graphic>
      </p:graphicFrame>
      <p:sp>
        <p:nvSpPr>
          <p:cNvPr id="7" name="card"/>
          <p:cNvSpPr/>
          <p:nvPr/>
        </p:nvSpPr>
        <p:spPr>
          <a:xfrm>
            <a:off x="8915400" y="1325880"/>
            <a:ext cx="2816352" cy="3429000"/>
          </a:xfrm>
          <a:prstGeom prst="roundRect">
            <a:avLst>
              <a:gd name="adj" fmla="val 2597"/>
            </a:avLst>
          </a:prstGeom>
          <a:solidFill>
            <a:srgbClr val="FFFFFF"/>
          </a:solidFill>
          <a:ln w="9525">
            <a:solidFill>
              <a:srgbClr val="DCE3E4"/>
            </a:solidFill>
            <a:prstDash val="solid"/>
          </a:ln>
        </p:spPr>
      </p:sp>
      <p:sp>
        <p:nvSpPr>
          <p:cNvPr id="8" name="Text 3"/>
          <p:cNvSpPr txBox="1"/>
          <p:nvPr/>
        </p:nvSpPr>
        <p:spPr>
          <a:xfrm>
            <a:off x="9052560" y="1444752"/>
            <a:ext cx="2560320" cy="3246120"/>
          </a:xfrm>
          <a:prstGeom prst="rect">
            <a:avLst/>
          </a:prstGeom>
          <a:noFill/>
          <a:ln/>
        </p:spPr>
        <p:txBody>
          <a:bodyPr wrap="square" lIns="0" tIns="0" rIns="0" bIns="0" rtlCol="0" anchor="t"/>
          <a:lstStyle/>
          <a:p>
            <a:pPr indent="0" marL="0">
              <a:buNone/>
            </a:pPr>
            <a:r>
              <a:rPr lang="en-US" sz="1300" b="1" dirty="0">
                <a:solidFill>
                  <a:srgbClr val="0E5A5F"/>
                </a:solidFill>
              </a:rPr>
              <a:t>Cost per funeral</a:t>
            </a:r>
            <a:endParaRPr lang="en-US" sz="1300" dirty="0"/>
          </a:p>
          <a:p>
            <a:pPr indent="0" marL="0">
              <a:buNone/>
            </a:pPr>
            <a:r>
              <a:rPr lang="en-US" sz="1300" dirty="0">
                <a:solidFill>
                  <a:srgbClr val="1E2A2F"/>
                </a:solidFill>
              </a:rPr>
              <a:t>Quantum GL: USD 102</a:t>
            </a:r>
            <a:endParaRPr lang="en-US" sz="1300" dirty="0"/>
          </a:p>
          <a:p>
            <a:pPr indent="0" marL="0">
              <a:buNone/>
            </a:pPr>
            <a:r>
              <a:rPr lang="en-US" sz="1300" dirty="0">
                <a:solidFill>
                  <a:srgbClr val="1E2A2F"/>
                </a:solidFill>
              </a:rPr>
              <a:t>AHO8415: USD 69</a:t>
            </a:r>
            <a:endParaRPr lang="en-US" sz="1300" dirty="0"/>
          </a:p>
          <a:p>
            <a:pPr indent="0" marL="0">
              <a:buNone/>
            </a:pPr>
            <a:r>
              <a:rPr lang="en-US" sz="1300" dirty="0">
                <a:solidFill>
                  <a:srgbClr val="1E2A2F"/>
                </a:solidFill>
              </a:rPr>
              <a:t>AHO8416: USD 32</a:t>
            </a:r>
            <a:endParaRPr lang="en-US" sz="1300" dirty="0"/>
          </a:p>
          <a:p>
            <a:pPr indent="0" marL="0">
              <a:buNone/>
            </a:pPr>
            <a:r>
              <a:rPr lang="en-US" sz="600" dirty="0">
                <a:solidFill>
                  <a:srgbClr val="1E2A2F"/>
                </a:solidFill>
              </a:rPr>
              <a:t> </a:t>
            </a:r>
            <a:endParaRPr lang="en-US" sz="1300" dirty="0"/>
          </a:p>
          <a:p>
            <a:pPr indent="0" marL="0">
              <a:buNone/>
            </a:pPr>
            <a:r>
              <a:rPr lang="en-US" sz="1300" b="1" dirty="0">
                <a:solidFill>
                  <a:srgbClr val="0E5A5F"/>
                </a:solidFill>
              </a:rPr>
              <a:t>No recorded usage</a:t>
            </a:r>
            <a:endParaRPr lang="en-US" sz="1300" dirty="0"/>
          </a:p>
          <a:p>
            <a:pPr indent="0" marL="0">
              <a:buNone/>
            </a:pPr>
            <a:r>
              <a:rPr lang="en-US" sz="1200" dirty="0">
                <a:solidFill>
                  <a:srgbClr val="1E2A2F"/>
                </a:solidFill>
              </a:rPr>
              <a:t>Bus ADS3367, Red Kombi ACL2548, Hilux KN69CXGP (not confirmed idle)</a:t>
            </a:r>
            <a:endParaRPr lang="en-US" sz="1300" dirty="0"/>
          </a:p>
          <a:p>
            <a:pPr indent="0" marL="0">
              <a:buNone/>
            </a:pPr>
            <a:r>
              <a:rPr lang="en-US" sz="600" dirty="0">
                <a:solidFill>
                  <a:srgbClr val="1E2A2F"/>
                </a:solidFill>
              </a:rPr>
              <a:t> </a:t>
            </a:r>
            <a:endParaRPr lang="en-US" sz="1300" dirty="0"/>
          </a:p>
          <a:p>
            <a:pPr indent="0" marL="0">
              <a:buNone/>
            </a:pPr>
            <a:r>
              <a:rPr lang="en-US" sz="1300" b="1" dirty="0">
                <a:solidFill>
                  <a:srgbClr val="C0392B"/>
                </a:solidFill>
              </a:rPr>
              <a:t>USD 9,771 of running costs not traced</a:t>
            </a:r>
            <a:endParaRPr lang="en-US" sz="1300" dirty="0"/>
          </a:p>
        </p:txBody>
      </p:sp>
      <p:sp>
        <p:nvSpPr>
          <p:cNvPr id="9"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10" name="Text 5"/>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62 of 129 funerals have no vehicle; 3 vehicles have no recorded usage.</a:t>
            </a:r>
            <a:endParaRPr lang="en-US" sz="1050" dirty="0"/>
          </a:p>
        </p:txBody>
      </p:sp>
      <p:sp>
        <p:nvSpPr>
          <p:cNvPr id="11"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2" name="Text 7"/>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We can't price funerals or decide on hiring vs owning without this.</a:t>
            </a:r>
            <a:endParaRPr lang="en-US" sz="1050" dirty="0"/>
          </a:p>
        </p:txBody>
      </p:sp>
      <p:sp>
        <p:nvSpPr>
          <p:cNvPr id="13"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4" name="Text 9"/>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Record a vehicle and fuel requisition on every funeral (61–90 days).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SOCIETIES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All 80 societies deposit, but we can't yet see if any is profitable</a:t>
            </a:r>
            <a:endParaRPr lang="en-US" sz="2600" dirty="0"/>
          </a:p>
        </p:txBody>
      </p:sp>
      <p:graphicFrame>
        <p:nvGraphicFramePr>
          <p:cNvPr id="5" name="Chart 0" descr=""/>
          <p:cNvGraphicFramePr/>
          <p:nvPr/>
        </p:nvGraphicFramePr>
        <p:xfrm>
          <a:off x="457200" y="1280160"/>
          <a:ext cx="457200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166360" y="1280160"/>
          <a:ext cx="3017520" cy="3520440"/>
        </p:xfrm>
        <a:graphic xmlns:a="http://schemas.openxmlformats.org/drawingml/2006/main">
          <a:graphicData uri="http://schemas.openxmlformats.org/drawingml/2006/chart">
            <c:chart xmlns:c="http://schemas.openxmlformats.org/drawingml/2006/chart" r:id="rId2"/>
          </a:graphicData>
        </a:graphic>
      </p:graphicFrame>
      <p:sp>
        <p:nvSpPr>
          <p:cNvPr id="7" name="card"/>
          <p:cNvSpPr/>
          <p:nvPr/>
        </p:nvSpPr>
        <p:spPr>
          <a:xfrm>
            <a:off x="8366760" y="1325880"/>
            <a:ext cx="3364992" cy="3429000"/>
          </a:xfrm>
          <a:prstGeom prst="roundRect">
            <a:avLst>
              <a:gd name="adj" fmla="val 2174"/>
            </a:avLst>
          </a:prstGeom>
          <a:solidFill>
            <a:srgbClr val="FFFFFF"/>
          </a:solidFill>
          <a:ln w="9525">
            <a:solidFill>
              <a:srgbClr val="DCE3E4"/>
            </a:solidFill>
            <a:prstDash val="solid"/>
          </a:ln>
        </p:spPr>
      </p:sp>
      <p:sp>
        <p:nvSpPr>
          <p:cNvPr id="8" name="Text 3"/>
          <p:cNvSpPr txBox="1"/>
          <p:nvPr/>
        </p:nvSpPr>
        <p:spPr>
          <a:xfrm>
            <a:off x="8549640" y="1463040"/>
            <a:ext cx="3017520" cy="256032"/>
          </a:xfrm>
          <a:prstGeom prst="rect">
            <a:avLst/>
          </a:prstGeom>
          <a:noFill/>
          <a:ln/>
        </p:spPr>
        <p:txBody>
          <a:bodyPr wrap="square" lIns="0" tIns="0" rIns="0" bIns="0" rtlCol="0" anchor="t"/>
          <a:lstStyle/>
          <a:p>
            <a:pPr indent="0" marL="0">
              <a:buNone/>
            </a:pPr>
            <a:r>
              <a:rPr lang="en-US" sz="1050" b="1" spc="100" kern="0" dirty="0">
                <a:solidFill>
                  <a:srgbClr val="0E5A5F"/>
                </a:solidFill>
              </a:rPr>
              <a:t>SOCIETY HEALTH KPI</a:t>
            </a:r>
            <a:endParaRPr lang="en-US" sz="1050" dirty="0"/>
          </a:p>
        </p:txBody>
      </p:sp>
      <p:sp>
        <p:nvSpPr>
          <p:cNvPr id="9" name="Text 4"/>
          <p:cNvSpPr txBox="1"/>
          <p:nvPr/>
        </p:nvSpPr>
        <p:spPr>
          <a:xfrm>
            <a:off x="8549640" y="1783080"/>
            <a:ext cx="3017520" cy="1371600"/>
          </a:xfrm>
          <a:prstGeom prst="rect">
            <a:avLst/>
          </a:prstGeom>
          <a:noFill/>
          <a:ln/>
        </p:spPr>
        <p:txBody>
          <a:bodyPr wrap="square" lIns="0" tIns="0" rIns="0" bIns="0" rtlCol="0" anchor="t"/>
          <a:lstStyle/>
          <a:p>
            <a:pPr indent="0" marL="0">
              <a:buNone/>
            </a:pPr>
            <a:r>
              <a:rPr lang="en-US" sz="1700" dirty="0">
                <a:solidFill>
                  <a:srgbClr val="1E2A2F"/>
                </a:solidFill>
                <a:latin typeface="Cambria" pitchFamily="34" charset="0"/>
                <a:ea typeface="Cambria" pitchFamily="34" charset="-122"/>
                <a:cs typeface="Cambria" pitchFamily="34" charset="-120"/>
              </a:rPr>
              <a:t>Opening ledger</a:t>
            </a:r>
            <a:endParaRPr lang="en-US" sz="1700" dirty="0"/>
          </a:p>
          <a:p>
            <a:pPr indent="0" marL="0">
              <a:buNone/>
            </a:pPr>
            <a:r>
              <a:rPr lang="en-US" sz="1700" dirty="0">
                <a:solidFill>
                  <a:srgbClr val="1E2A2F"/>
                </a:solidFill>
                <a:latin typeface="Cambria" pitchFamily="34" charset="0"/>
                <a:ea typeface="Cambria" pitchFamily="34" charset="-122"/>
                <a:cs typeface="Cambria" pitchFamily="34" charset="-120"/>
              </a:rPr>
              <a:t>+ Deposits</a:t>
            </a:r>
            <a:endParaRPr lang="en-US" sz="1700" dirty="0"/>
          </a:p>
          <a:p>
            <a:pPr indent="0" marL="0">
              <a:buNone/>
            </a:pPr>
            <a:r>
              <a:rPr lang="en-US" sz="1700" dirty="0">
                <a:solidFill>
                  <a:srgbClr val="1E2A2F"/>
                </a:solidFill>
                <a:latin typeface="Cambria" pitchFamily="34" charset="0"/>
                <a:ea typeface="Cambria" pitchFamily="34" charset="-122"/>
                <a:cs typeface="Cambria" pitchFamily="34" charset="-120"/>
              </a:rPr>
              <a:t>− Services</a:t>
            </a:r>
            <a:endParaRPr lang="en-US" sz="1700" dirty="0"/>
          </a:p>
          <a:p>
            <a:pPr indent="0" marL="0">
              <a:buNone/>
            </a:pPr>
            <a:r>
              <a:rPr lang="en-US" sz="1700" b="1" dirty="0">
                <a:solidFill>
                  <a:srgbClr val="1E2A2F"/>
                </a:solidFill>
                <a:latin typeface="Cambria" pitchFamily="34" charset="0"/>
                <a:ea typeface="Cambria" pitchFamily="34" charset="-122"/>
                <a:cs typeface="Cambria" pitchFamily="34" charset="-120"/>
              </a:rPr>
              <a:t>= Closing</a:t>
            </a:r>
            <a:endParaRPr lang="en-US" sz="1700" dirty="0"/>
          </a:p>
        </p:txBody>
      </p:sp>
      <p:sp>
        <p:nvSpPr>
          <p:cNvPr id="10" name="Text 5"/>
          <p:cNvSpPr txBox="1"/>
          <p:nvPr/>
        </p:nvSpPr>
        <p:spPr>
          <a:xfrm>
            <a:off x="8549640" y="3246120"/>
            <a:ext cx="3017520" cy="1371600"/>
          </a:xfrm>
          <a:prstGeom prst="rect">
            <a:avLst/>
          </a:prstGeom>
          <a:noFill/>
          <a:ln/>
        </p:spPr>
        <p:txBody>
          <a:bodyPr wrap="square" lIns="0" tIns="0" rIns="0" bIns="0" rtlCol="0" anchor="t"/>
          <a:lstStyle/>
          <a:p>
            <a:pPr indent="0" marL="0">
              <a:buNone/>
            </a:pPr>
            <a:r>
              <a:rPr lang="en-US" sz="1200" b="1" dirty="0">
                <a:solidFill>
                  <a:srgbClr val="C0392B"/>
                </a:solidFill>
              </a:rPr>
              <a:t>Can't be calculated yet: </a:t>
            </a:r>
            <a:pPr indent="0" marL="0">
              <a:buNone/>
            </a:pPr>
            <a:r>
              <a:rPr lang="en-US" sz="1200" dirty="0">
                <a:solidFill>
                  <a:srgbClr val="1E2A2F"/>
                </a:solidFill>
              </a:rPr>
              <a:t>no funeral has ever been deducted from a ledger; June–July deposits not credited.</a:t>
            </a:r>
            <a:endParaRPr lang="en-US" sz="1200" dirty="0"/>
          </a:p>
        </p:txBody>
      </p:sp>
      <p:sp>
        <p:nvSpPr>
          <p:cNvPr id="11"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12" name="Text 7"/>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80 societies, all depositing; 22 with members (198), 58 with none.</a:t>
            </a:r>
            <a:endParaRPr lang="en-US" sz="1050" dirty="0"/>
          </a:p>
        </p:txBody>
      </p:sp>
      <p:sp>
        <p:nvSpPr>
          <p:cNvPr id="13"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4" name="Text 9"/>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Societies are 47% of money in, but their profit is invisible.</a:t>
            </a:r>
            <a:endParaRPr lang="en-US" sz="1050" dirty="0"/>
          </a:p>
        </p:txBody>
      </p:sp>
      <p:sp>
        <p:nvSpPr>
          <p:cNvPr id="15"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6" name="Text 11"/>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Credit all deposits, deduct every funeral; capture members for the 20 largest.</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CROSS-SELLING</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Everyone who touches Falakhe is a potential customer; we measure few</a:t>
            </a:r>
            <a:endParaRPr lang="en-US" sz="2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035040" y="1371600"/>
          <a:ext cx="5696712" cy="914400"/>
        </p:xfrm>
        <a:graphic>
          <a:graphicData uri="http://schemas.openxmlformats.org/drawingml/2006/table">
            <a:tbl>
              <a:tblPr/>
              <a:tblGrid>
                <a:gridCol w="2057400"/>
                <a:gridCol w="3639312"/>
              </a:tblGrid>
              <a:tr h="42976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Touchpoint</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Measurable today?</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429768">
                <a:tc>
                  <a:txBody>
                    <a:bodyPr/>
                    <a:lstStyle/>
                    <a:p>
                      <a:pPr indent="0" marL="0">
                        <a:buNone/>
                      </a:pPr>
                      <a:r>
                        <a:rPr lang="en-US" sz="1250" b="1" dirty="0">
                          <a:solidFill>
                            <a:srgbClr val="1E2A2F"/>
                          </a:solidFill>
                          <a:latin typeface="Calibri" pitchFamily="34" charset="0"/>
                          <a:ea typeface="Calibri" pitchFamily="34" charset="-122"/>
                          <a:cs typeface="Calibri" pitchFamily="34" charset="-120"/>
                        </a:rPr>
                        <a:t>Funeral families</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50" dirty="0">
                          <a:solidFill>
                            <a:srgbClr val="C98A00"/>
                          </a:solidFill>
                          <a:latin typeface="Calibri" pitchFamily="34" charset="0"/>
                          <a:ea typeface="Calibri" pitchFamily="34" charset="-122"/>
                          <a:cs typeface="Calibri" pitchFamily="34" charset="-120"/>
                        </a:rPr>
                        <a:t>Partly: funerals recorded; costing incomplete</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E2A2F"/>
                          </a:solidFill>
                          <a:latin typeface="Calibri" pitchFamily="34" charset="0"/>
                          <a:ea typeface="Calibri" pitchFamily="34" charset="-122"/>
                          <a:cs typeface="Calibri" pitchFamily="34" charset="-120"/>
                        </a:rPr>
                        <a:t>Mortuary clients</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50" dirty="0">
                          <a:solidFill>
                            <a:srgbClr val="C98A00"/>
                          </a:solidFill>
                          <a:latin typeface="Calibri" pitchFamily="34" charset="0"/>
                          <a:ea typeface="Calibri" pitchFamily="34" charset="-122"/>
                          <a:cs typeface="Calibri" pitchFamily="34" charset="-120"/>
                        </a:rPr>
                        <a:t>Partly: intakes recorded; services sold not captured</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E2A2F"/>
                          </a:solidFill>
                          <a:latin typeface="Calibri" pitchFamily="34" charset="0"/>
                          <a:ea typeface="Calibri" pitchFamily="34" charset="-122"/>
                          <a:cs typeface="Calibri" pitchFamily="34" charset="-120"/>
                        </a:rPr>
                        <a:t>Funeral attendees</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50" dirty="0">
                          <a:solidFill>
                            <a:srgbClr val="C0392B"/>
                          </a:solidFill>
                          <a:latin typeface="Calibri" pitchFamily="34" charset="0"/>
                          <a:ea typeface="Calibri" pitchFamily="34" charset="-122"/>
                          <a:cs typeface="Calibri" pitchFamily="34" charset="-120"/>
                        </a:rPr>
                        <a:t>No: register starts October</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E2A2F"/>
                          </a:solidFill>
                          <a:latin typeface="Calibri" pitchFamily="34" charset="0"/>
                          <a:ea typeface="Calibri" pitchFamily="34" charset="-122"/>
                          <a:cs typeface="Calibri" pitchFamily="34" charset="-120"/>
                        </a:rPr>
                        <a:t>Suppliers</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50" dirty="0">
                          <a:solidFill>
                            <a:srgbClr val="C0392B"/>
                          </a:solidFill>
                          <a:latin typeface="Calibri" pitchFamily="34" charset="0"/>
                          <a:ea typeface="Calibri" pitchFamily="34" charset="-122"/>
                          <a:cs typeface="Calibri" pitchFamily="34" charset="-120"/>
                        </a:rPr>
                        <a:t>No: data needed</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E2A2F"/>
                          </a:solidFill>
                          <a:latin typeface="Calibri" pitchFamily="34" charset="0"/>
                          <a:ea typeface="Calibri" pitchFamily="34" charset="-122"/>
                          <a:cs typeface="Calibri" pitchFamily="34" charset="-120"/>
                        </a:rPr>
                        <a:t>Employees and agents</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50" dirty="0">
                          <a:solidFill>
                            <a:srgbClr val="2E8B57"/>
                          </a:solidFill>
                          <a:latin typeface="Calibri" pitchFamily="34" charset="0"/>
                          <a:ea typeface="Calibri" pitchFamily="34" charset="-122"/>
                          <a:cs typeface="Calibri" pitchFamily="34" charset="-120"/>
                        </a:rPr>
                        <a:t>Yes: agent sales captured</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E2A2F"/>
                          </a:solidFill>
                          <a:latin typeface="Calibri" pitchFamily="34" charset="0"/>
                          <a:ea typeface="Calibri" pitchFamily="34" charset="-122"/>
                          <a:cs typeface="Calibri" pitchFamily="34" charset="-120"/>
                        </a:rPr>
                        <a:t>Society members</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50" dirty="0">
                          <a:solidFill>
                            <a:srgbClr val="C98A00"/>
                          </a:solidFill>
                          <a:latin typeface="Calibri" pitchFamily="34" charset="0"/>
                          <a:ea typeface="Calibri" pitchFamily="34" charset="-122"/>
                          <a:cs typeface="Calibri" pitchFamily="34" charset="-120"/>
                        </a:rPr>
                        <a:t>Partly: 198 members in 22 of 80 societies</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E2A2F"/>
                          </a:solidFill>
                          <a:latin typeface="Calibri" pitchFamily="34" charset="0"/>
                          <a:ea typeface="Calibri" pitchFamily="34" charset="-122"/>
                          <a:cs typeface="Calibri" pitchFamily="34" charset="-120"/>
                        </a:rPr>
                        <a:t>Policyholder add-ons</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50" dirty="0">
                          <a:solidFill>
                            <a:srgbClr val="C0392B"/>
                          </a:solidFill>
                          <a:latin typeface="Calibri" pitchFamily="34" charset="0"/>
                          <a:ea typeface="Calibri" pitchFamily="34" charset="-122"/>
                          <a:cs typeface="Calibri" pitchFamily="34" charset="-120"/>
                        </a:rPr>
                        <a:t>No: data needed</a:t>
                      </a:r>
                      <a:endParaRPr lang="en-US" sz="125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6" name="spoke"/>
          <p:cNvSpPr/>
          <p:nvPr/>
        </p:nvSpPr>
        <p:spPr>
          <a:xfrm flipH="1">
            <a:off x="2971800" y="1719072"/>
            <a:ext cx="9144" cy="1572768"/>
          </a:xfrm>
          <a:prstGeom prst="line">
            <a:avLst/>
          </a:prstGeom>
          <a:noFill/>
          <a:ln w="25400">
            <a:solidFill>
              <a:srgbClr val="CFE3E3"/>
            </a:solidFill>
            <a:prstDash val="solid"/>
          </a:ln>
        </p:spPr>
      </p:sp>
      <p:sp>
        <p:nvSpPr>
          <p:cNvPr id="7" name="icon circle"/>
          <p:cNvSpPr/>
          <p:nvPr/>
        </p:nvSpPr>
        <p:spPr>
          <a:xfrm>
            <a:off x="2670048" y="1417320"/>
            <a:ext cx="603504" cy="603504"/>
          </a:xfrm>
          <a:prstGeom prst="ellipse">
            <a:avLst/>
          </a:prstGeom>
          <a:solidFill>
            <a:srgbClr val="2E6DB4"/>
          </a:solidFill>
          <a:ln w="12700">
            <a:solidFill>
              <a:srgbClr val="2E6DB4"/>
            </a:solidFill>
            <a:prstDash val="solid"/>
          </a:ln>
        </p:spPr>
      </p:sp>
      <p:pic>
        <p:nvPicPr>
          <p:cNvPr id="8" name="Image 0" descr="FaHandsHelping">    </p:cNvPr>
          <p:cNvPicPr>
            <a:picLocks noChangeAspect="1"/>
          </p:cNvPicPr>
          <p:nvPr/>
        </p:nvPicPr>
        <p:blipFill>
          <a:blip r:embed="rId1"/>
          <a:stretch>
            <a:fillRect/>
          </a:stretch>
        </p:blipFill>
        <p:spPr>
          <a:xfrm>
            <a:off x="2820924" y="1568196"/>
            <a:ext cx="301752" cy="301752"/>
          </a:xfrm>
          <a:prstGeom prst="rect">
            <a:avLst/>
          </a:prstGeom>
        </p:spPr>
      </p:pic>
      <p:sp>
        <p:nvSpPr>
          <p:cNvPr id="9" name="Text 4"/>
          <p:cNvSpPr txBox="1"/>
          <p:nvPr/>
        </p:nvSpPr>
        <p:spPr>
          <a:xfrm>
            <a:off x="2212848" y="2039112"/>
            <a:ext cx="1517904" cy="274320"/>
          </a:xfrm>
          <a:prstGeom prst="rect">
            <a:avLst/>
          </a:prstGeom>
          <a:noFill/>
          <a:ln/>
        </p:spPr>
        <p:txBody>
          <a:bodyPr wrap="square" lIns="0" tIns="0" rIns="0" bIns="0" rtlCol="0" anchor="t"/>
          <a:lstStyle/>
          <a:p>
            <a:pPr algn="ctr" indent="0" marL="0">
              <a:buNone/>
            </a:pPr>
            <a:r>
              <a:rPr lang="en-US" sz="1100" b="1" dirty="0">
                <a:solidFill>
                  <a:srgbClr val="1E2A2F"/>
                </a:solidFill>
              </a:rPr>
              <a:t>Funeral families</a:t>
            </a:r>
            <a:endParaRPr lang="en-US" sz="1100" dirty="0"/>
          </a:p>
        </p:txBody>
      </p:sp>
      <p:sp>
        <p:nvSpPr>
          <p:cNvPr id="10" name="spoke"/>
          <p:cNvSpPr/>
          <p:nvPr/>
        </p:nvSpPr>
        <p:spPr>
          <a:xfrm flipH="1">
            <a:off x="2971800" y="2311235"/>
            <a:ext cx="1229640" cy="980605"/>
          </a:xfrm>
          <a:prstGeom prst="line">
            <a:avLst/>
          </a:prstGeom>
          <a:noFill/>
          <a:ln w="25400">
            <a:solidFill>
              <a:srgbClr val="CFE3E3"/>
            </a:solidFill>
            <a:prstDash val="solid"/>
          </a:ln>
        </p:spPr>
      </p:sp>
      <p:sp>
        <p:nvSpPr>
          <p:cNvPr id="11" name="icon circle"/>
          <p:cNvSpPr/>
          <p:nvPr/>
        </p:nvSpPr>
        <p:spPr>
          <a:xfrm>
            <a:off x="3899688" y="2009483"/>
            <a:ext cx="603504" cy="603504"/>
          </a:xfrm>
          <a:prstGeom prst="ellipse">
            <a:avLst/>
          </a:prstGeom>
          <a:solidFill>
            <a:srgbClr val="E07B39"/>
          </a:solidFill>
          <a:ln w="12700">
            <a:solidFill>
              <a:srgbClr val="E07B39"/>
            </a:solidFill>
            <a:prstDash val="solid"/>
          </a:ln>
        </p:spPr>
      </p:sp>
      <p:pic>
        <p:nvPicPr>
          <p:cNvPr id="12" name="Image 1" descr="FaClinicMedical">    </p:cNvPr>
          <p:cNvPicPr>
            <a:picLocks noChangeAspect="1"/>
          </p:cNvPicPr>
          <p:nvPr/>
        </p:nvPicPr>
        <p:blipFill>
          <a:blip r:embed="rId2"/>
          <a:stretch>
            <a:fillRect/>
          </a:stretch>
        </p:blipFill>
        <p:spPr>
          <a:xfrm>
            <a:off x="4050564" y="2160359"/>
            <a:ext cx="301752" cy="301752"/>
          </a:xfrm>
          <a:prstGeom prst="rect">
            <a:avLst/>
          </a:prstGeom>
        </p:spPr>
      </p:pic>
      <p:sp>
        <p:nvSpPr>
          <p:cNvPr id="13" name="Text 7"/>
          <p:cNvSpPr txBox="1"/>
          <p:nvPr/>
        </p:nvSpPr>
        <p:spPr>
          <a:xfrm>
            <a:off x="3442488" y="2631275"/>
            <a:ext cx="1517904" cy="274320"/>
          </a:xfrm>
          <a:prstGeom prst="rect">
            <a:avLst/>
          </a:prstGeom>
          <a:noFill/>
          <a:ln/>
        </p:spPr>
        <p:txBody>
          <a:bodyPr wrap="square" lIns="0" tIns="0" rIns="0" bIns="0" rtlCol="0" anchor="t"/>
          <a:lstStyle/>
          <a:p>
            <a:pPr algn="ctr" indent="0" marL="0">
              <a:buNone/>
            </a:pPr>
            <a:r>
              <a:rPr lang="en-US" sz="1100" b="1" dirty="0">
                <a:solidFill>
                  <a:srgbClr val="1E2A2F"/>
                </a:solidFill>
              </a:rPr>
              <a:t>Mortuary clients</a:t>
            </a:r>
            <a:endParaRPr lang="en-US" sz="1100" dirty="0"/>
          </a:p>
        </p:txBody>
      </p:sp>
      <p:sp>
        <p:nvSpPr>
          <p:cNvPr id="14" name="spoke"/>
          <p:cNvSpPr/>
          <p:nvPr/>
        </p:nvSpPr>
        <p:spPr>
          <a:xfrm>
            <a:off x="2971800" y="3291840"/>
            <a:ext cx="1533335" cy="349974"/>
          </a:xfrm>
          <a:prstGeom prst="line">
            <a:avLst/>
          </a:prstGeom>
          <a:noFill/>
          <a:ln w="25400">
            <a:solidFill>
              <a:srgbClr val="CFE3E3"/>
            </a:solidFill>
            <a:prstDash val="solid"/>
          </a:ln>
        </p:spPr>
      </p:sp>
      <p:sp>
        <p:nvSpPr>
          <p:cNvPr id="15" name="icon circle"/>
          <p:cNvSpPr/>
          <p:nvPr/>
        </p:nvSpPr>
        <p:spPr>
          <a:xfrm>
            <a:off x="4203383" y="3340062"/>
            <a:ext cx="603504" cy="603504"/>
          </a:xfrm>
          <a:prstGeom prst="ellipse">
            <a:avLst/>
          </a:prstGeom>
          <a:solidFill>
            <a:srgbClr val="34ADB3"/>
          </a:solidFill>
          <a:ln w="12700">
            <a:solidFill>
              <a:srgbClr val="34ADB3"/>
            </a:solidFill>
            <a:prstDash val="solid"/>
          </a:ln>
        </p:spPr>
      </p:sp>
      <p:pic>
        <p:nvPicPr>
          <p:cNvPr id="16" name="Image 2" descr="FaUsers">    </p:cNvPr>
          <p:cNvPicPr>
            <a:picLocks noChangeAspect="1"/>
          </p:cNvPicPr>
          <p:nvPr/>
        </p:nvPicPr>
        <p:blipFill>
          <a:blip r:embed="rId3"/>
          <a:stretch>
            <a:fillRect/>
          </a:stretch>
        </p:blipFill>
        <p:spPr>
          <a:xfrm>
            <a:off x="4354259" y="3490938"/>
            <a:ext cx="301752" cy="301752"/>
          </a:xfrm>
          <a:prstGeom prst="rect">
            <a:avLst/>
          </a:prstGeom>
        </p:spPr>
      </p:pic>
      <p:sp>
        <p:nvSpPr>
          <p:cNvPr id="17" name="Text 10"/>
          <p:cNvSpPr txBox="1"/>
          <p:nvPr/>
        </p:nvSpPr>
        <p:spPr>
          <a:xfrm>
            <a:off x="3746183" y="3961854"/>
            <a:ext cx="1517904" cy="274320"/>
          </a:xfrm>
          <a:prstGeom prst="rect">
            <a:avLst/>
          </a:prstGeom>
          <a:noFill/>
          <a:ln/>
        </p:spPr>
        <p:txBody>
          <a:bodyPr wrap="square" lIns="0" tIns="0" rIns="0" bIns="0" rtlCol="0" anchor="t"/>
          <a:lstStyle/>
          <a:p>
            <a:pPr algn="ctr" indent="0" marL="0">
              <a:buNone/>
            </a:pPr>
            <a:r>
              <a:rPr lang="en-US" sz="1100" b="1" dirty="0">
                <a:solidFill>
                  <a:srgbClr val="1E2A2F"/>
                </a:solidFill>
              </a:rPr>
              <a:t>Funeral attendees</a:t>
            </a:r>
            <a:endParaRPr lang="en-US" sz="1100" dirty="0"/>
          </a:p>
        </p:txBody>
      </p:sp>
      <p:sp>
        <p:nvSpPr>
          <p:cNvPr id="18" name="spoke"/>
          <p:cNvSpPr/>
          <p:nvPr/>
        </p:nvSpPr>
        <p:spPr>
          <a:xfrm>
            <a:off x="2971800" y="3291840"/>
            <a:ext cx="682398" cy="1417015"/>
          </a:xfrm>
          <a:prstGeom prst="line">
            <a:avLst/>
          </a:prstGeom>
          <a:noFill/>
          <a:ln w="25400">
            <a:solidFill>
              <a:srgbClr val="CFE3E3"/>
            </a:solidFill>
            <a:prstDash val="solid"/>
          </a:ln>
        </p:spPr>
      </p:sp>
      <p:sp>
        <p:nvSpPr>
          <p:cNvPr id="19" name="icon circle"/>
          <p:cNvSpPr/>
          <p:nvPr/>
        </p:nvSpPr>
        <p:spPr>
          <a:xfrm>
            <a:off x="3352446" y="4407103"/>
            <a:ext cx="603504" cy="603504"/>
          </a:xfrm>
          <a:prstGeom prst="ellipse">
            <a:avLst/>
          </a:prstGeom>
          <a:solidFill>
            <a:srgbClr val="E2B530"/>
          </a:solidFill>
          <a:ln w="12700">
            <a:solidFill>
              <a:srgbClr val="E2B530"/>
            </a:solidFill>
            <a:prstDash val="solid"/>
          </a:ln>
        </p:spPr>
      </p:sp>
      <p:pic>
        <p:nvPicPr>
          <p:cNvPr id="20" name="Image 3" descr="FaTruck">    </p:cNvPr>
          <p:cNvPicPr>
            <a:picLocks noChangeAspect="1"/>
          </p:cNvPicPr>
          <p:nvPr/>
        </p:nvPicPr>
        <p:blipFill>
          <a:blip r:embed="rId4"/>
          <a:stretch>
            <a:fillRect/>
          </a:stretch>
        </p:blipFill>
        <p:spPr>
          <a:xfrm>
            <a:off x="3503322" y="4557979"/>
            <a:ext cx="301752" cy="301752"/>
          </a:xfrm>
          <a:prstGeom prst="rect">
            <a:avLst/>
          </a:prstGeom>
        </p:spPr>
      </p:pic>
      <p:sp>
        <p:nvSpPr>
          <p:cNvPr id="21" name="Text 13"/>
          <p:cNvSpPr txBox="1"/>
          <p:nvPr/>
        </p:nvSpPr>
        <p:spPr>
          <a:xfrm>
            <a:off x="2895246" y="5028895"/>
            <a:ext cx="1517904" cy="274320"/>
          </a:xfrm>
          <a:prstGeom prst="rect">
            <a:avLst/>
          </a:prstGeom>
          <a:noFill/>
          <a:ln/>
        </p:spPr>
        <p:txBody>
          <a:bodyPr wrap="square" lIns="0" tIns="0" rIns="0" bIns="0" rtlCol="0" anchor="t"/>
          <a:lstStyle/>
          <a:p>
            <a:pPr algn="ctr" indent="0" marL="0">
              <a:buNone/>
            </a:pPr>
            <a:r>
              <a:rPr lang="en-US" sz="1100" b="1" dirty="0">
                <a:solidFill>
                  <a:srgbClr val="1E2A2F"/>
                </a:solidFill>
              </a:rPr>
              <a:t>Suppliers</a:t>
            </a:r>
            <a:endParaRPr lang="en-US" sz="1100" dirty="0"/>
          </a:p>
        </p:txBody>
      </p:sp>
      <p:sp>
        <p:nvSpPr>
          <p:cNvPr id="22" name="spoke"/>
          <p:cNvSpPr/>
          <p:nvPr/>
        </p:nvSpPr>
        <p:spPr>
          <a:xfrm flipH="1">
            <a:off x="2289402" y="3291840"/>
            <a:ext cx="682398" cy="1417015"/>
          </a:xfrm>
          <a:prstGeom prst="line">
            <a:avLst/>
          </a:prstGeom>
          <a:noFill/>
          <a:ln w="25400">
            <a:solidFill>
              <a:srgbClr val="CFE3E3"/>
            </a:solidFill>
            <a:prstDash val="solid"/>
          </a:ln>
        </p:spPr>
      </p:sp>
      <p:sp>
        <p:nvSpPr>
          <p:cNvPr id="23" name="icon circle"/>
          <p:cNvSpPr/>
          <p:nvPr/>
        </p:nvSpPr>
        <p:spPr>
          <a:xfrm>
            <a:off x="1987650" y="4407103"/>
            <a:ext cx="603504" cy="603504"/>
          </a:xfrm>
          <a:prstGeom prst="ellipse">
            <a:avLst/>
          </a:prstGeom>
          <a:solidFill>
            <a:srgbClr val="2E6DB4"/>
          </a:solidFill>
          <a:ln w="12700">
            <a:solidFill>
              <a:srgbClr val="2E6DB4"/>
            </a:solidFill>
            <a:prstDash val="solid"/>
          </a:ln>
        </p:spPr>
      </p:sp>
      <p:pic>
        <p:nvPicPr>
          <p:cNvPr id="24" name="Image 4" descr="FaIdBadge">    </p:cNvPr>
          <p:cNvPicPr>
            <a:picLocks noChangeAspect="1"/>
          </p:cNvPicPr>
          <p:nvPr/>
        </p:nvPicPr>
        <p:blipFill>
          <a:blip r:embed="rId5"/>
          <a:stretch>
            <a:fillRect/>
          </a:stretch>
        </p:blipFill>
        <p:spPr>
          <a:xfrm>
            <a:off x="2138526" y="4557979"/>
            <a:ext cx="301752" cy="301752"/>
          </a:xfrm>
          <a:prstGeom prst="rect">
            <a:avLst/>
          </a:prstGeom>
        </p:spPr>
      </p:pic>
      <p:sp>
        <p:nvSpPr>
          <p:cNvPr id="25" name="Text 16"/>
          <p:cNvSpPr txBox="1"/>
          <p:nvPr/>
        </p:nvSpPr>
        <p:spPr>
          <a:xfrm>
            <a:off x="1530450" y="5028895"/>
            <a:ext cx="1517904" cy="274320"/>
          </a:xfrm>
          <a:prstGeom prst="rect">
            <a:avLst/>
          </a:prstGeom>
          <a:noFill/>
          <a:ln/>
        </p:spPr>
        <p:txBody>
          <a:bodyPr wrap="square" lIns="0" tIns="0" rIns="0" bIns="0" rtlCol="0" anchor="t"/>
          <a:lstStyle/>
          <a:p>
            <a:pPr algn="ctr" indent="0" marL="0">
              <a:buNone/>
            </a:pPr>
            <a:r>
              <a:rPr lang="en-US" sz="1100" b="1" dirty="0">
                <a:solidFill>
                  <a:srgbClr val="1E2A2F"/>
                </a:solidFill>
              </a:rPr>
              <a:t>Employees and agents</a:t>
            </a:r>
            <a:endParaRPr lang="en-US" sz="1100" dirty="0"/>
          </a:p>
        </p:txBody>
      </p:sp>
      <p:sp>
        <p:nvSpPr>
          <p:cNvPr id="26" name="spoke"/>
          <p:cNvSpPr/>
          <p:nvPr/>
        </p:nvSpPr>
        <p:spPr>
          <a:xfrm flipH="1">
            <a:off x="1438465" y="3291840"/>
            <a:ext cx="1533335" cy="349974"/>
          </a:xfrm>
          <a:prstGeom prst="line">
            <a:avLst/>
          </a:prstGeom>
          <a:noFill/>
          <a:ln w="25400">
            <a:solidFill>
              <a:srgbClr val="CFE3E3"/>
            </a:solidFill>
            <a:prstDash val="solid"/>
          </a:ln>
        </p:spPr>
      </p:sp>
      <p:sp>
        <p:nvSpPr>
          <p:cNvPr id="27" name="icon circle"/>
          <p:cNvSpPr/>
          <p:nvPr/>
        </p:nvSpPr>
        <p:spPr>
          <a:xfrm>
            <a:off x="1136713" y="3340062"/>
            <a:ext cx="603504" cy="603504"/>
          </a:xfrm>
          <a:prstGeom prst="ellipse">
            <a:avLst/>
          </a:prstGeom>
          <a:solidFill>
            <a:srgbClr val="E07B39"/>
          </a:solidFill>
          <a:ln w="12700">
            <a:solidFill>
              <a:srgbClr val="E07B39"/>
            </a:solidFill>
            <a:prstDash val="solid"/>
          </a:ln>
        </p:spPr>
      </p:sp>
      <p:pic>
        <p:nvPicPr>
          <p:cNvPr id="28" name="Image 5" descr="FaPeopleCarry">    </p:cNvPr>
          <p:cNvPicPr>
            <a:picLocks noChangeAspect="1"/>
          </p:cNvPicPr>
          <p:nvPr/>
        </p:nvPicPr>
        <p:blipFill>
          <a:blip r:embed="rId6"/>
          <a:stretch>
            <a:fillRect/>
          </a:stretch>
        </p:blipFill>
        <p:spPr>
          <a:xfrm>
            <a:off x="1287589" y="3490938"/>
            <a:ext cx="301752" cy="301752"/>
          </a:xfrm>
          <a:prstGeom prst="rect">
            <a:avLst/>
          </a:prstGeom>
        </p:spPr>
      </p:pic>
      <p:sp>
        <p:nvSpPr>
          <p:cNvPr id="29" name="Text 19"/>
          <p:cNvSpPr txBox="1"/>
          <p:nvPr/>
        </p:nvSpPr>
        <p:spPr>
          <a:xfrm>
            <a:off x="679513" y="3961854"/>
            <a:ext cx="1517904" cy="274320"/>
          </a:xfrm>
          <a:prstGeom prst="rect">
            <a:avLst/>
          </a:prstGeom>
          <a:noFill/>
          <a:ln/>
        </p:spPr>
        <p:txBody>
          <a:bodyPr wrap="square" lIns="0" tIns="0" rIns="0" bIns="0" rtlCol="0" anchor="t"/>
          <a:lstStyle/>
          <a:p>
            <a:pPr algn="ctr" indent="0" marL="0">
              <a:buNone/>
            </a:pPr>
            <a:r>
              <a:rPr lang="en-US" sz="1100" b="1" dirty="0">
                <a:solidFill>
                  <a:srgbClr val="1E2A2F"/>
                </a:solidFill>
              </a:rPr>
              <a:t>Society members</a:t>
            </a:r>
            <a:endParaRPr lang="en-US" sz="1100" dirty="0"/>
          </a:p>
        </p:txBody>
      </p:sp>
      <p:sp>
        <p:nvSpPr>
          <p:cNvPr id="30" name="spoke"/>
          <p:cNvSpPr/>
          <p:nvPr/>
        </p:nvSpPr>
        <p:spPr>
          <a:xfrm>
            <a:off x="1742160" y="2311235"/>
            <a:ext cx="1229640" cy="980605"/>
          </a:xfrm>
          <a:prstGeom prst="line">
            <a:avLst/>
          </a:prstGeom>
          <a:noFill/>
          <a:ln w="25400">
            <a:solidFill>
              <a:srgbClr val="CFE3E3"/>
            </a:solidFill>
            <a:prstDash val="solid"/>
          </a:ln>
        </p:spPr>
      </p:sp>
      <p:sp>
        <p:nvSpPr>
          <p:cNvPr id="31" name="icon circle"/>
          <p:cNvSpPr/>
          <p:nvPr/>
        </p:nvSpPr>
        <p:spPr>
          <a:xfrm>
            <a:off x="1440408" y="2009483"/>
            <a:ext cx="603504" cy="603504"/>
          </a:xfrm>
          <a:prstGeom prst="ellipse">
            <a:avLst/>
          </a:prstGeom>
          <a:solidFill>
            <a:srgbClr val="34ADB3"/>
          </a:solidFill>
          <a:ln w="12700">
            <a:solidFill>
              <a:srgbClr val="34ADB3"/>
            </a:solidFill>
            <a:prstDash val="solid"/>
          </a:ln>
        </p:spPr>
      </p:sp>
      <p:pic>
        <p:nvPicPr>
          <p:cNvPr id="32" name="Image 6" descr="FaPlusCircle">    </p:cNvPr>
          <p:cNvPicPr>
            <a:picLocks noChangeAspect="1"/>
          </p:cNvPicPr>
          <p:nvPr/>
        </p:nvPicPr>
        <p:blipFill>
          <a:blip r:embed="rId7"/>
          <a:stretch>
            <a:fillRect/>
          </a:stretch>
        </p:blipFill>
        <p:spPr>
          <a:xfrm>
            <a:off x="1591284" y="2160359"/>
            <a:ext cx="301752" cy="301752"/>
          </a:xfrm>
          <a:prstGeom prst="rect">
            <a:avLst/>
          </a:prstGeom>
        </p:spPr>
      </p:pic>
      <p:sp>
        <p:nvSpPr>
          <p:cNvPr id="33" name="Text 22"/>
          <p:cNvSpPr txBox="1"/>
          <p:nvPr/>
        </p:nvSpPr>
        <p:spPr>
          <a:xfrm>
            <a:off x="983208" y="2631275"/>
            <a:ext cx="1517904" cy="274320"/>
          </a:xfrm>
          <a:prstGeom prst="rect">
            <a:avLst/>
          </a:prstGeom>
          <a:noFill/>
          <a:ln/>
        </p:spPr>
        <p:txBody>
          <a:bodyPr wrap="square" lIns="0" tIns="0" rIns="0" bIns="0" rtlCol="0" anchor="t"/>
          <a:lstStyle/>
          <a:p>
            <a:pPr algn="ctr" indent="0" marL="0">
              <a:buNone/>
            </a:pPr>
            <a:r>
              <a:rPr lang="en-US" sz="1100" b="1" dirty="0">
                <a:solidFill>
                  <a:srgbClr val="1E2A2F"/>
                </a:solidFill>
              </a:rPr>
              <a:t>Policyholder add-ons</a:t>
            </a:r>
            <a:endParaRPr lang="en-US" sz="1100" dirty="0"/>
          </a:p>
        </p:txBody>
      </p:sp>
      <p:sp>
        <p:nvSpPr>
          <p:cNvPr id="34" name="hub"/>
          <p:cNvSpPr/>
          <p:nvPr/>
        </p:nvSpPr>
        <p:spPr>
          <a:xfrm>
            <a:off x="2286000" y="2606040"/>
            <a:ext cx="1371600" cy="1371600"/>
          </a:xfrm>
          <a:prstGeom prst="ellipse">
            <a:avLst/>
          </a:prstGeom>
          <a:solidFill>
            <a:srgbClr val="0E5A5F"/>
          </a:solidFill>
          <a:ln w="12700">
            <a:solidFill>
              <a:srgbClr val="0E5A5F"/>
            </a:solidFill>
            <a:prstDash val="solid"/>
          </a:ln>
        </p:spPr>
      </p:sp>
      <p:sp>
        <p:nvSpPr>
          <p:cNvPr id="35" name="Text 24"/>
          <p:cNvSpPr txBox="1"/>
          <p:nvPr/>
        </p:nvSpPr>
        <p:spPr>
          <a:xfrm>
            <a:off x="2286000" y="2606040"/>
            <a:ext cx="1371600" cy="13716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Falakhe</a:t>
            </a:r>
            <a:endParaRPr lang="en-US" sz="1600" dirty="0"/>
          </a:p>
        </p:txBody>
      </p:sp>
      <p:sp>
        <p:nvSpPr>
          <p:cNvPr id="36" name="card"/>
          <p:cNvSpPr/>
          <p:nvPr/>
        </p:nvSpPr>
        <p:spPr>
          <a:xfrm>
            <a:off x="6035040" y="4983480"/>
            <a:ext cx="5696712" cy="1188720"/>
          </a:xfrm>
          <a:prstGeom prst="roundRect">
            <a:avLst>
              <a:gd name="adj" fmla="val 6154"/>
            </a:avLst>
          </a:prstGeom>
          <a:solidFill>
            <a:srgbClr val="E3EFEF"/>
          </a:solidFill>
          <a:ln w="9525">
            <a:solidFill>
              <a:srgbClr val="DCE3E4"/>
            </a:solidFill>
            <a:prstDash val="solid"/>
          </a:ln>
        </p:spPr>
      </p:sp>
      <p:sp>
        <p:nvSpPr>
          <p:cNvPr id="37" name="Text 26"/>
          <p:cNvSpPr txBox="1"/>
          <p:nvPr/>
        </p:nvSpPr>
        <p:spPr>
          <a:xfrm>
            <a:off x="6217920" y="5074920"/>
            <a:ext cx="5349240" cy="1005840"/>
          </a:xfrm>
          <a:prstGeom prst="rect">
            <a:avLst/>
          </a:prstGeom>
          <a:noFill/>
          <a:ln/>
        </p:spPr>
        <p:txBody>
          <a:bodyPr wrap="square" lIns="0" tIns="0" rIns="0" bIns="0" rtlCol="0" anchor="ctr"/>
          <a:lstStyle/>
          <a:p>
            <a:pPr indent="0" marL="0">
              <a:buNone/>
            </a:pPr>
            <a:r>
              <a:rPr lang="en-US" sz="1400" b="1" dirty="0">
                <a:solidFill>
                  <a:srgbClr val="1E2A2F"/>
                </a:solidFill>
              </a:rPr>
              <a:t>Monthly “Falakhe Ecosystem Sales Campaign”: </a:t>
            </a:r>
            <a:pPr indent="0" marL="0">
              <a:buNone/>
            </a:pPr>
            <a:r>
              <a:rPr lang="en-US" sz="1400" dirty="0">
                <a:solidFill>
                  <a:srgbClr val="1E2A2F"/>
                </a:solidFill>
              </a:rPr>
              <a:t>one or two touchpoints each month; offers tracked by touchpoint from October.</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WHAT-IF ANALYSIS (PROJECTED)</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More productive agents is the single biggest lever on the size of the book</a:t>
            </a:r>
            <a:endParaRPr lang="en-US" sz="2600" dirty="0"/>
          </a:p>
        </p:txBody>
      </p:sp>
      <p:graphicFrame>
        <p:nvGraphicFramePr>
          <p:cNvPr id="5" name="Chart 0" descr=""/>
          <p:cNvGraphicFramePr/>
          <p:nvPr/>
        </p:nvGraphicFramePr>
        <p:xfrm>
          <a:off x="457200" y="1280160"/>
          <a:ext cx="603504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720840" y="1371600"/>
          <a:ext cx="5010912" cy="914400"/>
        </p:xfrm>
        <a:graphic>
          <a:graphicData uri="http://schemas.openxmlformats.org/drawingml/2006/table">
            <a:tbl>
              <a:tblPr/>
              <a:tblGrid>
                <a:gridCol w="3182112"/>
                <a:gridCol w="1828800"/>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Lever (one at a time)</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Projected effect</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438912">
                <a:tc>
                  <a:txBody>
                    <a:bodyPr/>
                    <a:lstStyle/>
                    <a:p>
                      <a:pPr indent="0" marL="0">
                        <a:buNone/>
                      </a:pPr>
                      <a:r>
                        <a:rPr lang="en-US" sz="1300" dirty="0">
                          <a:solidFill>
                            <a:srgbClr val="1E2A2F"/>
                          </a:solidFill>
                          <a:latin typeface="Calibri" pitchFamily="34" charset="0"/>
                          <a:ea typeface="Calibri" pitchFamily="34" charset="-122"/>
                          <a:cs typeface="Calibri" pitchFamily="34" charset="-120"/>
                        </a:rPr>
                        <a:t>Collection rate to 60%</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300" b="1" dirty="0">
                          <a:solidFill>
                            <a:srgbClr val="1E2A2F"/>
                          </a:solidFill>
                          <a:latin typeface="Calibri" pitchFamily="34" charset="0"/>
                          <a:ea typeface="Calibri" pitchFamily="34" charset="-122"/>
                          <a:cs typeface="Calibri" pitchFamily="34" charset="-120"/>
                        </a:rPr>
                        <a:t>+USD 514 a month</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E2A2F"/>
                          </a:solidFill>
                          <a:latin typeface="Calibri" pitchFamily="34" charset="0"/>
                          <a:ea typeface="Calibri" pitchFamily="34" charset="-122"/>
                          <a:cs typeface="Calibri" pitchFamily="34" charset="-120"/>
                        </a:rPr>
                        <a:t>Collection rate to 70%</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300" b="1" dirty="0">
                          <a:solidFill>
                            <a:srgbClr val="1E2A2F"/>
                          </a:solidFill>
                          <a:latin typeface="Calibri" pitchFamily="34" charset="0"/>
                          <a:ea typeface="Calibri" pitchFamily="34" charset="-122"/>
                          <a:cs typeface="Calibri" pitchFamily="34" charset="-120"/>
                        </a:rPr>
                        <a:t>+USD 982 a month</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E2A2F"/>
                          </a:solidFill>
                          <a:latin typeface="Calibri" pitchFamily="34" charset="0"/>
                          <a:ea typeface="Calibri" pitchFamily="34" charset="-122"/>
                          <a:cs typeface="Calibri" pitchFamily="34" charset="-120"/>
                        </a:rPr>
                        <a:t>2 more costed cash funerals a month</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300" b="1" dirty="0">
                          <a:solidFill>
                            <a:srgbClr val="1E2A2F"/>
                          </a:solidFill>
                          <a:latin typeface="Calibri" pitchFamily="34" charset="0"/>
                          <a:ea typeface="Calibri" pitchFamily="34" charset="-122"/>
                          <a:cs typeface="Calibri" pitchFamily="34" charset="-120"/>
                        </a:rPr>
                        <a:t>+USD 534</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E2A2F"/>
                          </a:solidFill>
                          <a:latin typeface="Calibri" pitchFamily="34" charset="0"/>
                          <a:ea typeface="Calibri" pitchFamily="34" charset="-122"/>
                          <a:cs typeface="Calibri" pitchFamily="34" charset="-120"/>
                        </a:rPr>
                        <a:t>Conversion at 40% instead of 76%</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300" b="1" dirty="0">
                          <a:solidFill>
                            <a:srgbClr val="C0392B"/>
                          </a:solidFill>
                          <a:latin typeface="Calibri" pitchFamily="34" charset="0"/>
                          <a:ea typeface="Calibri" pitchFamily="34" charset="-122"/>
                          <a:cs typeface="Calibri" pitchFamily="34" charset="-120"/>
                        </a:rPr>
                        <a:t>−10 paid a month</a:t>
                      </a:r>
                      <a:endParaRPr lang="en-US" sz="13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6720840" y="3794760"/>
            <a:ext cx="5010912" cy="548640"/>
          </a:xfrm>
          <a:prstGeom prst="rect">
            <a:avLst/>
          </a:prstGeom>
          <a:noFill/>
          <a:ln/>
        </p:spPr>
        <p:txBody>
          <a:bodyPr wrap="square" lIns="0" tIns="0" rIns="0" bIns="0" rtlCol="0" anchor="t"/>
          <a:lstStyle/>
          <a:p>
            <a:pPr indent="0" marL="0">
              <a:buNone/>
            </a:pPr>
            <a:r>
              <a:rPr lang="en-US" sz="1200" i="1" dirty="0">
                <a:solidFill>
                  <a:srgbClr val="5B6B71"/>
                </a:solidFill>
              </a:rPr>
              <a:t>All figures Projected. Base: about 484 policies in 12 months if nothing changes.</a:t>
            </a:r>
            <a:endParaRPr lang="en-US" sz="1200" dirty="0"/>
          </a:p>
        </p:txBody>
      </p:sp>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4"/>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+10 productive agents → 878; lapse −2 pts → 592; base 484 (Projected).</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6"/>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Agents and retention move the book; collections move the cash.</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8"/>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Prioritise agent productivity, grace follow-up and collections.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SCENARIOS (PROJECTED)</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With the plan the book could reach about 976 in a year, not 484</a:t>
            </a:r>
            <a:endParaRPr lang="en-US" sz="2600" dirty="0"/>
          </a:p>
        </p:txBody>
      </p:sp>
      <p:graphicFrame>
        <p:nvGraphicFramePr>
          <p:cNvPr id="5" name="Chart 0" descr=""/>
          <p:cNvGraphicFramePr/>
          <p:nvPr/>
        </p:nvGraphicFramePr>
        <p:xfrm>
          <a:off x="457200" y="1280160"/>
          <a:ext cx="566928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263640" y="1280160"/>
          <a:ext cx="5468112" cy="2743200"/>
        </p:xfrm>
        <a:graphic xmlns:a="http://schemas.openxmlformats.org/drawingml/2006/main">
          <a:graphicData uri="http://schemas.openxmlformats.org/drawingml/2006/chart">
            <c:chart xmlns:c="http://schemas.openxmlformats.org/drawingml/2006/chart" r:id="rId2"/>
          </a:graphicData>
        </a:graphic>
      </p:graphicFrame>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4114800"/>
          <a:ext cx="11277295" cy="914400"/>
        </p:xfrm>
        <a:graphic>
          <a:graphicData uri="http://schemas.openxmlformats.org/drawingml/2006/table">
            <a:tbl>
              <a:tblPr/>
              <a:tblGrid>
                <a:gridCol w="3044952"/>
                <a:gridCol w="2743200"/>
                <a:gridCol w="2743200"/>
                <a:gridCol w="2743200"/>
              </a:tblGrid>
              <a:tr h="2286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Assumption</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Current</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Intervention</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Accelerated</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r>
              <a:tr h="228600">
                <a:tc>
                  <a:txBody>
                    <a:bodyPr/>
                    <a:lstStyle/>
                    <a:p>
                      <a:pPr algn="l" indent="0" marL="0">
                        <a:buNone/>
                      </a:pPr>
                      <a:r>
                        <a:rPr lang="en-US" sz="1100" dirty="0">
                          <a:solidFill>
                            <a:srgbClr val="1E2A2F"/>
                          </a:solidFill>
                          <a:latin typeface="Calibri" pitchFamily="34" charset="0"/>
                          <a:ea typeface="Calibri" pitchFamily="34" charset="-122"/>
                          <a:cs typeface="Calibri" pitchFamily="34" charset="-120"/>
                        </a:rPr>
                        <a:t>Productive agents</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10–12</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12–20</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228600">
                <a:tc>
                  <a:txBody>
                    <a:bodyPr/>
                    <a:lstStyle/>
                    <a:p>
                      <a:pPr algn="l" indent="0" marL="0">
                        <a:buNone/>
                      </a:pPr>
                      <a:r>
                        <a:rPr lang="en-US" sz="1100" dirty="0">
                          <a:solidFill>
                            <a:srgbClr val="1E2A2F"/>
                          </a:solidFill>
                          <a:latin typeface="Calibri" pitchFamily="34" charset="0"/>
                          <a:ea typeface="Calibri" pitchFamily="34" charset="-122"/>
                          <a:cs typeface="Calibri" pitchFamily="34" charset="-120"/>
                        </a:rPr>
                        <a:t>Genuine paid a month</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228600">
                <a:tc>
                  <a:txBody>
                    <a:bodyPr/>
                    <a:lstStyle/>
                    <a:p>
                      <a:pPr algn="l" indent="0" marL="0">
                        <a:buNone/>
                      </a:pPr>
                      <a:r>
                        <a:rPr lang="en-US" sz="1100" dirty="0">
                          <a:solidFill>
                            <a:srgbClr val="1E2A2F"/>
                          </a:solidFill>
                          <a:latin typeface="Calibri" pitchFamily="34" charset="0"/>
                          <a:ea typeface="Calibri" pitchFamily="34" charset="-122"/>
                          <a:cs typeface="Calibri" pitchFamily="34" charset="-120"/>
                        </a:rPr>
                        <a:t>Lapse rate</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5.1%</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2F"/>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73152" marR="73152" marT="9144" marB="9144"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bl>
          </a:graphicData>
        </a:graphic>
      </p:graphicFrame>
      <p:sp>
        <p:nvSpPr>
          <p:cNvPr id="8"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9" name="Text 3"/>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12 months: current 484, intervention 976, accelerated 1,424 policies (Projected).</a:t>
            </a:r>
            <a:endParaRPr lang="en-US" sz="1050" dirty="0"/>
          </a:p>
        </p:txBody>
      </p:sp>
      <p:sp>
        <p:nvSpPr>
          <p:cNvPr id="10"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1" name="Text 5"/>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Doing nothing means a smaller book and about USD 14,700 a month.</a:t>
            </a:r>
            <a:endParaRPr lang="en-US" sz="1050" dirty="0"/>
          </a:p>
        </p:txBody>
      </p:sp>
      <p:sp>
        <p:nvSpPr>
          <p:cNvPr id="12"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3" name="Text 7"/>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Commit to the intervention plan: 10–12 productive agents, 60 paid, 3.5% lapses.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BUSINESS HEALTH SCORE</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Overall business health is 1.9 out of 5 — conversion is our only strong area</a:t>
            </a:r>
            <a:endParaRPr lang="en-US" sz="2600" dirty="0"/>
          </a:p>
        </p:txBody>
      </p:sp>
      <p:graphicFrame>
        <p:nvGraphicFramePr>
          <p:cNvPr id="5" name="Chart 0" descr=""/>
          <p:cNvGraphicFramePr/>
          <p:nvPr/>
        </p:nvGraphicFramePr>
        <p:xfrm>
          <a:off x="457200" y="1280160"/>
          <a:ext cx="7680960" cy="35204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8366760" y="1325880"/>
            <a:ext cx="3364992" cy="1828800"/>
          </a:xfrm>
          <a:prstGeom prst="roundRect">
            <a:avLst>
              <a:gd name="adj" fmla="val 4000"/>
            </a:avLst>
          </a:prstGeom>
          <a:solidFill>
            <a:srgbClr val="FFFFFF"/>
          </a:solidFill>
          <a:ln w="9525">
            <a:solidFill>
              <a:srgbClr val="DCE3E4"/>
            </a:solidFill>
            <a:prstDash val="solid"/>
          </a:ln>
        </p:spPr>
      </p:sp>
      <p:sp>
        <p:nvSpPr>
          <p:cNvPr id="7" name="Text 3"/>
          <p:cNvSpPr txBox="1"/>
          <p:nvPr/>
        </p:nvSpPr>
        <p:spPr>
          <a:xfrm>
            <a:off x="8549640" y="1463040"/>
            <a:ext cx="3017520" cy="1554480"/>
          </a:xfrm>
          <a:prstGeom prst="rect">
            <a:avLst/>
          </a:prstGeom>
          <a:noFill/>
          <a:ln/>
        </p:spPr>
        <p:txBody>
          <a:bodyPr wrap="square" lIns="0" tIns="0" rIns="0" bIns="0" rtlCol="0" anchor="t"/>
          <a:lstStyle/>
          <a:p>
            <a:pPr indent="0" marL="0">
              <a:buNone/>
            </a:pPr>
            <a:r>
              <a:rPr lang="en-US" sz="1400" b="1" dirty="0">
                <a:solidFill>
                  <a:srgbClr val="0E5A5F"/>
                </a:solidFill>
              </a:rPr>
              <a:t>Overall</a:t>
            </a:r>
            <a:endParaRPr lang="en-US" sz="1400" dirty="0"/>
          </a:p>
          <a:p>
            <a:pPr indent="0" marL="0">
              <a:buNone/>
            </a:pPr>
            <a:r>
              <a:rPr lang="en-US" sz="3000" b="1" dirty="0">
                <a:solidFill>
                  <a:srgbClr val="C0392B"/>
                </a:solidFill>
                <a:latin typeface="Cambria" pitchFamily="34" charset="0"/>
                <a:ea typeface="Cambria" pitchFamily="34" charset="-122"/>
                <a:cs typeface="Cambria" pitchFamily="34" charset="-120"/>
              </a:rPr>
              <a:t>1.9 / 5</a:t>
            </a:r>
            <a:endParaRPr lang="en-US" sz="1400" dirty="0"/>
          </a:p>
        </p:txBody>
      </p:sp>
      <p:sp>
        <p:nvSpPr>
          <p:cNvPr id="8" name="Text 4"/>
          <p:cNvSpPr txBox="1"/>
          <p:nvPr/>
        </p:nvSpPr>
        <p:spPr>
          <a:xfrm>
            <a:off x="8366760" y="3291840"/>
            <a:ext cx="3364992" cy="1463040"/>
          </a:xfrm>
          <a:prstGeom prst="rect">
            <a:avLst/>
          </a:prstGeom>
          <a:noFill/>
          <a:ln/>
        </p:spPr>
        <p:txBody>
          <a:bodyPr wrap="square" lIns="0" tIns="0" rIns="0" bIns="0" rtlCol="0" anchor="t"/>
          <a:lstStyle/>
          <a:p>
            <a:pPr indent="0" marL="0">
              <a:buNone/>
            </a:pPr>
            <a:r>
              <a:rPr lang="en-US" sz="1000" dirty="0">
                <a:solidFill>
                  <a:srgbClr val="5B6B71"/>
                </a:solidFill>
              </a:rPr>
              <a:t>Scoring rule: each area scored 1–5 against its target — 5 at or above target; 3 partly met; 1 far below target or not yet measurable. Overall = simple average of the ten scores (19 ÷ 10 = 1.9).</a:t>
            </a:r>
            <a:endParaRPr lang="en-US" sz="1000" dirty="0"/>
          </a:p>
        </p:txBody>
      </p:sp>
      <p:sp>
        <p:nvSpPr>
          <p:cNvPr id="9" name="takeaway card"/>
          <p:cNvSpPr/>
          <p:nvPr/>
        </p:nvSpPr>
        <p:spPr>
          <a:xfrm>
            <a:off x="457200" y="5102352"/>
            <a:ext cx="3637178" cy="1161288"/>
          </a:xfrm>
          <a:prstGeom prst="roundRect">
            <a:avLst>
              <a:gd name="adj" fmla="val 6299"/>
            </a:avLst>
          </a:prstGeom>
          <a:solidFill>
            <a:srgbClr val="FFFFFF"/>
          </a:solidFill>
          <a:ln w="9525">
            <a:solidFill>
              <a:srgbClr val="DCE3E4"/>
            </a:solidFill>
            <a:prstDash val="solid"/>
          </a:ln>
        </p:spPr>
      </p:sp>
      <p:sp>
        <p:nvSpPr>
          <p:cNvPr id="10" name="Text 6"/>
          <p:cNvSpPr txBox="1"/>
          <p:nvPr/>
        </p:nvSpPr>
        <p:spPr>
          <a:xfrm>
            <a:off x="594360"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IT SHOWS</a:t>
            </a:r>
            <a:endParaRPr lang="en-US" sz="1050" dirty="0"/>
          </a:p>
          <a:p>
            <a:pPr indent="0" marL="0">
              <a:spcAft>
                <a:spcPts val="300"/>
              </a:spcAft>
              <a:buNone/>
            </a:pPr>
            <a:r>
              <a:rPr lang="en-US" sz="1300" dirty="0">
                <a:solidFill>
                  <a:srgbClr val="1E2A2F"/>
                </a:solidFill>
              </a:rPr>
              <a:t>Conversion scores 5; five areas score 1; overall 1.9 / 5.</a:t>
            </a:r>
            <a:endParaRPr lang="en-US" sz="1050" dirty="0"/>
          </a:p>
        </p:txBody>
      </p:sp>
      <p:sp>
        <p:nvSpPr>
          <p:cNvPr id="11" name="takeaway card"/>
          <p:cNvSpPr/>
          <p:nvPr/>
        </p:nvSpPr>
        <p:spPr>
          <a:xfrm>
            <a:off x="4277258" y="5102352"/>
            <a:ext cx="3637178" cy="1161288"/>
          </a:xfrm>
          <a:prstGeom prst="roundRect">
            <a:avLst>
              <a:gd name="adj" fmla="val 6299"/>
            </a:avLst>
          </a:prstGeom>
          <a:solidFill>
            <a:srgbClr val="FFFFFF"/>
          </a:solidFill>
          <a:ln w="9525">
            <a:solidFill>
              <a:srgbClr val="DCE3E4"/>
            </a:solidFill>
            <a:prstDash val="solid"/>
          </a:ln>
        </p:spPr>
      </p:sp>
      <p:sp>
        <p:nvSpPr>
          <p:cNvPr id="12" name="Text 8"/>
          <p:cNvSpPr txBox="1"/>
          <p:nvPr/>
        </p:nvSpPr>
        <p:spPr>
          <a:xfrm>
            <a:off x="4414418"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WHY IT MATTERS</a:t>
            </a:r>
            <a:endParaRPr lang="en-US" sz="1050" dirty="0"/>
          </a:p>
          <a:p>
            <a:pPr indent="0" marL="0">
              <a:spcAft>
                <a:spcPts val="300"/>
              </a:spcAft>
              <a:buNone/>
            </a:pPr>
            <a:r>
              <a:rPr lang="en-US" sz="1300" dirty="0">
                <a:solidFill>
                  <a:srgbClr val="1E2A2F"/>
                </a:solidFill>
              </a:rPr>
              <a:t>We are strong at one step of the process and weak around it.</a:t>
            </a:r>
            <a:endParaRPr lang="en-US" sz="1050" dirty="0"/>
          </a:p>
        </p:txBody>
      </p:sp>
      <p:sp>
        <p:nvSpPr>
          <p:cNvPr id="13" name="takeaway card"/>
          <p:cNvSpPr/>
          <p:nvPr/>
        </p:nvSpPr>
        <p:spPr>
          <a:xfrm>
            <a:off x="8097317" y="5102352"/>
            <a:ext cx="3637178" cy="1161288"/>
          </a:xfrm>
          <a:prstGeom prst="roundRect">
            <a:avLst>
              <a:gd name="adj" fmla="val 6299"/>
            </a:avLst>
          </a:prstGeom>
          <a:solidFill>
            <a:srgbClr val="E3EFEF"/>
          </a:solidFill>
          <a:ln w="9525">
            <a:solidFill>
              <a:srgbClr val="DCE3E4"/>
            </a:solidFill>
            <a:prstDash val="solid"/>
          </a:ln>
        </p:spPr>
      </p:sp>
      <p:sp>
        <p:nvSpPr>
          <p:cNvPr id="14" name="Text 10"/>
          <p:cNvSpPr txBox="1"/>
          <p:nvPr/>
        </p:nvSpPr>
        <p:spPr>
          <a:xfrm>
            <a:off x="8234477" y="5175504"/>
            <a:ext cx="3362858" cy="1014984"/>
          </a:xfrm>
          <a:prstGeom prst="rect">
            <a:avLst/>
          </a:prstGeom>
          <a:noFill/>
          <a:ln/>
        </p:spPr>
        <p:txBody>
          <a:bodyPr wrap="square" lIns="0" tIns="0" rIns="0" bIns="0" rtlCol="0" anchor="t"/>
          <a:lstStyle/>
          <a:p>
            <a:pPr indent="0" marL="0">
              <a:spcAft>
                <a:spcPts val="300"/>
              </a:spcAft>
              <a:buNone/>
            </a:pPr>
            <a:r>
              <a:rPr lang="en-US" sz="1050" b="1" spc="100" kern="0" dirty="0">
                <a:solidFill>
                  <a:srgbClr val="0E5A5F"/>
                </a:solidFill>
              </a:rPr>
              <a:t>WHAT WE WILL DO</a:t>
            </a:r>
            <a:endParaRPr lang="en-US" sz="1050" dirty="0"/>
          </a:p>
          <a:p>
            <a:pPr indent="0" marL="0">
              <a:spcAft>
                <a:spcPts val="300"/>
              </a:spcAft>
              <a:buNone/>
            </a:pPr>
            <a:r>
              <a:rPr lang="en-US" sz="1300" dirty="0">
                <a:solidFill>
                  <a:srgbClr val="1E2A2F"/>
                </a:solidFill>
              </a:rPr>
              <a:t>Re-score monthly; aim to lift four of the 1s within 90 days.</a:t>
            </a:r>
            <a:endParaRPr lang="en-US" sz="105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30 / 60 / 90-DAY PLAN (1 OF 2)</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First 30 days: stop the leaks and call the customers we already have</a:t>
            </a:r>
            <a:endParaRPr lang="en-US" sz="26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365760"/>
                <a:gridCol w="3566160"/>
                <a:gridCol w="1234440"/>
                <a:gridCol w="1097280"/>
                <a:gridCol w="2606040"/>
                <a:gridCol w="2404872"/>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Deadline</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KPI</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Impact</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329184">
                <a:tc gridSpan="6">
                  <a:txBody>
                    <a:bodyPr/>
                    <a:lstStyle/>
                    <a:p>
                      <a:pPr indent="0" marL="0">
                        <a:buNone/>
                      </a:pPr>
                      <a:r>
                        <a:rPr lang="en-US" sz="1200" b="1" dirty="0">
                          <a:solidFill>
                            <a:srgbClr val="0E5A5F"/>
                          </a:solidFill>
                          <a:latin typeface="Calibri" pitchFamily="34" charset="0"/>
                          <a:ea typeface="Calibri" pitchFamily="34" charset="-122"/>
                          <a:cs typeface="Calibri" pitchFamily="34" charset="-120"/>
                        </a:rPr>
                        <a:t>0–30 days — by 4 November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E3EFEF"/>
                    </a:solidFill>
                  </a:tcPr>
                </a:tc>
                <a:tc hMerge="1">
                  <a:tcPr/>
                </a:tc>
                <a:tc hMerge="1">
                  <a:tcPr/>
                </a:tc>
                <a:tc hMerge="1">
                  <a:tcPr/>
                </a:tc>
                <a:tc hMerge="1">
                  <a:tcPr/>
                </a:tc>
                <a:tc hMerge="1">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Daily grace call list</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Nov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Grace recovery rate (Sep 75%)</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Fewer lapses; protect the book</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Call all 213 inactive policies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Nov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Inactive policies activated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Up to USD 2,001 a month</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Start funeral attendee register</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Nov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Contacts captured per funeral</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New lead source</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Month-end quotation follow-up with loss reason</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Nov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Open quotations followed up; reasons recorded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51 quotations: USD 21,013 + ZAR 86,300</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Collect USD 1,140 mortuary storage fees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Nov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USD collected vs charged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USD 1,140 one-off</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Capture all spending; mark every policy new / legacy / SA</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Nov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 of records complete</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True view of new business and costs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4206240"/>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Owners to be confirmed by the CEO in this meeting. Deadlines counted from 5 October 2026.</a:t>
            </a:r>
            <a:endParaRPr lang="en-US" sz="10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30 / 60 / 90-DAY PLAN (2 OF 2)</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Days 31–90: build the agent, collection and campaign engine</a:t>
            </a:r>
            <a:endParaRPr lang="en-US" sz="2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914400"/>
        </p:xfrm>
        <a:graphic>
          <a:graphicData uri="http://schemas.openxmlformats.org/drawingml/2006/table">
            <a:tbl>
              <a:tblPr/>
              <a:tblGrid>
                <a:gridCol w="365760"/>
                <a:gridCol w="3566160"/>
                <a:gridCol w="1234440"/>
                <a:gridCol w="1097280"/>
                <a:gridCol w="2606040"/>
                <a:gridCol w="2404872"/>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Deadline</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KPI</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Impact</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0E5A5F"/>
                    </a:solidFill>
                  </a:tcPr>
                </a:tc>
              </a:tr>
              <a:tr h="329184">
                <a:tc gridSpan="6">
                  <a:txBody>
                    <a:bodyPr/>
                    <a:lstStyle/>
                    <a:p>
                      <a:pPr indent="0" marL="0">
                        <a:buNone/>
                      </a:pPr>
                      <a:r>
                        <a:rPr lang="en-US" sz="1200" b="1" dirty="0">
                          <a:solidFill>
                            <a:srgbClr val="0E5A5F"/>
                          </a:solidFill>
                          <a:latin typeface="Calibri" pitchFamily="34" charset="0"/>
                          <a:ea typeface="Calibri" pitchFamily="34" charset="-122"/>
                          <a:cs typeface="Calibri" pitchFamily="34" charset="-120"/>
                        </a:rPr>
                        <a:t>31–60 days — by 4 December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E3EFEF"/>
                    </a:solidFill>
                  </a:tcPr>
                </a:tc>
                <a:tc hMerge="1">
                  <a:tcPr/>
                </a:tc>
                <a:tc hMerge="1">
                  <a:tcPr/>
                </a:tc>
                <a:tc hMerge="1">
                  <a:tcPr/>
                </a:tc>
                <a:tc hMerge="1">
                  <a:tcPr/>
                </a:tc>
                <a:tc hMerge="1">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Productivity standard (6 joinings, 4 paid) and weekly one-to-ones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Dec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Productive agents (Sep 4)</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More paid policies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Resident agents for Lupane plus 2 areas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Dec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Joinings and paid per territory</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Repeat the Filabusi result</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60-day agent-at-funeral trial</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Dec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Cost per acquired policy</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Tests funeral lead source</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SMS reminders, EcoCash and debit orders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Dec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USD collection rate (target 70%)</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About +USD 980 a month at 70%</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Capture members for the 20 largest societies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4 Dec 2026</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Societies with members (22 of 80)</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Society profit visible</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gridSpan="6">
                  <a:txBody>
                    <a:bodyPr/>
                    <a:lstStyle/>
                    <a:p>
                      <a:pPr indent="0" marL="0">
                        <a:buNone/>
                      </a:pPr>
                      <a:r>
                        <a:rPr lang="en-US" sz="1200" b="1" dirty="0">
                          <a:solidFill>
                            <a:srgbClr val="0E5A5F"/>
                          </a:solidFill>
                          <a:latin typeface="Calibri" pitchFamily="34" charset="0"/>
                          <a:ea typeface="Calibri" pitchFamily="34" charset="-122"/>
                          <a:cs typeface="Calibri" pitchFamily="34" charset="-120"/>
                        </a:rPr>
                        <a:t>61–90 days — by 3 January 2027</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E3EFEF"/>
                    </a:solidFill>
                  </a:tcPr>
                </a:tc>
                <a:tc hMerge="1">
                  <a:tcPr/>
                </a:tc>
                <a:tc hMerge="1">
                  <a:tcPr/>
                </a:tc>
                <a:tc hMerge="1">
                  <a:tcPr/>
                </a:tc>
                <a:tc hMerge="1">
                  <a:tcPr/>
                </a:tc>
                <a:tc hMerge="1">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Monthly campaign accelerator with ROI</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3 Jan 2027</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Cost per paid policy, per campaign</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Repeat Sokusile</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Falakhe Ecosystem Sales Campaign</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3 Jan 2027</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Sales by touchpoint</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Sales from existing contacts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UMNDENI redesign test</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3 Jan 2027</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UMNDENI paid conversion (21%)</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Activate 105 inactive UMNDENI</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F"/>
                          </a:solidFill>
                          <a:latin typeface="Calibri" pitchFamily="34" charset="0"/>
                          <a:ea typeface="Calibri" pitchFamily="34" charset="-122"/>
                          <a:cs typeface="Calibri" pitchFamily="34" charset="-120"/>
                        </a:rPr>
                        <a:t>Vehicle on every funeral, with fuel requisition</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i="1" dirty="0">
                          <a:solidFill>
                            <a:srgbClr val="5B6B71"/>
                          </a:solidFill>
                          <a:latin typeface="Calibri" pitchFamily="34" charset="0"/>
                          <a:ea typeface="Calibri" pitchFamily="34" charset="-122"/>
                          <a:cs typeface="Calibri" pitchFamily="34" charset="-120"/>
                        </a:rPr>
                        <a:t>To be assigned</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3 Jan 2027</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Funerals with vehicle (67 of 129)</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c>
                  <a:txBody>
                    <a:bodyPr/>
                    <a:lstStyle/>
                    <a:p>
                      <a:pPr indent="0" marL="0">
                        <a:buNone/>
                      </a:pPr>
                      <a:r>
                        <a:rPr lang="en-US" sz="1200" dirty="0">
                          <a:solidFill>
                            <a:srgbClr val="1E2A2F"/>
                          </a:solidFill>
                          <a:latin typeface="Calibri" pitchFamily="34" charset="0"/>
                          <a:ea typeface="Calibri" pitchFamily="34" charset="-122"/>
                          <a:cs typeface="Calibri" pitchFamily="34" charset="-120"/>
                        </a:rPr>
                        <a:t>Trace USD 9,771 of costs</a:t>
                      </a:r>
                      <a:endParaRPr lang="en-US" sz="1200" dirty="0">
                        <a:latin typeface="Calibri" charset="0"/>
                        <a:ea typeface="Calibri" charset="0"/>
                        <a:cs typeface="Calibri" charset="0"/>
                      </a:endParaRPr>
                    </a:p>
                  </a:txBody>
                  <a:tcPr marL="73152" marR="73152" marT="27432" marB="27432" anchor="ctr">
                    <a:lnL w="9525" cap="flat" cmpd="sng" algn="ctr">
                      <a:solidFill>
                        <a:srgbClr val="DCE3E4"/>
                      </a:solidFill>
                      <a:prstDash val="solid"/>
                      <a:round/>
                      <a:headEnd type="none" w="med" len="med"/>
                      <a:tailEnd type="none" w="med" len="med"/>
                    </a:lnL>
                    <a:lnR w="9525" cap="flat" cmpd="sng" algn="ctr">
                      <a:solidFill>
                        <a:srgbClr val="DCE3E4"/>
                      </a:solidFill>
                      <a:prstDash val="solid"/>
                      <a:round/>
                      <a:headEnd type="none" w="med" len="med"/>
                      <a:tailEnd type="none" w="med" len="med"/>
                    </a:lnR>
                    <a:lnT w="9525" cap="flat" cmpd="sng" algn="ctr">
                      <a:solidFill>
                        <a:srgbClr val="DCE3E4"/>
                      </a:solidFill>
                      <a:prstDash val="solid"/>
                      <a:round/>
                      <a:headEnd type="none" w="med" len="med"/>
                      <a:tailEnd type="none" w="med" len="med"/>
                    </a:lnT>
                    <a:lnB w="9525" cap="flat" cmpd="sng" algn="ctr">
                      <a:solidFill>
                        <a:srgbClr val="DCE3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DATA IMPROVEMENTS FROM OCTOBER 2026</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From October we capture six things on every record — no more gaps</a:t>
            </a:r>
            <a:endParaRPr lang="en-US" sz="2600" dirty="0"/>
          </a:p>
        </p:txBody>
      </p:sp>
      <p:sp>
        <p:nvSpPr>
          <p:cNvPr id="5" name="card"/>
          <p:cNvSpPr/>
          <p:nvPr/>
        </p:nvSpPr>
        <p:spPr>
          <a:xfrm>
            <a:off x="457200" y="1417320"/>
            <a:ext cx="3576218" cy="2148840"/>
          </a:xfrm>
          <a:prstGeom prst="roundRect">
            <a:avLst>
              <a:gd name="adj" fmla="val 3404"/>
            </a:avLst>
          </a:prstGeom>
          <a:solidFill>
            <a:srgbClr val="FFFFFF"/>
          </a:solidFill>
          <a:ln w="9525">
            <a:solidFill>
              <a:srgbClr val="DCE3E4"/>
            </a:solidFill>
            <a:prstDash val="solid"/>
          </a:ln>
        </p:spPr>
      </p:sp>
      <p:sp>
        <p:nvSpPr>
          <p:cNvPr id="6" name="icon circle"/>
          <p:cNvSpPr/>
          <p:nvPr/>
        </p:nvSpPr>
        <p:spPr>
          <a:xfrm>
            <a:off x="685800" y="1645920"/>
            <a:ext cx="658368" cy="658368"/>
          </a:xfrm>
          <a:prstGeom prst="ellipse">
            <a:avLst/>
          </a:prstGeom>
          <a:solidFill>
            <a:srgbClr val="0E5A5F"/>
          </a:solidFill>
          <a:ln w="12700">
            <a:solidFill>
              <a:srgbClr val="0E5A5F"/>
            </a:solidFill>
            <a:prstDash val="solid"/>
          </a:ln>
        </p:spPr>
      </p:sp>
      <p:pic>
        <p:nvPicPr>
          <p:cNvPr id="7" name="Image 0" descr="FaFileContract">    </p:cNvPr>
          <p:cNvPicPr>
            <a:picLocks noChangeAspect="1"/>
          </p:cNvPicPr>
          <p:nvPr/>
        </p:nvPicPr>
        <p:blipFill>
          <a:blip r:embed="rId1"/>
          <a:stretch>
            <a:fillRect/>
          </a:stretch>
        </p:blipFill>
        <p:spPr>
          <a:xfrm>
            <a:off x="850392" y="1810512"/>
            <a:ext cx="329184" cy="329184"/>
          </a:xfrm>
          <a:prstGeom prst="rect">
            <a:avLst/>
          </a:prstGeom>
        </p:spPr>
      </p:pic>
      <p:sp>
        <p:nvSpPr>
          <p:cNvPr id="8" name="Text 4"/>
          <p:cNvSpPr txBox="1"/>
          <p:nvPr/>
        </p:nvSpPr>
        <p:spPr>
          <a:xfrm>
            <a:off x="1508760" y="1691640"/>
            <a:ext cx="2387498" cy="548640"/>
          </a:xfrm>
          <a:prstGeom prst="rect">
            <a:avLst/>
          </a:prstGeom>
          <a:noFill/>
          <a:ln/>
        </p:spPr>
        <p:txBody>
          <a:bodyPr wrap="square" lIns="0" tIns="0" rIns="0" bIns="0" rtlCol="0" anchor="ctr"/>
          <a:lstStyle/>
          <a:p>
            <a:pPr indent="0" marL="0">
              <a:buNone/>
            </a:pPr>
            <a:r>
              <a:rPr lang="en-US" sz="1900" b="1" dirty="0">
                <a:solidFill>
                  <a:srgbClr val="1E2A2F"/>
                </a:solidFill>
                <a:latin typeface="Cambria" pitchFamily="34" charset="0"/>
                <a:ea typeface="Cambria" pitchFamily="34" charset="-122"/>
                <a:cs typeface="Cambria" pitchFamily="34" charset="-120"/>
              </a:rPr>
              <a:t>Every policy</a:t>
            </a:r>
            <a:endParaRPr lang="en-US" sz="1900" dirty="0"/>
          </a:p>
        </p:txBody>
      </p:sp>
      <p:sp>
        <p:nvSpPr>
          <p:cNvPr id="9" name="Text 5"/>
          <p:cNvSpPr txBox="1"/>
          <p:nvPr/>
        </p:nvSpPr>
        <p:spPr>
          <a:xfrm>
            <a:off x="685800" y="2468880"/>
            <a:ext cx="3119018" cy="960120"/>
          </a:xfrm>
          <a:prstGeom prst="rect">
            <a:avLst/>
          </a:prstGeom>
          <a:noFill/>
          <a:ln/>
        </p:spPr>
        <p:txBody>
          <a:bodyPr wrap="square" lIns="0" tIns="0" rIns="0" bIns="0" rtlCol="0" anchor="t"/>
          <a:lstStyle/>
          <a:p>
            <a:pPr indent="0" marL="0">
              <a:buNone/>
            </a:pPr>
            <a:r>
              <a:rPr lang="en-US" sz="1500" dirty="0">
                <a:solidFill>
                  <a:srgbClr val="5B6B71"/>
                </a:solidFill>
              </a:rPr>
              <a:t>New / legacy, country, branch, territory, agent, lead source, campaign</a:t>
            </a:r>
            <a:endParaRPr lang="en-US" sz="1500" dirty="0"/>
          </a:p>
        </p:txBody>
      </p:sp>
      <p:sp>
        <p:nvSpPr>
          <p:cNvPr id="10" name="card"/>
          <p:cNvSpPr/>
          <p:nvPr/>
        </p:nvSpPr>
        <p:spPr>
          <a:xfrm>
            <a:off x="4307738" y="1417320"/>
            <a:ext cx="3576218" cy="2148840"/>
          </a:xfrm>
          <a:prstGeom prst="roundRect">
            <a:avLst>
              <a:gd name="adj" fmla="val 3404"/>
            </a:avLst>
          </a:prstGeom>
          <a:solidFill>
            <a:srgbClr val="FFFFFF"/>
          </a:solidFill>
          <a:ln w="9525">
            <a:solidFill>
              <a:srgbClr val="DCE3E4"/>
            </a:solidFill>
            <a:prstDash val="solid"/>
          </a:ln>
        </p:spPr>
      </p:sp>
      <p:sp>
        <p:nvSpPr>
          <p:cNvPr id="11" name="icon circle"/>
          <p:cNvSpPr/>
          <p:nvPr/>
        </p:nvSpPr>
        <p:spPr>
          <a:xfrm>
            <a:off x="4536338" y="1645920"/>
            <a:ext cx="658368" cy="658368"/>
          </a:xfrm>
          <a:prstGeom prst="ellipse">
            <a:avLst/>
          </a:prstGeom>
          <a:solidFill>
            <a:srgbClr val="0E5A5F"/>
          </a:solidFill>
          <a:ln w="12700">
            <a:solidFill>
              <a:srgbClr val="0E5A5F"/>
            </a:solidFill>
            <a:prstDash val="solid"/>
          </a:ln>
        </p:spPr>
      </p:sp>
      <p:pic>
        <p:nvPicPr>
          <p:cNvPr id="12" name="Image 1" descr="FaUserPlus">    </p:cNvPr>
          <p:cNvPicPr>
            <a:picLocks noChangeAspect="1"/>
          </p:cNvPicPr>
          <p:nvPr/>
        </p:nvPicPr>
        <p:blipFill>
          <a:blip r:embed="rId2"/>
          <a:stretch>
            <a:fillRect/>
          </a:stretch>
        </p:blipFill>
        <p:spPr>
          <a:xfrm>
            <a:off x="4700930" y="1810512"/>
            <a:ext cx="329184" cy="329184"/>
          </a:xfrm>
          <a:prstGeom prst="rect">
            <a:avLst/>
          </a:prstGeom>
        </p:spPr>
      </p:pic>
      <p:sp>
        <p:nvSpPr>
          <p:cNvPr id="13" name="Text 8"/>
          <p:cNvSpPr txBox="1"/>
          <p:nvPr/>
        </p:nvSpPr>
        <p:spPr>
          <a:xfrm>
            <a:off x="5359298" y="1691640"/>
            <a:ext cx="2387498" cy="548640"/>
          </a:xfrm>
          <a:prstGeom prst="rect">
            <a:avLst/>
          </a:prstGeom>
          <a:noFill/>
          <a:ln/>
        </p:spPr>
        <p:txBody>
          <a:bodyPr wrap="square" lIns="0" tIns="0" rIns="0" bIns="0" rtlCol="0" anchor="ctr"/>
          <a:lstStyle/>
          <a:p>
            <a:pPr indent="0" marL="0">
              <a:buNone/>
            </a:pPr>
            <a:r>
              <a:rPr lang="en-US" sz="1900" b="1" dirty="0">
                <a:solidFill>
                  <a:srgbClr val="1E2A2F"/>
                </a:solidFill>
                <a:latin typeface="Cambria" pitchFamily="34" charset="0"/>
                <a:ea typeface="Cambria" pitchFamily="34" charset="-122"/>
                <a:cs typeface="Cambria" pitchFamily="34" charset="-120"/>
              </a:rPr>
              <a:t>Every lead</a:t>
            </a:r>
            <a:endParaRPr lang="en-US" sz="1900" dirty="0"/>
          </a:p>
        </p:txBody>
      </p:sp>
      <p:sp>
        <p:nvSpPr>
          <p:cNvPr id="14" name="Text 9"/>
          <p:cNvSpPr txBox="1"/>
          <p:nvPr/>
        </p:nvSpPr>
        <p:spPr>
          <a:xfrm>
            <a:off x="4536338" y="2468880"/>
            <a:ext cx="3119018" cy="960120"/>
          </a:xfrm>
          <a:prstGeom prst="rect">
            <a:avLst/>
          </a:prstGeom>
          <a:noFill/>
          <a:ln/>
        </p:spPr>
        <p:txBody>
          <a:bodyPr wrap="square" lIns="0" tIns="0" rIns="0" bIns="0" rtlCol="0" anchor="t"/>
          <a:lstStyle/>
          <a:p>
            <a:pPr indent="0" marL="0">
              <a:buNone/>
            </a:pPr>
            <a:r>
              <a:rPr lang="en-US" sz="1500" dirty="0">
                <a:solidFill>
                  <a:srgbClr val="5B6B71"/>
                </a:solidFill>
              </a:rPr>
              <a:t>Source, agent assigned, outcome</a:t>
            </a:r>
            <a:endParaRPr lang="en-US" sz="1500" dirty="0"/>
          </a:p>
        </p:txBody>
      </p:sp>
      <p:sp>
        <p:nvSpPr>
          <p:cNvPr id="15" name="card"/>
          <p:cNvSpPr/>
          <p:nvPr/>
        </p:nvSpPr>
        <p:spPr>
          <a:xfrm>
            <a:off x="8158277" y="1417320"/>
            <a:ext cx="3576218" cy="2148840"/>
          </a:xfrm>
          <a:prstGeom prst="roundRect">
            <a:avLst>
              <a:gd name="adj" fmla="val 3404"/>
            </a:avLst>
          </a:prstGeom>
          <a:solidFill>
            <a:srgbClr val="FFFFFF"/>
          </a:solidFill>
          <a:ln w="9525">
            <a:solidFill>
              <a:srgbClr val="DCE3E4"/>
            </a:solidFill>
            <a:prstDash val="solid"/>
          </a:ln>
        </p:spPr>
      </p:sp>
      <p:sp>
        <p:nvSpPr>
          <p:cNvPr id="16" name="icon circle"/>
          <p:cNvSpPr/>
          <p:nvPr/>
        </p:nvSpPr>
        <p:spPr>
          <a:xfrm>
            <a:off x="8386877" y="1645920"/>
            <a:ext cx="658368" cy="658368"/>
          </a:xfrm>
          <a:prstGeom prst="ellipse">
            <a:avLst/>
          </a:prstGeom>
          <a:solidFill>
            <a:srgbClr val="0E5A5F"/>
          </a:solidFill>
          <a:ln w="12700">
            <a:solidFill>
              <a:srgbClr val="0E5A5F"/>
            </a:solidFill>
            <a:prstDash val="solid"/>
          </a:ln>
        </p:spPr>
      </p:sp>
      <p:pic>
        <p:nvPicPr>
          <p:cNvPr id="17" name="Image 2" descr="FaHandsHelping">    </p:cNvPr>
          <p:cNvPicPr>
            <a:picLocks noChangeAspect="1"/>
          </p:cNvPicPr>
          <p:nvPr/>
        </p:nvPicPr>
        <p:blipFill>
          <a:blip r:embed="rId3"/>
          <a:stretch>
            <a:fillRect/>
          </a:stretch>
        </p:blipFill>
        <p:spPr>
          <a:xfrm>
            <a:off x="8551469" y="1810512"/>
            <a:ext cx="329184" cy="329184"/>
          </a:xfrm>
          <a:prstGeom prst="rect">
            <a:avLst/>
          </a:prstGeom>
        </p:spPr>
      </p:pic>
      <p:sp>
        <p:nvSpPr>
          <p:cNvPr id="18" name="Text 12"/>
          <p:cNvSpPr txBox="1"/>
          <p:nvPr/>
        </p:nvSpPr>
        <p:spPr>
          <a:xfrm>
            <a:off x="9209837" y="1691640"/>
            <a:ext cx="2387498" cy="548640"/>
          </a:xfrm>
          <a:prstGeom prst="rect">
            <a:avLst/>
          </a:prstGeom>
          <a:noFill/>
          <a:ln/>
        </p:spPr>
        <p:txBody>
          <a:bodyPr wrap="square" lIns="0" tIns="0" rIns="0" bIns="0" rtlCol="0" anchor="ctr"/>
          <a:lstStyle/>
          <a:p>
            <a:pPr indent="0" marL="0">
              <a:buNone/>
            </a:pPr>
            <a:r>
              <a:rPr lang="en-US" sz="1900" b="1" dirty="0">
                <a:solidFill>
                  <a:srgbClr val="1E2A2F"/>
                </a:solidFill>
                <a:latin typeface="Cambria" pitchFamily="34" charset="0"/>
                <a:ea typeface="Cambria" pitchFamily="34" charset="-122"/>
                <a:cs typeface="Cambria" pitchFamily="34" charset="-120"/>
              </a:rPr>
              <a:t>Every funeral</a:t>
            </a:r>
            <a:endParaRPr lang="en-US" sz="1900" dirty="0"/>
          </a:p>
        </p:txBody>
      </p:sp>
      <p:sp>
        <p:nvSpPr>
          <p:cNvPr id="19" name="Text 13"/>
          <p:cNvSpPr txBox="1"/>
          <p:nvPr/>
        </p:nvSpPr>
        <p:spPr>
          <a:xfrm>
            <a:off x="8386877" y="2468880"/>
            <a:ext cx="3119018" cy="960120"/>
          </a:xfrm>
          <a:prstGeom prst="rect">
            <a:avLst/>
          </a:prstGeom>
          <a:noFill/>
          <a:ln/>
        </p:spPr>
        <p:txBody>
          <a:bodyPr wrap="square" lIns="0" tIns="0" rIns="0" bIns="0" rtlCol="0" anchor="t"/>
          <a:lstStyle/>
          <a:p>
            <a:pPr indent="0" marL="0">
              <a:buNone/>
            </a:pPr>
            <a:r>
              <a:rPr lang="en-US" sz="1500" dirty="0">
                <a:solidFill>
                  <a:srgbClr val="5B6B71"/>
                </a:solidFill>
              </a:rPr>
              <a:t>Cost, vehicle, attendee register</a:t>
            </a:r>
            <a:endParaRPr lang="en-US" sz="1500" dirty="0"/>
          </a:p>
        </p:txBody>
      </p:sp>
      <p:sp>
        <p:nvSpPr>
          <p:cNvPr id="20" name="card"/>
          <p:cNvSpPr/>
          <p:nvPr/>
        </p:nvSpPr>
        <p:spPr>
          <a:xfrm>
            <a:off x="457200" y="3840480"/>
            <a:ext cx="3576218" cy="2148840"/>
          </a:xfrm>
          <a:prstGeom prst="roundRect">
            <a:avLst>
              <a:gd name="adj" fmla="val 3404"/>
            </a:avLst>
          </a:prstGeom>
          <a:solidFill>
            <a:srgbClr val="FFFFFF"/>
          </a:solidFill>
          <a:ln w="9525">
            <a:solidFill>
              <a:srgbClr val="DCE3E4"/>
            </a:solidFill>
            <a:prstDash val="solid"/>
          </a:ln>
        </p:spPr>
      </p:sp>
      <p:sp>
        <p:nvSpPr>
          <p:cNvPr id="21" name="icon circle"/>
          <p:cNvSpPr/>
          <p:nvPr/>
        </p:nvSpPr>
        <p:spPr>
          <a:xfrm>
            <a:off x="685800" y="4069080"/>
            <a:ext cx="658368" cy="658368"/>
          </a:xfrm>
          <a:prstGeom prst="ellipse">
            <a:avLst/>
          </a:prstGeom>
          <a:solidFill>
            <a:srgbClr val="0E5A5F"/>
          </a:solidFill>
          <a:ln w="12700">
            <a:solidFill>
              <a:srgbClr val="0E5A5F"/>
            </a:solidFill>
            <a:prstDash val="solid"/>
          </a:ln>
        </p:spPr>
      </p:sp>
      <p:pic>
        <p:nvPicPr>
          <p:cNvPr id="22" name="Image 3" descr="FaBullhorn">    </p:cNvPr>
          <p:cNvPicPr>
            <a:picLocks noChangeAspect="1"/>
          </p:cNvPicPr>
          <p:nvPr/>
        </p:nvPicPr>
        <p:blipFill>
          <a:blip r:embed="rId4"/>
          <a:stretch>
            <a:fillRect/>
          </a:stretch>
        </p:blipFill>
        <p:spPr>
          <a:xfrm>
            <a:off x="850392" y="4233672"/>
            <a:ext cx="329184" cy="329184"/>
          </a:xfrm>
          <a:prstGeom prst="rect">
            <a:avLst/>
          </a:prstGeom>
        </p:spPr>
      </p:pic>
      <p:sp>
        <p:nvSpPr>
          <p:cNvPr id="23" name="Text 16"/>
          <p:cNvSpPr txBox="1"/>
          <p:nvPr/>
        </p:nvSpPr>
        <p:spPr>
          <a:xfrm>
            <a:off x="1508760" y="4114800"/>
            <a:ext cx="2387498" cy="548640"/>
          </a:xfrm>
          <a:prstGeom prst="rect">
            <a:avLst/>
          </a:prstGeom>
          <a:noFill/>
          <a:ln/>
        </p:spPr>
        <p:txBody>
          <a:bodyPr wrap="square" lIns="0" tIns="0" rIns="0" bIns="0" rtlCol="0" anchor="ctr"/>
          <a:lstStyle/>
          <a:p>
            <a:pPr indent="0" marL="0">
              <a:buNone/>
            </a:pPr>
            <a:r>
              <a:rPr lang="en-US" sz="1900" b="1" dirty="0">
                <a:solidFill>
                  <a:srgbClr val="1E2A2F"/>
                </a:solidFill>
                <a:latin typeface="Cambria" pitchFamily="34" charset="0"/>
                <a:ea typeface="Cambria" pitchFamily="34" charset="-122"/>
                <a:cs typeface="Cambria" pitchFamily="34" charset="-120"/>
              </a:rPr>
              <a:t>Every campaign</a:t>
            </a:r>
            <a:endParaRPr lang="en-US" sz="1900" dirty="0"/>
          </a:p>
        </p:txBody>
      </p:sp>
      <p:sp>
        <p:nvSpPr>
          <p:cNvPr id="24" name="Text 17"/>
          <p:cNvSpPr txBox="1"/>
          <p:nvPr/>
        </p:nvSpPr>
        <p:spPr>
          <a:xfrm>
            <a:off x="685800" y="4892040"/>
            <a:ext cx="3119018" cy="960120"/>
          </a:xfrm>
          <a:prstGeom prst="rect">
            <a:avLst/>
          </a:prstGeom>
          <a:noFill/>
          <a:ln/>
        </p:spPr>
        <p:txBody>
          <a:bodyPr wrap="square" lIns="0" tIns="0" rIns="0" bIns="0" rtlCol="0" anchor="t"/>
          <a:lstStyle/>
          <a:p>
            <a:pPr indent="0" marL="0">
              <a:buNone/>
            </a:pPr>
            <a:r>
              <a:rPr lang="en-US" sz="1500" dirty="0">
                <a:solidFill>
                  <a:srgbClr val="5B6B71"/>
                </a:solidFill>
              </a:rPr>
              <a:t>Cost through to ROI</a:t>
            </a:r>
            <a:endParaRPr lang="en-US" sz="1500" dirty="0"/>
          </a:p>
        </p:txBody>
      </p:sp>
      <p:sp>
        <p:nvSpPr>
          <p:cNvPr id="25" name="card"/>
          <p:cNvSpPr/>
          <p:nvPr/>
        </p:nvSpPr>
        <p:spPr>
          <a:xfrm>
            <a:off x="4307738" y="3840480"/>
            <a:ext cx="3576218" cy="2148840"/>
          </a:xfrm>
          <a:prstGeom prst="roundRect">
            <a:avLst>
              <a:gd name="adj" fmla="val 3404"/>
            </a:avLst>
          </a:prstGeom>
          <a:solidFill>
            <a:srgbClr val="FFFFFF"/>
          </a:solidFill>
          <a:ln w="9525">
            <a:solidFill>
              <a:srgbClr val="DCE3E4"/>
            </a:solidFill>
            <a:prstDash val="solid"/>
          </a:ln>
        </p:spPr>
      </p:sp>
      <p:sp>
        <p:nvSpPr>
          <p:cNvPr id="26" name="icon circle"/>
          <p:cNvSpPr/>
          <p:nvPr/>
        </p:nvSpPr>
        <p:spPr>
          <a:xfrm>
            <a:off x="4536338" y="4069080"/>
            <a:ext cx="658368" cy="658368"/>
          </a:xfrm>
          <a:prstGeom prst="ellipse">
            <a:avLst/>
          </a:prstGeom>
          <a:solidFill>
            <a:srgbClr val="0E5A5F"/>
          </a:solidFill>
          <a:ln w="12700">
            <a:solidFill>
              <a:srgbClr val="0E5A5F"/>
            </a:solidFill>
            <a:prstDash val="solid"/>
          </a:ln>
        </p:spPr>
      </p:sp>
      <p:pic>
        <p:nvPicPr>
          <p:cNvPr id="27" name="Image 4" descr="FaFileInvoiceDollar">    </p:cNvPr>
          <p:cNvPicPr>
            <a:picLocks noChangeAspect="1"/>
          </p:cNvPicPr>
          <p:nvPr/>
        </p:nvPicPr>
        <p:blipFill>
          <a:blip r:embed="rId5"/>
          <a:stretch>
            <a:fillRect/>
          </a:stretch>
        </p:blipFill>
        <p:spPr>
          <a:xfrm>
            <a:off x="4700930" y="4233672"/>
            <a:ext cx="329184" cy="329184"/>
          </a:xfrm>
          <a:prstGeom prst="rect">
            <a:avLst/>
          </a:prstGeom>
        </p:spPr>
      </p:pic>
      <p:sp>
        <p:nvSpPr>
          <p:cNvPr id="28" name="Text 20"/>
          <p:cNvSpPr txBox="1"/>
          <p:nvPr/>
        </p:nvSpPr>
        <p:spPr>
          <a:xfrm>
            <a:off x="5359298" y="4114800"/>
            <a:ext cx="2387498" cy="548640"/>
          </a:xfrm>
          <a:prstGeom prst="rect">
            <a:avLst/>
          </a:prstGeom>
          <a:noFill/>
          <a:ln/>
        </p:spPr>
        <p:txBody>
          <a:bodyPr wrap="square" lIns="0" tIns="0" rIns="0" bIns="0" rtlCol="0" anchor="ctr"/>
          <a:lstStyle/>
          <a:p>
            <a:pPr indent="0" marL="0">
              <a:buNone/>
            </a:pPr>
            <a:r>
              <a:rPr lang="en-US" sz="1900" b="1" dirty="0">
                <a:solidFill>
                  <a:srgbClr val="1E2A2F"/>
                </a:solidFill>
                <a:latin typeface="Cambria" pitchFamily="34" charset="0"/>
                <a:ea typeface="Cambria" pitchFamily="34" charset="-122"/>
                <a:cs typeface="Cambria" pitchFamily="34" charset="-120"/>
              </a:rPr>
              <a:t>Every quotation</a:t>
            </a:r>
            <a:endParaRPr lang="en-US" sz="1900" dirty="0"/>
          </a:p>
        </p:txBody>
      </p:sp>
      <p:sp>
        <p:nvSpPr>
          <p:cNvPr id="29" name="Text 21"/>
          <p:cNvSpPr txBox="1"/>
          <p:nvPr/>
        </p:nvSpPr>
        <p:spPr>
          <a:xfrm>
            <a:off x="4536338" y="4892040"/>
            <a:ext cx="3119018" cy="960120"/>
          </a:xfrm>
          <a:prstGeom prst="rect">
            <a:avLst/>
          </a:prstGeom>
          <a:noFill/>
          <a:ln/>
        </p:spPr>
        <p:txBody>
          <a:bodyPr wrap="square" lIns="0" tIns="0" rIns="0" bIns="0" rtlCol="0" anchor="t"/>
          <a:lstStyle/>
          <a:p>
            <a:pPr indent="0" marL="0">
              <a:buNone/>
            </a:pPr>
            <a:r>
              <a:rPr lang="en-US" sz="1500" dirty="0">
                <a:solidFill>
                  <a:srgbClr val="5B6B71"/>
                </a:solidFill>
              </a:rPr>
              <a:t>Loss reason when not converted</a:t>
            </a:r>
            <a:endParaRPr lang="en-US" sz="1500" dirty="0"/>
          </a:p>
        </p:txBody>
      </p:sp>
      <p:sp>
        <p:nvSpPr>
          <p:cNvPr id="30" name="card"/>
          <p:cNvSpPr/>
          <p:nvPr/>
        </p:nvSpPr>
        <p:spPr>
          <a:xfrm>
            <a:off x="8158277" y="3840480"/>
            <a:ext cx="3576218" cy="2148840"/>
          </a:xfrm>
          <a:prstGeom prst="roundRect">
            <a:avLst>
              <a:gd name="adj" fmla="val 3404"/>
            </a:avLst>
          </a:prstGeom>
          <a:solidFill>
            <a:srgbClr val="FFFFFF"/>
          </a:solidFill>
          <a:ln w="9525">
            <a:solidFill>
              <a:srgbClr val="DCE3E4"/>
            </a:solidFill>
            <a:prstDash val="solid"/>
          </a:ln>
        </p:spPr>
      </p:sp>
      <p:sp>
        <p:nvSpPr>
          <p:cNvPr id="31" name="icon circle"/>
          <p:cNvSpPr/>
          <p:nvPr/>
        </p:nvSpPr>
        <p:spPr>
          <a:xfrm>
            <a:off x="8386877" y="4069080"/>
            <a:ext cx="658368" cy="658368"/>
          </a:xfrm>
          <a:prstGeom prst="ellipse">
            <a:avLst/>
          </a:prstGeom>
          <a:solidFill>
            <a:srgbClr val="0E5A5F"/>
          </a:solidFill>
          <a:ln w="12700">
            <a:solidFill>
              <a:srgbClr val="0E5A5F"/>
            </a:solidFill>
            <a:prstDash val="solid"/>
          </a:ln>
        </p:spPr>
      </p:sp>
      <p:pic>
        <p:nvPicPr>
          <p:cNvPr id="32" name="Image 5" descr="FaBook">    </p:cNvPr>
          <p:cNvPicPr>
            <a:picLocks noChangeAspect="1"/>
          </p:cNvPicPr>
          <p:nvPr/>
        </p:nvPicPr>
        <p:blipFill>
          <a:blip r:embed="rId6"/>
          <a:stretch>
            <a:fillRect/>
          </a:stretch>
        </p:blipFill>
        <p:spPr>
          <a:xfrm>
            <a:off x="8551469" y="4233672"/>
            <a:ext cx="329184" cy="329184"/>
          </a:xfrm>
          <a:prstGeom prst="rect">
            <a:avLst/>
          </a:prstGeom>
        </p:spPr>
      </p:pic>
      <p:sp>
        <p:nvSpPr>
          <p:cNvPr id="33" name="Text 24"/>
          <p:cNvSpPr txBox="1"/>
          <p:nvPr/>
        </p:nvSpPr>
        <p:spPr>
          <a:xfrm>
            <a:off x="9209837" y="4114800"/>
            <a:ext cx="2387498" cy="548640"/>
          </a:xfrm>
          <a:prstGeom prst="rect">
            <a:avLst/>
          </a:prstGeom>
          <a:noFill/>
          <a:ln/>
        </p:spPr>
        <p:txBody>
          <a:bodyPr wrap="square" lIns="0" tIns="0" rIns="0" bIns="0" rtlCol="0" anchor="ctr"/>
          <a:lstStyle/>
          <a:p>
            <a:pPr indent="0" marL="0">
              <a:buNone/>
            </a:pPr>
            <a:r>
              <a:rPr lang="en-US" sz="1900" b="1" dirty="0">
                <a:solidFill>
                  <a:srgbClr val="1E2A2F"/>
                </a:solidFill>
                <a:latin typeface="Cambria" pitchFamily="34" charset="0"/>
                <a:ea typeface="Cambria" pitchFamily="34" charset="-122"/>
                <a:cs typeface="Cambria" pitchFamily="34" charset="-120"/>
              </a:rPr>
              <a:t>Every society</a:t>
            </a:r>
            <a:endParaRPr lang="en-US" sz="1900" dirty="0"/>
          </a:p>
        </p:txBody>
      </p:sp>
      <p:sp>
        <p:nvSpPr>
          <p:cNvPr id="34" name="Text 25"/>
          <p:cNvSpPr txBox="1"/>
          <p:nvPr/>
        </p:nvSpPr>
        <p:spPr>
          <a:xfrm>
            <a:off x="8386877" y="4892040"/>
            <a:ext cx="3119018" cy="960120"/>
          </a:xfrm>
          <a:prstGeom prst="rect">
            <a:avLst/>
          </a:prstGeom>
          <a:noFill/>
          <a:ln/>
        </p:spPr>
        <p:txBody>
          <a:bodyPr wrap="square" lIns="0" tIns="0" rIns="0" bIns="0" rtlCol="0" anchor="t"/>
          <a:lstStyle/>
          <a:p>
            <a:pPr indent="0" marL="0">
              <a:buNone/>
            </a:pPr>
            <a:r>
              <a:rPr lang="en-US" sz="1500" dirty="0">
                <a:solidFill>
                  <a:srgbClr val="5B6B71"/>
                </a:solidFill>
              </a:rPr>
              <a:t>Deposits credited, funerals deducted</a:t>
            </a:r>
            <a:endParaRPr lang="en-US" sz="15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411480"/>
            <a:ext cx="11064240" cy="100584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Falakhe does not need to reinvent the business — it needs to turn what already works into a system</a:t>
            </a:r>
            <a:endParaRPr lang="en-US" sz="2600" dirty="0"/>
          </a:p>
        </p:txBody>
      </p:sp>
      <p:sp>
        <p:nvSpPr>
          <p:cNvPr id="3" name="equation term"/>
          <p:cNvSpPr/>
          <p:nvPr/>
        </p:nvSpPr>
        <p:spPr>
          <a:xfrm>
            <a:off x="548640" y="1691640"/>
            <a:ext cx="2286000" cy="868680"/>
          </a:xfrm>
          <a:prstGeom prst="roundRect">
            <a:avLst>
              <a:gd name="adj" fmla="val 10526"/>
            </a:avLst>
          </a:prstGeom>
          <a:solidFill>
            <a:srgbClr val="0A4246"/>
          </a:solidFill>
          <a:ln w="12700">
            <a:solidFill>
              <a:srgbClr val="3E8A8F"/>
            </a:solidFill>
            <a:prstDash val="solid"/>
          </a:ln>
        </p:spPr>
      </p:sp>
      <p:sp>
        <p:nvSpPr>
          <p:cNvPr id="4" name="Text 2"/>
          <p:cNvSpPr txBox="1"/>
          <p:nvPr/>
        </p:nvSpPr>
        <p:spPr>
          <a:xfrm>
            <a:off x="548640" y="1691640"/>
            <a:ext cx="22860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rPr>
              <a:t>Productive agents</a:t>
            </a:r>
            <a:endParaRPr lang="en-US" sz="1600" dirty="0"/>
          </a:p>
        </p:txBody>
      </p:sp>
      <p:sp>
        <p:nvSpPr>
          <p:cNvPr id="5" name="Text 3"/>
          <p:cNvSpPr txBox="1"/>
          <p:nvPr/>
        </p:nvSpPr>
        <p:spPr>
          <a:xfrm>
            <a:off x="2834640" y="1691640"/>
            <a:ext cx="548640" cy="868680"/>
          </a:xfrm>
          <a:prstGeom prst="rect">
            <a:avLst/>
          </a:prstGeom>
          <a:noFill/>
          <a:ln/>
        </p:spPr>
        <p:txBody>
          <a:bodyPr wrap="square" lIns="0" tIns="0" rIns="0" bIns="0" rtlCol="0" anchor="ctr"/>
          <a:lstStyle/>
          <a:p>
            <a:pPr algn="ctr" indent="0" marL="0">
              <a:buNone/>
            </a:pPr>
            <a:r>
              <a:rPr lang="en-US" sz="2800" b="1" dirty="0">
                <a:solidFill>
                  <a:srgbClr val="9FD0D3"/>
                </a:solidFill>
              </a:rPr>
              <a:t>+</a:t>
            </a:r>
            <a:endParaRPr lang="en-US" sz="2800" dirty="0"/>
          </a:p>
        </p:txBody>
      </p:sp>
      <p:sp>
        <p:nvSpPr>
          <p:cNvPr id="6" name="equation term"/>
          <p:cNvSpPr/>
          <p:nvPr/>
        </p:nvSpPr>
        <p:spPr>
          <a:xfrm>
            <a:off x="3383280" y="1691640"/>
            <a:ext cx="2286000" cy="868680"/>
          </a:xfrm>
          <a:prstGeom prst="roundRect">
            <a:avLst>
              <a:gd name="adj" fmla="val 10526"/>
            </a:avLst>
          </a:prstGeom>
          <a:solidFill>
            <a:srgbClr val="0A4246"/>
          </a:solidFill>
          <a:ln w="12700">
            <a:solidFill>
              <a:srgbClr val="3E8A8F"/>
            </a:solidFill>
            <a:prstDash val="solid"/>
          </a:ln>
        </p:spPr>
      </p:sp>
      <p:sp>
        <p:nvSpPr>
          <p:cNvPr id="7" name="Text 5"/>
          <p:cNvSpPr txBox="1"/>
          <p:nvPr/>
        </p:nvSpPr>
        <p:spPr>
          <a:xfrm>
            <a:off x="3383280" y="1691640"/>
            <a:ext cx="22860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rPr>
              <a:t>Local territory ownership</a:t>
            </a:r>
            <a:endParaRPr lang="en-US" sz="1600" dirty="0"/>
          </a:p>
        </p:txBody>
      </p:sp>
      <p:sp>
        <p:nvSpPr>
          <p:cNvPr id="8" name="Text 6"/>
          <p:cNvSpPr txBox="1"/>
          <p:nvPr/>
        </p:nvSpPr>
        <p:spPr>
          <a:xfrm>
            <a:off x="5669280" y="1691640"/>
            <a:ext cx="548640" cy="868680"/>
          </a:xfrm>
          <a:prstGeom prst="rect">
            <a:avLst/>
          </a:prstGeom>
          <a:noFill/>
          <a:ln/>
        </p:spPr>
        <p:txBody>
          <a:bodyPr wrap="square" lIns="0" tIns="0" rIns="0" bIns="0" rtlCol="0" anchor="ctr"/>
          <a:lstStyle/>
          <a:p>
            <a:pPr algn="ctr" indent="0" marL="0">
              <a:buNone/>
            </a:pPr>
            <a:r>
              <a:rPr lang="en-US" sz="2800" b="1" dirty="0">
                <a:solidFill>
                  <a:srgbClr val="9FD0D3"/>
                </a:solidFill>
              </a:rPr>
              <a:t>+</a:t>
            </a:r>
            <a:endParaRPr lang="en-US" sz="2800" dirty="0"/>
          </a:p>
        </p:txBody>
      </p:sp>
      <p:sp>
        <p:nvSpPr>
          <p:cNvPr id="9" name="equation term"/>
          <p:cNvSpPr/>
          <p:nvPr/>
        </p:nvSpPr>
        <p:spPr>
          <a:xfrm>
            <a:off x="6217920" y="1691640"/>
            <a:ext cx="2286000" cy="868680"/>
          </a:xfrm>
          <a:prstGeom prst="roundRect">
            <a:avLst>
              <a:gd name="adj" fmla="val 10526"/>
            </a:avLst>
          </a:prstGeom>
          <a:solidFill>
            <a:srgbClr val="0A4246"/>
          </a:solidFill>
          <a:ln w="12700">
            <a:solidFill>
              <a:srgbClr val="3E8A8F"/>
            </a:solidFill>
            <a:prstDash val="solid"/>
          </a:ln>
        </p:spPr>
      </p:sp>
      <p:sp>
        <p:nvSpPr>
          <p:cNvPr id="10" name="Text 8"/>
          <p:cNvSpPr txBox="1"/>
          <p:nvPr/>
        </p:nvSpPr>
        <p:spPr>
          <a:xfrm>
            <a:off x="6217920" y="1691640"/>
            <a:ext cx="22860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rPr>
              <a:t>Supported campaigns</a:t>
            </a:r>
            <a:endParaRPr lang="en-US" sz="1600" dirty="0"/>
          </a:p>
        </p:txBody>
      </p:sp>
      <p:sp>
        <p:nvSpPr>
          <p:cNvPr id="11" name="Text 9"/>
          <p:cNvSpPr txBox="1"/>
          <p:nvPr/>
        </p:nvSpPr>
        <p:spPr>
          <a:xfrm>
            <a:off x="8503920" y="1691640"/>
            <a:ext cx="548640" cy="868680"/>
          </a:xfrm>
          <a:prstGeom prst="rect">
            <a:avLst/>
          </a:prstGeom>
          <a:noFill/>
          <a:ln/>
        </p:spPr>
        <p:txBody>
          <a:bodyPr wrap="square" lIns="0" tIns="0" rIns="0" bIns="0" rtlCol="0" anchor="ctr"/>
          <a:lstStyle/>
          <a:p>
            <a:pPr algn="ctr" indent="0" marL="0">
              <a:buNone/>
            </a:pPr>
            <a:r>
              <a:rPr lang="en-US" sz="2800" b="1" dirty="0">
                <a:solidFill>
                  <a:srgbClr val="9FD0D3"/>
                </a:solidFill>
              </a:rPr>
              <a:t>+</a:t>
            </a:r>
            <a:endParaRPr lang="en-US" sz="2800" dirty="0"/>
          </a:p>
        </p:txBody>
      </p:sp>
      <p:sp>
        <p:nvSpPr>
          <p:cNvPr id="12" name="equation term"/>
          <p:cNvSpPr/>
          <p:nvPr/>
        </p:nvSpPr>
        <p:spPr>
          <a:xfrm>
            <a:off x="9052560" y="1691640"/>
            <a:ext cx="2286000" cy="868680"/>
          </a:xfrm>
          <a:prstGeom prst="roundRect">
            <a:avLst>
              <a:gd name="adj" fmla="val 10526"/>
            </a:avLst>
          </a:prstGeom>
          <a:solidFill>
            <a:srgbClr val="0A4246"/>
          </a:solidFill>
          <a:ln w="12700">
            <a:solidFill>
              <a:srgbClr val="3E8A8F"/>
            </a:solidFill>
            <a:prstDash val="solid"/>
          </a:ln>
        </p:spPr>
      </p:sp>
      <p:sp>
        <p:nvSpPr>
          <p:cNvPr id="13" name="Text 11"/>
          <p:cNvSpPr txBox="1"/>
          <p:nvPr/>
        </p:nvSpPr>
        <p:spPr>
          <a:xfrm>
            <a:off x="9052560" y="1691640"/>
            <a:ext cx="22860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rPr>
              <a:t>Strong follow-up</a:t>
            </a:r>
            <a:endParaRPr lang="en-US" sz="1600" dirty="0"/>
          </a:p>
        </p:txBody>
      </p:sp>
      <p:sp>
        <p:nvSpPr>
          <p:cNvPr id="14" name="equation term"/>
          <p:cNvSpPr/>
          <p:nvPr/>
        </p:nvSpPr>
        <p:spPr>
          <a:xfrm>
            <a:off x="548640" y="2971800"/>
            <a:ext cx="2286000" cy="868680"/>
          </a:xfrm>
          <a:prstGeom prst="roundRect">
            <a:avLst>
              <a:gd name="adj" fmla="val 10526"/>
            </a:avLst>
          </a:prstGeom>
          <a:solidFill>
            <a:srgbClr val="0A4246"/>
          </a:solidFill>
          <a:ln w="12700">
            <a:solidFill>
              <a:srgbClr val="3E8A8F"/>
            </a:solidFill>
            <a:prstDash val="solid"/>
          </a:ln>
        </p:spPr>
      </p:sp>
      <p:sp>
        <p:nvSpPr>
          <p:cNvPr id="15" name="Text 13"/>
          <p:cNvSpPr txBox="1"/>
          <p:nvPr/>
        </p:nvSpPr>
        <p:spPr>
          <a:xfrm>
            <a:off x="548640" y="2971800"/>
            <a:ext cx="22860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rPr>
              <a:t>Funeral lead generation</a:t>
            </a:r>
            <a:endParaRPr lang="en-US" sz="1600" dirty="0"/>
          </a:p>
        </p:txBody>
      </p:sp>
      <p:sp>
        <p:nvSpPr>
          <p:cNvPr id="16" name="Text 14"/>
          <p:cNvSpPr txBox="1"/>
          <p:nvPr/>
        </p:nvSpPr>
        <p:spPr>
          <a:xfrm>
            <a:off x="2834640" y="2971800"/>
            <a:ext cx="548640" cy="868680"/>
          </a:xfrm>
          <a:prstGeom prst="rect">
            <a:avLst/>
          </a:prstGeom>
          <a:noFill/>
          <a:ln/>
        </p:spPr>
        <p:txBody>
          <a:bodyPr wrap="square" lIns="0" tIns="0" rIns="0" bIns="0" rtlCol="0" anchor="ctr"/>
          <a:lstStyle/>
          <a:p>
            <a:pPr algn="ctr" indent="0" marL="0">
              <a:buNone/>
            </a:pPr>
            <a:r>
              <a:rPr lang="en-US" sz="2800" b="1" dirty="0">
                <a:solidFill>
                  <a:srgbClr val="9FD0D3"/>
                </a:solidFill>
              </a:rPr>
              <a:t>+</a:t>
            </a:r>
            <a:endParaRPr lang="en-US" sz="2800" dirty="0"/>
          </a:p>
        </p:txBody>
      </p:sp>
      <p:sp>
        <p:nvSpPr>
          <p:cNvPr id="17" name="equation term"/>
          <p:cNvSpPr/>
          <p:nvPr/>
        </p:nvSpPr>
        <p:spPr>
          <a:xfrm>
            <a:off x="3383280" y="2971800"/>
            <a:ext cx="2286000" cy="868680"/>
          </a:xfrm>
          <a:prstGeom prst="roundRect">
            <a:avLst>
              <a:gd name="adj" fmla="val 10526"/>
            </a:avLst>
          </a:prstGeom>
          <a:solidFill>
            <a:srgbClr val="0A4246"/>
          </a:solidFill>
          <a:ln w="12700">
            <a:solidFill>
              <a:srgbClr val="3E8A8F"/>
            </a:solidFill>
            <a:prstDash val="solid"/>
          </a:ln>
        </p:spPr>
      </p:sp>
      <p:sp>
        <p:nvSpPr>
          <p:cNvPr id="18" name="Text 16"/>
          <p:cNvSpPr txBox="1"/>
          <p:nvPr/>
        </p:nvSpPr>
        <p:spPr>
          <a:xfrm>
            <a:off x="3383280" y="2971800"/>
            <a:ext cx="22860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rPr>
              <a:t>Good collections</a:t>
            </a:r>
            <a:endParaRPr lang="en-US" sz="1600" dirty="0"/>
          </a:p>
        </p:txBody>
      </p:sp>
      <p:sp>
        <p:nvSpPr>
          <p:cNvPr id="19" name="Text 17"/>
          <p:cNvSpPr txBox="1"/>
          <p:nvPr/>
        </p:nvSpPr>
        <p:spPr>
          <a:xfrm>
            <a:off x="5669280" y="2971800"/>
            <a:ext cx="548640" cy="868680"/>
          </a:xfrm>
          <a:prstGeom prst="rect">
            <a:avLst/>
          </a:prstGeom>
          <a:noFill/>
          <a:ln/>
        </p:spPr>
        <p:txBody>
          <a:bodyPr wrap="square" lIns="0" tIns="0" rIns="0" bIns="0" rtlCol="0" anchor="ctr"/>
          <a:lstStyle/>
          <a:p>
            <a:pPr algn="ctr" indent="0" marL="0">
              <a:buNone/>
            </a:pPr>
            <a:r>
              <a:rPr lang="en-US" sz="2800" b="1" dirty="0">
                <a:solidFill>
                  <a:srgbClr val="9FD0D3"/>
                </a:solidFill>
              </a:rPr>
              <a:t>+</a:t>
            </a:r>
            <a:endParaRPr lang="en-US" sz="2800" dirty="0"/>
          </a:p>
        </p:txBody>
      </p:sp>
      <p:sp>
        <p:nvSpPr>
          <p:cNvPr id="20" name="equation term"/>
          <p:cNvSpPr/>
          <p:nvPr/>
        </p:nvSpPr>
        <p:spPr>
          <a:xfrm>
            <a:off x="6217920" y="2971800"/>
            <a:ext cx="2286000" cy="868680"/>
          </a:xfrm>
          <a:prstGeom prst="roundRect">
            <a:avLst>
              <a:gd name="adj" fmla="val 10526"/>
            </a:avLst>
          </a:prstGeom>
          <a:solidFill>
            <a:srgbClr val="0A4246"/>
          </a:solidFill>
          <a:ln w="12700">
            <a:solidFill>
              <a:srgbClr val="3E8A8F"/>
            </a:solidFill>
            <a:prstDash val="solid"/>
          </a:ln>
        </p:spPr>
      </p:sp>
      <p:sp>
        <p:nvSpPr>
          <p:cNvPr id="21" name="Text 19"/>
          <p:cNvSpPr txBox="1"/>
          <p:nvPr/>
        </p:nvSpPr>
        <p:spPr>
          <a:xfrm>
            <a:off x="6217920" y="2971800"/>
            <a:ext cx="22860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rPr>
              <a:t>Accurate costing</a:t>
            </a:r>
            <a:endParaRPr lang="en-US" sz="1600" dirty="0"/>
          </a:p>
        </p:txBody>
      </p:sp>
      <p:sp>
        <p:nvSpPr>
          <p:cNvPr id="22" name="Text 20"/>
          <p:cNvSpPr txBox="1"/>
          <p:nvPr/>
        </p:nvSpPr>
        <p:spPr>
          <a:xfrm>
            <a:off x="8503920" y="2971800"/>
            <a:ext cx="548640" cy="868680"/>
          </a:xfrm>
          <a:prstGeom prst="rect">
            <a:avLst/>
          </a:prstGeom>
          <a:noFill/>
          <a:ln/>
        </p:spPr>
        <p:txBody>
          <a:bodyPr wrap="square" lIns="0" tIns="0" rIns="0" bIns="0" rtlCol="0" anchor="ctr"/>
          <a:lstStyle/>
          <a:p>
            <a:pPr algn="ctr" indent="0" marL="0">
              <a:buNone/>
            </a:pPr>
            <a:r>
              <a:rPr lang="en-US" sz="2800" b="1" dirty="0">
                <a:solidFill>
                  <a:srgbClr val="9FD0D3"/>
                </a:solidFill>
              </a:rPr>
              <a:t>+</a:t>
            </a:r>
            <a:endParaRPr lang="en-US" sz="2800" dirty="0"/>
          </a:p>
        </p:txBody>
      </p:sp>
      <p:sp>
        <p:nvSpPr>
          <p:cNvPr id="23" name="equation term"/>
          <p:cNvSpPr/>
          <p:nvPr/>
        </p:nvSpPr>
        <p:spPr>
          <a:xfrm>
            <a:off x="9052560" y="2971800"/>
            <a:ext cx="2286000" cy="868680"/>
          </a:xfrm>
          <a:prstGeom prst="roundRect">
            <a:avLst>
              <a:gd name="adj" fmla="val 10526"/>
            </a:avLst>
          </a:prstGeom>
          <a:solidFill>
            <a:srgbClr val="0A4246"/>
          </a:solidFill>
          <a:ln w="12700">
            <a:solidFill>
              <a:srgbClr val="3E8A8F"/>
            </a:solidFill>
            <a:prstDash val="solid"/>
          </a:ln>
        </p:spPr>
      </p:sp>
      <p:sp>
        <p:nvSpPr>
          <p:cNvPr id="24" name="Text 22"/>
          <p:cNvSpPr txBox="1"/>
          <p:nvPr/>
        </p:nvSpPr>
        <p:spPr>
          <a:xfrm>
            <a:off x="9052560" y="2971800"/>
            <a:ext cx="22860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rPr>
              <a:t>Cross-selling</a:t>
            </a:r>
            <a:endParaRPr lang="en-US" sz="1600" dirty="0"/>
          </a:p>
        </p:txBody>
      </p:sp>
      <p:sp>
        <p:nvSpPr>
          <p:cNvPr id="25" name="Text 23"/>
          <p:cNvSpPr txBox="1"/>
          <p:nvPr/>
        </p:nvSpPr>
        <p:spPr>
          <a:xfrm>
            <a:off x="11338560" y="1691640"/>
            <a:ext cx="548640" cy="868680"/>
          </a:xfrm>
          <a:prstGeom prst="rect">
            <a:avLst/>
          </a:prstGeom>
          <a:noFill/>
          <a:ln/>
        </p:spPr>
        <p:txBody>
          <a:bodyPr wrap="square" lIns="0" tIns="0" rIns="0" bIns="0" rtlCol="0" anchor="ctr"/>
          <a:lstStyle/>
          <a:p>
            <a:pPr algn="ctr" indent="0" marL="0">
              <a:buNone/>
            </a:pPr>
            <a:r>
              <a:rPr lang="en-US" sz="2800" b="1" dirty="0">
                <a:solidFill>
                  <a:srgbClr val="9FD0D3"/>
                </a:solidFill>
              </a:rPr>
              <a:t>+</a:t>
            </a:r>
            <a:endParaRPr lang="en-US" sz="2800" dirty="0"/>
          </a:p>
        </p:txBody>
      </p:sp>
      <p:sp>
        <p:nvSpPr>
          <p:cNvPr id="26" name="Text 24"/>
          <p:cNvSpPr txBox="1"/>
          <p:nvPr/>
        </p:nvSpPr>
        <p:spPr>
          <a:xfrm>
            <a:off x="548640" y="4160520"/>
            <a:ext cx="548640" cy="868680"/>
          </a:xfrm>
          <a:prstGeom prst="rect">
            <a:avLst/>
          </a:prstGeom>
          <a:noFill/>
          <a:ln/>
        </p:spPr>
        <p:txBody>
          <a:bodyPr wrap="square" lIns="0" tIns="0" rIns="0" bIns="0" rtlCol="0" anchor="ctr"/>
          <a:lstStyle/>
          <a:p>
            <a:pPr algn="ctr" indent="0" marL="0">
              <a:buNone/>
            </a:pPr>
            <a:r>
              <a:rPr lang="en-US" sz="3400" b="1" dirty="0">
                <a:solidFill>
                  <a:srgbClr val="9FD0D3"/>
                </a:solidFill>
              </a:rPr>
              <a:t>=</a:t>
            </a:r>
            <a:endParaRPr lang="en-US" sz="3400" dirty="0"/>
          </a:p>
        </p:txBody>
      </p:sp>
      <p:sp>
        <p:nvSpPr>
          <p:cNvPr id="27" name="equation result"/>
          <p:cNvSpPr/>
          <p:nvPr/>
        </p:nvSpPr>
        <p:spPr>
          <a:xfrm>
            <a:off x="1188720" y="4160520"/>
            <a:ext cx="5120640" cy="868680"/>
          </a:xfrm>
          <a:prstGeom prst="roundRect">
            <a:avLst>
              <a:gd name="adj" fmla="val 10526"/>
            </a:avLst>
          </a:prstGeom>
          <a:solidFill>
            <a:srgbClr val="FFFFFF"/>
          </a:solidFill>
          <a:ln w="12700">
            <a:solidFill>
              <a:srgbClr val="FFFFFF"/>
            </a:solidFill>
            <a:prstDash val="solid"/>
          </a:ln>
        </p:spPr>
      </p:sp>
      <p:sp>
        <p:nvSpPr>
          <p:cNvPr id="28" name="Text 26"/>
          <p:cNvSpPr txBox="1"/>
          <p:nvPr/>
        </p:nvSpPr>
        <p:spPr>
          <a:xfrm>
            <a:off x="1188720" y="4160520"/>
            <a:ext cx="5120640" cy="868680"/>
          </a:xfrm>
          <a:prstGeom prst="rect">
            <a:avLst/>
          </a:prstGeom>
          <a:noFill/>
          <a:ln/>
        </p:spPr>
        <p:txBody>
          <a:bodyPr wrap="square" lIns="0" tIns="0" rIns="0" bIns="0" rtlCol="0" anchor="ctr"/>
          <a:lstStyle/>
          <a:p>
            <a:pPr algn="ctr" indent="0" marL="0">
              <a:buNone/>
            </a:pPr>
            <a:r>
              <a:rPr lang="en-US" sz="2200" b="1" dirty="0">
                <a:solidFill>
                  <a:srgbClr val="0E5A5F"/>
                </a:solidFill>
                <a:latin typeface="Cambria" pitchFamily="34" charset="0"/>
                <a:ea typeface="Cambria" pitchFamily="34" charset="-122"/>
                <a:cs typeface="Cambria" pitchFamily="34" charset="-120"/>
              </a:rPr>
              <a:t>Predictable Falakhe growth</a:t>
            </a:r>
            <a:endParaRPr lang="en-US" sz="2200" dirty="0"/>
          </a:p>
        </p:txBody>
      </p:sp>
      <p:sp>
        <p:nvSpPr>
          <p:cNvPr id="29" name="Text 27"/>
          <p:cNvSpPr txBox="1"/>
          <p:nvPr/>
        </p:nvSpPr>
        <p:spPr>
          <a:xfrm>
            <a:off x="548640" y="5349240"/>
            <a:ext cx="9601200" cy="914400"/>
          </a:xfrm>
          <a:prstGeom prst="rect">
            <a:avLst/>
          </a:prstGeom>
          <a:noFill/>
          <a:ln/>
        </p:spPr>
        <p:txBody>
          <a:bodyPr wrap="square" lIns="0" tIns="0" rIns="0" bIns="0" rtlCol="0" anchor="t"/>
          <a:lstStyle/>
          <a:p>
            <a:pPr indent="0" marL="0">
              <a:buNone/>
            </a:pPr>
            <a:r>
              <a:rPr lang="en-US" sz="1400" b="1" dirty="0">
                <a:solidFill>
                  <a:srgbClr val="B9D3D4"/>
                </a:solidFill>
              </a:rPr>
              <a:t>Realistic one-year goal (Projected, if the plan is carried out)</a:t>
            </a:r>
            <a:endParaRPr lang="en-US" sz="1400" dirty="0"/>
          </a:p>
          <a:p>
            <a:pPr indent="0" marL="0">
              <a:buNone/>
            </a:pPr>
            <a:r>
              <a:rPr lang="en-US" sz="2000" b="1" dirty="0">
                <a:solidFill>
                  <a:srgbClr val="FFFFFF"/>
                </a:solidFill>
              </a:rPr>
              <a:t>About 1,000 policies in force  ·  about USD 21,000 a month money in</a:t>
            </a:r>
            <a:endParaRPr lang="en-US" sz="1400" dirty="0"/>
          </a:p>
        </p:txBody>
      </p:sp>
      <p:sp>
        <p:nvSpPr>
          <p:cNvPr id="30" name="logo disc"/>
          <p:cNvSpPr/>
          <p:nvPr/>
        </p:nvSpPr>
        <p:spPr>
          <a:xfrm>
            <a:off x="10378440" y="4983480"/>
            <a:ext cx="1280160" cy="1280160"/>
          </a:xfrm>
          <a:prstGeom prst="ellipse">
            <a:avLst/>
          </a:prstGeom>
          <a:solidFill>
            <a:srgbClr val="FFFFFF"/>
          </a:solidFill>
          <a:ln w="12700">
            <a:solidFill>
              <a:srgbClr val="FFFFFF"/>
            </a:solidFill>
            <a:prstDash val="solid"/>
          </a:ln>
        </p:spPr>
      </p:sp>
      <p:pic>
        <p:nvPicPr>
          <p:cNvPr id="31" name="Image 0" descr="Falakhe Funeral Parlour logo">    </p:cNvPr>
          <p:cNvPicPr>
            <a:picLocks noChangeAspect="1"/>
          </p:cNvPicPr>
          <p:nvPr/>
        </p:nvPicPr>
        <p:blipFill>
          <a:blip r:embed="rId1"/>
          <a:stretch>
            <a:fillRect/>
          </a:stretch>
        </p:blipFill>
        <p:spPr>
          <a:xfrm>
            <a:off x="10469880" y="5074920"/>
            <a:ext cx="1097280" cy="1088136"/>
          </a:xfrm>
          <a:prstGeom prst="rect">
            <a:avLst/>
          </a:prstGeom>
        </p:spPr>
      </p:pic>
      <p:sp>
        <p:nvSpPr>
          <p:cNvPr id="33" name="Text 0"/>
          <p:cNvSpPr/>
          <p:nvPr>
            <p:ph idx="100" type="title" hasCustomPrompt="1"/>
          </p:nvPr>
        </p:nvSpPr>
        <p:spPr>
          <a:xfrm>
            <a:off x="731520" y="2148840"/>
            <a:ext cx="7680960" cy="1737360"/>
          </a:xfrm>
          <a:prstGeom prst="rect">
            <a:avLst/>
          </a:prstGeom>
          <a:noFill/>
          <a:ln/>
        </p:spPr>
        <p:txBody>
          <a:bodyPr wrap="square" lIns="0" tIns="0" rIns="0" bIns="0" rtlCol="0" anchor="t"/>
          <a:lstStyle/>
          <a:p>
            <a:pPr algn="l" indent="0" marL="0">
              <a:buNone/>
            </a:pPr>
            <a:endParaRPr lang="en-US" sz="3400" dirty="0"/>
          </a:p>
        </p:txBody>
      </p:sp>
      <p:sp>
        <p:nvSpPr>
          <p:cNvPr id="34" name="Text 0"/>
          <p:cNvSpPr/>
          <p:nvPr>
            <p:ph idx="101" type="body" hasCustomPrompt="1"/>
          </p:nvPr>
        </p:nvSpPr>
        <p:spPr>
          <a:xfrm>
            <a:off x="731520" y="4069080"/>
            <a:ext cx="7680960" cy="109728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APPENDIX A — MONTHLY SALES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Monthly sales: genuine new business against target</a:t>
            </a:r>
            <a:endParaRPr lang="en-US" sz="2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1463040"/>
                <a:gridCol w="914400"/>
                <a:gridCol w="731520"/>
                <a:gridCol w="868680"/>
                <a:gridCol w="914400"/>
                <a:gridCol w="731520"/>
                <a:gridCol w="868680"/>
                <a:gridCol w="868680"/>
                <a:gridCol w="822960"/>
                <a:gridCol w="914400"/>
                <a:gridCol w="822960"/>
                <a:gridCol w="1353312"/>
              </a:tblGrid>
              <a:tr h="34747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Month</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Genuine joinings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achieved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Joined &amp; paid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achieved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Conversion</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SA clients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Legacy product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Typed in</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Productive agents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Mar</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Apr</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May</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Jun</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117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Jul</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124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Aug</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217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Sep</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135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Total Mar–Sep</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296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1,750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108</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700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480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Oct 1–4 (partial)</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5074920"/>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Gap to target: joinings −1,454 and joined &amp; paid −592 for Mar–Sep. March may include SA returnees never flagged. Oct 1–4 is partial and not comparable to a full month.</a:t>
            </a:r>
            <a:endParaRPr lang="en-US" sz="10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APPENDIX B — AGENTS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Agents: genuine policies sold and paid since March</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547208" cy="914400"/>
        </p:xfrm>
        <a:graphic>
          <a:graphicData uri="http://schemas.openxmlformats.org/drawingml/2006/table">
            <a:tbl>
              <a:tblPr/>
              <a:tblGrid>
                <a:gridCol w="1981048"/>
                <a:gridCol w="777240"/>
                <a:gridCol w="777240"/>
                <a:gridCol w="1005840"/>
                <a:gridCol w="1005840"/>
              </a:tblGrid>
              <a:tr h="32918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Seller</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Sold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Paid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Conversion</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Sep joinings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Office counter</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Pesuate Mhlanga</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Gugulethu Moyo</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Nqobile Ncube</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Nothabo Ndlovu</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Kimberly Chikaunda</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Patience Moyo</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Andile Mtukwa</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Ayanda Muringazuva</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bl>
          </a:graphicData>
        </a:graphic>
      </p:graphicFrame>
      <p:graphicFrame>
        <p:nvGraphicFramePr>
          <p:cNvPr id="85" name="Table 1"/>
          <p:cNvGraphicFramePr>
            <a:graphicFrameLocks noGrp="1"/>
          </p:cNvGraphicFramePr>
          <p:nvPr>
            <p:extLst>
              <p:ext uri="{D42A27DB-BD31-4B8C-83A1-F6EECF244321}">
                <p14:modId xmlns:p14="http://schemas.microsoft.com/office/powerpoint/2010/main" val="1579011935"/>
              </p:ext>
            </p:extLst>
          </p:nvPr>
        </p:nvGraphicFramePr>
        <p:xfrm>
          <a:off x="6187288" y="1371600"/>
          <a:ext cx="5547208" cy="914400"/>
        </p:xfrm>
        <a:graphic>
          <a:graphicData uri="http://schemas.openxmlformats.org/drawingml/2006/table">
            <a:tbl>
              <a:tblPr/>
              <a:tblGrid>
                <a:gridCol w="1981048"/>
                <a:gridCol w="777240"/>
                <a:gridCol w="777240"/>
                <a:gridCol w="1005840"/>
                <a:gridCol w="1005840"/>
              </a:tblGrid>
              <a:tr h="32918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Seller</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Sold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Paid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Conversion</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Sep joinings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Norman Mpofu</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Alisa Ncube</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too few</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Thokozani Moyo</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too few</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Peacemaker Matizha</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Sibonginkosi Nyathi</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too few</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Irvine Nyerukai</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too few</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Arnold Chimwe</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too few</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Lindani Ndebele</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too few</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457200" y="4846320"/>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Genuine policies, March to 4 October. Sep joinings shown only for sellers in the joinings-by-month data; “—” = not in that data. Conversion shown only for 5+ sales.</a:t>
            </a:r>
            <a:endParaRPr lang="en-US" sz="10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APPENDIX C — PRODUCTS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Products: captured, paid and average premium</a:t>
            </a:r>
            <a:endParaRPr lang="en-US" sz="2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2011680"/>
                <a:gridCol w="1005840"/>
                <a:gridCol w="914400"/>
                <a:gridCol w="914400"/>
                <a:gridCol w="1554480"/>
                <a:gridCol w="1828800"/>
                <a:gridCol w="3044952"/>
              </a:tblGrid>
              <a:tr h="41148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Product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Captured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Paid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Paid %</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Avg premium (USD)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Status today</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Note</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r>
              <a:tr h="41148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UMTHUNZI</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140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69</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49%</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12.21</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63 active / grace</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Strongest product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1148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UMNDENI</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133</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7.22</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105 inactive</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Two adults to 64 + four children 0–20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1148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YEDWANA</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52%</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4.08</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Small volume</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1148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Legacy Individual</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29</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24 are SA clients; not genuine new</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1148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Legacy Group</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Not genuine new</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APPENDIX D — MONEY IN AND COLLECTIONS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Money in by stream and USD collections, June–September</a:t>
            </a:r>
            <a:endParaRPr lang="en-US" sz="2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3017520"/>
                <a:gridCol w="1371600"/>
                <a:gridCol w="1371600"/>
                <a:gridCol w="1371600"/>
                <a:gridCol w="1371600"/>
                <a:gridCol w="1463040"/>
                <a:gridCol w="1307592"/>
              </a:tblGrid>
              <a:tr h="34747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USD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Jun</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Jul</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Aug</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Sep</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Jun–Sep</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Share</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Society lump sums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6,922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5,037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7,705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6,706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26,370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Cash funerals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3,145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6,733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5,902</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4,375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20,155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Individual premiums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491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1,915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2,204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7,160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Society-member premiums</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140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950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1,447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2,537</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b="1" dirty="0">
                          <a:solidFill>
                            <a:srgbClr val="1E2A2F"/>
                          </a:solidFill>
                          <a:latin typeface="Calibri" pitchFamily="34" charset="0"/>
                          <a:ea typeface="Calibri" pitchFamily="34" charset="-122"/>
                          <a:cs typeface="Calibri" pitchFamily="34" charset="-120"/>
                        </a:rPr>
                        <a:t>Money in (total)</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10,558</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13,825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16,760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15,078</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56,221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Change vs prior month</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Individual USD due</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499</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1,749</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3,484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4,675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Individual USD collected</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491</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1,755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1,925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2,284</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1E2A2F"/>
                          </a:solidFill>
                          <a:latin typeface="Calibri" pitchFamily="34" charset="0"/>
                          <a:ea typeface="Calibri" pitchFamily="34" charset="-122"/>
                          <a:cs typeface="Calibri" pitchFamily="34" charset="-120"/>
                        </a:rPr>
                        <a:t>Collection rate (target 70%)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98%</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55%</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2F"/>
                          </a:solidFill>
                          <a:latin typeface="Calibri" pitchFamily="34" charset="0"/>
                          <a:ea typeface="Calibri" pitchFamily="34" charset="-122"/>
                          <a:cs typeface="Calibri" pitchFamily="34" charset="-120"/>
                        </a:rPr>
                        <a:t>49%</a:t>
                      </a: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4983480"/>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Stream shares add to 101% because of rounding. Aug streams sum to 16,761 vs 16,760 reported (rounding). Before June the system holds almost nothing.</a:t>
            </a:r>
            <a:endParaRPr lang="en-US" sz="10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APPENDIX E — FUNERALS, MORTUARY AND FLEET</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Funerals, mortuary and vehicle hire, June–September</a:t>
            </a:r>
            <a:endParaRPr lang="en-US" sz="2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3291840"/>
                <a:gridCol w="1554480"/>
                <a:gridCol w="1554480"/>
                <a:gridCol w="1554480"/>
                <a:gridCol w="1554480"/>
                <a:gridCol w="1764792"/>
              </a:tblGrid>
              <a:tr h="384048">
                <a:tc>
                  <a:txBody>
                    <a:bodyPr/>
                    <a:lstStyle/>
                    <a:p>
                      <a:pPr algn="l" indent="0" marL="0">
                        <a:buNone/>
                      </a:pP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Jun</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Jul</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Aug</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Sep</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r>
              <a:tr h="384048">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Policy funerals</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23</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29</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Cash funerals</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42</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Type not recorded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1E2A2F"/>
                          </a:solidFill>
                          <a:latin typeface="Calibri" pitchFamily="34" charset="0"/>
                          <a:ea typeface="Calibri" pitchFamily="34" charset="-122"/>
                          <a:cs typeface="Calibri" pitchFamily="34" charset="-120"/>
                        </a:rPr>
                        <a:t>Total funerals (burial date)</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A2F"/>
                          </a:solidFill>
                          <a:latin typeface="Calibri" pitchFamily="34" charset="0"/>
                          <a:ea typeface="Calibri" pitchFamily="34" charset="-122"/>
                          <a:cs typeface="Calibri" pitchFamily="34" charset="-120"/>
                        </a:rPr>
                        <a:t>27</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A2F"/>
                          </a:solidFill>
                          <a:latin typeface="Calibri" pitchFamily="34" charset="0"/>
                          <a:ea typeface="Calibri" pitchFamily="34" charset="-122"/>
                          <a:cs typeface="Calibri" pitchFamily="34" charset="-120"/>
                        </a:rPr>
                        <a:t>38</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A2F"/>
                          </a:solidFill>
                          <a:latin typeface="Calibri" pitchFamily="34" charset="0"/>
                          <a:ea typeface="Calibri" pitchFamily="34" charset="-122"/>
                          <a:cs typeface="Calibri" pitchFamily="34" charset="-120"/>
                        </a:rPr>
                        <a:t>39</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A2F"/>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A2F"/>
                          </a:solidFill>
                          <a:latin typeface="Calibri" pitchFamily="34" charset="0"/>
                          <a:ea typeface="Calibri" pitchFamily="34" charset="-122"/>
                          <a:cs typeface="Calibri" pitchFamily="34" charset="-120"/>
                        </a:rPr>
                        <a:t>126</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Mortuary intakes</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41</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23</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83</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Storage fees charged (USD)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540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340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220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1,140</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Vehicle hire (USD)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1,865</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885</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1,448</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725</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F"/>
                          </a:solidFill>
                          <a:latin typeface="Calibri" pitchFamily="34" charset="0"/>
                          <a:ea typeface="Calibri" pitchFamily="34" charset="-122"/>
                          <a:cs typeface="Calibri" pitchFamily="34" charset="-120"/>
                        </a:rPr>
                        <a:t>4,923</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4572000"/>
            <a:ext cx="11277295" cy="274320"/>
          </a:xfrm>
          <a:prstGeom prst="rect">
            <a:avLst/>
          </a:prstGeom>
          <a:noFill/>
          <a:ln/>
        </p:spPr>
        <p:txBody>
          <a:bodyPr wrap="square" lIns="0" tIns="0" rIns="0" bIns="0" rtlCol="0" anchor="ctr"/>
          <a:lstStyle/>
          <a:p>
            <a:pPr indent="0" marL="0">
              <a:buNone/>
            </a:pPr>
            <a:r>
              <a:rPr lang="en-US" sz="1000" i="1" dirty="0">
                <a:solidFill>
                  <a:srgbClr val="5B6B71"/>
                </a:solidFill>
              </a:rPr>
              <a:t>Costed: 20 of 44 cash and 45 of 81 policy funerals (costing counts use a different base from the burial-date table). 62 of 129 funerals have no vehicle recorded. Storage fees: none recorded collected.</a:t>
            </a:r>
            <a:endParaRPr lang="en-US" sz="10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2" type="body" hasCustomPrompt="1"/>
          </p:nvPr>
        </p:nvSpPr>
        <p:spPr>
          <a:xfrm>
            <a:off x="457200" y="201168"/>
            <a:ext cx="11277295" cy="256032"/>
          </a:xfrm>
          <a:prstGeom prst="rect">
            <a:avLst/>
          </a:prstGeom>
          <a:noFill/>
          <a:ln/>
        </p:spPr>
        <p:txBody>
          <a:bodyPr wrap="square" lIns="0" tIns="0" rIns="0" bIns="0" rtlCol="0" anchor="ctr"/>
          <a:lstStyle/>
          <a:p>
            <a:pPr indent="0" marL="0">
              <a:buNone/>
            </a:pPr>
            <a:r>
              <a:rPr lang="en-US" sz="1100" b="1" spc="150" kern="0" dirty="0">
                <a:solidFill>
                  <a:schemeClr val="tx2"/>
                </a:solidFill>
              </a:rPr>
              <a:t>APPENDIX F — KNOWN DATA ISSUES</a:t>
            </a:r>
            <a:endParaRPr lang="en-US" sz="1100" dirty="0"/>
          </a:p>
        </p:txBody>
      </p:sp>
      <p:sp>
        <p:nvSpPr>
          <p:cNvPr id="3" name="Text 1"/>
          <p:cNvSpPr/>
          <p:nvPr>
            <p:ph idx="103" type="title" hasCustomPrompt="1"/>
          </p:nvPr>
        </p:nvSpPr>
        <p:spPr>
          <a:xfrm>
            <a:off x="457200" y="475488"/>
            <a:ext cx="11277295" cy="749808"/>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Known data issues and how we will fix them</a:t>
            </a:r>
            <a:endParaRPr lang="en-US" sz="2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4023360"/>
                <a:gridCol w="3657600"/>
                <a:gridCol w="3593592"/>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Issue</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Effect on this report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0E5A5F"/>
                    </a:solidFill>
                  </a:tcPr>
                </a:tc>
              </a:tr>
              <a:tr h="45720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September funeral count: 22 / 21 / 18 / 17 by date used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12 cases have no burial date; this deck uses 22</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Burial date mandatory on every funeral</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Filabusi: about 16 clients reported vs 12 in system</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Gugulethu's September may be understated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Reconcile her September policies</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September requisitions incomplete (59 vs 265 in August)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September costs likely understated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Capture all spending (0–30 days)</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REQ-00216 fuel USD 1,500 possibly ZAR</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Fleet cost may be overstated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Check the source document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58 societies without members</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Society health cannot be measured</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Capture members, 20 largest first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Unreliable branch data</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No branch or territory comparison possible</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Branch and territory on every policy</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Partial October (1–4 only)</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Never compared with a full month</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F"/>
                          </a:solidFill>
                          <a:latin typeface="Calibri" pitchFamily="34" charset="0"/>
                          <a:ea typeface="Calibri" pitchFamily="34" charset="-122"/>
                          <a:cs typeface="Calibri" pitchFamily="34" charset="-120"/>
                        </a:rPr>
                        <a:t>Full October in next report</a:t>
                      </a:r>
                      <a:endParaRPr lang="en-US" sz="1300" dirty="0">
                        <a:latin typeface="Calibri" charset="0"/>
                        <a:ea typeface="Calibri" charset="0"/>
                        <a:cs typeface="Calibri" charset="0"/>
                      </a:endParaRPr>
                    </a:p>
                  </a:txBody>
                  <a:tcPr marL="54864" marR="54864" marT="18288" marB="18288" anchor="ctr">
                    <a:lnL w="6350" cap="flat" cmpd="sng" algn="ctr">
                      <a:solidFill>
                        <a:srgbClr val="DCE3E4"/>
                      </a:solidFill>
                      <a:prstDash val="solid"/>
                      <a:round/>
                      <a:headEnd type="none" w="med" len="med"/>
                      <a:tailEnd type="none" w="med" len="med"/>
                    </a:lnL>
                    <a:lnR w="6350" cap="flat" cmpd="sng" algn="ctr">
                      <a:solidFill>
                        <a:srgbClr val="DCE3E4"/>
                      </a:solidFill>
                      <a:prstDash val="solid"/>
                      <a:round/>
                      <a:headEnd type="none" w="med" len="med"/>
                      <a:tailEnd type="none" w="med" len="med"/>
                    </a:lnR>
                    <a:lnT w="6350" cap="flat" cmpd="sng" algn="ctr">
                      <a:solidFill>
                        <a:srgbClr val="DCE3E4"/>
                      </a:solidFill>
                      <a:prstDash val="solid"/>
                      <a:round/>
                      <a:headEnd type="none" w="med" len="med"/>
                      <a:tailEnd type="none" w="med" len="med"/>
                    </a:lnT>
                    <a:lnB w="6350" cap="flat" cmpd="sng" algn="ctr">
                      <a:solidFill>
                        <a:srgbClr val="DCE3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8A979C"/>
                </a:solidFill>
              </a:defRPr>
            </a:lvl1pPr>
          </a:lstStyle>
          <a:p>
            <a:pPr algn="r"/>
            <a:fld id="{F7021451-1387-4CA6-816F-3879F97B5CBC}" type="slidenum">
              <a:rPr b="0" lang="en-US"/>
              <a:t>46</a:t>
            </a:fld>
            <a:endParaRPr lang="en-US"/>
          </a:p>
        </p:txBody>
      </p:sp>
    </p:spTree>
  </p:cSld>
  <p:clrMapOvr>
    <a:masterClrMapping/>
  </p:clrMapOvr>
</p:sld>
</file>

<file path=ppt/theme/theme1.xml><?xml version="1.0" encoding="utf-8"?>
<a:theme xmlns:a="http://schemas.openxmlformats.org/drawingml/2006/main" name="Falakhe Report">
  <a:themeElements>
    <a:clrScheme name="Falakhe Report">
      <a:dk1>
        <a:srgbClr val="1E2A2F"/>
      </a:dk1>
      <a:lt1>
        <a:srgbClr val="FFFFFF"/>
      </a:lt1>
      <a:dk2>
        <a:srgbClr val="0E5A5F"/>
      </a:dk2>
      <a:lt2>
        <a:srgbClr val="F5F7F7"/>
      </a:lt2>
      <a:accent1>
        <a:srgbClr val="2E6DB4"/>
      </a:accent1>
      <a:accent2>
        <a:srgbClr val="E07B39"/>
      </a:accent2>
      <a:accent3>
        <a:srgbClr val="34ADB3"/>
      </a:accent3>
      <a:accent4>
        <a:srgbClr val="E2B530"/>
      </a:accent4>
      <a:accent5>
        <a:srgbClr val="0E5A5F"/>
      </a:accent5>
      <a:accent6>
        <a:srgbClr val="6E7C82"/>
      </a:accent6>
      <a:hlink>
        <a:srgbClr val="2E6DB4"/>
      </a:hlink>
      <a:folHlink>
        <a:srgbClr val="0E5A5F"/>
      </a:folHlink>
    </a:clrScheme>
    <a:fontScheme name="Falakhe Rep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Falakhe Funeral Parlour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CEO and Senior Management Commercial, Sales and Operations Intelligence Report</dc:title>
  <dc:subject>PptxGenJS Presentation</dc:subject>
  <dc:creator>Head of Sales and Marketing, Falakhe Funeral Parlour</dc:creator>
  <cp:lastModifiedBy>Head of Sales and Marketing, Falakhe Funeral Parlour</cp:lastModifiedBy>
  <cp:revision>1</cp:revision>
  <dcterms:created xsi:type="dcterms:W3CDTF">2026-10-05T06:37:46Z</dcterms:created>
  <dcterms:modified xsi:type="dcterms:W3CDTF">2026-10-05T06:37:46Z</dcterms:modified>
</cp:coreProperties>
</file>